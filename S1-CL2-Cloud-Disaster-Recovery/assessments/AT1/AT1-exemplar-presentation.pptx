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F5A5C"/>
                </a:solidFill>
                <a:latin typeface="Source Sans 3"/>
              </a:rPr>
              <a:t>YAT</a:t>
            </a:r>
            <a:r>
              <a:rPr sz="2400" b="1" i="0">
                <a:solidFill>
                  <a:srgbClr val="C5613B"/>
                </a:solidFill>
                <a:latin typeface="Source Sans 3"/>
              </a:rPr>
              <a:t>  COLLEGE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F5A5C"/>
                </a:solidFill>
                <a:latin typeface="Source Sans 3"/>
              </a:rPr>
              <a:t>Design &amp; Disaster Recovery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5613B"/>
                </a:solidFill>
                <a:latin typeface="Source Sans 3"/>
              </a:rPr>
              <a:t>YAT Website Global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634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6660"/>
                </a:solidFill>
                <a:latin typeface="Source Sans 3"/>
              </a:rPr>
              <a:t>MTS Consulting</a:t>
            </a:r>
          </a:p>
          <a:p>
            <a:pPr algn="ctr"/>
            <a:r>
              <a:rPr sz="1300" b="0" i="0">
                <a:solidFill>
                  <a:srgbClr val="6B6660"/>
                </a:solidFill>
                <a:latin typeface="Source Sans 3"/>
              </a:rPr>
              <a:t>Design approval — presented to YAT ICT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Why now — the India expansion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What we're designing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Web-scale design — serving a global public audience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audit-log microservice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Disaster recovery — risks and objectives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Disaster recovery — the recovery plan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What stays onshore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Cost and proportionality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decision we're asking 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Why now — the India expansion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YAT's GIFT City partnership makes the public website the global enrolment front-door — a partner institution's intake now depends on it.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That means the website must now: serve a global, anonymous public audience, survive the loss of a whole region, and be provisioned as code.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Today's design is single-region high availability — right for the Australian audience, not for this.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So this engagement delivers two things: a Solution Design for the changes, and a Disaster Recovery Plan.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What we're designing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Solution Design (Part A) — scale the website for a global public audience, plus an audit-log microservice.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Disaster Recovery Plan (Part B) — recover the website if the primary region is lost.</a:t>
            </a:r>
          </a:p>
          <a:p>
            <a:pPr lvl="1">
              <a:spcAft>
                <a:spcPts val="800"/>
              </a:spcAft>
            </a:pPr>
            <a:r>
              <a:rPr sz="1400" b="1" i="0">
                <a:solidFill>
                  <a:srgbClr val="C5613B"/>
                </a:solidFill>
                <a:latin typeface="Source Sans 3"/>
              </a:rPr>
              <a:t>–  </a:t>
            </a:r>
            <a:r>
              <a:rPr sz="1400" b="0" i="0">
                <a:solidFill>
                  <a:srgbClr val="1F2329"/>
                </a:solidFill>
                <a:latin typeface="Source Sans 3"/>
              </a:rPr>
              <a:t>Recovery objectives: RTO ≤ 4 hours, RPO ≤ 1 hour.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This is the design. Approval today is the gate to building it in Phase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Web-scale design — serving a global public audience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CloudFront edge delivery + Route 53 latency routing — anonymous India visitors served from the nearest edge, not Sydney; fast and search-discoverable.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ElastiCache caches sessions and hot reads, absorbing a larger, spikier public load off the database.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existing multi-AZ load balancer, Auto Scaling and database are retained; scaling policies retuned.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Public exposure handled at the edge — WAF for web exploits, Shield + rate / bot rules for scraping and DDoS, origin locked to CloudFront, TLS throughout.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The audit-log microservice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A small serverless service: webhook → API Gateway → SQS → Lambda → DynamoDB, hosted in the India region.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Its one job: record India-cohort access events, and keep those logs in India (the residency requirement).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Loosely coupled — the website only calls a webhook; the service can change independently behind it.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contract is generic — any event producer that meets it can reuse the same service; only the payload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The design in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F5A5C"/>
                </a:solidFill>
                <a:latin typeface="Source Sans 3"/>
              </a:rPr>
              <a:t>Serve globally at the edge; keep the India logs in India; leave the core data in Sydney.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6660"/>
                </a:solidFill>
                <a:latin typeface="Source Sans 3"/>
              </a:rPr>
              <a:t>The simplest change that meets the requirements — no data replication, no over-provisioning.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Disaster recovery — risks and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Three major risk events: loss of the primary region, destructive data loss, and a cyber-security compromise.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RPO ≤ 1 hour — a disaster loses at most the last hour of data.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RTO ≤ 4 hours — the website is back in service within four hours of an incident being declared.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existing HA design already covers component / Availability-Zone failure; this plan covers losing the whole region.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Disaster recovery — the recovery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Strategy: back up and restore into a second Australian region (Melbourne).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An hourly cross-region snapshot copy meets the RPO; the infrastructure-as-code templates rebuild the stack to meet the RTO.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The runbook: detect → declare → rebuild from code → restore the database → verify → cut CDN / DNS over → confirm.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A tabletop run of the region-loss scenario confirmed the steps complete inside the four-hour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What stays onshore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Recovery is into a second Australian region — the website's Australian-held data never leaves the country, even during a disaster.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Data residency for the India access logs is handled in the design (the microservice), not in the DR plan.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Disaster recovery and regulatory residency are kept separate — each stays simple and does one job.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Cost and proportionality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Backup-and-restore is the lowest-cost DR tier that still meets 4 hours / 1 hour — no idle standby to pay for.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Edge delivery and caching scale on demand; the microservice scales to zero when idle.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5613B"/>
                </a:solidFill>
                <a:latin typeface="Source Sans 3"/>
              </a:rPr>
              <a:t>•  </a:t>
            </a:r>
            <a:r>
              <a:rPr sz="1600" b="0" i="0">
                <a:solidFill>
                  <a:srgbClr val="1F2329"/>
                </a:solidFill>
                <a:latin typeface="Source Sans 3"/>
              </a:rPr>
              <a:t>No replication of the main database into another region, and no over-provisioned capacity.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5A5C"/>
                </a:solidFill>
                <a:latin typeface="Source Sans 3"/>
              </a:rPr>
              <a:t>The decision we're asking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2011680" cy="45720"/>
          </a:xfrm>
          <a:prstGeom prst="rect">
            <a:avLst/>
          </a:prstGeom>
          <a:solidFill>
            <a:srgbClr val="C56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1F5A5C"/>
                </a:solidFill>
                <a:latin typeface="Source Sans 3"/>
              </a:rPr>
              <a:t>Approve the Solution Design and the Disaster Recovery Plan, so we can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6B6660"/>
                </a:solidFill>
                <a:latin typeface="Source Sans 3"/>
              </a:rPr>
              <a:t>Approved → lodged and registered for change management → Phase 2 implementation (the Deployment Report).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9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 i="0">
                <a:solidFill>
                  <a:srgbClr val="1F2329"/>
                </a:solidFill>
                <a:latin typeface="Source Sans 3"/>
              </a:rPr>
              <a:t>This is a fictional organisation used as a case study in an educational context.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8813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1F5A5C"/>
                </a:solidFill>
                <a:latin typeface="Source Sans 3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6660"/>
                </a:solidFill>
                <a:latin typeface="Source Sans 3"/>
              </a:rPr>
              <a:t>MTS Consulting  ·  YAT Website Global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F5A5C"/>
                </a:solidFill>
                <a:latin typeface="Source Sans 3"/>
              </a:rPr>
              <a:t>YAT</a:t>
            </a:r>
            <a:r>
              <a:rPr sz="1200" b="1" i="0">
                <a:solidFill>
                  <a:srgbClr val="C5613B"/>
                </a:solidFill>
                <a:latin typeface="Source Sans 3"/>
              </a:rPr>
              <a:t>  COLLEGE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