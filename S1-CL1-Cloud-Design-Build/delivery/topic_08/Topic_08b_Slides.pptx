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1" r:id="rId6"/>
    <p:sldId id="277" r:id="rId7"/>
    <p:sldId id="278" r:id="rId8"/>
    <p:sldId id="280" r:id="rId9"/>
    <p:sldId id="281" r:id="rId10"/>
    <p:sldId id="282" r:id="rId11"/>
    <p:sldId id="283" r:id="rId12"/>
    <p:sldId id="262" r:id="rId13"/>
    <p:sldId id="263" r:id="rId14"/>
    <p:sldId id="264" r:id="rId15"/>
    <p:sldId id="265" r:id="rId16"/>
    <p:sldId id="266" r:id="rId17"/>
    <p:sldId id="267" r:id="rId18"/>
    <p:sldId id="284" r:id="rId19"/>
    <p:sldId id="268" r:id="rId20"/>
    <p:sldId id="285" r:id="rId21"/>
    <p:sldId id="286" r:id="rId22"/>
    <p:sldId id="289" r:id="rId23"/>
    <p:sldId id="290" r:id="rId24"/>
    <p:sldId id="269" r:id="rId25"/>
    <p:sldId id="297" r:id="rId26"/>
    <p:sldId id="296" r:id="rId27"/>
    <p:sldId id="287" r:id="rId28"/>
    <p:sldId id="270" r:id="rId29"/>
    <p:sldId id="271" r:id="rId30"/>
    <p:sldId id="272" r:id="rId31"/>
    <p:sldId id="273" r:id="rId32"/>
    <p:sldId id="274" r:id="rId33"/>
    <p:sldId id="275"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051" autoAdjust="0"/>
  </p:normalViewPr>
  <p:slideViewPr>
    <p:cSldViewPr snapToGrid="0" snapToObjects="1">
      <p:cViewPr varScale="1">
        <p:scale>
          <a:sx n="54" d="100"/>
          <a:sy n="54"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298E3-9E6E-457F-A31E-8EC34714A47F}" type="datetimeFigureOut">
              <a:rPr lang="en-AU" smtClean="0"/>
              <a:t>3/06/2026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E64DF-1904-4D26-9C76-C5374C8884DB}" type="slidenum">
              <a:rPr lang="en-AU" smtClean="0"/>
              <a:t>‹#›</a:t>
            </a:fld>
            <a:endParaRPr lang="en-AU"/>
          </a:p>
        </p:txBody>
      </p:sp>
    </p:spTree>
    <p:extLst>
      <p:ext uri="{BB962C8B-B14F-4D97-AF65-F5344CB8AC3E}">
        <p14:creationId xmlns:p14="http://schemas.microsoft.com/office/powerpoint/2010/main" val="3818122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aws.amazon.com/AmazonS3/latest/dev/storage-class-intro.html"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docs.aws.amazon.com/AmazonS3/latest/dev/object-lifecycle-mgmt.html"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AWS solutions typically fall into one of two categories: unmanaged or managed.</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Unmanaged services are typically provisioned in discrete portions as specified by the user.</a:t>
            </a:r>
            <a:r>
              <a:rPr lang="en-US" kern="1200" baseline="0" dirty="0">
                <a:solidFill>
                  <a:schemeClr val="tx1"/>
                </a:solidFill>
                <a:effectLst/>
                <a:latin typeface="+mn-lt"/>
                <a:ea typeface="+mn-ea"/>
                <a:cs typeface="+mn-cs"/>
              </a:rPr>
              <a:t> You must </a:t>
            </a:r>
            <a:r>
              <a:rPr lang="en-US" kern="1200" dirty="0">
                <a:solidFill>
                  <a:schemeClr val="tx1"/>
                </a:solidFill>
                <a:effectLst/>
                <a:latin typeface="+mn-lt"/>
                <a:ea typeface="+mn-ea"/>
                <a:cs typeface="+mn-cs"/>
              </a:rPr>
              <a:t>manage how the service responds to changes in load, errors, and situations where resources become unavailable. Say that you launch a web server on an Amazon Elastic Compute Cloud (Amazon EC2) instance. Because Amazon EC2 is an unmanaged solution, that web server will not scale to handle increased traffic load or replace unhealthy instances with healthy ones</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unless you specify that it use a scaling solution, such as AWS Automatic Scaling. The benefit to using an unmanaged service is that you have more fine-tuned control over how your solution handles changes in load, errors, and situations where resources become unavailable.</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Managed services require the user to configure them. For example, you create</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an Amazon Simple Storage Service (Amazon S3) bucket and then set permissions for it. However, managed services typically require less configuration. Say that you</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have a static website that you</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host in a cloud-based storage solution, such as Amazon S3. The static</a:t>
            </a:r>
            <a:r>
              <a:rPr lang="en-US" kern="1200" baseline="0" dirty="0">
                <a:solidFill>
                  <a:schemeClr val="tx1"/>
                </a:solidFill>
                <a:effectLst/>
                <a:latin typeface="+mn-lt"/>
                <a:ea typeface="+mn-ea"/>
                <a:cs typeface="+mn-cs"/>
              </a:rPr>
              <a:t> website does not have a</a:t>
            </a:r>
            <a:r>
              <a:rPr lang="en-US" kern="1200" dirty="0">
                <a:solidFill>
                  <a:schemeClr val="tx1"/>
                </a:solidFill>
                <a:effectLst/>
                <a:latin typeface="+mn-lt"/>
                <a:ea typeface="+mn-ea"/>
                <a:cs typeface="+mn-cs"/>
              </a:rPr>
              <a:t> web server.</a:t>
            </a:r>
            <a:r>
              <a:rPr lang="en-US" kern="1200" baseline="0" dirty="0">
                <a:solidFill>
                  <a:schemeClr val="tx1"/>
                </a:solidFill>
                <a:effectLst/>
                <a:latin typeface="+mn-lt"/>
                <a:ea typeface="+mn-ea"/>
                <a:cs typeface="+mn-cs"/>
              </a:rPr>
              <a:t> However, because Amazon S3 is a managed solution,</a:t>
            </a:r>
            <a:r>
              <a:rPr lang="en-US" kern="1200" dirty="0">
                <a:solidFill>
                  <a:schemeClr val="tx1"/>
                </a:solidFill>
                <a:effectLst/>
                <a:latin typeface="+mn-lt"/>
                <a:ea typeface="+mn-ea"/>
                <a:cs typeface="+mn-cs"/>
              </a:rPr>
              <a:t> features</a:t>
            </a:r>
            <a:r>
              <a:rPr lang="en-US" kern="1200" baseline="0" dirty="0">
                <a:solidFill>
                  <a:schemeClr val="tx1"/>
                </a:solidFill>
                <a:effectLst/>
                <a:latin typeface="+mn-lt"/>
                <a:ea typeface="+mn-ea"/>
                <a:cs typeface="+mn-cs"/>
              </a:rPr>
              <a:t> such as </a:t>
            </a:r>
            <a:r>
              <a:rPr lang="en-US" kern="1200" dirty="0">
                <a:solidFill>
                  <a:schemeClr val="tx1"/>
                </a:solidFill>
                <a:effectLst/>
                <a:latin typeface="+mn-lt"/>
                <a:ea typeface="+mn-ea"/>
                <a:cs typeface="+mn-cs"/>
              </a:rPr>
              <a:t>scaling, fault-tolerance, and availability would be handled automatically and internally by Amazon S3. </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Now, you</a:t>
            </a:r>
            <a:r>
              <a:rPr lang="en-US" kern="1200" baseline="0" dirty="0">
                <a:solidFill>
                  <a:schemeClr val="tx1"/>
                </a:solidFill>
                <a:effectLst/>
                <a:latin typeface="+mn-lt"/>
                <a:ea typeface="+mn-ea"/>
                <a:cs typeface="+mn-cs"/>
              </a:rPr>
              <a:t> will </a:t>
            </a:r>
            <a:r>
              <a:rPr lang="en-US" kern="1200" dirty="0">
                <a:solidFill>
                  <a:schemeClr val="tx1"/>
                </a:solidFill>
                <a:effectLst/>
                <a:latin typeface="+mn-lt"/>
                <a:ea typeface="+mn-ea"/>
                <a:cs typeface="+mn-cs"/>
              </a:rPr>
              <a:t>look at the challenges of running an unmanaged, standalone relational database. Then, you will learn how Amazon RDS addresses these challenges.</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4</a:t>
            </a:fld>
            <a:endParaRPr lang="en-AU"/>
          </a:p>
        </p:txBody>
      </p:sp>
    </p:spTree>
    <p:extLst>
      <p:ext uri="{BB962C8B-B14F-4D97-AF65-F5344CB8AC3E}">
        <p14:creationId xmlns:p14="http://schemas.microsoft.com/office/powerpoint/2010/main" val="1725520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Amazon RDS is a managed service that sets up and operates a relational database in the cloud.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To address the challenges of running an unmanaged, standalone relational database, AWS provides a service that sets up, operates, and scales the relational database without any ongoing administration. Amazon RDS provides cost-efficient and resizable capacity, while automating time-consuming administrative tasks.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Amazon RDS enables you to focus on your application, so you can give applications the performance, high availability, security, and compatibility that they need. With Amazon RDS, your primary focus is your data and optimizing your application.</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6</a:t>
            </a:fld>
            <a:endParaRPr lang="en-AU"/>
          </a:p>
        </p:txBody>
      </p:sp>
    </p:spTree>
    <p:extLst>
      <p:ext uri="{BB962C8B-B14F-4D97-AF65-F5344CB8AC3E}">
        <p14:creationId xmlns:p14="http://schemas.microsoft.com/office/powerpoint/2010/main" val="881645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ea typeface="+mn-ea"/>
                <a:cs typeface="+mn-cs"/>
              </a:rPr>
              <a:t>What does the term </a:t>
            </a:r>
            <a:r>
              <a:rPr lang="en-US" b="1" i="0" kern="1200" dirty="0">
                <a:solidFill>
                  <a:schemeClr val="tx1"/>
                </a:solidFill>
                <a:effectLst/>
                <a:ea typeface="+mn-ea"/>
                <a:cs typeface="+mn-cs"/>
              </a:rPr>
              <a:t>managed services</a:t>
            </a:r>
            <a:r>
              <a:rPr lang="en-US" b="0" i="0" kern="1200" baseline="0" dirty="0">
                <a:solidFill>
                  <a:schemeClr val="tx1"/>
                </a:solidFill>
                <a:effectLst/>
                <a:ea typeface="+mn-ea"/>
                <a:cs typeface="+mn-cs"/>
              </a:rPr>
              <a:t> mean?</a:t>
            </a:r>
            <a:r>
              <a:rPr lang="en-US" kern="1200" dirty="0">
                <a:solidFill>
                  <a:schemeClr val="tx1"/>
                </a:solidFill>
                <a:effectLst/>
                <a:ea typeface="+mn-ea"/>
                <a:cs typeface="+mn-cs"/>
              </a:rPr>
              <a:t> </a:t>
            </a:r>
          </a:p>
          <a:p>
            <a:endParaRPr lang="en-US" kern="1200" dirty="0">
              <a:solidFill>
                <a:schemeClr val="tx1"/>
              </a:solidFill>
              <a:effectLst/>
              <a:ea typeface="+mn-ea"/>
              <a:cs typeface="+mn-cs"/>
            </a:endParaRPr>
          </a:p>
          <a:p>
            <a:r>
              <a:rPr lang="en-US" kern="1200" dirty="0">
                <a:solidFill>
                  <a:schemeClr val="tx1"/>
                </a:solidFill>
                <a:effectLst/>
                <a:ea typeface="+mn-ea"/>
                <a:cs typeface="+mn-cs"/>
              </a:rPr>
              <a:t>When your database is on</a:t>
            </a:r>
            <a:r>
              <a:rPr lang="en-US" kern="1200" baseline="0" dirty="0">
                <a:solidFill>
                  <a:schemeClr val="tx1"/>
                </a:solidFill>
                <a:effectLst/>
                <a:ea typeface="+mn-ea"/>
                <a:cs typeface="+mn-cs"/>
              </a:rPr>
              <a:t> </a:t>
            </a:r>
            <a:r>
              <a:rPr lang="en-US" kern="1200" dirty="0">
                <a:solidFill>
                  <a:schemeClr val="tx1"/>
                </a:solidFill>
                <a:effectLst/>
                <a:ea typeface="+mn-ea"/>
                <a:cs typeface="+mn-cs"/>
              </a:rPr>
              <a:t>premises, the database administrator is responsible for everything.</a:t>
            </a:r>
            <a:r>
              <a:rPr lang="en-US" kern="1200" baseline="0" dirty="0">
                <a:solidFill>
                  <a:schemeClr val="tx1"/>
                </a:solidFill>
                <a:effectLst/>
                <a:ea typeface="+mn-ea"/>
                <a:cs typeface="+mn-cs"/>
              </a:rPr>
              <a:t> Database administration tasks include </a:t>
            </a:r>
            <a:r>
              <a:rPr lang="en-US" kern="1200" dirty="0">
                <a:solidFill>
                  <a:schemeClr val="tx1"/>
                </a:solidFill>
                <a:effectLst/>
                <a:ea typeface="+mn-ea"/>
                <a:cs typeface="+mn-cs"/>
              </a:rPr>
              <a:t>optimizing</a:t>
            </a:r>
            <a:r>
              <a:rPr lang="en-US" kern="1200" baseline="0" dirty="0">
                <a:solidFill>
                  <a:schemeClr val="tx1"/>
                </a:solidFill>
                <a:effectLst/>
                <a:ea typeface="+mn-ea"/>
                <a:cs typeface="+mn-cs"/>
              </a:rPr>
              <a:t> </a:t>
            </a:r>
            <a:r>
              <a:rPr lang="en-US" kern="1200" dirty="0">
                <a:solidFill>
                  <a:schemeClr val="tx1"/>
                </a:solidFill>
                <a:effectLst/>
                <a:ea typeface="+mn-ea"/>
                <a:cs typeface="+mn-cs"/>
              </a:rPr>
              <a:t>applications</a:t>
            </a:r>
            <a:r>
              <a:rPr lang="en-US" kern="1200" baseline="0" dirty="0">
                <a:solidFill>
                  <a:schemeClr val="tx1"/>
                </a:solidFill>
                <a:effectLst/>
                <a:ea typeface="+mn-ea"/>
                <a:cs typeface="+mn-cs"/>
              </a:rPr>
              <a:t> </a:t>
            </a:r>
            <a:r>
              <a:rPr lang="en-US" kern="1200" dirty="0">
                <a:solidFill>
                  <a:schemeClr val="tx1"/>
                </a:solidFill>
                <a:effectLst/>
                <a:ea typeface="+mn-ea"/>
                <a:cs typeface="+mn-cs"/>
              </a:rPr>
              <a:t>and queries; setting up the hardware; patching the hardware;</a:t>
            </a:r>
            <a:r>
              <a:rPr lang="en-US" kern="1200" baseline="0" dirty="0">
                <a:solidFill>
                  <a:schemeClr val="tx1"/>
                </a:solidFill>
                <a:effectLst/>
                <a:ea typeface="+mn-ea"/>
                <a:cs typeface="+mn-cs"/>
              </a:rPr>
              <a:t> </a:t>
            </a:r>
            <a:r>
              <a:rPr lang="en-US" kern="1200" dirty="0">
                <a:solidFill>
                  <a:schemeClr val="tx1"/>
                </a:solidFill>
                <a:effectLst/>
                <a:ea typeface="+mn-ea"/>
                <a:cs typeface="+mn-cs"/>
              </a:rPr>
              <a:t>setting up networking</a:t>
            </a:r>
            <a:r>
              <a:rPr lang="en-US" kern="1200" baseline="0" dirty="0">
                <a:solidFill>
                  <a:schemeClr val="tx1"/>
                </a:solidFill>
                <a:effectLst/>
                <a:ea typeface="+mn-ea"/>
                <a:cs typeface="+mn-cs"/>
              </a:rPr>
              <a:t> and </a:t>
            </a:r>
            <a:r>
              <a:rPr lang="en-US" kern="1200" dirty="0">
                <a:solidFill>
                  <a:schemeClr val="tx1"/>
                </a:solidFill>
                <a:effectLst/>
                <a:ea typeface="+mn-ea"/>
                <a:cs typeface="+mn-cs"/>
              </a:rPr>
              <a:t>power; and</a:t>
            </a:r>
            <a:r>
              <a:rPr lang="en-US" kern="1200" baseline="0" dirty="0">
                <a:solidFill>
                  <a:schemeClr val="tx1"/>
                </a:solidFill>
                <a:effectLst/>
                <a:ea typeface="+mn-ea"/>
                <a:cs typeface="+mn-cs"/>
              </a:rPr>
              <a:t> managing heating, ventilation, and air conditioning (</a:t>
            </a:r>
            <a:r>
              <a:rPr lang="en-US" kern="1200" dirty="0">
                <a:solidFill>
                  <a:schemeClr val="tx1"/>
                </a:solidFill>
                <a:effectLst/>
                <a:ea typeface="+mn-ea"/>
                <a:cs typeface="+mn-cs"/>
              </a:rPr>
              <a:t>HVAC). </a:t>
            </a:r>
          </a:p>
          <a:p>
            <a:endParaRPr lang="en-US" kern="1200" dirty="0">
              <a:solidFill>
                <a:schemeClr val="tx1"/>
              </a:solidFill>
              <a:effectLst/>
              <a:ea typeface="+mn-ea"/>
              <a:cs typeface="+mn-cs"/>
            </a:endParaRPr>
          </a:p>
          <a:p>
            <a:r>
              <a:rPr lang="en-US" kern="1200" dirty="0">
                <a:solidFill>
                  <a:schemeClr val="tx1"/>
                </a:solidFill>
                <a:effectLst/>
                <a:ea typeface="+mn-ea"/>
                <a:cs typeface="+mn-cs"/>
              </a:rPr>
              <a:t>If you move to a database that runs on an </a:t>
            </a:r>
            <a:r>
              <a:rPr lang="en-US" b="1" kern="1200" dirty="0">
                <a:solidFill>
                  <a:schemeClr val="tx1"/>
                </a:solidFill>
                <a:effectLst/>
                <a:ea typeface="+mn-ea"/>
                <a:cs typeface="+mn-cs"/>
              </a:rPr>
              <a:t>Amazon Elastic Compute Cloud</a:t>
            </a:r>
            <a:r>
              <a:rPr lang="en-US" b="1" kern="1200" baseline="0" dirty="0">
                <a:solidFill>
                  <a:schemeClr val="tx1"/>
                </a:solidFill>
                <a:effectLst/>
                <a:ea typeface="+mn-ea"/>
                <a:cs typeface="+mn-cs"/>
              </a:rPr>
              <a:t> (Amazon </a:t>
            </a:r>
            <a:r>
              <a:rPr lang="en-US" b="1" kern="1200" dirty="0">
                <a:solidFill>
                  <a:schemeClr val="tx1"/>
                </a:solidFill>
                <a:effectLst/>
                <a:ea typeface="+mn-ea"/>
                <a:cs typeface="+mn-cs"/>
              </a:rPr>
              <a:t>EC2) instance</a:t>
            </a:r>
            <a:r>
              <a:rPr lang="en-US" kern="1200" dirty="0">
                <a:solidFill>
                  <a:schemeClr val="tx1"/>
                </a:solidFill>
                <a:effectLst/>
                <a:ea typeface="+mn-ea"/>
                <a:cs typeface="+mn-cs"/>
              </a:rPr>
              <a:t>, you no longer need to manage the underlying hardware or handle data center operations. However, you</a:t>
            </a:r>
            <a:r>
              <a:rPr lang="en-US" kern="1200" baseline="0" dirty="0">
                <a:solidFill>
                  <a:schemeClr val="tx1"/>
                </a:solidFill>
                <a:effectLst/>
                <a:ea typeface="+mn-ea"/>
                <a:cs typeface="+mn-cs"/>
              </a:rPr>
              <a:t> a</a:t>
            </a:r>
            <a:r>
              <a:rPr lang="en-US" kern="1200" dirty="0">
                <a:solidFill>
                  <a:schemeClr val="tx1"/>
                </a:solidFill>
                <a:effectLst/>
                <a:ea typeface="+mn-ea"/>
                <a:cs typeface="+mn-cs"/>
              </a:rPr>
              <a:t>re still responsible for patching the OS and handling all software and backup operations. </a:t>
            </a:r>
          </a:p>
          <a:p>
            <a:endParaRPr lang="en-US" kern="1200" dirty="0">
              <a:solidFill>
                <a:schemeClr val="tx1"/>
              </a:solidFill>
              <a:effectLst/>
              <a:ea typeface="+mn-ea"/>
              <a:cs typeface="+mn-cs"/>
            </a:endParaRPr>
          </a:p>
          <a:p>
            <a:r>
              <a:rPr lang="en-US" kern="1200" dirty="0">
                <a:solidFill>
                  <a:schemeClr val="tx1"/>
                </a:solidFill>
                <a:effectLst/>
                <a:ea typeface="+mn-ea"/>
                <a:cs typeface="+mn-cs"/>
              </a:rPr>
              <a:t>If you set up your database on </a:t>
            </a:r>
            <a:r>
              <a:rPr lang="en-US" b="1" kern="1200" dirty="0">
                <a:solidFill>
                  <a:schemeClr val="tx1"/>
                </a:solidFill>
                <a:effectLst/>
                <a:ea typeface="+mn-ea"/>
                <a:cs typeface="+mn-cs"/>
              </a:rPr>
              <a:t>Amazon RDS</a:t>
            </a:r>
            <a:r>
              <a:rPr lang="en-US" b="0" kern="1200" dirty="0">
                <a:solidFill>
                  <a:schemeClr val="tx1"/>
                </a:solidFill>
                <a:effectLst/>
                <a:ea typeface="+mn-ea"/>
                <a:cs typeface="+mn-cs"/>
              </a:rPr>
              <a:t> or </a:t>
            </a:r>
            <a:r>
              <a:rPr lang="en-US" b="1" kern="1200" dirty="0">
                <a:solidFill>
                  <a:schemeClr val="tx1"/>
                </a:solidFill>
                <a:effectLst/>
                <a:ea typeface="+mn-ea"/>
                <a:cs typeface="+mn-cs"/>
              </a:rPr>
              <a:t>Amazon Aurora</a:t>
            </a:r>
            <a:r>
              <a:rPr lang="en-US" kern="1200" dirty="0">
                <a:solidFill>
                  <a:schemeClr val="tx1"/>
                </a:solidFill>
                <a:effectLst/>
                <a:ea typeface="+mn-ea"/>
                <a:cs typeface="+mn-cs"/>
              </a:rPr>
              <a:t>, you reduce your administrative responsibilities. By moving to the cloud, you can automatically scale your database, enable high availability, manage backups,</a:t>
            </a:r>
            <a:r>
              <a:rPr lang="en-US" kern="1200" baseline="0" dirty="0">
                <a:solidFill>
                  <a:schemeClr val="tx1"/>
                </a:solidFill>
                <a:effectLst/>
                <a:ea typeface="+mn-ea"/>
                <a:cs typeface="+mn-cs"/>
              </a:rPr>
              <a:t> </a:t>
            </a:r>
            <a:r>
              <a:rPr lang="en-US" kern="1200" dirty="0">
                <a:solidFill>
                  <a:schemeClr val="tx1"/>
                </a:solidFill>
                <a:effectLst/>
                <a:ea typeface="+mn-ea"/>
                <a:cs typeface="+mn-cs"/>
              </a:rPr>
              <a:t>and perform patching.</a:t>
            </a:r>
            <a:r>
              <a:rPr lang="en-US" kern="1200" baseline="0" dirty="0">
                <a:solidFill>
                  <a:schemeClr val="tx1"/>
                </a:solidFill>
                <a:effectLst/>
                <a:ea typeface="+mn-ea"/>
                <a:cs typeface="+mn-cs"/>
              </a:rPr>
              <a:t> Thus, </a:t>
            </a:r>
            <a:r>
              <a:rPr lang="en-US" kern="1200" dirty="0">
                <a:solidFill>
                  <a:schemeClr val="tx1"/>
                </a:solidFill>
                <a:effectLst/>
                <a:ea typeface="+mn-ea"/>
                <a:cs typeface="+mn-cs"/>
              </a:rPr>
              <a:t>you can focus on what really matters most—optimizing your application.</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7</a:t>
            </a:fld>
            <a:endParaRPr lang="en-AU"/>
          </a:p>
        </p:txBody>
      </p:sp>
    </p:spTree>
    <p:extLst>
      <p:ext uri="{BB962C8B-B14F-4D97-AF65-F5344CB8AC3E}">
        <p14:creationId xmlns:p14="http://schemas.microsoft.com/office/powerpoint/2010/main" val="2450641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The basic building block of Amazon RDS is the database instance. A </a:t>
            </a:r>
            <a:r>
              <a:rPr lang="en-US" b="1" i="0" kern="1200" dirty="0">
                <a:solidFill>
                  <a:schemeClr val="tx1"/>
                </a:solidFill>
                <a:effectLst/>
                <a:latin typeface="+mn-lt"/>
                <a:ea typeface="+mn-ea"/>
                <a:cs typeface="+mn-cs"/>
              </a:rPr>
              <a:t>database instance </a:t>
            </a:r>
            <a:r>
              <a:rPr lang="en-US" kern="1200" dirty="0">
                <a:solidFill>
                  <a:schemeClr val="tx1"/>
                </a:solidFill>
                <a:effectLst/>
                <a:latin typeface="+mn-lt"/>
                <a:ea typeface="+mn-ea"/>
                <a:cs typeface="+mn-cs"/>
              </a:rPr>
              <a:t>is an isolated database environment that can contain multiple user-created databases.</a:t>
            </a:r>
            <a:r>
              <a:rPr lang="en-US" kern="1200" baseline="0" dirty="0">
                <a:solidFill>
                  <a:schemeClr val="tx1"/>
                </a:solidFill>
                <a:effectLst/>
                <a:latin typeface="+mn-lt"/>
                <a:ea typeface="+mn-ea"/>
                <a:cs typeface="+mn-cs"/>
              </a:rPr>
              <a:t> It </a:t>
            </a:r>
            <a:r>
              <a:rPr lang="en-US" kern="1200" dirty="0">
                <a:solidFill>
                  <a:schemeClr val="tx1"/>
                </a:solidFill>
                <a:effectLst/>
                <a:latin typeface="+mn-lt"/>
                <a:ea typeface="+mn-ea"/>
                <a:cs typeface="+mn-cs"/>
              </a:rPr>
              <a:t>can be accessed by using the same tools and applications that you use with a standalone database instance. The resources in a database instance are determined by its database instance class, and the type of storage is dictated by the type of disks.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Database instances and storage differ in performance characteristics and price, which enable you to customize your performance and cost to the needs of your database. When you choose to create a database instance, you must first specify which database engine to run. Amazon RDS currently supports six databases: MySQL, Amazon Aurora, Microsoft SQL Server, PostgreSQL, MariaDB, and Oracle. </a:t>
            </a:r>
            <a:endParaRPr lang="en-US" dirty="0"/>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8</a:t>
            </a:fld>
            <a:endParaRPr lang="en-AU"/>
          </a:p>
        </p:txBody>
      </p:sp>
    </p:spTree>
    <p:extLst>
      <p:ext uri="{BB962C8B-B14F-4D97-AF65-F5344CB8AC3E}">
        <p14:creationId xmlns:p14="http://schemas.microsoft.com/office/powerpoint/2010/main" val="3112901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You can run an instance by using </a:t>
            </a:r>
            <a:r>
              <a:rPr lang="en-US" b="1" kern="1200" dirty="0">
                <a:solidFill>
                  <a:schemeClr val="tx1"/>
                </a:solidFill>
                <a:effectLst/>
                <a:latin typeface="+mn-lt"/>
                <a:ea typeface="+mn-ea"/>
                <a:cs typeface="+mn-cs"/>
              </a:rPr>
              <a:t>Amazon Virtual Private Cloud (Amazon VPC). </a:t>
            </a:r>
            <a:r>
              <a:rPr lang="en-US" kern="1200" dirty="0">
                <a:solidFill>
                  <a:schemeClr val="tx1"/>
                </a:solidFill>
                <a:effectLst/>
                <a:latin typeface="+mn-lt"/>
                <a:ea typeface="+mn-ea"/>
                <a:cs typeface="+mn-cs"/>
              </a:rPr>
              <a:t>When you use a</a:t>
            </a:r>
            <a:r>
              <a:rPr lang="en-US" kern="1200" baseline="0" dirty="0">
                <a:solidFill>
                  <a:schemeClr val="tx1"/>
                </a:solidFill>
                <a:effectLst/>
                <a:latin typeface="+mn-lt"/>
                <a:ea typeface="+mn-ea"/>
                <a:cs typeface="+mn-cs"/>
              </a:rPr>
              <a:t> virtual private cloud (</a:t>
            </a:r>
            <a:r>
              <a:rPr lang="en-US" kern="1200" dirty="0">
                <a:solidFill>
                  <a:schemeClr val="tx1"/>
                </a:solidFill>
                <a:effectLst/>
                <a:latin typeface="+mn-lt"/>
                <a:ea typeface="+mn-ea"/>
                <a:cs typeface="+mn-cs"/>
              </a:rPr>
              <a:t>VPC), you have control over your virtual networking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You can select your own IP address range, create subnets, and configure routing and access control lists (ACLs). The basic functionality of Amazon RDS is the same whether or not it runs in a</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VPC. Usually, the database instance is isolated in a private subnet and is only made directly accessible to indicated application instances. Subnets in a</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VPC are associated with a single Availability Zone, so when you select the subnet, you</a:t>
            </a:r>
            <a:r>
              <a:rPr lang="en-US" kern="1200" baseline="0" dirty="0">
                <a:solidFill>
                  <a:schemeClr val="tx1"/>
                </a:solidFill>
                <a:effectLst/>
                <a:latin typeface="+mn-lt"/>
                <a:ea typeface="+mn-ea"/>
                <a:cs typeface="+mn-cs"/>
              </a:rPr>
              <a:t> are</a:t>
            </a:r>
            <a:r>
              <a:rPr lang="en-US" kern="1200" dirty="0">
                <a:solidFill>
                  <a:schemeClr val="tx1"/>
                </a:solidFill>
                <a:effectLst/>
                <a:latin typeface="+mn-lt"/>
                <a:ea typeface="+mn-ea"/>
                <a:cs typeface="+mn-cs"/>
              </a:rPr>
              <a:t> also choosing the Availability Zone (or physical location) for your database instance. </a:t>
            </a:r>
            <a:endParaRPr lang="en-US" dirty="0"/>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9</a:t>
            </a:fld>
            <a:endParaRPr lang="en-AU"/>
          </a:p>
        </p:txBody>
      </p:sp>
    </p:spTree>
    <p:extLst>
      <p:ext uri="{BB962C8B-B14F-4D97-AF65-F5344CB8AC3E}">
        <p14:creationId xmlns:p14="http://schemas.microsoft.com/office/powerpoint/2010/main" val="2192623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One of the most powerful features of Amazon RDS is the ability to configure your database instance for high availability with a Multi-AZ deployment. After a</a:t>
            </a:r>
            <a:r>
              <a:rPr lang="en-US" kern="1200" baseline="0" dirty="0">
                <a:solidFill>
                  <a:schemeClr val="tx1"/>
                </a:solidFill>
                <a:effectLst/>
                <a:latin typeface="+mn-lt"/>
                <a:ea typeface="+mn-ea"/>
                <a:cs typeface="+mn-cs"/>
              </a:rPr>
              <a:t> Multi-AZ deployment is</a:t>
            </a:r>
            <a:r>
              <a:rPr lang="en-US" kern="1200" dirty="0">
                <a:solidFill>
                  <a:schemeClr val="tx1"/>
                </a:solidFill>
                <a:effectLst/>
                <a:latin typeface="+mn-lt"/>
                <a:ea typeface="+mn-ea"/>
                <a:cs typeface="+mn-cs"/>
              </a:rPr>
              <a:t> configured, Amazon RDS automatically generates a standby copy of the database instance in another Availability Zone within the same VPC. After seeding the database copy, transactions are synchronously replicated to the standby copy. Running a database instance in a Multi-AZ</a:t>
            </a:r>
            <a:r>
              <a:rPr lang="en-US" kern="1200" baseline="0" dirty="0">
                <a:solidFill>
                  <a:schemeClr val="tx1"/>
                </a:solidFill>
                <a:effectLst/>
                <a:latin typeface="+mn-lt"/>
                <a:ea typeface="+mn-ea"/>
                <a:cs typeface="+mn-cs"/>
              </a:rPr>
              <a:t> deployment </a:t>
            </a:r>
            <a:r>
              <a:rPr lang="en-US" kern="1200" dirty="0">
                <a:solidFill>
                  <a:schemeClr val="tx1"/>
                </a:solidFill>
                <a:effectLst/>
                <a:latin typeface="+mn-lt"/>
                <a:ea typeface="+mn-ea"/>
                <a:cs typeface="+mn-cs"/>
              </a:rPr>
              <a:t>can enhance availability during planned system maintenance, and it can help protect your databases against database instance failure and Availability Zone disruption. </a:t>
            </a:r>
            <a:endParaRPr lang="en-US" dirty="0"/>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10</a:t>
            </a:fld>
            <a:endParaRPr lang="en-AU"/>
          </a:p>
        </p:txBody>
      </p:sp>
    </p:spTree>
    <p:extLst>
      <p:ext uri="{BB962C8B-B14F-4D97-AF65-F5344CB8AC3E}">
        <p14:creationId xmlns:p14="http://schemas.microsoft.com/office/powerpoint/2010/main" val="245613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Amazon RDS when your application requires: </a:t>
            </a:r>
          </a:p>
          <a:p>
            <a:pPr marL="171450" lvl="0" indent="-171450">
              <a:buFont typeface="Arial" panose="020B0604020202020204" pitchFamily="34" charset="0"/>
              <a:buChar char="•"/>
            </a:pPr>
            <a:r>
              <a:rPr lang="en-US" dirty="0"/>
              <a:t>Complex transactions or complex queries</a:t>
            </a:r>
          </a:p>
          <a:p>
            <a:pPr marL="171450" lvl="0" indent="-171450">
              <a:buFont typeface="Arial" panose="020B0604020202020204" pitchFamily="34" charset="0"/>
              <a:buChar char="•"/>
            </a:pPr>
            <a:r>
              <a:rPr lang="en-US" dirty="0"/>
              <a:t>A medium to high query</a:t>
            </a:r>
            <a:r>
              <a:rPr lang="en-US" baseline="0" dirty="0"/>
              <a:t> or </a:t>
            </a:r>
            <a:r>
              <a:rPr lang="en-US" dirty="0"/>
              <a:t>write rate – up to 30,000 IOPS (15,000 reads + 15,000 writes)</a:t>
            </a:r>
          </a:p>
          <a:p>
            <a:pPr marL="171450" lvl="0" indent="-171450">
              <a:buFont typeface="Arial" panose="020B0604020202020204" pitchFamily="34" charset="0"/>
              <a:buChar char="•"/>
            </a:pPr>
            <a:r>
              <a:rPr lang="en-US" dirty="0"/>
              <a:t>No more than a single worker node</a:t>
            </a:r>
            <a:r>
              <a:rPr lang="en-US" baseline="0" dirty="0"/>
              <a:t> or </a:t>
            </a:r>
            <a:r>
              <a:rPr lang="en-US" dirty="0"/>
              <a:t>shard</a:t>
            </a:r>
          </a:p>
          <a:p>
            <a:pPr marL="171450" lvl="0" indent="-171450">
              <a:buFont typeface="Arial" panose="020B0604020202020204" pitchFamily="34" charset="0"/>
              <a:buChar char="•"/>
            </a:pPr>
            <a:r>
              <a:rPr lang="en-US" dirty="0"/>
              <a:t>High durability</a:t>
            </a:r>
          </a:p>
          <a:p>
            <a:r>
              <a:rPr lang="en-US" dirty="0"/>
              <a:t> </a:t>
            </a:r>
          </a:p>
          <a:p>
            <a:r>
              <a:rPr lang="en-US" dirty="0"/>
              <a:t>Do not use Amazon RDS when your application requires:</a:t>
            </a:r>
          </a:p>
          <a:p>
            <a:pPr marL="171450" lvl="0" indent="-171450">
              <a:buFont typeface="Arial" panose="020B0604020202020204" pitchFamily="34" charset="0"/>
              <a:buChar char="•"/>
            </a:pPr>
            <a:r>
              <a:rPr lang="en-US" dirty="0"/>
              <a:t>Massive read/write rates (for example 150,000 writes per second)</a:t>
            </a:r>
          </a:p>
          <a:p>
            <a:pPr marL="171450" lvl="0" indent="-171450">
              <a:buFont typeface="Arial" panose="020B0604020202020204" pitchFamily="34" charset="0"/>
              <a:buChar char="•"/>
            </a:pPr>
            <a:r>
              <a:rPr lang="en-US" dirty="0"/>
              <a:t>Sharding due to high data size or throughput demands </a:t>
            </a:r>
          </a:p>
          <a:p>
            <a:pPr marL="171450" lvl="0" indent="-171450">
              <a:buFont typeface="Arial" panose="020B0604020202020204" pitchFamily="34" charset="0"/>
              <a:buChar char="•"/>
            </a:pPr>
            <a:r>
              <a:rPr lang="en-US" dirty="0"/>
              <a:t>Simple GET</a:t>
            </a:r>
            <a:r>
              <a:rPr lang="en-US" baseline="0" dirty="0"/>
              <a:t> or </a:t>
            </a:r>
            <a:r>
              <a:rPr lang="en-US" dirty="0"/>
              <a:t>PUT requests and queries that a NoSQL database can handle</a:t>
            </a:r>
          </a:p>
          <a:p>
            <a:pPr marL="171450" lvl="0" indent="-171450">
              <a:buFont typeface="Arial" panose="020B0604020202020204" pitchFamily="34" charset="0"/>
              <a:buChar char="•"/>
            </a:pPr>
            <a:r>
              <a:rPr lang="en-US" dirty="0"/>
              <a:t>Or, relational database management system (RDBMS) customization</a:t>
            </a:r>
          </a:p>
          <a:p>
            <a:r>
              <a:rPr lang="en-US" dirty="0"/>
              <a:t> </a:t>
            </a:r>
          </a:p>
          <a:p>
            <a:r>
              <a:rPr lang="en-US" dirty="0"/>
              <a:t>For circumstances when you should not use Amazon RDS, consider either using a NoSQL database solution</a:t>
            </a:r>
            <a:r>
              <a:rPr lang="en-US" baseline="0" dirty="0"/>
              <a:t> (</a:t>
            </a:r>
            <a:r>
              <a:rPr lang="en-US" dirty="0"/>
              <a:t>such as DynamoDB) or running your relational database engine on Amazon EC2 instances instead of Amazon RDS</a:t>
            </a:r>
            <a:r>
              <a:rPr lang="en-US" baseline="0" dirty="0"/>
              <a:t> (</a:t>
            </a:r>
            <a:r>
              <a:rPr lang="en-US" dirty="0"/>
              <a:t>which will provide you with more options for customizing your database).</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11</a:t>
            </a:fld>
            <a:endParaRPr lang="en-AU"/>
          </a:p>
        </p:txBody>
      </p:sp>
    </p:spTree>
    <p:extLst>
      <p:ext uri="{BB962C8B-B14F-4D97-AF65-F5344CB8AC3E}">
        <p14:creationId xmlns:p14="http://schemas.microsoft.com/office/powerpoint/2010/main" val="771430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if you want to change one character in a 1-GB file? With block storage, you change only the block that contains the character. With object storage, the entire file must be updated. </a:t>
            </a:r>
          </a:p>
          <a:p>
            <a:r>
              <a:rPr lang="en-US" dirty="0"/>
              <a:t> </a:t>
            </a:r>
          </a:p>
          <a:p>
            <a:r>
              <a:rPr lang="en-US" dirty="0"/>
              <a:t>One critical difference between some storage types is whether they offer block-level storage or object-level storage. </a:t>
            </a:r>
          </a:p>
          <a:p>
            <a:r>
              <a:rPr lang="en-US" dirty="0"/>
              <a:t> </a:t>
            </a:r>
          </a:p>
          <a:p>
            <a:r>
              <a:rPr lang="en-US" dirty="0"/>
              <a:t>This difference has a major effect on the throughput, latency, and cost of your storage solution. Block storage solutions are typically faster and use less bandwidth, but they can cost more than object-level storage.</a:t>
            </a:r>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18</a:t>
            </a:fld>
            <a:endParaRPr lang="en-AU"/>
          </a:p>
        </p:txBody>
      </p:sp>
    </p:spTree>
    <p:extLst>
      <p:ext uri="{BB962C8B-B14F-4D97-AF65-F5344CB8AC3E}">
        <p14:creationId xmlns:p14="http://schemas.microsoft.com/office/powerpoint/2010/main" val="3403661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Amazon S3 is object-level storage, which means that if you want to change a part of a file, you must make the change and then re-upload the entire modified file. Amazon S3 stores data as objects within resources that are called </a:t>
            </a:r>
            <a:r>
              <a:rPr lang="en-US" b="1" dirty="0"/>
              <a:t>buckets</a:t>
            </a:r>
            <a:r>
              <a:rPr lang="en-US" dirty="0"/>
              <a:t>. </a:t>
            </a:r>
          </a:p>
          <a:p>
            <a:endParaRPr lang="en-US" dirty="0"/>
          </a:p>
          <a:p>
            <a:r>
              <a:rPr lang="en-US" dirty="0"/>
              <a:t>You will now learn more about Amazon S3.</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19</a:t>
            </a:fld>
            <a:endParaRPr lang="en-AU"/>
          </a:p>
        </p:txBody>
      </p:sp>
    </p:spTree>
    <p:extLst>
      <p:ext uri="{BB962C8B-B14F-4D97-AF65-F5344CB8AC3E}">
        <p14:creationId xmlns:p14="http://schemas.microsoft.com/office/powerpoint/2010/main" val="515830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 is a managed cloud storage solution that is designed to scale seamlessly and provide 11 9s of durability. You can store virtually as many objects as you want in a bucket, and you can write, read, and delete objects in your bucket. Bucket names are universal and must be unique across all existing bucket names in Amazon S3. Objects can be up to 5 TB in size. By default, data in Amazon S3 is stored redundantly across multiple facilities and multiple devices in each facility.</a:t>
            </a:r>
          </a:p>
          <a:p>
            <a:endParaRPr lang="en-US" dirty="0"/>
          </a:p>
          <a:p>
            <a:r>
              <a:rPr lang="en-US" dirty="0"/>
              <a:t>The data that you store in Amazon S3 is not associated with any particular server, and you do not need manage any infrastructure yourself. You can put as many objects into Amazon S3 as you want. Amazon S3 holds trillions of objects and regularly peaks at millions of requests per second. </a:t>
            </a:r>
          </a:p>
          <a:p>
            <a:endParaRPr lang="en-US" dirty="0"/>
          </a:p>
          <a:p>
            <a:r>
              <a:rPr lang="en-US" dirty="0"/>
              <a:t>Objects can be almost any data file, such as images, videos, or server logs. Because Amazon S3 supports objects as large as several terabytes in size, you can even store database snapshots as objects. Amazon S3 also provides low-latency access to the data over the internet by Hypertext Transfer Protocol (HTTP) or Secure HTTP (HTTPS), so you can retrieve data anytime from anywhere. You can also access Amazon S3 privately through a virtual private cloud (VPC) endpoint. You get fine-grained control over who can access your data by using AWS Identity and Access Management (IAM) policies, Amazon S3 bucket policies, and even per-object access control lists. </a:t>
            </a:r>
          </a:p>
          <a:p>
            <a:endParaRPr lang="en-US" dirty="0"/>
          </a:p>
          <a:p>
            <a:r>
              <a:rPr lang="en-US" dirty="0"/>
              <a:t>By default, none of your data is shared publicly. You can also encrypt your data in transit and choose to enable server-side encryption on your objects. </a:t>
            </a:r>
          </a:p>
          <a:p>
            <a:r>
              <a:rPr lang="en-US" dirty="0"/>
              <a:t>You can access Amazon S3 through the web-based AWS Management Console; programmatically through the API and SDKs; or with third-party solutions, which use the API or the SDKs.</a:t>
            </a:r>
          </a:p>
          <a:p>
            <a:endParaRPr lang="en-US" dirty="0"/>
          </a:p>
          <a:p>
            <a:r>
              <a:rPr lang="en-US" dirty="0"/>
              <a:t>Amazon S3 includes event notifications that enable you to set up automatic notifications when certain events occur, such as when an object is uploaded to a bucket or deleted from a specific bucket. Those notifications can be sent to you, or they can be used to trigger other processes, such as AWS Lambda functions.</a:t>
            </a:r>
          </a:p>
          <a:p>
            <a:r>
              <a:rPr lang="en-US" dirty="0"/>
              <a:t>With storage class analysis, you can analyze storage access patterns and transition the right data to the right storage class. The Amazon S3 Analytics feature automatically identifies the optimal lifecycle policy to transition less frequently accessed storage to Amazon S3 Standard – Infrequent Access (Amazon S3 Standard-IA). You can configure a storage class analysis policy to monitor an entire bucket, a prefix, or an object tag. </a:t>
            </a:r>
          </a:p>
          <a:p>
            <a:r>
              <a:rPr lang="en-US" dirty="0"/>
              <a:t>When an infrequent access pattern is observed, you can easily create a new lifecycle age policy that is based on the results. Storage class analysis also provides daily visualizations of your storage usage in the AWS Management Console. You can export them to an Amazon S3 bucket to analyze by using the business intelligence (BI) tools of your choice, such as Amazon </a:t>
            </a:r>
            <a:r>
              <a:rPr lang="en-US" dirty="0" err="1"/>
              <a:t>QuickSight</a:t>
            </a:r>
            <a:r>
              <a:rPr lang="en-US" dirty="0"/>
              <a:t>.</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20</a:t>
            </a:fld>
            <a:endParaRPr lang="en-AU"/>
          </a:p>
        </p:txBody>
      </p:sp>
    </p:spTree>
    <p:extLst>
      <p:ext uri="{BB962C8B-B14F-4D97-AF65-F5344CB8AC3E}">
        <p14:creationId xmlns:p14="http://schemas.microsoft.com/office/powerpoint/2010/main" val="2706427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 offers a range of object-level storage classes that are designed for different use cases. These classes include:</a:t>
            </a:r>
          </a:p>
          <a:p>
            <a:pPr marL="171450" indent="-171450">
              <a:buFont typeface="Arial" panose="020B0604020202020204" pitchFamily="34" charset="0"/>
              <a:buChar char="•"/>
            </a:pPr>
            <a:r>
              <a:rPr lang="en-US" b="1" dirty="0"/>
              <a:t>Amazon S3 Standard </a:t>
            </a:r>
            <a:r>
              <a:rPr lang="en-US" dirty="0"/>
              <a:t>– Amazon S3 Standard is designed for high durability, availability, and performance object storage for frequently accessed data. Because it delivers low latency and high throughput, Amazon S3 Standard is appropriate for a variety of use cases, including cloud applications, dynamic websites, content distribution, mobile and gaming applications, and big data analytics.</a:t>
            </a:r>
          </a:p>
          <a:p>
            <a:pPr marL="171450" indent="-171450">
              <a:buFont typeface="Arial" panose="020B0604020202020204" pitchFamily="34" charset="0"/>
              <a:buChar char="•"/>
            </a:pPr>
            <a:r>
              <a:rPr lang="en-US" b="1" dirty="0"/>
              <a:t>Amazon S3 Intelligent-Tiering</a:t>
            </a:r>
            <a:r>
              <a:rPr lang="en-US" dirty="0"/>
              <a:t> – The Amazon S3 Intelligent-Tiering storage class is designed to optimize costs by automatically moving data to the most cost-effective access tier, without performance impact or operational overhead. For a small monthly monitoring and automation fee per object, Amazon S3 monitors access patterns of the objects in Amazon S3 Intelligent-Tiering, and moves the objects that have not been accessed for 30 consecutive days to the infrequent access tier. If an object in the infrequent access tier is accessed, it is automatically moved back to the frequent access tier. There are no retrieval fees when you use the Amazon S3 Intelligent-Tiering storage class, and no additional fees when objects are moved between access tiers. It works well for long-lived data with access patterns that are unknown or unpredictable.</a:t>
            </a:r>
          </a:p>
          <a:p>
            <a:pPr marL="171450" indent="-171450">
              <a:buFont typeface="Arial" panose="020B0604020202020204" pitchFamily="34" charset="0"/>
              <a:buChar char="•"/>
            </a:pPr>
            <a:r>
              <a:rPr lang="en-US" b="1" dirty="0"/>
              <a:t>Amazon S3 Standard-Infrequent Access (Amazon S3 Standard-IA) </a:t>
            </a:r>
            <a:r>
              <a:rPr lang="en-US" dirty="0"/>
              <a:t>– The Amazon S3 Standard-IA storage class is used for data that is accessed less frequently, but requires rapid access when needed. Amazon S3 Standard-IA is designed to provide the high durability, high throughput, and low latency of Amazon S3 Standard, with a low per-GB storage price and per-GB retrieval fee. This combination of low cost and high performance makes Amazon S3 Standard-IA good for long-term storage and backups, and as a data store for disaster recovery files. </a:t>
            </a:r>
          </a:p>
          <a:p>
            <a:pPr marL="171450" indent="-171450">
              <a:buFont typeface="Arial" panose="020B0604020202020204" pitchFamily="34" charset="0"/>
              <a:buChar char="•"/>
            </a:pPr>
            <a:r>
              <a:rPr lang="en-US" b="1" dirty="0"/>
              <a:t>Amazon S3 One Zone-Infrequent Access (Amazon S3 One Zone-IA) </a:t>
            </a:r>
            <a:r>
              <a:rPr lang="en-US" dirty="0"/>
              <a:t>– Amazon S3 One Zone-IA is for data that is accessed less frequently, but requires rapid access when needed. Unlike other Amazon S3 storage classes, which store data in a minimum of three Availability Zones, Amazon S3 One Zone-IA stores data in a single Availability Zone and it costs less than Amazon S3 Standard-IA. Amazon S3 One Zone-IA works well for customers who want a lower-cost option for infrequently accessed data, but do not require the availability and resilience of Amazon S3 Standard or Amazon S3 Standard-IA. It is a good choice for storing secondary backup copies of on-premises data or easily re-creatable data. You can also use it as cost-effective storage for data that is replicated from another AWS Region by using Amazon S3 Cross-Region Replication.</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Amazon S3 Glacier </a:t>
            </a:r>
            <a:r>
              <a:rPr lang="en-US" dirty="0"/>
              <a:t>– Amazon S3 Glacier is a secure, durable, and low-cost storage class for data archiving. You can reliably store any amount of data at costs that are competitive with—or cheaper than—on-premises solutions. To keep costs low yet suitable for varying needs, Amazon S3 Glacier provides three retrieval options that range from a few minutes to hours. You can upload objects directly to Amazon S3 Glacier, or use Amazon S3 lifecycle policies to transfer data between any of the Amazon S3 storage classes for active data (Amazon S3 Standard, Amazon S3 Intelligent-Tiering, Amazon S3 Standard-IA, and Amazon S3 One Zone-IA) and Amazon S3 Glacier.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Amazon S3 Glacier Deep Archive </a:t>
            </a:r>
            <a:r>
              <a:rPr lang="en-US" dirty="0"/>
              <a:t>– Amazon S3 Glacier Deep Archive is the lowest-cost storage class for Amazon S3. It supports long-term retention and digital preservation for data that might be accessed once or twice in a year. It is designed for customers — particularly customers in highly regulated industries, such as financial services, healthcare, and public sectors — that retain datasets for 7–10 years (or more) to meet regulatory compliance requirements. Amazon S3 Glacier Deep Archive can also be used for backup and disaster recovery use cases. It is a cost-effective and easy-to-manage alternative to magnetic tape systems, whether these tape systems are on-premises libraries or off-premises services. Amazon S3 Glacier Deep Archive complements Amazon S3 Glacier, and it is also designed to provide 11 9s of durability. All objects that are stored in Amazon S3 Glacier Deep Archive are replicated and stored across at least three geographically dispersed Availability Zones, and these objects can be restored within 12 hours.</a:t>
            </a:r>
          </a:p>
          <a:p>
            <a:pPr marL="171450" indent="-171450">
              <a:buFont typeface="Arial" panose="020B0604020202020204" pitchFamily="34" charset="0"/>
              <a:buChar char="•"/>
            </a:pPr>
            <a:endParaRPr lang="en-US" dirty="0"/>
          </a:p>
          <a:p>
            <a:pPr lvl="0"/>
            <a:r>
              <a:rPr lang="en-US" dirty="0"/>
              <a:t>For more information about Amazon S3 storage classes, see </a:t>
            </a:r>
            <a:r>
              <a:rPr lang="en-GB" dirty="0">
                <a:hlinkClick r:id="rId3"/>
              </a:rPr>
              <a:t>https://docs.aws.amazon.com/AmazonS3/latest/dev/storage-class-intro.html</a:t>
            </a:r>
            <a:r>
              <a:rPr lang="en-US" dirty="0"/>
              <a:t>.</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21</a:t>
            </a:fld>
            <a:endParaRPr lang="en-AU"/>
          </a:p>
        </p:txBody>
      </p:sp>
    </p:spTree>
    <p:extLst>
      <p:ext uri="{BB962C8B-B14F-4D97-AF65-F5344CB8AC3E}">
        <p14:creationId xmlns:p14="http://schemas.microsoft.com/office/powerpoint/2010/main" val="3181406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use Amazon S3 effectively, you must understand a few simple concepts. First, Amazon S3 stores data inside </a:t>
            </a:r>
            <a:r>
              <a:rPr lang="en-US" b="1" dirty="0"/>
              <a:t>buckets</a:t>
            </a:r>
            <a:r>
              <a:rPr lang="en-US" dirty="0"/>
              <a:t>. Buckets are essentially the prefix for a set of files, and must be uniquely named across all of Amazon S3 globally. Buckets are logical containers for objects. You can have one or more buckets in your account. You can control access for each bucket—who can create, delete, and list objects in the bucket. You can also view access logs for the bucket and its objects, and choose the geographical region where Amazon S3 stores the bucket and its contents. </a:t>
            </a:r>
          </a:p>
          <a:p>
            <a:r>
              <a:rPr lang="en-US" dirty="0"/>
              <a:t> </a:t>
            </a:r>
          </a:p>
          <a:p>
            <a:r>
              <a:rPr lang="en-US" dirty="0"/>
              <a:t>To upload your data (such as photos, videos, or documents), create a bucket in an AWS Region, and then upload almost any number of objects to the bucket. </a:t>
            </a:r>
          </a:p>
          <a:p>
            <a:r>
              <a:rPr lang="en-US" dirty="0"/>
              <a:t> </a:t>
            </a:r>
          </a:p>
          <a:p>
            <a:r>
              <a:rPr lang="en-US" dirty="0"/>
              <a:t>In the example, Amazon S3 was used to create a bucket in the Tokyo Region, which is identified within AWS formally by its Region code: ap-northeast-1</a:t>
            </a:r>
          </a:p>
          <a:p>
            <a:r>
              <a:rPr lang="en-US" dirty="0"/>
              <a:t> </a:t>
            </a:r>
          </a:p>
          <a:p>
            <a:r>
              <a:rPr lang="en-US" dirty="0"/>
              <a:t>The URL for a bucket is structured like the examples. You can use two different URL styles to refer to buckets. </a:t>
            </a:r>
          </a:p>
          <a:p>
            <a:endParaRPr lang="en-US" dirty="0"/>
          </a:p>
          <a:p>
            <a:r>
              <a:rPr lang="en-US" dirty="0"/>
              <a:t>Amazon S3 refers to files as objects. As soon as you have a bucket, you can store almost any number of objects inside it. An object is composed of data and any metadata that describes that file, including a URL. To store an object in Amazon S3, you upload the file that you want to store to a bucket. </a:t>
            </a:r>
          </a:p>
          <a:p>
            <a:endParaRPr lang="en-US" dirty="0"/>
          </a:p>
          <a:p>
            <a:r>
              <a:rPr lang="en-US" dirty="0"/>
              <a:t>When you upload a file, you can set permissions on the data and any metadata. </a:t>
            </a:r>
          </a:p>
          <a:p>
            <a:endParaRPr lang="en-US" dirty="0"/>
          </a:p>
          <a:p>
            <a:r>
              <a:rPr lang="en-US" dirty="0"/>
              <a:t>In this example, the object Preview2.mp4 is stored inside the bucket. The URL for the file includes the object name at the end.</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22</a:t>
            </a:fld>
            <a:endParaRPr lang="en-AU"/>
          </a:p>
        </p:txBody>
      </p:sp>
    </p:spTree>
    <p:extLst>
      <p:ext uri="{BB962C8B-B14F-4D97-AF65-F5344CB8AC3E}">
        <p14:creationId xmlns:p14="http://schemas.microsoft.com/office/powerpoint/2010/main" val="302127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 automatically manages the storage behind your bucket while your data grows. You can get started immediately, and your data storage will grow with your application needs. </a:t>
            </a:r>
          </a:p>
          <a:p>
            <a:endParaRPr lang="en-US" dirty="0"/>
          </a:p>
          <a:p>
            <a:r>
              <a:rPr lang="en-US" dirty="0"/>
              <a:t>Amazon S3 also scales to handle a high volume of requests. You do not need to provision the storage or throughput, and you are billed only for what you use. </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23</a:t>
            </a:fld>
            <a:endParaRPr lang="en-AU"/>
          </a:p>
        </p:txBody>
      </p:sp>
    </p:spTree>
    <p:extLst>
      <p:ext uri="{BB962C8B-B14F-4D97-AF65-F5344CB8AC3E}">
        <p14:creationId xmlns:p14="http://schemas.microsoft.com/office/powerpoint/2010/main" val="623111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use Amazon S3 Glacier to archive data, you can store your data at an extremely low cost (even in comparison to Amazon S3), but you cannot retrieve your data immediately when you want it. </a:t>
            </a:r>
          </a:p>
          <a:p>
            <a:endParaRPr lang="en-US" dirty="0"/>
          </a:p>
          <a:p>
            <a:r>
              <a:rPr lang="en-US" dirty="0"/>
              <a:t>Data that is stored in Amazon S3 Glacier can take several hours to retrieve, which is why it works well for archiving.</a:t>
            </a:r>
          </a:p>
          <a:p>
            <a:endParaRPr lang="en-US" dirty="0"/>
          </a:p>
          <a:p>
            <a:r>
              <a:rPr lang="en-US" dirty="0"/>
              <a:t>There are three key Amazon S3 Glacier terms you should be familiar with:</a:t>
            </a:r>
          </a:p>
          <a:p>
            <a:pPr marL="171450" indent="-171450">
              <a:buFont typeface="Arial" panose="020B0604020202020204" pitchFamily="34" charset="0"/>
              <a:buChar char="•"/>
            </a:pPr>
            <a:r>
              <a:rPr lang="en-US" b="1" dirty="0"/>
              <a:t>Archive</a:t>
            </a:r>
            <a:r>
              <a:rPr lang="en-US" dirty="0"/>
              <a:t> – Any object (such as a photo, video, file, or document) that you store in Amazon S3 Glacier. It is the base unit of storage in Amazon S3 Glacier. Each archive has its own unique ID and it can also have a description.</a:t>
            </a:r>
          </a:p>
          <a:p>
            <a:pPr marL="171450" indent="-171450">
              <a:buFont typeface="Arial" panose="020B0604020202020204" pitchFamily="34" charset="0"/>
              <a:buChar char="•"/>
            </a:pPr>
            <a:r>
              <a:rPr lang="en-US" b="1" dirty="0"/>
              <a:t>Vault</a:t>
            </a:r>
            <a:r>
              <a:rPr lang="en-US" dirty="0"/>
              <a:t> – A container for storing archives. When you create a vault, you specify the vault name and the Region where you want to locate the vault.</a:t>
            </a:r>
          </a:p>
          <a:p>
            <a:pPr marL="171450" indent="-171450">
              <a:buFont typeface="Arial" panose="020B0604020202020204" pitchFamily="34" charset="0"/>
              <a:buChar char="•"/>
            </a:pPr>
            <a:r>
              <a:rPr lang="en-US" b="1" dirty="0"/>
              <a:t>Vault access policy </a:t>
            </a:r>
            <a:r>
              <a:rPr lang="en-US" dirty="0"/>
              <a:t>– Determine who can and cannot access the data that is stored in the vault, and what operations users can and cannot perform. One vault access permissions policy can be created for each vault to manage access permissions for that vault. You can also use a vault lock policy to make sure that a vault cannot be altered. Each vault can have one vault access policy and one vault lock policy that are attached to it.</a:t>
            </a:r>
          </a:p>
          <a:p>
            <a:endParaRPr lang="en-US" dirty="0"/>
          </a:p>
          <a:p>
            <a:r>
              <a:rPr lang="en-US" dirty="0"/>
              <a:t>You have three options for retrieving data, each with varying access times and cost:</a:t>
            </a:r>
          </a:p>
          <a:p>
            <a:pPr marL="171450" indent="-171450">
              <a:buFont typeface="Arial" panose="020B0604020202020204" pitchFamily="34" charset="0"/>
              <a:buChar char="•"/>
            </a:pPr>
            <a:r>
              <a:rPr lang="en-US" b="1" dirty="0"/>
              <a:t>Expedited</a:t>
            </a:r>
            <a:r>
              <a:rPr lang="en-US" dirty="0"/>
              <a:t> retrievals are typically made available within 1–5 minutes (highest cost).</a:t>
            </a:r>
          </a:p>
          <a:p>
            <a:pPr marL="171450" indent="-171450">
              <a:buFont typeface="Arial" panose="020B0604020202020204" pitchFamily="34" charset="0"/>
              <a:buChar char="•"/>
            </a:pPr>
            <a:r>
              <a:rPr lang="en-US" b="1" dirty="0"/>
              <a:t>Standard</a:t>
            </a:r>
            <a:r>
              <a:rPr lang="en-US" dirty="0"/>
              <a:t> retrievals typically complete within 3–5 hours (less time than expedited, more time than bulk).</a:t>
            </a:r>
          </a:p>
          <a:p>
            <a:pPr marL="171450" indent="-171450">
              <a:buFont typeface="Arial" panose="020B0604020202020204" pitchFamily="34" charset="0"/>
              <a:buChar char="•"/>
            </a:pPr>
            <a:r>
              <a:rPr lang="en-US" b="1" dirty="0"/>
              <a:t>Bulk</a:t>
            </a:r>
            <a:r>
              <a:rPr lang="en-US" dirty="0"/>
              <a:t> retrievals typically complete within 5–12 hours (lowest cost).</a:t>
            </a:r>
          </a:p>
          <a:p>
            <a:endParaRPr lang="en-US" dirty="0"/>
          </a:p>
          <a:p>
            <a:r>
              <a:rPr lang="en-US" dirty="0"/>
              <a:t>You might compare these options to choosing the cost for shipping a package by using the most economical method for your needs.</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24</a:t>
            </a:fld>
            <a:endParaRPr lang="en-AU"/>
          </a:p>
        </p:txBody>
      </p:sp>
    </p:spTree>
    <p:extLst>
      <p:ext uri="{BB962C8B-B14F-4D97-AF65-F5344CB8AC3E}">
        <p14:creationId xmlns:p14="http://schemas.microsoft.com/office/powerpoint/2010/main" val="225819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 Glacier's data archiving means that although you can store your data at an extremely low cost (even in comparison to Amazon S3), you cannot retrieve your data immediately when you want it. </a:t>
            </a:r>
          </a:p>
          <a:p>
            <a:endParaRPr lang="en-US" dirty="0"/>
          </a:p>
          <a:p>
            <a:r>
              <a:rPr lang="en-US" dirty="0"/>
              <a:t>Data stored in Amazon S3 Glacier can take several hours to retrieve.</a:t>
            </a:r>
          </a:p>
          <a:p>
            <a:endParaRPr lang="en-US" dirty="0"/>
          </a:p>
          <a:p>
            <a:r>
              <a:rPr lang="en-US" dirty="0"/>
              <a:t>You should be familiar with three key Amazon S3 Glacier terms:</a:t>
            </a:r>
          </a:p>
          <a:p>
            <a:pPr marL="171450" indent="-171450">
              <a:buFont typeface="Arial" panose="020B0604020202020204" pitchFamily="34" charset="0"/>
              <a:buChar char="•"/>
            </a:pPr>
            <a:r>
              <a:rPr lang="en-US" b="1" dirty="0"/>
              <a:t>Archive:</a:t>
            </a:r>
            <a:r>
              <a:rPr lang="en-US" dirty="0"/>
              <a:t> Any object such as a photo, video, file, or document that you store in Amazon S3 Glacier. It is the base unit of storage in Amazon S3 Glacier. Each archive has its own unique ID and can also have a description.</a:t>
            </a:r>
          </a:p>
          <a:p>
            <a:pPr marL="171450" indent="-171450">
              <a:buFont typeface="Arial" panose="020B0604020202020204" pitchFamily="34" charset="0"/>
              <a:buChar char="•"/>
            </a:pPr>
            <a:r>
              <a:rPr lang="en-US" b="1" dirty="0"/>
              <a:t>Vault:</a:t>
            </a:r>
            <a:r>
              <a:rPr lang="en-US" dirty="0"/>
              <a:t> A container for storing archives. When you create a vault, you specify the vault name and the region in which you would like to locate the vault.</a:t>
            </a:r>
          </a:p>
          <a:p>
            <a:pPr marL="171450" indent="-171450">
              <a:buFont typeface="Arial" panose="020B0604020202020204" pitchFamily="34" charset="0"/>
              <a:buChar char="•"/>
            </a:pPr>
            <a:r>
              <a:rPr lang="en-US" b="1" dirty="0"/>
              <a:t>Vault Access Policy: </a:t>
            </a:r>
            <a:r>
              <a:rPr lang="en-US" dirty="0"/>
              <a:t>Determine who can and cannot access the data stored in the vault and what operations users can and cannot perform. One vault access policy can be created for each vault to manage access permissions for that vault. You can also use a vault lock policy to make sure a vault cannot be altered. Each vault can have one vault access policy and one vault lock policy that is attached to it.</a:t>
            </a:r>
          </a:p>
          <a:p>
            <a:endParaRPr lang="en-US" dirty="0"/>
          </a:p>
          <a:p>
            <a:r>
              <a:rPr lang="en-US" dirty="0"/>
              <a:t>Three options are available for retrieving data with varying access times and cost: expedited, standard, and bulk retrievals. They are listed as follows:</a:t>
            </a:r>
          </a:p>
          <a:p>
            <a:pPr marL="171450" indent="-171450">
              <a:buFont typeface="Arial" panose="020B0604020202020204" pitchFamily="34" charset="0"/>
              <a:buChar char="•"/>
            </a:pPr>
            <a:r>
              <a:rPr lang="en-US" b="1" dirty="0"/>
              <a:t>Expedited</a:t>
            </a:r>
            <a:r>
              <a:rPr lang="en-US" dirty="0"/>
              <a:t> retrievals are typically made available within 1 – 5 minutes (highest cost).</a:t>
            </a:r>
          </a:p>
          <a:p>
            <a:pPr marL="171450" indent="-171450">
              <a:buFont typeface="Arial" panose="020B0604020202020204" pitchFamily="34" charset="0"/>
              <a:buChar char="•"/>
            </a:pPr>
            <a:r>
              <a:rPr lang="en-US" b="1" dirty="0"/>
              <a:t>Standard</a:t>
            </a:r>
            <a:r>
              <a:rPr lang="en-US" dirty="0"/>
              <a:t> retrievals typically complete within 3 – 5 hours (less than expedited, more than bulk).</a:t>
            </a:r>
          </a:p>
          <a:p>
            <a:pPr marL="171450" indent="-171450">
              <a:buFont typeface="Arial" panose="020B0604020202020204" pitchFamily="34" charset="0"/>
              <a:buChar char="•"/>
            </a:pPr>
            <a:r>
              <a:rPr lang="en-US" b="1" dirty="0"/>
              <a:t>Bulk</a:t>
            </a:r>
            <a:r>
              <a:rPr lang="en-US" dirty="0"/>
              <a:t> retrievals typically complete within 5 – 12 hours (lowest cost).</a:t>
            </a:r>
          </a:p>
          <a:p>
            <a:endParaRPr lang="en-US" dirty="0"/>
          </a:p>
          <a:p>
            <a:r>
              <a:rPr lang="en-US" dirty="0"/>
              <a:t>Compare it to choosing the cost to most economically ship a package.</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25</a:t>
            </a:fld>
            <a:endParaRPr lang="en-AU"/>
          </a:p>
        </p:txBody>
      </p:sp>
    </p:spTree>
    <p:extLst>
      <p:ext uri="{BB962C8B-B14F-4D97-AF65-F5344CB8AC3E}">
        <p14:creationId xmlns:p14="http://schemas.microsoft.com/office/powerpoint/2010/main" val="3773293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Media asset archiving</a:t>
            </a:r>
          </a:p>
          <a:p>
            <a:r>
              <a:rPr lang="en-US" dirty="0"/>
              <a:t>Media assets—such as video and news footage—require durable storage and can grow to many petabytes over time. Amazon S3 Glacier enables you to archive older media content affordably and then move it to Amazon S3 for distribution when it is needed.</a:t>
            </a:r>
          </a:p>
          <a:p>
            <a:endParaRPr lang="en-US" dirty="0"/>
          </a:p>
          <a:p>
            <a:r>
              <a:rPr lang="en-US" b="1" dirty="0"/>
              <a:t>Healthcare information archiving</a:t>
            </a:r>
          </a:p>
          <a:p>
            <a:r>
              <a:rPr lang="en-US" dirty="0"/>
              <a:t>To meet regulatory requirements, hospital systems must retain petabytes of patient records—such as Low-Income Subsidy (LIS) information, picture archiving and communication system (PACS) data, or Electronic Health Records (EHR)—for decades. Amazon S3 Glacier can help you reliably archive patient record data securely at a very low cost.</a:t>
            </a:r>
          </a:p>
          <a:p>
            <a:endParaRPr lang="en-US" dirty="0"/>
          </a:p>
          <a:p>
            <a:r>
              <a:rPr lang="en-US" b="1" dirty="0"/>
              <a:t>Regulatory and compliance archiving</a:t>
            </a:r>
          </a:p>
          <a:p>
            <a:r>
              <a:rPr lang="en-US" dirty="0"/>
              <a:t>Many enterprises, like those in financial services and healthcare, must retain regulatory and compliance archives for extended durations. Amazon S3 Glacier Vault Lock can help you set compliance controls so you can work towards meeting your compliance objectives, such as the U.S. Securities and Exchange Commission (SEC) Rule 17a-4(f).</a:t>
            </a:r>
          </a:p>
          <a:p>
            <a:endParaRPr lang="en-US" dirty="0"/>
          </a:p>
          <a:p>
            <a:r>
              <a:rPr lang="en-US" b="1" dirty="0"/>
              <a:t>Scientific data archiving</a:t>
            </a:r>
          </a:p>
          <a:p>
            <a:r>
              <a:rPr lang="en-US" dirty="0"/>
              <a:t>Research organizations generate, analyze, and archive large amounts of data. By using Amazon S3 Glacier, you can reduce the complexities of hardware and facility management and capacity planning.</a:t>
            </a:r>
          </a:p>
          <a:p>
            <a:endParaRPr lang="en-US" dirty="0"/>
          </a:p>
          <a:p>
            <a:r>
              <a:rPr lang="en-US" b="1" dirty="0"/>
              <a:t>Digital preservation</a:t>
            </a:r>
          </a:p>
          <a:p>
            <a:r>
              <a:rPr lang="en-US" dirty="0"/>
              <a:t>Libraries and government agencies must handle data integrity challenges in their digital preservation efforts. Unlike traditional systems—which can require laborious data verification and manual repair—Amazon S3 Glacier performs regular, systematic data integrity checks, and it is designed to be automatically self-healing.</a:t>
            </a:r>
          </a:p>
          <a:p>
            <a:endParaRPr lang="en-US" dirty="0"/>
          </a:p>
          <a:p>
            <a:r>
              <a:rPr lang="en-US" b="1" dirty="0"/>
              <a:t>Magnetic tape replacement</a:t>
            </a:r>
          </a:p>
          <a:p>
            <a:r>
              <a:rPr lang="en-US" dirty="0"/>
              <a:t>On-premises or offsite tape libraries can lower storage costs, but they can require large upfront investments and specialized maintenance. Amazon S3 Glacier has no upfront cost and reduces the cost and burden of maintenance.</a:t>
            </a:r>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26</a:t>
            </a:fld>
            <a:endParaRPr lang="en-AU"/>
          </a:p>
        </p:txBody>
      </p:sp>
    </p:spTree>
    <p:extLst>
      <p:ext uri="{BB962C8B-B14F-4D97-AF65-F5344CB8AC3E}">
        <p14:creationId xmlns:p14="http://schemas.microsoft.com/office/powerpoint/2010/main" val="2991246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should automate the lifecycle of the data that you store in Amazon S3. By using lifecycle policies, you can cycle data at regular intervals between different Amazon S3 storage types. This automation reduces your overall cost, because you pay less for data as it becomes less important with time.</a:t>
            </a:r>
          </a:p>
          <a:p>
            <a:endParaRPr lang="en-US" dirty="0"/>
          </a:p>
          <a:p>
            <a:r>
              <a:rPr lang="en-US" dirty="0"/>
              <a:t>In addition to setting lifecycle rules per object, you can also set lifecycle rules per bucket.</a:t>
            </a:r>
          </a:p>
          <a:p>
            <a:endParaRPr lang="en-US" dirty="0"/>
          </a:p>
          <a:p>
            <a:r>
              <a:rPr lang="en-US" dirty="0"/>
              <a:t>Consider an example of a lifecycle policy that moves data as it ages from </a:t>
            </a:r>
            <a:r>
              <a:rPr lang="en-US" b="1" dirty="0"/>
              <a:t>Amazon S3 Standard </a:t>
            </a:r>
            <a:r>
              <a:rPr lang="en-US" dirty="0"/>
              <a:t>to </a:t>
            </a:r>
            <a:r>
              <a:rPr lang="en-US" b="1" dirty="0"/>
              <a:t>Amazon S3 Standard – Infrequent Access</a:t>
            </a:r>
            <a:r>
              <a:rPr lang="en-US" dirty="0"/>
              <a:t>, and finally, into </a:t>
            </a:r>
            <a:r>
              <a:rPr lang="en-US" b="1" dirty="0"/>
              <a:t>Amazon S3 Glacier </a:t>
            </a:r>
            <a:r>
              <a:rPr lang="en-US" dirty="0"/>
              <a:t>before it is deleted. Suppose that a user uploads a video to your application and your application generates a thumbnail preview of the video. This video preview is stored to Amazon S3 Standard, because it is likely that the user wants to access it right away. </a:t>
            </a:r>
          </a:p>
          <a:p>
            <a:endParaRPr lang="en-US" dirty="0"/>
          </a:p>
          <a:p>
            <a:r>
              <a:rPr lang="en-US" dirty="0"/>
              <a:t>Your usage data indicates that most thumbnail previews are not accessed after 30 days. Your lifecycle policy takes these previews and moves them to Amazon S3 – Infrequent Access after 30 days. After another 30 days elapse, the preview is unlikely to be accessed again. The preview is then moved to Amazon S3 Glacier, where it remains for 1 year. After 1 year, the preview is deleted. The important thing is that the lifecycle policy manages all this movement automatically.</a:t>
            </a:r>
            <a:br>
              <a:rPr lang="en-US" dirty="0"/>
            </a:br>
            <a:endParaRPr lang="en-US" dirty="0"/>
          </a:p>
          <a:p>
            <a:pPr lvl="0"/>
            <a:r>
              <a:rPr lang="en-US" dirty="0"/>
              <a:t>To learn more about object lifecycle management, see </a:t>
            </a:r>
            <a:r>
              <a:rPr lang="en-GB" dirty="0">
                <a:hlinkClick r:id="rId3"/>
              </a:rPr>
              <a:t>http://docs.aws.amazon.com/AmazonS3/latest/dev/object-lifecycle-mgmt.html</a:t>
            </a:r>
            <a:endParaRPr lang="en-US" dirty="0"/>
          </a:p>
          <a:p>
            <a:endParaRPr lang="en-AU" dirty="0"/>
          </a:p>
        </p:txBody>
      </p:sp>
      <p:sp>
        <p:nvSpPr>
          <p:cNvPr id="4" name="Slide Number Placeholder 3"/>
          <p:cNvSpPr>
            <a:spLocks noGrp="1"/>
          </p:cNvSpPr>
          <p:nvPr>
            <p:ph type="sldNum" sz="quarter" idx="5"/>
          </p:nvPr>
        </p:nvSpPr>
        <p:spPr/>
        <p:txBody>
          <a:bodyPr/>
          <a:lstStyle/>
          <a:p>
            <a:fld id="{05FE64DF-1904-4D26-9C76-C5374C8884DB}" type="slidenum">
              <a:rPr lang="en-AU" smtClean="0"/>
              <a:t>27</a:t>
            </a:fld>
            <a:endParaRPr lang="en-AU"/>
          </a:p>
        </p:txBody>
      </p:sp>
    </p:spTree>
    <p:extLst>
      <p:ext uri="{BB962C8B-B14F-4D97-AF65-F5344CB8AC3E}">
        <p14:creationId xmlns:p14="http://schemas.microsoft.com/office/powerpoint/2010/main" val="816092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5.sv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10" Type="http://schemas.openxmlformats.org/officeDocument/2006/relationships/image" Target="../media/image8.svg"/><Relationship Id="rId4" Type="http://schemas.openxmlformats.org/officeDocument/2006/relationships/image" Target="../media/image10.svg"/><Relationship Id="rId9" Type="http://schemas.openxmlformats.org/officeDocument/2006/relationships/image" Target="../media/image15.svg"/></Relationships>
</file>

<file path=ppt/slides/_rels/slide10.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2.svg"/><Relationship Id="rId7"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16.svg"/><Relationship Id="rId4" Type="http://schemas.openxmlformats.org/officeDocument/2006/relationships/image" Target="../media/image11.svg"/><Relationship Id="rId9" Type="http://schemas.openxmlformats.org/officeDocument/2006/relationships/image" Target="../media/image1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s3/" TargetMode="External"/><Relationship Id="rId5" Type="http://schemas.openxmlformats.org/officeDocument/2006/relationships/image" Target="../media/image17.sv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0.svg"/></Relationships>
</file>

<file path=ppt/slides/_rels/slide2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5.png"/><Relationship Id="rId4" Type="http://schemas.openxmlformats.org/officeDocument/2006/relationships/image" Target="../media/image24.svg"/></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515600" cy="2377440"/>
          </a:xfrm>
          <a:prstGeom prst="rect">
            <a:avLst/>
          </a:prstGeom>
          <a:noFill/>
        </p:spPr>
        <p:txBody>
          <a:bodyPr wrap="square" lIns="0" tIns="0" rIns="0" bIns="0" anchor="t">
            <a:spAutoFit/>
          </a:bodyPr>
          <a:lstStyle/>
          <a:p>
            <a:r>
              <a:rPr sz="2000" b="1" i="0">
                <a:solidFill>
                  <a:srgbClr val="FBB900"/>
                </a:solidFill>
                <a:latin typeface="Roboto"/>
              </a:rPr>
              <a:t>TOPIC 08b</a:t>
            </a:r>
          </a:p>
          <a:p>
            <a:pPr>
              <a:spcBef>
                <a:spcPts val="800"/>
              </a:spcBef>
            </a:pPr>
            <a:r>
              <a:rPr sz="4600" b="1" i="0">
                <a:solidFill>
                  <a:srgbClr val="FFFFFF"/>
                </a:solidFill>
                <a:latin typeface="Roboto"/>
              </a:rPr>
              <a:t>The workload tier — data &amp; storage</a:t>
            </a:r>
          </a:p>
          <a:p>
            <a:pPr>
              <a:spcBef>
                <a:spcPts val="1200"/>
              </a:spcBef>
            </a:pPr>
            <a:r>
              <a:rPr sz="2200" b="0" i="1">
                <a:solidFill>
                  <a:srgbClr val="D1D1D1"/>
                </a:solidFill>
                <a:latin typeface="Roboto Light"/>
              </a:rPr>
              <a:t>Provision the managed database, and the object &amp; archive storage the application relies on</a:t>
            </a:r>
          </a:p>
        </p:txBody>
      </p:sp>
      <p:sp>
        <p:nvSpPr>
          <p:cNvPr id="4" name="TextBox 3"/>
          <p:cNvSpPr txBox="1"/>
          <p:nvPr/>
        </p:nvSpPr>
        <p:spPr>
          <a:xfrm>
            <a:off x="914400" y="5943600"/>
            <a:ext cx="7315200" cy="457200"/>
          </a:xfrm>
          <a:prstGeom prst="rect">
            <a:avLst/>
          </a:prstGeom>
          <a:noFill/>
        </p:spPr>
        <p:txBody>
          <a:bodyPr wrap="square" lIns="0" tIns="0" rIns="0" bIns="0" anchor="t">
            <a:spAutoFit/>
          </a:bodyPr>
          <a:lstStyle/>
          <a:p>
            <a:r>
              <a:rPr sz="1600" b="1" i="0">
                <a:solidFill>
                  <a:srgbClr val="FFFFFF"/>
                </a:solidFill>
                <a:latin typeface="Roboto"/>
              </a:rPr>
              <a:t>Kangan </a:t>
            </a:r>
            <a:r>
              <a:rPr sz="1600" b="1" i="0">
                <a:solidFill>
                  <a:srgbClr val="EDAB0C"/>
                </a:solidFill>
                <a:latin typeface="Roboto"/>
              </a:rPr>
              <a:t>Institute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data tier</a:t>
            </a:r>
          </a:p>
          <a:p>
            <a:pPr>
              <a:spcBef>
                <a:spcPts val="200"/>
              </a:spcBef>
            </a:pPr>
            <a:r>
              <a:rPr sz="1800" b="0" i="1">
                <a:solidFill>
                  <a:srgbClr val="D68E10"/>
                </a:solidFill>
                <a:latin typeface="Roboto Light"/>
              </a:rPr>
              <a:t>compute is built — now the data</a:t>
            </a:r>
          </a:p>
        </p:txBody>
      </p:sp>
      <p:sp>
        <p:nvSpPr>
          <p:cNvPr id="3" name="Rectangle 2"/>
          <p:cNvSpPr/>
          <p:nvPr/>
        </p:nvSpPr>
        <p:spPr>
          <a:xfrm>
            <a:off x="658368" y="13716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8a launched the compute and put it behind a scaling load balancer.</a:t>
            </a:r>
          </a:p>
          <a:p>
            <a:pPr marL="0" indent="0">
              <a:lnSpc>
                <a:spcPct val="105000"/>
              </a:lnSpc>
              <a:spcBef>
                <a:spcPts val="0"/>
              </a:spcBef>
              <a:spcAft>
                <a:spcPts val="1000"/>
              </a:spcAft>
            </a:pPr>
            <a:r>
              <a:rPr sz="1800" b="1" i="0">
                <a:solidFill>
                  <a:srgbClr val="92268F"/>
                </a:solidFill>
                <a:latin typeface="Roboto"/>
              </a:rPr>
              <a:t>■  8b adds the data: a managed database (Amazon RDS) and object/archive storage (Amazon S3 + Glacier).</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Still building the supplied design, still capturing evidence.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Watch the recorded demo, then do it yourself.</a:t>
            </a:r>
          </a:p>
        </p:txBody>
      </p:sp>
      <p:sp>
        <p:nvSpPr>
          <p:cNvPr id="5" name="Rectangle 4"/>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01</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92268F"/>
                </a:solidFill>
                <a:latin typeface="Roboto"/>
              </a:rPr>
              <a:t>SECTION</a:t>
            </a:r>
          </a:p>
          <a:p>
            <a:pPr>
              <a:spcBef>
                <a:spcPts val="600"/>
              </a:spcBef>
            </a:pPr>
            <a:r>
              <a:rPr sz="3800" b="1" i="0">
                <a:solidFill>
                  <a:srgbClr val="2A2929"/>
                </a:solidFill>
                <a:latin typeface="Roboto"/>
              </a:rPr>
              <a:t>The managed database</a:t>
            </a:r>
          </a:p>
          <a:p>
            <a:pPr>
              <a:spcBef>
                <a:spcPts val="1000"/>
              </a:spcBef>
            </a:pPr>
            <a:r>
              <a:rPr sz="2000" b="0" i="1">
                <a:solidFill>
                  <a:srgbClr val="484848"/>
                </a:solidFill>
                <a:latin typeface="Roboto Light"/>
              </a:rPr>
              <a:t>Amazon RDS</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Databases, and who runs them</a:t>
            </a:r>
          </a:p>
          <a:p>
            <a:pPr>
              <a:spcBef>
                <a:spcPts val="200"/>
              </a:spcBef>
            </a:pPr>
            <a:r>
              <a:rPr sz="1800" b="0" i="1">
                <a:solidFill>
                  <a:srgbClr val="D68E10"/>
                </a:solidFill>
                <a:latin typeface="Roboto Light"/>
              </a:rPr>
              <a:t>the fundamentals</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 relational database stores structured data in tables, queried with SQL.</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Someone must run it: install + patch the OS and database, take backups, secure it, scale it.</a:t>
            </a:r>
          </a:p>
          <a:p>
            <a:pPr marL="0" indent="0">
              <a:lnSpc>
                <a:spcPct val="105000"/>
              </a:lnSpc>
              <a:spcBef>
                <a:spcPts val="0"/>
              </a:spcBef>
              <a:spcAft>
                <a:spcPts val="1000"/>
              </a:spcAft>
            </a:pPr>
            <a:r>
              <a:rPr sz="1800" b="1" i="0">
                <a:solidFill>
                  <a:srgbClr val="92268F"/>
                </a:solidFill>
                <a:latin typeface="Roboto"/>
              </a:rPr>
              <a:t>■  Self-hosted = you do all of that (e.g. on an EC2 instance). Managed = the cloud provider does it.</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2</a:t>
            </a:r>
          </a:p>
        </p:txBody>
      </p:sp>
      <p:sp>
        <p:nvSpPr>
          <p:cNvPr id="8" name="Content Placeholder 2">
            <a:extLst>
              <a:ext uri="{FF2B5EF4-FFF2-40B4-BE49-F238E27FC236}">
                <a16:creationId xmlns:a16="http://schemas.microsoft.com/office/drawing/2014/main" id="{0C0C5659-4DD6-ADB6-F6EB-0FD2B9E3C980}"/>
              </a:ext>
            </a:extLst>
          </p:cNvPr>
          <p:cNvSpPr txBox="1">
            <a:spLocks/>
          </p:cNvSpPr>
          <p:nvPr/>
        </p:nvSpPr>
        <p:spPr>
          <a:xfrm>
            <a:off x="1711078" y="2920618"/>
            <a:ext cx="2441448" cy="612648"/>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b="1" dirty="0">
                <a:solidFill>
                  <a:srgbClr val="504BAB"/>
                </a:solidFill>
              </a:rPr>
              <a:t>Self Hosted</a:t>
            </a:r>
            <a:r>
              <a:rPr lang="en-US" dirty="0">
                <a:solidFill>
                  <a:srgbClr val="0070C0"/>
                </a:solidFill>
              </a:rPr>
              <a:t>:</a:t>
            </a:r>
          </a:p>
        </p:txBody>
      </p:sp>
      <p:sp>
        <p:nvSpPr>
          <p:cNvPr id="9" name="Content Placeholder 2">
            <a:extLst>
              <a:ext uri="{FF2B5EF4-FFF2-40B4-BE49-F238E27FC236}">
                <a16:creationId xmlns:a16="http://schemas.microsoft.com/office/drawing/2014/main" id="{F96FE29C-9419-734F-622C-AA20F1D48126}"/>
              </a:ext>
            </a:extLst>
          </p:cNvPr>
          <p:cNvSpPr txBox="1">
            <a:spLocks/>
          </p:cNvSpPr>
          <p:nvPr/>
        </p:nvSpPr>
        <p:spPr>
          <a:xfrm>
            <a:off x="658368" y="3530471"/>
            <a:ext cx="4548131" cy="647083"/>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3"/>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000" i="1" dirty="0">
                <a:latin typeface="Amazon Ember" panose="020B0603020204020204" pitchFamily="34" charset="0"/>
                <a:ea typeface="Amazon Ember" panose="020B0603020204020204" pitchFamily="34" charset="0"/>
                <a:cs typeface="Amazon Ember" panose="020B0603020204020204" pitchFamily="34" charset="0"/>
              </a:rPr>
              <a:t>Scaling, fault tolerance, and availability are managed by you.</a:t>
            </a:r>
          </a:p>
        </p:txBody>
      </p:sp>
      <p:pic>
        <p:nvPicPr>
          <p:cNvPr id="10" name="Picture 9" descr="Tools.">
            <a:extLst>
              <a:ext uri="{FF2B5EF4-FFF2-40B4-BE49-F238E27FC236}">
                <a16:creationId xmlns:a16="http://schemas.microsoft.com/office/drawing/2014/main" id="{5CEC8648-2F73-19EA-763E-69E8DA6CAEA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18478" y="4388207"/>
            <a:ext cx="1874804" cy="1783993"/>
          </a:xfrm>
          <a:prstGeom prst="rect">
            <a:avLst/>
          </a:prstGeom>
          <a:effectLst>
            <a:outerShdw blurRad="50800" dist="38100" dir="2700000" algn="tl" rotWithShape="0">
              <a:prstClr val="black">
                <a:alpha val="40000"/>
              </a:prstClr>
            </a:outerShdw>
          </a:effectLst>
        </p:spPr>
      </p:pic>
      <p:sp>
        <p:nvSpPr>
          <p:cNvPr id="11" name="Content Placeholder 2">
            <a:extLst>
              <a:ext uri="{FF2B5EF4-FFF2-40B4-BE49-F238E27FC236}">
                <a16:creationId xmlns:a16="http://schemas.microsoft.com/office/drawing/2014/main" id="{B844FDF8-3D6F-CA8A-3353-AB5F199CDA76}"/>
              </a:ext>
            </a:extLst>
          </p:cNvPr>
          <p:cNvSpPr txBox="1">
            <a:spLocks/>
          </p:cNvSpPr>
          <p:nvPr/>
        </p:nvSpPr>
        <p:spPr>
          <a:xfrm>
            <a:off x="7494934" y="2914020"/>
            <a:ext cx="2448985" cy="588460"/>
          </a:xfrm>
          <a:prstGeom prst="rect">
            <a:avLst/>
          </a:prstGeom>
        </p:spPr>
        <p:txBody>
          <a:bodyPr vert="horz" lIns="91440" tIns="45720" rIns="91440" bIns="45720" rtlCol="0">
            <a:normAutofit/>
          </a:bodyPr>
          <a:lstStyle>
            <a:lvl1pPr indent="0" algn="ctr">
              <a:lnSpc>
                <a:spcPct val="90000"/>
              </a:lnSpc>
              <a:spcBef>
                <a:spcPts val="1000"/>
              </a:spcBef>
              <a:buFontTx/>
              <a:buNone/>
              <a:defRPr sz="2800" b="0" i="0">
                <a:latin typeface="Amazon Ember Light" charset="0"/>
                <a:ea typeface="Amazon Ember Light" charset="0"/>
                <a:cs typeface="Amazon Ember Light" charset="0"/>
              </a:defRPr>
            </a:lvl1pPr>
            <a:lvl2pPr marL="685800" indent="-228600">
              <a:lnSpc>
                <a:spcPct val="90000"/>
              </a:lnSpc>
              <a:spcBef>
                <a:spcPts val="500"/>
              </a:spcBef>
              <a:buFontTx/>
              <a:buBlip>
                <a:blip r:embed="rId5"/>
              </a:buBlip>
              <a:defRPr sz="2400" b="0" i="0">
                <a:latin typeface="Amazon Ember Light" charset="0"/>
                <a:ea typeface="Amazon Ember Light" charset="0"/>
                <a:cs typeface="Amazon Ember Light" charset="0"/>
              </a:defRPr>
            </a:lvl2pPr>
            <a:lvl3pPr marL="1143000" indent="-228600">
              <a:lnSpc>
                <a:spcPct val="90000"/>
              </a:lnSpc>
              <a:spcBef>
                <a:spcPts val="500"/>
              </a:spcBef>
              <a:buFontTx/>
              <a:buBlip>
                <a:blip r:embed="rId5"/>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5"/>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5"/>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r>
              <a:rPr lang="en-US" b="1" dirty="0">
                <a:solidFill>
                  <a:srgbClr val="504BAB"/>
                </a:solidFill>
              </a:rPr>
              <a:t>Managed</a:t>
            </a:r>
            <a:r>
              <a:rPr lang="en-US" b="1" dirty="0">
                <a:solidFill>
                  <a:srgbClr val="0070C0"/>
                </a:solidFill>
              </a:rPr>
              <a:t>:</a:t>
            </a:r>
          </a:p>
        </p:txBody>
      </p:sp>
      <p:sp>
        <p:nvSpPr>
          <p:cNvPr id="12" name="Content Placeholder 2">
            <a:extLst>
              <a:ext uri="{FF2B5EF4-FFF2-40B4-BE49-F238E27FC236}">
                <a16:creationId xmlns:a16="http://schemas.microsoft.com/office/drawing/2014/main" id="{373973DE-145B-1C64-282D-F79C228282D2}"/>
              </a:ext>
            </a:extLst>
          </p:cNvPr>
          <p:cNvSpPr txBox="1">
            <a:spLocks/>
          </p:cNvSpPr>
          <p:nvPr/>
        </p:nvSpPr>
        <p:spPr>
          <a:xfrm>
            <a:off x="6445362" y="3530471"/>
            <a:ext cx="4742591" cy="808447"/>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667" b="1" i="1">
                <a:latin typeface="Amazon Ember" panose="020B0603020204020204" pitchFamily="34" charset="0"/>
                <a:ea typeface="Amazon Ember" panose="020B0603020204020204" pitchFamily="34" charset="0"/>
                <a:cs typeface="Amazon Ember" panose="020B0603020204020204" pitchFamily="34" charset="0"/>
              </a:defRPr>
            </a:lvl1pPr>
            <a:lvl2pPr marL="344488" indent="-341313" defTabSz="457200">
              <a:spcBef>
                <a:spcPct val="20000"/>
              </a:spcBef>
              <a:buClr>
                <a:schemeClr val="accent1"/>
              </a:buClr>
              <a:buSzPct val="125000"/>
              <a:buFontTx/>
              <a:buBlip>
                <a:blip r:embed="rId3"/>
              </a:buBlip>
              <a:defRPr sz="2200" b="0" i="0">
                <a:latin typeface="Arial"/>
                <a:cs typeface="Arial"/>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lgn="ctr"/>
            <a:r>
              <a:rPr lang="en-US" sz="2000" b="0" dirty="0"/>
              <a:t>Scaling, fault tolerance, and availability are typically built into the service.</a:t>
            </a:r>
          </a:p>
        </p:txBody>
      </p:sp>
      <p:pic>
        <p:nvPicPr>
          <p:cNvPr id="13" name="Picture 4" descr="Key.">
            <a:extLst>
              <a:ext uri="{FF2B5EF4-FFF2-40B4-BE49-F238E27FC236}">
                <a16:creationId xmlns:a16="http://schemas.microsoft.com/office/drawing/2014/main" id="{1058E79D-27A2-0E21-5115-734E5772121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359792" y="4259418"/>
            <a:ext cx="2913730" cy="145078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Amazon RDS</a:t>
            </a:r>
          </a:p>
          <a:p>
            <a:pPr>
              <a:spcBef>
                <a:spcPts val="200"/>
              </a:spcBef>
            </a:pPr>
            <a:r>
              <a:rPr sz="1800" b="0" i="1">
                <a:solidFill>
                  <a:srgbClr val="D68E10"/>
                </a:solidFill>
                <a:latin typeface="Roboto Light"/>
              </a:rPr>
              <a:t>AWS · ACF M08 S8–S29 · ACA M06</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224228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RDS sets up and operates a relational database in the cloud; engines include Microsoft SQL Server.</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A DB instance has an instance class (CPU/memory/network) and storage (gp3 SSD / provisioned IOPS).</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It runs in your VPC; automated backups give point-in-time restore; encryption at rest is available.</a:t>
            </a:r>
            <a:endParaRPr lang="en-US" sz="1800" b="0" i="0" dirty="0">
              <a:solidFill>
                <a:srgbClr val="2A2929"/>
              </a:solidFill>
              <a:latin typeface="Roboto"/>
            </a:endParaRPr>
          </a:p>
          <a:p>
            <a:pPr>
              <a:lnSpc>
                <a:spcPct val="105000"/>
              </a:lnSpc>
              <a:spcAft>
                <a:spcPts val="1000"/>
              </a:spcAft>
            </a:pPr>
            <a:r>
              <a:rPr lang="en-US" b="1" dirty="0">
                <a:solidFill>
                  <a:srgbClr val="92268F"/>
                </a:solidFill>
                <a:latin typeface="Roboto"/>
              </a:rPr>
              <a:t>■  Amazon RDS is a managed service: AWS handles OS/database install + patching, automated backups, scaling and availability.</a:t>
            </a:r>
            <a:endParaRPr sz="1800" b="0" i="0" dirty="0">
              <a:solidFill>
                <a:srgbClr val="2A2929"/>
              </a:solidFill>
              <a:latin typeface="Roboto"/>
            </a:endParaRPr>
          </a:p>
          <a:p>
            <a:pPr marL="0" indent="0">
              <a:lnSpc>
                <a:spcPct val="105000"/>
              </a:lnSpc>
              <a:spcBef>
                <a:spcPts val="0"/>
              </a:spcBef>
              <a:spcAft>
                <a:spcPts val="1000"/>
              </a:spcAft>
            </a:pPr>
            <a:r>
              <a:rPr sz="1800" b="1" i="0" dirty="0">
                <a:solidFill>
                  <a:srgbClr val="92268F"/>
                </a:solidFill>
                <a:latin typeface="Roboto"/>
              </a:rPr>
              <a:t>■  Multi-AZ gives a standby in another AZ for high availability — named here, but deferred to AT3.</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A9139-36B1-1E00-79C5-6598763851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51C890-C116-EC5D-E77F-EBB6C39F9E95}"/>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RDS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D5BEBD4D-B79E-47E6-BBFC-9A4D7B2F4863}"/>
              </a:ext>
            </a:extLst>
          </p:cNvPr>
          <p:cNvSpPr/>
          <p:nvPr/>
        </p:nvSpPr>
        <p:spPr>
          <a:xfrm>
            <a:off x="640080" y="1001879"/>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06E6342-FAE7-BC80-FF46-3D2363BC1A72}"/>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11B505B-3981-FBE4-DBB3-35DA3AE10625}"/>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64C1D08F-BE3D-B610-8C77-BFF12A963202}"/>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
        <p:nvSpPr>
          <p:cNvPr id="4" name="TextBox 3">
            <a:extLst>
              <a:ext uri="{FF2B5EF4-FFF2-40B4-BE49-F238E27FC236}">
                <a16:creationId xmlns:a16="http://schemas.microsoft.com/office/drawing/2014/main" id="{B8DA2B63-11D7-24C2-117B-4D57FD9C026F}"/>
              </a:ext>
            </a:extLst>
          </p:cNvPr>
          <p:cNvSpPr txBox="1"/>
          <p:nvPr/>
        </p:nvSpPr>
        <p:spPr>
          <a:xfrm>
            <a:off x="663263" y="1599324"/>
            <a:ext cx="11297089" cy="1077218"/>
          </a:xfrm>
          <a:prstGeom prst="rect">
            <a:avLst/>
          </a:prstGeom>
          <a:noFill/>
        </p:spPr>
        <p:txBody>
          <a:bodyPr wrap="square" rtlCol="0">
            <a:spAutoFit/>
          </a:bodyPr>
          <a:lstStyle/>
          <a:p>
            <a:pPr algn="ctr"/>
            <a:r>
              <a:rPr lang="en-US" sz="3200" dirty="0">
                <a:latin typeface="Roboto" panose="02000000000000000000" pitchFamily="2" charset="0"/>
                <a:ea typeface="Roboto" panose="02000000000000000000" pitchFamily="2" charset="0"/>
                <a:cs typeface="Roboto" panose="02000000000000000000" pitchFamily="2" charset="0"/>
              </a:rPr>
              <a:t>Managed service that sets up and operates a relational database in the cloud.</a:t>
            </a:r>
          </a:p>
        </p:txBody>
      </p:sp>
      <p:grpSp>
        <p:nvGrpSpPr>
          <p:cNvPr id="8" name="Group 7" descr="A diagram of users pointing to application servers, pointing to Amazon RDS.">
            <a:extLst>
              <a:ext uri="{FF2B5EF4-FFF2-40B4-BE49-F238E27FC236}">
                <a16:creationId xmlns:a16="http://schemas.microsoft.com/office/drawing/2014/main" id="{C32BB777-C6F6-BA9D-205C-BF609ADA2007}"/>
              </a:ext>
              <a:ext uri="{C183D7F6-B498-43B3-948B-1728B52AA6E4}">
                <adec:decorative xmlns:adec="http://schemas.microsoft.com/office/drawing/2017/decorative" val="0"/>
              </a:ext>
            </a:extLst>
          </p:cNvPr>
          <p:cNvGrpSpPr/>
          <p:nvPr/>
        </p:nvGrpSpPr>
        <p:grpSpPr>
          <a:xfrm>
            <a:off x="1559281" y="3197241"/>
            <a:ext cx="8538199" cy="1634111"/>
            <a:chOff x="1559281" y="3197241"/>
            <a:chExt cx="8538199" cy="1634111"/>
          </a:xfrm>
        </p:grpSpPr>
        <p:grpSp>
          <p:nvGrpSpPr>
            <p:cNvPr id="9" name="Group 8">
              <a:extLst>
                <a:ext uri="{FF2B5EF4-FFF2-40B4-BE49-F238E27FC236}">
                  <a16:creationId xmlns:a16="http://schemas.microsoft.com/office/drawing/2014/main" id="{26837E34-DB95-D628-2572-81CCE90D287A}"/>
                </a:ext>
                <a:ext uri="{C183D7F6-B498-43B3-948B-1728B52AA6E4}">
                  <adec:decorative xmlns:adec="http://schemas.microsoft.com/office/drawing/2017/decorative" val="1"/>
                </a:ext>
              </a:extLst>
            </p:cNvPr>
            <p:cNvGrpSpPr/>
            <p:nvPr/>
          </p:nvGrpSpPr>
          <p:grpSpPr>
            <a:xfrm>
              <a:off x="1559281" y="3545117"/>
              <a:ext cx="1072750" cy="910523"/>
              <a:chOff x="1559281" y="3545117"/>
              <a:chExt cx="1072750" cy="910523"/>
            </a:xfrm>
          </p:grpSpPr>
          <p:pic>
            <p:nvPicPr>
              <p:cNvPr id="24" name="Graphic 23">
                <a:extLst>
                  <a:ext uri="{FF2B5EF4-FFF2-40B4-BE49-F238E27FC236}">
                    <a16:creationId xmlns:a16="http://schemas.microsoft.com/office/drawing/2014/main" id="{FD423DA0-AAC1-3BFD-734D-E1E34DB40A2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853863" y="3545117"/>
                <a:ext cx="483586" cy="469900"/>
              </a:xfrm>
              <a:prstGeom prst="rect">
                <a:avLst/>
              </a:prstGeom>
            </p:spPr>
          </p:pic>
          <p:sp>
            <p:nvSpPr>
              <p:cNvPr id="25" name="TextBox 24">
                <a:extLst>
                  <a:ext uri="{FF2B5EF4-FFF2-40B4-BE49-F238E27FC236}">
                    <a16:creationId xmlns:a16="http://schemas.microsoft.com/office/drawing/2014/main" id="{5BBA22E4-D815-1FB7-E246-89D84A032D55}"/>
                  </a:ext>
                  <a:ext uri="{C183D7F6-B498-43B3-948B-1728B52AA6E4}">
                    <adec:decorative xmlns:adec="http://schemas.microsoft.com/office/drawing/2017/decorative" val="1"/>
                  </a:ext>
                </a:extLst>
              </p:cNvPr>
              <p:cNvSpPr txBox="1"/>
              <p:nvPr/>
            </p:nvSpPr>
            <p:spPr>
              <a:xfrm>
                <a:off x="1559281" y="4117086"/>
                <a:ext cx="1072750" cy="338554"/>
              </a:xfrm>
              <a:prstGeom prst="rect">
                <a:avLst/>
              </a:prstGeom>
              <a:noFill/>
            </p:spPr>
            <p:txBody>
              <a:bodyPr wrap="square" rtlCol="0">
                <a:spAutoFit/>
              </a:bodyPr>
              <a:lstStyle/>
              <a:p>
                <a:pPr algn="ctr"/>
                <a:r>
                  <a:rPr lang="en-US" sz="1600">
                    <a:solidFill>
                      <a:srgbClr val="232F3E"/>
                    </a:solidFill>
                    <a:latin typeface="+mj-lt"/>
                  </a:rPr>
                  <a:t>Users</a:t>
                </a:r>
              </a:p>
            </p:txBody>
          </p:sp>
        </p:grpSp>
        <p:cxnSp>
          <p:nvCxnSpPr>
            <p:cNvPr id="10" name="Straight Arrow Connector 9">
              <a:extLst>
                <a:ext uri="{FF2B5EF4-FFF2-40B4-BE49-F238E27FC236}">
                  <a16:creationId xmlns:a16="http://schemas.microsoft.com/office/drawing/2014/main" id="{9CE827C0-B9C2-52EF-0992-DDEBC3AE6383}"/>
                </a:ext>
                <a:ext uri="{C183D7F6-B498-43B3-948B-1728B52AA6E4}">
                  <adec:decorative xmlns:adec="http://schemas.microsoft.com/office/drawing/2017/decorative" val="1"/>
                </a:ext>
              </a:extLst>
            </p:cNvPr>
            <p:cNvCxnSpPr/>
            <p:nvPr/>
          </p:nvCxnSpPr>
          <p:spPr>
            <a:xfrm>
              <a:off x="2902390"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C8739CA-49C3-3D95-CF2D-F5806B350064}"/>
                </a:ext>
                <a:ext uri="{C183D7F6-B498-43B3-948B-1728B52AA6E4}">
                  <adec:decorative xmlns:adec="http://schemas.microsoft.com/office/drawing/2017/decorative" val="1"/>
                </a:ext>
              </a:extLst>
            </p:cNvPr>
            <p:cNvGrpSpPr/>
            <p:nvPr/>
          </p:nvGrpSpPr>
          <p:grpSpPr>
            <a:xfrm>
              <a:off x="4544349" y="3298842"/>
              <a:ext cx="1338909" cy="1470957"/>
              <a:chOff x="4446478" y="3298842"/>
              <a:chExt cx="1338909" cy="1470957"/>
            </a:xfrm>
          </p:grpSpPr>
          <p:grpSp>
            <p:nvGrpSpPr>
              <p:cNvPr id="19" name="Group 18">
                <a:extLst>
                  <a:ext uri="{FF2B5EF4-FFF2-40B4-BE49-F238E27FC236}">
                    <a16:creationId xmlns:a16="http://schemas.microsoft.com/office/drawing/2014/main" id="{A25848FB-6C83-DB49-C745-EADE42454B93}"/>
                  </a:ext>
                  <a:ext uri="{C183D7F6-B498-43B3-948B-1728B52AA6E4}">
                    <adec:decorative xmlns:adec="http://schemas.microsoft.com/office/drawing/2017/decorative" val="1"/>
                  </a:ext>
                </a:extLst>
              </p:cNvPr>
              <p:cNvGrpSpPr/>
              <p:nvPr/>
            </p:nvGrpSpPr>
            <p:grpSpPr>
              <a:xfrm>
                <a:off x="4446478" y="3298842"/>
                <a:ext cx="1338909" cy="774700"/>
                <a:chOff x="4446478" y="3298842"/>
                <a:chExt cx="1338909" cy="774700"/>
              </a:xfrm>
            </p:grpSpPr>
            <p:pic>
              <p:nvPicPr>
                <p:cNvPr id="21" name="Graphic 20">
                  <a:extLst>
                    <a:ext uri="{FF2B5EF4-FFF2-40B4-BE49-F238E27FC236}">
                      <a16:creationId xmlns:a16="http://schemas.microsoft.com/office/drawing/2014/main" id="{4255DD75-A59F-7855-2AAC-9402013689C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46478" y="3298842"/>
                  <a:ext cx="469900" cy="469900"/>
                </a:xfrm>
                <a:prstGeom prst="rect">
                  <a:avLst/>
                </a:prstGeom>
              </p:spPr>
            </p:pic>
            <p:pic>
              <p:nvPicPr>
                <p:cNvPr id="22" name="Graphic 21">
                  <a:extLst>
                    <a:ext uri="{FF2B5EF4-FFF2-40B4-BE49-F238E27FC236}">
                      <a16:creationId xmlns:a16="http://schemas.microsoft.com/office/drawing/2014/main" id="{B4F82FFE-62B6-FF7B-760F-3C683A8E1CB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80983" y="3451242"/>
                  <a:ext cx="469900" cy="469900"/>
                </a:xfrm>
                <a:prstGeom prst="rect">
                  <a:avLst/>
                </a:prstGeom>
              </p:spPr>
            </p:pic>
            <p:pic>
              <p:nvPicPr>
                <p:cNvPr id="23" name="Graphic 22">
                  <a:extLst>
                    <a:ext uri="{FF2B5EF4-FFF2-40B4-BE49-F238E27FC236}">
                      <a16:creationId xmlns:a16="http://schemas.microsoft.com/office/drawing/2014/main" id="{EB9643AA-6C6B-EB8F-0D50-75480A2854D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15487" y="3603642"/>
                  <a:ext cx="469900" cy="469900"/>
                </a:xfrm>
                <a:prstGeom prst="rect">
                  <a:avLst/>
                </a:prstGeom>
              </p:spPr>
            </p:pic>
          </p:grpSp>
          <p:sp>
            <p:nvSpPr>
              <p:cNvPr id="20" name="TextBox 19">
                <a:extLst>
                  <a:ext uri="{FF2B5EF4-FFF2-40B4-BE49-F238E27FC236}">
                    <a16:creationId xmlns:a16="http://schemas.microsoft.com/office/drawing/2014/main" id="{09030884-F55A-756A-55CE-48F0C4E7B0FF}"/>
                  </a:ext>
                  <a:ext uri="{C183D7F6-B498-43B3-948B-1728B52AA6E4}">
                    <adec:decorative xmlns:adec="http://schemas.microsoft.com/office/drawing/2017/decorative" val="1"/>
                  </a:ext>
                </a:extLst>
              </p:cNvPr>
              <p:cNvSpPr txBox="1"/>
              <p:nvPr/>
            </p:nvSpPr>
            <p:spPr>
              <a:xfrm>
                <a:off x="4519455" y="4185024"/>
                <a:ext cx="1192955" cy="584775"/>
              </a:xfrm>
              <a:prstGeom prst="rect">
                <a:avLst/>
              </a:prstGeom>
              <a:noFill/>
            </p:spPr>
            <p:txBody>
              <a:bodyPr wrap="none" rtlCol="0">
                <a:spAutoFit/>
              </a:bodyPr>
              <a:lstStyle/>
              <a:p>
                <a:pPr algn="ctr"/>
                <a:r>
                  <a:rPr lang="en-US" sz="1600">
                    <a:latin typeface="+mj-lt"/>
                    <a:ea typeface="Amazon Ember Light" panose="020B0403020204020204" pitchFamily="34" charset="0"/>
                    <a:cs typeface="Amazon Ember Light" panose="020B0403020204020204" pitchFamily="34" charset="0"/>
                  </a:rPr>
                  <a:t>Application</a:t>
                </a:r>
              </a:p>
              <a:p>
                <a:pPr algn="ctr"/>
                <a:r>
                  <a:rPr lang="en-US" sz="1600">
                    <a:latin typeface="+mj-lt"/>
                    <a:ea typeface="Amazon Ember Light" panose="020B0403020204020204" pitchFamily="34" charset="0"/>
                    <a:cs typeface="Amazon Ember Light" panose="020B0403020204020204" pitchFamily="34" charset="0"/>
                  </a:rPr>
                  <a:t>Servers</a:t>
                </a:r>
              </a:p>
            </p:txBody>
          </p:sp>
        </p:grpSp>
        <p:cxnSp>
          <p:nvCxnSpPr>
            <p:cNvPr id="12" name="Straight Arrow Connector 11">
              <a:extLst>
                <a:ext uri="{FF2B5EF4-FFF2-40B4-BE49-F238E27FC236}">
                  <a16:creationId xmlns:a16="http://schemas.microsoft.com/office/drawing/2014/main" id="{ECCC5D38-50EF-9828-FAEC-98A0FE2936D0}"/>
                </a:ext>
                <a:ext uri="{C183D7F6-B498-43B3-948B-1728B52AA6E4}">
                  <adec:decorative xmlns:adec="http://schemas.microsoft.com/office/drawing/2017/decorative" val="1"/>
                </a:ext>
              </a:extLst>
            </p:cNvPr>
            <p:cNvCxnSpPr/>
            <p:nvPr/>
          </p:nvCxnSpPr>
          <p:spPr>
            <a:xfrm>
              <a:off x="6153617"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7C3BC63-2B7D-1B08-B61E-9848164EA026}"/>
                </a:ext>
                <a:ext uri="{C183D7F6-B498-43B3-948B-1728B52AA6E4}">
                  <adec:decorative xmlns:adec="http://schemas.microsoft.com/office/drawing/2017/decorative" val="1"/>
                </a:ext>
              </a:extLst>
            </p:cNvPr>
            <p:cNvGrpSpPr/>
            <p:nvPr/>
          </p:nvGrpSpPr>
          <p:grpSpPr>
            <a:xfrm>
              <a:off x="7795576" y="3197241"/>
              <a:ext cx="2301904" cy="1634111"/>
              <a:chOff x="7795576" y="3197241"/>
              <a:chExt cx="2301904" cy="1634111"/>
            </a:xfrm>
          </p:grpSpPr>
          <p:pic>
            <p:nvPicPr>
              <p:cNvPr id="14" name="Graphic 13">
                <a:extLst>
                  <a:ext uri="{FF2B5EF4-FFF2-40B4-BE49-F238E27FC236}">
                    <a16:creationId xmlns:a16="http://schemas.microsoft.com/office/drawing/2014/main" id="{5B644265-0B5B-6C4B-7FAF-A9388D5DAEC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90928" y="3689844"/>
                <a:ext cx="711200" cy="711200"/>
              </a:xfrm>
              <a:prstGeom prst="rect">
                <a:avLst/>
              </a:prstGeom>
            </p:spPr>
          </p:pic>
          <p:sp>
            <p:nvSpPr>
              <p:cNvPr id="15" name="TextBox 14">
                <a:extLst>
                  <a:ext uri="{FF2B5EF4-FFF2-40B4-BE49-F238E27FC236}">
                    <a16:creationId xmlns:a16="http://schemas.microsoft.com/office/drawing/2014/main" id="{EA85C8C6-787F-365F-73B2-309870DC9337}"/>
                  </a:ext>
                  <a:ext uri="{C183D7F6-B498-43B3-948B-1728B52AA6E4}">
                    <adec:decorative xmlns:adec="http://schemas.microsoft.com/office/drawing/2017/decorative" val="1"/>
                  </a:ext>
                </a:extLst>
              </p:cNvPr>
              <p:cNvSpPr txBox="1"/>
              <p:nvPr/>
            </p:nvSpPr>
            <p:spPr>
              <a:xfrm>
                <a:off x="7795576" y="4485657"/>
                <a:ext cx="2301904" cy="338554"/>
              </a:xfrm>
              <a:prstGeom prst="rect">
                <a:avLst/>
              </a:prstGeom>
              <a:noFill/>
            </p:spPr>
            <p:txBody>
              <a:bodyPr wrap="square" rtlCol="0">
                <a:spAutoFit/>
              </a:bodyPr>
              <a:lstStyle/>
              <a:p>
                <a:pPr algn="ctr"/>
                <a:r>
                  <a:rPr lang="en-US" sz="1600"/>
                  <a:t>Amazon RDS</a:t>
                </a:r>
              </a:p>
            </p:txBody>
          </p:sp>
          <p:grpSp>
            <p:nvGrpSpPr>
              <p:cNvPr id="16" name="Group 15">
                <a:extLst>
                  <a:ext uri="{FF2B5EF4-FFF2-40B4-BE49-F238E27FC236}">
                    <a16:creationId xmlns:a16="http://schemas.microsoft.com/office/drawing/2014/main" id="{4104D070-26C2-8E56-0298-84D45E0C53D1}"/>
                  </a:ext>
                  <a:ext uri="{C183D7F6-B498-43B3-948B-1728B52AA6E4}">
                    <adec:decorative xmlns:adec="http://schemas.microsoft.com/office/drawing/2017/decorative" val="1"/>
                  </a:ext>
                </a:extLst>
              </p:cNvPr>
              <p:cNvGrpSpPr/>
              <p:nvPr/>
            </p:nvGrpSpPr>
            <p:grpSpPr>
              <a:xfrm>
                <a:off x="7924880" y="3197241"/>
                <a:ext cx="2043296" cy="1634111"/>
                <a:chOff x="7894416" y="3197241"/>
                <a:chExt cx="2043296" cy="1634111"/>
              </a:xfrm>
            </p:grpSpPr>
            <p:sp>
              <p:nvSpPr>
                <p:cNvPr id="17" name="Rectangle 16">
                  <a:extLst>
                    <a:ext uri="{FF2B5EF4-FFF2-40B4-BE49-F238E27FC236}">
                      <a16:creationId xmlns:a16="http://schemas.microsoft.com/office/drawing/2014/main" id="{93202C61-8E3E-CDFB-CF2E-ACF0FBC5A532}"/>
                    </a:ext>
                    <a:ext uri="{C183D7F6-B498-43B3-948B-1728B52AA6E4}">
                      <adec:decorative xmlns:adec="http://schemas.microsoft.com/office/drawing/2017/decorative" val="1"/>
                    </a:ext>
                  </a:extLst>
                </p:cNvPr>
                <p:cNvSpPr/>
                <p:nvPr/>
              </p:nvSpPr>
              <p:spPr>
                <a:xfrm>
                  <a:off x="7894416" y="3197241"/>
                  <a:ext cx="2043296" cy="1634111"/>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rPr>
                    <a:t> AWS Cloud</a:t>
                  </a:r>
                </a:p>
              </p:txBody>
            </p:sp>
            <p:pic>
              <p:nvPicPr>
                <p:cNvPr id="18" name="Graphic 17">
                  <a:extLst>
                    <a:ext uri="{FF2B5EF4-FFF2-40B4-BE49-F238E27FC236}">
                      <a16:creationId xmlns:a16="http://schemas.microsoft.com/office/drawing/2014/main" id="{1CB52FCC-7D3E-B2C9-7293-614AC0BA6E0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94416" y="3197242"/>
                  <a:ext cx="457200" cy="457200"/>
                </a:xfrm>
                <a:prstGeom prst="rect">
                  <a:avLst/>
                </a:prstGeom>
              </p:spPr>
            </p:pic>
          </p:grpSp>
        </p:grpSp>
      </p:grpSp>
    </p:spTree>
    <p:extLst>
      <p:ext uri="{BB962C8B-B14F-4D97-AF65-F5344CB8AC3E}">
        <p14:creationId xmlns:p14="http://schemas.microsoft.com/office/powerpoint/2010/main" val="1707493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68BFF-83FF-780E-5605-69664C76F530}"/>
            </a:ext>
          </a:extLst>
        </p:cNvPr>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3C06DBD7-23BD-D775-F2FC-AC6D3A787CD5}"/>
              </a:ext>
              <a:ext uri="{C183D7F6-B498-43B3-948B-1728B52AA6E4}">
                <adec:decorative xmlns:adec="http://schemas.microsoft.com/office/drawing/2017/decorative" val="1"/>
              </a:ext>
            </a:extLst>
          </p:cNvPr>
          <p:cNvSpPr/>
          <p:nvPr/>
        </p:nvSpPr>
        <p:spPr>
          <a:xfrm>
            <a:off x="8330770" y="2580383"/>
            <a:ext cx="2504491" cy="3022395"/>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BAEFF0D9-4100-4685-08CF-C7C851123670}"/>
              </a:ext>
              <a:ext uri="{C183D7F6-B498-43B3-948B-1728B52AA6E4}">
                <adec:decorative xmlns:adec="http://schemas.microsoft.com/office/drawing/2017/decorative" val="1"/>
              </a:ext>
            </a:extLst>
          </p:cNvPr>
          <p:cNvSpPr/>
          <p:nvPr/>
        </p:nvSpPr>
        <p:spPr>
          <a:xfrm>
            <a:off x="4624031" y="4330841"/>
            <a:ext cx="2605682" cy="520273"/>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FB74BFB-CD60-C762-C9FD-744E078BCBB5}"/>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From on-premise databases to Amazon RDS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1E2AFD59-ACFE-6AA0-373D-284D50AB13B8}"/>
              </a:ext>
            </a:extLst>
          </p:cNvPr>
          <p:cNvSpPr/>
          <p:nvPr/>
        </p:nvSpPr>
        <p:spPr>
          <a:xfrm>
            <a:off x="640080" y="1001879"/>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9AB76A0-630E-D88F-0FCF-CCAAB75B4775}"/>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9514DA3-E1F6-2052-EB5C-E39D8C2C980F}"/>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DCF69AF6-3B74-CEC4-5D4B-AF4EED20AC25}"/>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
        <p:nvSpPr>
          <p:cNvPr id="4" name="TextBox 3">
            <a:extLst>
              <a:ext uri="{FF2B5EF4-FFF2-40B4-BE49-F238E27FC236}">
                <a16:creationId xmlns:a16="http://schemas.microsoft.com/office/drawing/2014/main" id="{29C44100-4AE8-6E31-2CA4-B7DA489D7855}"/>
              </a:ext>
            </a:extLst>
          </p:cNvPr>
          <p:cNvSpPr txBox="1"/>
          <p:nvPr/>
        </p:nvSpPr>
        <p:spPr>
          <a:xfrm>
            <a:off x="871221" y="1398074"/>
            <a:ext cx="2588974" cy="369332"/>
          </a:xfrm>
          <a:prstGeom prst="rect">
            <a:avLst/>
          </a:prstGeom>
          <a:noFill/>
        </p:spPr>
        <p:txBody>
          <a:bodyPr wrap="square" rtlCol="0">
            <a:spAutoFit/>
          </a:bodyPr>
          <a:lstStyle/>
          <a:p>
            <a:r>
              <a:rPr lang="en-US" dirty="0"/>
              <a:t>On-premises database</a:t>
            </a:r>
          </a:p>
        </p:txBody>
      </p:sp>
      <p:sp>
        <p:nvSpPr>
          <p:cNvPr id="8" name="Rectangle: Rounded Corners 7" descr="Compares services provided for on-premises databases with running a database on EC2 and Amazon RDS or Amazon Aurora.">
            <a:extLst>
              <a:ext uri="{FF2B5EF4-FFF2-40B4-BE49-F238E27FC236}">
                <a16:creationId xmlns:a16="http://schemas.microsoft.com/office/drawing/2014/main" id="{223D4900-33EF-4357-AFB8-3BAD252A57C8}"/>
              </a:ext>
              <a:ext uri="{C183D7F6-B498-43B3-948B-1728B52AA6E4}">
                <adec:decorative xmlns:adec="http://schemas.microsoft.com/office/drawing/2017/decorative" val="1"/>
              </a:ext>
            </a:extLst>
          </p:cNvPr>
          <p:cNvSpPr/>
          <p:nvPr/>
        </p:nvSpPr>
        <p:spPr>
          <a:xfrm>
            <a:off x="992459" y="1905906"/>
            <a:ext cx="2639134" cy="38454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descr="compares services provided for on-premises databases with running a database on EC2 and Amazon RDS or Amazon Aurora.">
            <a:extLst>
              <a:ext uri="{FF2B5EF4-FFF2-40B4-BE49-F238E27FC236}">
                <a16:creationId xmlns:a16="http://schemas.microsoft.com/office/drawing/2014/main" id="{AA9E19E0-8852-57A1-18A9-957BBBCD6D5F}"/>
              </a:ext>
            </a:extLst>
          </p:cNvPr>
          <p:cNvSpPr txBox="1"/>
          <p:nvPr/>
        </p:nvSpPr>
        <p:spPr>
          <a:xfrm>
            <a:off x="1127101" y="2326236"/>
            <a:ext cx="2504491" cy="3293209"/>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10" name="Picture 9">
            <a:extLst>
              <a:ext uri="{FF2B5EF4-FFF2-40B4-BE49-F238E27FC236}">
                <a16:creationId xmlns:a16="http://schemas.microsoft.com/office/drawing/2014/main" id="{239EB3C3-82AA-DF30-8290-6336032AB6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400517" y="1420204"/>
            <a:ext cx="917850" cy="325072"/>
          </a:xfrm>
          <a:prstGeom prst="rect">
            <a:avLst/>
          </a:prstGeom>
        </p:spPr>
      </p:pic>
      <p:sp>
        <p:nvSpPr>
          <p:cNvPr id="11" name="TextBox 10">
            <a:extLst>
              <a:ext uri="{FF2B5EF4-FFF2-40B4-BE49-F238E27FC236}">
                <a16:creationId xmlns:a16="http://schemas.microsoft.com/office/drawing/2014/main" id="{F022F110-04EC-7174-8D69-7C066BE048D1}"/>
              </a:ext>
            </a:extLst>
          </p:cNvPr>
          <p:cNvSpPr txBox="1"/>
          <p:nvPr/>
        </p:nvSpPr>
        <p:spPr>
          <a:xfrm>
            <a:off x="4298288" y="1106646"/>
            <a:ext cx="3290622" cy="646331"/>
          </a:xfrm>
          <a:prstGeom prst="rect">
            <a:avLst/>
          </a:prstGeom>
          <a:noFill/>
        </p:spPr>
        <p:txBody>
          <a:bodyPr wrap="square" rtlCol="0">
            <a:spAutoFit/>
          </a:bodyPr>
          <a:lstStyle/>
          <a:p>
            <a:pPr algn="ctr"/>
            <a:r>
              <a:rPr lang="en-US"/>
              <a:t>Database in Amazon Elastic Compute Cloud (Amazon EC2) </a:t>
            </a:r>
          </a:p>
        </p:txBody>
      </p:sp>
      <p:sp>
        <p:nvSpPr>
          <p:cNvPr id="12" name="Rectangle: Rounded Corners 11">
            <a:extLst>
              <a:ext uri="{FF2B5EF4-FFF2-40B4-BE49-F238E27FC236}">
                <a16:creationId xmlns:a16="http://schemas.microsoft.com/office/drawing/2014/main" id="{ED3A66E1-E1EB-D174-DFC7-A0B97A5A3322}"/>
              </a:ext>
              <a:ext uri="{C183D7F6-B498-43B3-948B-1728B52AA6E4}">
                <adec:decorative xmlns:adec="http://schemas.microsoft.com/office/drawing/2017/decorative" val="1"/>
              </a:ext>
            </a:extLst>
          </p:cNvPr>
          <p:cNvSpPr/>
          <p:nvPr/>
        </p:nvSpPr>
        <p:spPr>
          <a:xfrm>
            <a:off x="4624032" y="1913343"/>
            <a:ext cx="2639134" cy="383801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descr="compares services provided for on-premises databases with running a database on EC2 and Amazon RDS or Amazon Aurora.">
            <a:extLst>
              <a:ext uri="{FF2B5EF4-FFF2-40B4-BE49-F238E27FC236}">
                <a16:creationId xmlns:a16="http://schemas.microsoft.com/office/drawing/2014/main" id="{938C6007-7AB3-306B-E6C3-DC7235026A02}"/>
              </a:ext>
            </a:extLst>
          </p:cNvPr>
          <p:cNvSpPr txBox="1"/>
          <p:nvPr/>
        </p:nvSpPr>
        <p:spPr>
          <a:xfrm>
            <a:off x="3647867" y="4333313"/>
            <a:ext cx="942887" cy="584775"/>
          </a:xfrm>
          <a:prstGeom prst="rect">
            <a:avLst/>
          </a:prstGeom>
          <a:noFill/>
        </p:spPr>
        <p:txBody>
          <a:bodyPr wrap="none" rtlCol="0">
            <a:spAutoFit/>
          </a:bodyPr>
          <a:lstStyle/>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14" name="TextBox 13" descr="compares services provided for on-premises databases with running a database on EC2 and Amazon RDS or Amazon Aurora.">
            <a:extLst>
              <a:ext uri="{FF2B5EF4-FFF2-40B4-BE49-F238E27FC236}">
                <a16:creationId xmlns:a16="http://schemas.microsoft.com/office/drawing/2014/main" id="{D7FCBE7B-16BB-3F9C-32B3-1A65606E6D06}"/>
              </a:ext>
            </a:extLst>
          </p:cNvPr>
          <p:cNvSpPr txBox="1"/>
          <p:nvPr/>
        </p:nvSpPr>
        <p:spPr>
          <a:xfrm>
            <a:off x="4702919" y="2344824"/>
            <a:ext cx="2504491" cy="3293209"/>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15" name="Picture 14">
            <a:extLst>
              <a:ext uri="{FF2B5EF4-FFF2-40B4-BE49-F238E27FC236}">
                <a16:creationId xmlns:a16="http://schemas.microsoft.com/office/drawing/2014/main" id="{6536852C-F781-5AA7-5CA7-7F92A9A1318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489633" y="1420204"/>
            <a:ext cx="917850" cy="325072"/>
          </a:xfrm>
          <a:prstGeom prst="rect">
            <a:avLst/>
          </a:prstGeom>
        </p:spPr>
      </p:pic>
      <p:sp>
        <p:nvSpPr>
          <p:cNvPr id="16" name="TextBox 15">
            <a:extLst>
              <a:ext uri="{FF2B5EF4-FFF2-40B4-BE49-F238E27FC236}">
                <a16:creationId xmlns:a16="http://schemas.microsoft.com/office/drawing/2014/main" id="{CAAEED2D-D3C4-1BA3-4F31-D31B49E50BFD}"/>
              </a:ext>
            </a:extLst>
          </p:cNvPr>
          <p:cNvSpPr txBox="1"/>
          <p:nvPr/>
        </p:nvSpPr>
        <p:spPr>
          <a:xfrm>
            <a:off x="8347803" y="1259575"/>
            <a:ext cx="2855424" cy="646331"/>
          </a:xfrm>
          <a:prstGeom prst="rect">
            <a:avLst/>
          </a:prstGeom>
          <a:noFill/>
        </p:spPr>
        <p:txBody>
          <a:bodyPr wrap="square" rtlCol="0">
            <a:spAutoFit/>
          </a:bodyPr>
          <a:lstStyle/>
          <a:p>
            <a:pPr algn="ctr"/>
            <a:r>
              <a:rPr lang="en-US"/>
              <a:t>Database in Amazon RDS or Amazon Aurora</a:t>
            </a:r>
          </a:p>
        </p:txBody>
      </p:sp>
      <p:sp>
        <p:nvSpPr>
          <p:cNvPr id="17" name="TextBox 16" descr="compares services provided for on-premises databases with running a database on EC2 and Amazon RDS or Amazon Aurora.">
            <a:extLst>
              <a:ext uri="{FF2B5EF4-FFF2-40B4-BE49-F238E27FC236}">
                <a16:creationId xmlns:a16="http://schemas.microsoft.com/office/drawing/2014/main" id="{03AC7CBE-5012-D354-5E8B-2B8457594F23}"/>
              </a:ext>
            </a:extLst>
          </p:cNvPr>
          <p:cNvSpPr txBox="1"/>
          <p:nvPr/>
        </p:nvSpPr>
        <p:spPr>
          <a:xfrm>
            <a:off x="7342053" y="3593397"/>
            <a:ext cx="942887" cy="584775"/>
          </a:xfrm>
          <a:prstGeom prst="rect">
            <a:avLst/>
          </a:prstGeom>
          <a:noFill/>
        </p:spPr>
        <p:txBody>
          <a:bodyPr wrap="none" rtlCol="0">
            <a:spAutoFit/>
          </a:bodyPr>
          <a:lstStyle/>
          <a:p>
            <a:pPr algn="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18" name="Rectangle: Rounded Corners 17">
            <a:extLst>
              <a:ext uri="{FF2B5EF4-FFF2-40B4-BE49-F238E27FC236}">
                <a16:creationId xmlns:a16="http://schemas.microsoft.com/office/drawing/2014/main" id="{AF2A5B7E-39BE-1FC9-2A75-FE935025E537}"/>
              </a:ext>
              <a:ext uri="{C183D7F6-B498-43B3-948B-1728B52AA6E4}">
                <adec:decorative xmlns:adec="http://schemas.microsoft.com/office/drawing/2017/decorative" val="1"/>
              </a:ext>
            </a:extLst>
          </p:cNvPr>
          <p:cNvSpPr/>
          <p:nvPr/>
        </p:nvSpPr>
        <p:spPr>
          <a:xfrm>
            <a:off x="8315086" y="1924494"/>
            <a:ext cx="2639134" cy="393467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descr="compares services provided for on-premises databases with running a database on EC2 and Amazon RDS or Amazon Aurora.">
            <a:extLst>
              <a:ext uri="{FF2B5EF4-FFF2-40B4-BE49-F238E27FC236}">
                <a16:creationId xmlns:a16="http://schemas.microsoft.com/office/drawing/2014/main" id="{E3E4133F-91EF-5C09-B451-AF0864366051}"/>
              </a:ext>
            </a:extLst>
          </p:cNvPr>
          <p:cNvSpPr txBox="1"/>
          <p:nvPr/>
        </p:nvSpPr>
        <p:spPr>
          <a:xfrm>
            <a:off x="8449729" y="2300220"/>
            <a:ext cx="2504491" cy="329320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spTree>
    <p:extLst>
      <p:ext uri="{BB962C8B-B14F-4D97-AF65-F5344CB8AC3E}">
        <p14:creationId xmlns:p14="http://schemas.microsoft.com/office/powerpoint/2010/main" val="111590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769CB-F6A5-DAAA-E025-B3D2D649AD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B2A03E-6BCB-1AC8-D5D0-2CC5B7B77F97}"/>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RDS DB instances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F1754210-D502-4261-6645-62C1F08B95FE}"/>
              </a:ext>
            </a:extLst>
          </p:cNvPr>
          <p:cNvSpPr/>
          <p:nvPr/>
        </p:nvSpPr>
        <p:spPr>
          <a:xfrm>
            <a:off x="640080" y="1001879"/>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D0C0165-4DB6-1B45-5094-CF17941A5DE5}"/>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20827E7-07AC-3F0C-2BBD-00CF47BC329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15A162C-F8F0-BD8A-504C-C0308AC59128}"/>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
        <p:nvSpPr>
          <p:cNvPr id="4" name="TextBox 3">
            <a:extLst>
              <a:ext uri="{FF2B5EF4-FFF2-40B4-BE49-F238E27FC236}">
                <a16:creationId xmlns:a16="http://schemas.microsoft.com/office/drawing/2014/main" id="{6AC672AE-40A0-53C8-7FB8-ACB15977D882}"/>
              </a:ext>
            </a:extLst>
          </p:cNvPr>
          <p:cNvSpPr txBox="1"/>
          <p:nvPr/>
        </p:nvSpPr>
        <p:spPr>
          <a:xfrm>
            <a:off x="428170" y="1309131"/>
            <a:ext cx="1638300" cy="369332"/>
          </a:xfrm>
          <a:prstGeom prst="rect">
            <a:avLst/>
          </a:prstGeom>
          <a:noFill/>
        </p:spPr>
        <p:txBody>
          <a:bodyPr wrap="square" rtlCol="0">
            <a:spAutoFit/>
          </a:bodyPr>
          <a:lstStyle/>
          <a:p>
            <a:pPr algn="ctr"/>
            <a:r>
              <a:rPr lang="en-US" dirty="0">
                <a:ea typeface="Amazon Ember" panose="02000000000000000000" pitchFamily="2" charset="0"/>
              </a:rPr>
              <a:t>Amazon RDS</a:t>
            </a:r>
          </a:p>
        </p:txBody>
      </p:sp>
      <p:pic>
        <p:nvPicPr>
          <p:cNvPr id="8" name="Graphic 7">
            <a:extLst>
              <a:ext uri="{FF2B5EF4-FFF2-40B4-BE49-F238E27FC236}">
                <a16:creationId xmlns:a16="http://schemas.microsoft.com/office/drawing/2014/main" id="{C9D1C8AC-A914-E284-0D65-509D859E491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1720" y="1691528"/>
            <a:ext cx="711200" cy="711200"/>
          </a:xfrm>
          <a:prstGeom prst="rect">
            <a:avLst/>
          </a:prstGeom>
        </p:spPr>
      </p:pic>
      <p:sp>
        <p:nvSpPr>
          <p:cNvPr id="9" name="TextBox 8">
            <a:extLst>
              <a:ext uri="{FF2B5EF4-FFF2-40B4-BE49-F238E27FC236}">
                <a16:creationId xmlns:a16="http://schemas.microsoft.com/office/drawing/2014/main" id="{3E9CB82A-8799-D4C3-9B65-6AC7E5483CD4}"/>
              </a:ext>
              <a:ext uri="{C183D7F6-B498-43B3-948B-1728B52AA6E4}">
                <adec:decorative xmlns:adec="http://schemas.microsoft.com/office/drawing/2017/decorative" val="1"/>
              </a:ext>
            </a:extLst>
          </p:cNvPr>
          <p:cNvSpPr txBox="1"/>
          <p:nvPr/>
        </p:nvSpPr>
        <p:spPr>
          <a:xfrm>
            <a:off x="1441345" y="2994029"/>
            <a:ext cx="1012199" cy="929637"/>
          </a:xfrm>
          <a:prstGeom prst="rect">
            <a:avLst/>
          </a:prstGeom>
          <a:solidFill>
            <a:srgbClr val="3475B3"/>
          </a:solidFill>
        </p:spPr>
        <p:txBody>
          <a:bodyPr wrap="none" lIns="0" tIns="0" rIns="0" bIns="0" rtlCol="0" anchor="t" anchorCtr="1">
            <a:noAutofit/>
          </a:bodyPr>
          <a:lstStyle/>
          <a:p>
            <a:r>
              <a:rPr lang="en-US" sz="6600" b="1">
                <a:solidFill>
                  <a:schemeClr val="bg1"/>
                </a:solidFill>
                <a:ea typeface="Amazon Ember" panose="02000000000000000000" pitchFamily="2" charset="0"/>
              </a:rPr>
              <a:t>M</a:t>
            </a:r>
          </a:p>
        </p:txBody>
      </p:sp>
      <p:sp>
        <p:nvSpPr>
          <p:cNvPr id="10" name="TextBox 9">
            <a:extLst>
              <a:ext uri="{FF2B5EF4-FFF2-40B4-BE49-F238E27FC236}">
                <a16:creationId xmlns:a16="http://schemas.microsoft.com/office/drawing/2014/main" id="{893B98DA-1FD9-1F58-BE82-483C1501086C}"/>
              </a:ext>
            </a:extLst>
          </p:cNvPr>
          <p:cNvSpPr txBox="1"/>
          <p:nvPr/>
        </p:nvSpPr>
        <p:spPr>
          <a:xfrm>
            <a:off x="868478" y="4021306"/>
            <a:ext cx="1966518" cy="584775"/>
          </a:xfrm>
          <a:prstGeom prst="rect">
            <a:avLst/>
          </a:prstGeom>
          <a:noFill/>
        </p:spPr>
        <p:txBody>
          <a:bodyPr wrap="square" rtlCol="0">
            <a:spAutoFit/>
          </a:bodyPr>
          <a:lstStyle/>
          <a:p>
            <a:pPr algn="ctr"/>
            <a:r>
              <a:rPr lang="en-US" sz="1600">
                <a:ea typeface="Amazon Ember" panose="02000000000000000000" pitchFamily="2" charset="0"/>
              </a:rPr>
              <a:t>Amazon RDS DB main instance</a:t>
            </a:r>
          </a:p>
        </p:txBody>
      </p:sp>
      <p:sp>
        <p:nvSpPr>
          <p:cNvPr id="11" name="TextBox 10">
            <a:extLst>
              <a:ext uri="{FF2B5EF4-FFF2-40B4-BE49-F238E27FC236}">
                <a16:creationId xmlns:a16="http://schemas.microsoft.com/office/drawing/2014/main" id="{966ADD9C-606C-A549-43E9-4B24CC074157}"/>
              </a:ext>
            </a:extLst>
          </p:cNvPr>
          <p:cNvSpPr txBox="1"/>
          <p:nvPr/>
        </p:nvSpPr>
        <p:spPr>
          <a:xfrm>
            <a:off x="3027503" y="2250075"/>
            <a:ext cx="5373587" cy="3108543"/>
          </a:xfrm>
          <a:prstGeom prst="rect">
            <a:avLst/>
          </a:prstGeom>
          <a:noFill/>
        </p:spPr>
        <p:txBody>
          <a:bodyPr wrap="none" rtlCol="0">
            <a:spAutoFit/>
          </a:bodyPr>
          <a:lstStyle/>
          <a:p>
            <a:r>
              <a:rPr lang="en-US" sz="2800">
                <a:solidFill>
                  <a:srgbClr val="504BAB"/>
                </a:solidFill>
                <a:ea typeface="Amazon Ember" panose="02000000000000000000" pitchFamily="2" charset="0"/>
              </a:rPr>
              <a:t>DB Instance Class</a:t>
            </a:r>
          </a:p>
          <a:p>
            <a:pPr marL="285750" indent="-285750">
              <a:buClr>
                <a:srgbClr val="3475B3"/>
              </a:buClr>
              <a:buFont typeface="Arial" panose="020B0604020202020204" pitchFamily="34" charset="0"/>
              <a:buChar char="•"/>
            </a:pPr>
            <a:r>
              <a:rPr lang="en-US" sz="2000">
                <a:ea typeface="Amazon Ember" panose="02000000000000000000" pitchFamily="2" charset="0"/>
              </a:rPr>
              <a:t>CPU</a:t>
            </a:r>
          </a:p>
          <a:p>
            <a:pPr marL="285750" indent="-285750">
              <a:buClr>
                <a:srgbClr val="3475B3"/>
              </a:buClr>
              <a:buFont typeface="Arial" panose="020B0604020202020204" pitchFamily="34" charset="0"/>
              <a:buChar char="•"/>
            </a:pPr>
            <a:r>
              <a:rPr lang="en-US" sz="2000">
                <a:ea typeface="Amazon Ember" panose="02000000000000000000" pitchFamily="2" charset="0"/>
              </a:rPr>
              <a:t>Memory</a:t>
            </a:r>
          </a:p>
          <a:p>
            <a:pPr marL="285750" indent="-285750">
              <a:buClr>
                <a:srgbClr val="3475B3"/>
              </a:buClr>
              <a:buFont typeface="Arial" panose="020B0604020202020204" pitchFamily="34" charset="0"/>
              <a:buChar char="•"/>
            </a:pPr>
            <a:r>
              <a:rPr lang="en-US" sz="2000">
                <a:ea typeface="Amazon Ember" panose="02000000000000000000" pitchFamily="2" charset="0"/>
              </a:rPr>
              <a:t>Network performance</a:t>
            </a:r>
          </a:p>
          <a:p>
            <a:endParaRPr lang="en-US" sz="2000">
              <a:ea typeface="Amazon Ember" panose="02000000000000000000" pitchFamily="2" charset="0"/>
            </a:endParaRPr>
          </a:p>
          <a:p>
            <a:r>
              <a:rPr lang="en-US" sz="2800">
                <a:solidFill>
                  <a:srgbClr val="504BAB"/>
                </a:solidFill>
                <a:ea typeface="Amazon Ember" panose="02000000000000000000" pitchFamily="2" charset="0"/>
              </a:rPr>
              <a:t>DB Instance Storage</a:t>
            </a:r>
          </a:p>
          <a:p>
            <a:pPr marL="285750" indent="-285750">
              <a:buClr>
                <a:srgbClr val="3475B3"/>
              </a:buClr>
              <a:buFont typeface="Arial" panose="020B0604020202020204" pitchFamily="34" charset="0"/>
              <a:buChar char="•"/>
            </a:pPr>
            <a:r>
              <a:rPr lang="en-US" sz="2000">
                <a:ea typeface="Amazon Ember" panose="02000000000000000000" pitchFamily="2" charset="0"/>
              </a:rPr>
              <a:t>Magnetic</a:t>
            </a:r>
          </a:p>
          <a:p>
            <a:pPr marL="285750" indent="-285750">
              <a:buClr>
                <a:srgbClr val="3475B3"/>
              </a:buClr>
              <a:buFont typeface="Arial" panose="020B0604020202020204" pitchFamily="34" charset="0"/>
              <a:buChar char="•"/>
            </a:pPr>
            <a:r>
              <a:rPr lang="en-US" sz="2000">
                <a:ea typeface="Amazon Ember" panose="02000000000000000000" pitchFamily="2" charset="0"/>
              </a:rPr>
              <a:t>General Purpose (solid state drive, or SSD)</a:t>
            </a:r>
          </a:p>
          <a:p>
            <a:pPr marL="285750" indent="-285750">
              <a:buClr>
                <a:srgbClr val="3475B3"/>
              </a:buClr>
              <a:buFont typeface="Arial" panose="020B0604020202020204" pitchFamily="34" charset="0"/>
              <a:buChar char="•"/>
            </a:pPr>
            <a:r>
              <a:rPr lang="en-US" sz="2000">
                <a:ea typeface="Amazon Ember" panose="02000000000000000000" pitchFamily="2" charset="0"/>
              </a:rPr>
              <a:t>Provisioned IOPS</a:t>
            </a:r>
          </a:p>
        </p:txBody>
      </p:sp>
      <p:sp>
        <p:nvSpPr>
          <p:cNvPr id="12" name="Rounded Rectangle 4" descr="The major components of an RDS installation are the DB Instance Class that specifies the type of CPU, amount of memory and network performance. You can select the type of storage the DB instance will use.">
            <a:extLst>
              <a:ext uri="{FF2B5EF4-FFF2-40B4-BE49-F238E27FC236}">
                <a16:creationId xmlns:a16="http://schemas.microsoft.com/office/drawing/2014/main" id="{7329BCCA-4E4E-C0F7-4E8C-4DC75C4C2DDA}"/>
              </a:ext>
            </a:extLst>
          </p:cNvPr>
          <p:cNvSpPr/>
          <p:nvPr/>
        </p:nvSpPr>
        <p:spPr>
          <a:xfrm>
            <a:off x="620677" y="2019650"/>
            <a:ext cx="7732463" cy="381398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nvGrpSpPr>
          <p:cNvPr id="13" name="Group 12" descr="Amazon RDS supported database engines including MySQL, Amazon Aurora, Microsoft SQL Server, PostgreSQL, MariaDB, and Oracle.">
            <a:extLst>
              <a:ext uri="{FF2B5EF4-FFF2-40B4-BE49-F238E27FC236}">
                <a16:creationId xmlns:a16="http://schemas.microsoft.com/office/drawing/2014/main" id="{BC0949AC-9B7A-F7A0-E054-2351C11CEBC8}"/>
              </a:ext>
            </a:extLst>
          </p:cNvPr>
          <p:cNvGrpSpPr/>
          <p:nvPr/>
        </p:nvGrpSpPr>
        <p:grpSpPr>
          <a:xfrm>
            <a:off x="8844533" y="1495802"/>
            <a:ext cx="2820465" cy="4484032"/>
            <a:chOff x="8844533" y="1638299"/>
            <a:chExt cx="2820465" cy="4484032"/>
          </a:xfrm>
        </p:grpSpPr>
        <p:sp>
          <p:nvSpPr>
            <p:cNvPr id="14" name="Rectangle 13">
              <a:extLst>
                <a:ext uri="{FF2B5EF4-FFF2-40B4-BE49-F238E27FC236}">
                  <a16:creationId xmlns:a16="http://schemas.microsoft.com/office/drawing/2014/main" id="{C271259F-9DBD-34BC-D513-F44A7328AC3A}"/>
                </a:ext>
              </a:extLst>
            </p:cNvPr>
            <p:cNvSpPr/>
            <p:nvPr/>
          </p:nvSpPr>
          <p:spPr>
            <a:xfrm>
              <a:off x="8844533" y="1638299"/>
              <a:ext cx="2820465" cy="404470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a:solidFill>
                    <a:schemeClr val="tx1"/>
                  </a:solidFill>
                </a:rPr>
                <a:t>=</a:t>
              </a:r>
            </a:p>
          </p:txBody>
        </p:sp>
        <p:sp>
          <p:nvSpPr>
            <p:cNvPr id="15" name="TextBox 14" descr="DB Engines">
              <a:extLst>
                <a:ext uri="{FF2B5EF4-FFF2-40B4-BE49-F238E27FC236}">
                  <a16:creationId xmlns:a16="http://schemas.microsoft.com/office/drawing/2014/main" id="{5EA44A6F-BB79-11A1-72D4-134E8C68EB4D}"/>
                </a:ext>
              </a:extLst>
            </p:cNvPr>
            <p:cNvSpPr txBox="1"/>
            <p:nvPr/>
          </p:nvSpPr>
          <p:spPr>
            <a:xfrm>
              <a:off x="9577336" y="5752999"/>
              <a:ext cx="1354859" cy="369332"/>
            </a:xfrm>
            <a:prstGeom prst="rect">
              <a:avLst/>
            </a:prstGeom>
            <a:noFill/>
          </p:spPr>
          <p:txBody>
            <a:bodyPr wrap="none" rtlCol="0">
              <a:spAutoFit/>
            </a:bodyPr>
            <a:lstStyle/>
            <a:p>
              <a:pPr algn="ctr"/>
              <a:r>
                <a:rPr lang="en-US">
                  <a:latin typeface="Amazon Ember" panose="02000000000000000000" pitchFamily="2" charset="0"/>
                  <a:ea typeface="Amazon Ember" panose="02000000000000000000" pitchFamily="2" charset="0"/>
                </a:rPr>
                <a:t>DB engines</a:t>
              </a:r>
            </a:p>
          </p:txBody>
        </p:sp>
        <p:sp>
          <p:nvSpPr>
            <p:cNvPr id="16" name="TextBox 15">
              <a:extLst>
                <a:ext uri="{FF2B5EF4-FFF2-40B4-BE49-F238E27FC236}">
                  <a16:creationId xmlns:a16="http://schemas.microsoft.com/office/drawing/2014/main" id="{5920AA7A-EF11-9763-9F25-EE98A6F9CC52}"/>
                </a:ext>
              </a:extLst>
            </p:cNvPr>
            <p:cNvSpPr txBox="1"/>
            <p:nvPr/>
          </p:nvSpPr>
          <p:spPr>
            <a:xfrm>
              <a:off x="9759277" y="1789515"/>
              <a:ext cx="990977"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MySQL</a:t>
              </a:r>
            </a:p>
          </p:txBody>
        </p:sp>
        <p:sp>
          <p:nvSpPr>
            <p:cNvPr id="17" name="TextBox 16">
              <a:extLst>
                <a:ext uri="{FF2B5EF4-FFF2-40B4-BE49-F238E27FC236}">
                  <a16:creationId xmlns:a16="http://schemas.microsoft.com/office/drawing/2014/main" id="{9E2E54CB-E588-8646-4523-596C8876237F}"/>
                </a:ext>
              </a:extLst>
            </p:cNvPr>
            <p:cNvSpPr txBox="1"/>
            <p:nvPr/>
          </p:nvSpPr>
          <p:spPr>
            <a:xfrm>
              <a:off x="9288796" y="2445611"/>
              <a:ext cx="1931939"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Amazon Aurora</a:t>
              </a:r>
            </a:p>
          </p:txBody>
        </p:sp>
        <p:sp>
          <p:nvSpPr>
            <p:cNvPr id="18" name="TextBox 17">
              <a:extLst>
                <a:ext uri="{FF2B5EF4-FFF2-40B4-BE49-F238E27FC236}">
                  <a16:creationId xmlns:a16="http://schemas.microsoft.com/office/drawing/2014/main" id="{1A00B939-3533-A9A5-3C30-5BB6C0E51067}"/>
                </a:ext>
              </a:extLst>
            </p:cNvPr>
            <p:cNvSpPr txBox="1"/>
            <p:nvPr/>
          </p:nvSpPr>
          <p:spPr>
            <a:xfrm>
              <a:off x="8978614" y="3101707"/>
              <a:ext cx="2552302"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Microsoft SQL Server</a:t>
              </a:r>
            </a:p>
          </p:txBody>
        </p:sp>
        <p:sp>
          <p:nvSpPr>
            <p:cNvPr id="19" name="TextBox 18">
              <a:extLst>
                <a:ext uri="{FF2B5EF4-FFF2-40B4-BE49-F238E27FC236}">
                  <a16:creationId xmlns:a16="http://schemas.microsoft.com/office/drawing/2014/main" id="{CC370944-ADD6-5D39-B8D8-6A4F6C2DA5A1}"/>
                </a:ext>
              </a:extLst>
            </p:cNvPr>
            <p:cNvSpPr txBox="1"/>
            <p:nvPr/>
          </p:nvSpPr>
          <p:spPr>
            <a:xfrm>
              <a:off x="9495583" y="3757803"/>
              <a:ext cx="1518364"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PostgreSQL</a:t>
              </a:r>
            </a:p>
          </p:txBody>
        </p:sp>
        <p:sp>
          <p:nvSpPr>
            <p:cNvPr id="20" name="TextBox 19">
              <a:extLst>
                <a:ext uri="{FF2B5EF4-FFF2-40B4-BE49-F238E27FC236}">
                  <a16:creationId xmlns:a16="http://schemas.microsoft.com/office/drawing/2014/main" id="{91D69F80-D300-DF18-0DC7-E1E25AEEB6D6}"/>
                </a:ext>
              </a:extLst>
            </p:cNvPr>
            <p:cNvSpPr txBox="1"/>
            <p:nvPr/>
          </p:nvSpPr>
          <p:spPr>
            <a:xfrm>
              <a:off x="9692752" y="4413899"/>
              <a:ext cx="1124026"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MariaDB</a:t>
              </a:r>
            </a:p>
          </p:txBody>
        </p:sp>
        <p:sp>
          <p:nvSpPr>
            <p:cNvPr id="21" name="TextBox 20">
              <a:extLst>
                <a:ext uri="{FF2B5EF4-FFF2-40B4-BE49-F238E27FC236}">
                  <a16:creationId xmlns:a16="http://schemas.microsoft.com/office/drawing/2014/main" id="{56E2E9C6-7B7F-F038-ED76-B736B9698A2B}"/>
                </a:ext>
              </a:extLst>
            </p:cNvPr>
            <p:cNvSpPr txBox="1"/>
            <p:nvPr/>
          </p:nvSpPr>
          <p:spPr>
            <a:xfrm>
              <a:off x="9797749" y="5069994"/>
              <a:ext cx="914033"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Oracle</a:t>
              </a:r>
            </a:p>
          </p:txBody>
        </p:sp>
      </p:grpSp>
    </p:spTree>
    <p:extLst>
      <p:ext uri="{BB962C8B-B14F-4D97-AF65-F5344CB8AC3E}">
        <p14:creationId xmlns:p14="http://schemas.microsoft.com/office/powerpoint/2010/main" val="4077950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878B-0AB3-4E5A-0E46-E8F925E271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70DF13-1211-4E2D-1118-83219CE1DE54}"/>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RDS in a virtual private cloud (VPC)</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3C6F272E-6F3E-F36F-F5BE-0F52F22AEF50}"/>
              </a:ext>
            </a:extLst>
          </p:cNvPr>
          <p:cNvSpPr/>
          <p:nvPr/>
        </p:nvSpPr>
        <p:spPr>
          <a:xfrm>
            <a:off x="640080" y="1001879"/>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A3B14C7E-72EC-B7F4-0797-4F95E2CEC628}"/>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3A1D732-F9C9-0AA4-9240-B329BBF9BD35}"/>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0CE95096-FACF-C027-D0B6-C047190BAD43}"/>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21" name="Group 20" descr="Users connecting to EC2 instance in a VPC public subnet through an internet gateway. Amazon RDS in a VPC private subnet.">
            <a:extLst>
              <a:ext uri="{FF2B5EF4-FFF2-40B4-BE49-F238E27FC236}">
                <a16:creationId xmlns:a16="http://schemas.microsoft.com/office/drawing/2014/main" id="{18886A5F-25A4-6A13-2EFA-0EF2E17A6180}"/>
              </a:ext>
            </a:extLst>
          </p:cNvPr>
          <p:cNvGrpSpPr/>
          <p:nvPr/>
        </p:nvGrpSpPr>
        <p:grpSpPr>
          <a:xfrm>
            <a:off x="1792551" y="1399290"/>
            <a:ext cx="8606898" cy="4768044"/>
            <a:chOff x="1049683" y="1263105"/>
            <a:chExt cx="8606898" cy="4768044"/>
          </a:xfrm>
        </p:grpSpPr>
        <p:sp>
          <p:nvSpPr>
            <p:cNvPr id="22" name="Rectangle 21">
              <a:extLst>
                <a:ext uri="{FF2B5EF4-FFF2-40B4-BE49-F238E27FC236}">
                  <a16:creationId xmlns:a16="http://schemas.microsoft.com/office/drawing/2014/main" id="{BB259CD1-33C8-61F3-5D3E-DA4AE5E9C629}"/>
                </a:ext>
                <a:ext uri="{C183D7F6-B498-43B3-948B-1728B52AA6E4}">
                  <adec:decorative xmlns:adec="http://schemas.microsoft.com/office/drawing/2017/decorative" val="1"/>
                </a:ext>
              </a:extLst>
            </p:cNvPr>
            <p:cNvSpPr/>
            <p:nvPr/>
          </p:nvSpPr>
          <p:spPr>
            <a:xfrm>
              <a:off x="5756337" y="2329492"/>
              <a:ext cx="2987004" cy="146304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23" name="Rectangle 22">
              <a:extLst>
                <a:ext uri="{FF2B5EF4-FFF2-40B4-BE49-F238E27FC236}">
                  <a16:creationId xmlns:a16="http://schemas.microsoft.com/office/drawing/2014/main" id="{13230D8C-5FFC-BE88-BA5A-7BB7371422C1}"/>
                </a:ext>
                <a:ext uri="{C183D7F6-B498-43B3-948B-1728B52AA6E4}">
                  <adec:decorative xmlns:adec="http://schemas.microsoft.com/office/drawing/2017/decorative" val="1"/>
                </a:ext>
              </a:extLst>
            </p:cNvPr>
            <p:cNvSpPr/>
            <p:nvPr/>
          </p:nvSpPr>
          <p:spPr>
            <a:xfrm>
              <a:off x="5756337" y="3894438"/>
              <a:ext cx="2987004" cy="146304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24" name="TextBox 23">
              <a:extLst>
                <a:ext uri="{FF2B5EF4-FFF2-40B4-BE49-F238E27FC236}">
                  <a16:creationId xmlns:a16="http://schemas.microsoft.com/office/drawing/2014/main" id="{C5A1C7D9-FB45-B057-D487-9C932BFF23D0}"/>
                </a:ext>
                <a:ext uri="{C183D7F6-B498-43B3-948B-1728B52AA6E4}">
                  <adec:decorative xmlns:adec="http://schemas.microsoft.com/office/drawing/2017/decorative" val="1"/>
                </a:ext>
              </a:extLst>
            </p:cNvPr>
            <p:cNvSpPr txBox="1"/>
            <p:nvPr/>
          </p:nvSpPr>
          <p:spPr>
            <a:xfrm>
              <a:off x="1049683" y="3308010"/>
              <a:ext cx="1072750" cy="338554"/>
            </a:xfrm>
            <a:prstGeom prst="rect">
              <a:avLst/>
            </a:prstGeom>
            <a:noFill/>
          </p:spPr>
          <p:txBody>
            <a:bodyPr wrap="square" rtlCol="0">
              <a:spAutoFit/>
            </a:bodyPr>
            <a:lstStyle/>
            <a:p>
              <a:pPr algn="ctr"/>
              <a:r>
                <a:rPr lang="en-US" sz="1600">
                  <a:solidFill>
                    <a:srgbClr val="232F3E"/>
                  </a:solidFill>
                </a:rPr>
                <a:t>Users</a:t>
              </a:r>
            </a:p>
          </p:txBody>
        </p:sp>
        <p:sp>
          <p:nvSpPr>
            <p:cNvPr id="25" name="TextBox 24">
              <a:extLst>
                <a:ext uri="{FF2B5EF4-FFF2-40B4-BE49-F238E27FC236}">
                  <a16:creationId xmlns:a16="http://schemas.microsoft.com/office/drawing/2014/main" id="{D48BBF5B-27EE-3F2A-B013-41E62EFF7EC5}"/>
                </a:ext>
                <a:ext uri="{C183D7F6-B498-43B3-948B-1728B52AA6E4}">
                  <adec:decorative xmlns:adec="http://schemas.microsoft.com/office/drawing/2017/decorative" val="1"/>
                </a:ext>
              </a:extLst>
            </p:cNvPr>
            <p:cNvSpPr txBox="1"/>
            <p:nvPr/>
          </p:nvSpPr>
          <p:spPr>
            <a:xfrm>
              <a:off x="3264921" y="3162841"/>
              <a:ext cx="1259655" cy="584775"/>
            </a:xfrm>
            <a:prstGeom prst="rect">
              <a:avLst/>
            </a:prstGeom>
            <a:noFill/>
          </p:spPr>
          <p:txBody>
            <a:bodyPr wrap="square" rtlCol="0">
              <a:spAutoFit/>
            </a:bodyPr>
            <a:lstStyle/>
            <a:p>
              <a:pPr algn="ctr"/>
              <a:r>
                <a:rPr lang="en-US" sz="1600"/>
                <a:t>Internet gateway</a:t>
              </a:r>
            </a:p>
          </p:txBody>
        </p:sp>
        <p:sp>
          <p:nvSpPr>
            <p:cNvPr id="26" name="Rectangle 25">
              <a:extLst>
                <a:ext uri="{FF2B5EF4-FFF2-40B4-BE49-F238E27FC236}">
                  <a16:creationId xmlns:a16="http://schemas.microsoft.com/office/drawing/2014/main" id="{60AEA5EF-3D5B-6DF5-DB8F-ECF1467FF486}"/>
                </a:ext>
                <a:ext uri="{C183D7F6-B498-43B3-948B-1728B52AA6E4}">
                  <adec:decorative xmlns:adec="http://schemas.microsoft.com/office/drawing/2017/decorative" val="1"/>
                </a:ext>
              </a:extLst>
            </p:cNvPr>
            <p:cNvSpPr/>
            <p:nvPr/>
          </p:nvSpPr>
          <p:spPr>
            <a:xfrm>
              <a:off x="5022281" y="1500522"/>
              <a:ext cx="4003008" cy="4238797"/>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a:t>
              </a:r>
            </a:p>
          </p:txBody>
        </p:sp>
        <p:pic>
          <p:nvPicPr>
            <p:cNvPr id="27" name="Graphic 26">
              <a:extLst>
                <a:ext uri="{FF2B5EF4-FFF2-40B4-BE49-F238E27FC236}">
                  <a16:creationId xmlns:a16="http://schemas.microsoft.com/office/drawing/2014/main" id="{46173E71-4C82-212D-ABC1-DFC7509FF9E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344265" y="2833316"/>
              <a:ext cx="483586" cy="469900"/>
            </a:xfrm>
            <a:prstGeom prst="rect">
              <a:avLst/>
            </a:prstGeom>
          </p:spPr>
        </p:pic>
        <p:pic>
          <p:nvPicPr>
            <p:cNvPr id="28" name="Graphic 27">
              <a:extLst>
                <a:ext uri="{FF2B5EF4-FFF2-40B4-BE49-F238E27FC236}">
                  <a16:creationId xmlns:a16="http://schemas.microsoft.com/office/drawing/2014/main" id="{823847DB-1428-7368-0E6D-782B90226E1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9798" y="2794534"/>
              <a:ext cx="469900" cy="469900"/>
            </a:xfrm>
            <a:prstGeom prst="rect">
              <a:avLst/>
            </a:prstGeom>
          </p:spPr>
        </p:pic>
        <p:sp>
          <p:nvSpPr>
            <p:cNvPr id="29" name="TextBox 28">
              <a:extLst>
                <a:ext uri="{FF2B5EF4-FFF2-40B4-BE49-F238E27FC236}">
                  <a16:creationId xmlns:a16="http://schemas.microsoft.com/office/drawing/2014/main" id="{59187D71-1376-5477-332E-ED44B76E8A01}"/>
                </a:ext>
                <a:ext uri="{C183D7F6-B498-43B3-948B-1728B52AA6E4}">
                  <adec:decorative xmlns:adec="http://schemas.microsoft.com/office/drawing/2017/decorative" val="1"/>
                </a:ext>
              </a:extLst>
            </p:cNvPr>
            <p:cNvSpPr txBox="1"/>
            <p:nvPr/>
          </p:nvSpPr>
          <p:spPr>
            <a:xfrm>
              <a:off x="6723385" y="4975994"/>
              <a:ext cx="2301904" cy="338554"/>
            </a:xfrm>
            <a:prstGeom prst="rect">
              <a:avLst/>
            </a:prstGeom>
            <a:noFill/>
          </p:spPr>
          <p:txBody>
            <a:bodyPr wrap="square" rtlCol="0">
              <a:spAutoFit/>
            </a:bodyPr>
            <a:lstStyle/>
            <a:p>
              <a:pPr algn="ctr"/>
              <a:r>
                <a:rPr lang="en-US" sz="1600"/>
                <a:t>Amazon RDS</a:t>
              </a:r>
            </a:p>
          </p:txBody>
        </p:sp>
        <p:pic>
          <p:nvPicPr>
            <p:cNvPr id="30" name="Graphic 29">
              <a:extLst>
                <a:ext uri="{FF2B5EF4-FFF2-40B4-BE49-F238E27FC236}">
                  <a16:creationId xmlns:a16="http://schemas.microsoft.com/office/drawing/2014/main" id="{A7C15CDB-6885-256D-F625-4AE6202A7D0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18737" y="4281109"/>
              <a:ext cx="711200" cy="711200"/>
            </a:xfrm>
            <a:prstGeom prst="rect">
              <a:avLst/>
            </a:prstGeom>
          </p:spPr>
        </p:pic>
        <p:sp>
          <p:nvSpPr>
            <p:cNvPr id="31" name="TextBox 30">
              <a:extLst>
                <a:ext uri="{FF2B5EF4-FFF2-40B4-BE49-F238E27FC236}">
                  <a16:creationId xmlns:a16="http://schemas.microsoft.com/office/drawing/2014/main" id="{45366D9A-5B79-97BA-7420-88F562CDAAF0}"/>
                </a:ext>
                <a:ext uri="{C183D7F6-B498-43B3-948B-1728B52AA6E4}">
                  <adec:decorative xmlns:adec="http://schemas.microsoft.com/office/drawing/2017/decorative" val="1"/>
                </a:ext>
              </a:extLst>
            </p:cNvPr>
            <p:cNvSpPr txBox="1"/>
            <p:nvPr/>
          </p:nvSpPr>
          <p:spPr>
            <a:xfrm>
              <a:off x="7039951" y="3333203"/>
              <a:ext cx="1513305" cy="338554"/>
            </a:xfrm>
            <a:prstGeom prst="rect">
              <a:avLst/>
            </a:prstGeom>
            <a:noFill/>
          </p:spPr>
          <p:txBody>
            <a:bodyPr wrap="square" rtlCol="0">
              <a:spAutoFit/>
            </a:bodyPr>
            <a:lstStyle/>
            <a:p>
              <a:pPr algn="ctr"/>
              <a:r>
                <a:rPr lang="en-US" sz="1600"/>
                <a:t>Amazon EC2</a:t>
              </a:r>
            </a:p>
          </p:txBody>
        </p:sp>
        <p:pic>
          <p:nvPicPr>
            <p:cNvPr id="32" name="Graphic 31">
              <a:extLst>
                <a:ext uri="{FF2B5EF4-FFF2-40B4-BE49-F238E27FC236}">
                  <a16:creationId xmlns:a16="http://schemas.microsoft.com/office/drawing/2014/main" id="{85AC0FB1-9227-1EEE-564D-2CA839B51C0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97982" y="2628084"/>
              <a:ext cx="711200" cy="711200"/>
            </a:xfrm>
            <a:prstGeom prst="rect">
              <a:avLst/>
            </a:prstGeom>
          </p:spPr>
        </p:pic>
        <p:cxnSp>
          <p:nvCxnSpPr>
            <p:cNvPr id="33" name="Straight Arrow Connector 32">
              <a:extLst>
                <a:ext uri="{FF2B5EF4-FFF2-40B4-BE49-F238E27FC236}">
                  <a16:creationId xmlns:a16="http://schemas.microsoft.com/office/drawing/2014/main" id="{A323EAE7-407B-425A-6708-DE54B076B816}"/>
                </a:ext>
                <a:ext uri="{C183D7F6-B498-43B3-948B-1728B52AA6E4}">
                  <adec:decorative xmlns:adec="http://schemas.microsoft.com/office/drawing/2017/decorative" val="1"/>
                </a:ext>
              </a:extLst>
            </p:cNvPr>
            <p:cNvCxnSpPr>
              <a:cxnSpLocks/>
              <a:stCxn id="27" idx="1"/>
              <a:endCxn id="22" idx="1"/>
            </p:cNvCxnSpPr>
            <p:nvPr/>
          </p:nvCxnSpPr>
          <p:spPr>
            <a:xfrm flipV="1">
              <a:off x="1827851" y="3061012"/>
              <a:ext cx="39284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8C00A98-5D8B-D1D9-96B5-C013B627142D}"/>
                </a:ext>
                <a:ext uri="{C183D7F6-B498-43B3-948B-1728B52AA6E4}">
                  <adec:decorative xmlns:adec="http://schemas.microsoft.com/office/drawing/2017/decorative" val="1"/>
                </a:ext>
              </a:extLst>
            </p:cNvPr>
            <p:cNvSpPr/>
            <p:nvPr/>
          </p:nvSpPr>
          <p:spPr>
            <a:xfrm>
              <a:off x="3889239" y="2017109"/>
              <a:ext cx="5437762" cy="3547112"/>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endParaRPr kumimoji="0" lang="en-US" sz="1200" b="0" i="0" u="none" strike="noStrike" kern="0" cap="none" spc="0" normalizeH="0" baseline="0" noProof="0">
                <a:ln w="0"/>
                <a:solidFill>
                  <a:srgbClr val="1D8900"/>
                </a:solidFill>
                <a:effectLst/>
                <a:uLnTx/>
                <a:uFillTx/>
                <a:latin typeface="Arial" panose="020B0604020202020204"/>
                <a:ea typeface="+mn-ea"/>
                <a:cs typeface="+mn-cs"/>
              </a:endParaRPr>
            </a:p>
          </p:txBody>
        </p:sp>
        <p:pic>
          <p:nvPicPr>
            <p:cNvPr id="35" name="Graphic 34">
              <a:extLst>
                <a:ext uri="{FF2B5EF4-FFF2-40B4-BE49-F238E27FC236}">
                  <a16:creationId xmlns:a16="http://schemas.microsoft.com/office/drawing/2014/main" id="{85393BB6-FC62-F99C-9EF6-2360A3319F4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89239" y="2017109"/>
              <a:ext cx="457200" cy="457200"/>
            </a:xfrm>
            <a:prstGeom prst="rect">
              <a:avLst/>
            </a:prstGeom>
          </p:spPr>
        </p:pic>
        <p:pic>
          <p:nvPicPr>
            <p:cNvPr id="36" name="Graphic 35">
              <a:extLst>
                <a:ext uri="{FF2B5EF4-FFF2-40B4-BE49-F238E27FC236}">
                  <a16:creationId xmlns:a16="http://schemas.microsoft.com/office/drawing/2014/main" id="{97A61A84-7983-6B96-23C5-F673765F301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56337" y="2327133"/>
              <a:ext cx="457200" cy="457200"/>
            </a:xfrm>
            <a:prstGeom prst="rect">
              <a:avLst/>
            </a:prstGeom>
          </p:spPr>
        </p:pic>
        <p:pic>
          <p:nvPicPr>
            <p:cNvPr id="37" name="Graphic 36">
              <a:extLst>
                <a:ext uri="{FF2B5EF4-FFF2-40B4-BE49-F238E27FC236}">
                  <a16:creationId xmlns:a16="http://schemas.microsoft.com/office/drawing/2014/main" id="{C3D20171-60F3-6492-69B3-08BE75AF34E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56337" y="3892079"/>
              <a:ext cx="457200" cy="457200"/>
            </a:xfrm>
            <a:prstGeom prst="rect">
              <a:avLst/>
            </a:prstGeom>
          </p:spPr>
        </p:pic>
        <p:sp>
          <p:nvSpPr>
            <p:cNvPr id="38" name="Rectangle 37">
              <a:extLst>
                <a:ext uri="{FF2B5EF4-FFF2-40B4-BE49-F238E27FC236}">
                  <a16:creationId xmlns:a16="http://schemas.microsoft.com/office/drawing/2014/main" id="{854635AB-5E28-6146-21BE-D98E2ACE09AF}"/>
                </a:ext>
                <a:ext uri="{C183D7F6-B498-43B3-948B-1728B52AA6E4}">
                  <adec:decorative xmlns:adec="http://schemas.microsoft.com/office/drawing/2017/decorative" val="1"/>
                </a:ext>
              </a:extLst>
            </p:cNvPr>
            <p:cNvSpPr/>
            <p:nvPr/>
          </p:nvSpPr>
          <p:spPr>
            <a:xfrm>
              <a:off x="2535419" y="1263105"/>
              <a:ext cx="7121162" cy="47680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39" name="Graphic 38">
              <a:extLst>
                <a:ext uri="{FF2B5EF4-FFF2-40B4-BE49-F238E27FC236}">
                  <a16:creationId xmlns:a16="http://schemas.microsoft.com/office/drawing/2014/main" id="{5D95FA95-377C-72EB-F798-07BE43A7C5E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535419" y="1263105"/>
              <a:ext cx="457200" cy="457200"/>
            </a:xfrm>
            <a:prstGeom prst="rect">
              <a:avLst/>
            </a:prstGeom>
          </p:spPr>
        </p:pic>
      </p:grpSp>
    </p:spTree>
    <p:extLst>
      <p:ext uri="{BB962C8B-B14F-4D97-AF65-F5344CB8AC3E}">
        <p14:creationId xmlns:p14="http://schemas.microsoft.com/office/powerpoint/2010/main" val="859653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DE0B5-7C46-995C-D534-F7C54D49FF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C10428-509F-5985-2662-F37C93832C16}"/>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High availability with Multi-AZ deployment (1 of 2)</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EE55071D-26AA-7999-6835-1A6A12C5CCCD}"/>
              </a:ext>
            </a:extLst>
          </p:cNvPr>
          <p:cNvSpPr/>
          <p:nvPr/>
        </p:nvSpPr>
        <p:spPr>
          <a:xfrm>
            <a:off x="640080" y="1001879"/>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D085A0C-96F3-A346-9E0E-278CF5AEFFB9}"/>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9831746-6B5F-EBE3-E7EA-3CF0B82774FB}"/>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E208FB55-7F38-CE25-CD92-AFF84620455A}"/>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4" name="Group 3" descr="A highly available Amazon RDS installation described in notes.">
            <a:extLst>
              <a:ext uri="{FF2B5EF4-FFF2-40B4-BE49-F238E27FC236}">
                <a16:creationId xmlns:a16="http://schemas.microsoft.com/office/drawing/2014/main" id="{E9D530F2-D878-BD00-3519-C9790BE8BE6C}"/>
              </a:ext>
            </a:extLst>
          </p:cNvPr>
          <p:cNvGrpSpPr/>
          <p:nvPr/>
        </p:nvGrpSpPr>
        <p:grpSpPr>
          <a:xfrm>
            <a:off x="1074230" y="1301823"/>
            <a:ext cx="10043539" cy="5029200"/>
            <a:chOff x="481788" y="1285494"/>
            <a:chExt cx="10043539" cy="5029200"/>
          </a:xfrm>
        </p:grpSpPr>
        <p:sp>
          <p:nvSpPr>
            <p:cNvPr id="8" name="Rectangle 7">
              <a:extLst>
                <a:ext uri="{FF2B5EF4-FFF2-40B4-BE49-F238E27FC236}">
                  <a16:creationId xmlns:a16="http://schemas.microsoft.com/office/drawing/2014/main" id="{09410099-9CBB-4B5E-4E84-175DC9F54329}"/>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9" name="Rectangle 8">
              <a:extLst>
                <a:ext uri="{FF2B5EF4-FFF2-40B4-BE49-F238E27FC236}">
                  <a16:creationId xmlns:a16="http://schemas.microsoft.com/office/drawing/2014/main" id="{74FFCDC1-850C-1781-709B-1D3A56F64698}"/>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10" name="Rectangle 9">
              <a:extLst>
                <a:ext uri="{FF2B5EF4-FFF2-40B4-BE49-F238E27FC236}">
                  <a16:creationId xmlns:a16="http://schemas.microsoft.com/office/drawing/2014/main" id="{1FAA9A9E-6131-1AA4-E49B-AE8CD7DDBDBD}"/>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11" name="Rectangle 10">
              <a:extLst>
                <a:ext uri="{FF2B5EF4-FFF2-40B4-BE49-F238E27FC236}">
                  <a16:creationId xmlns:a16="http://schemas.microsoft.com/office/drawing/2014/main" id="{3BAE2078-999B-EA59-6E65-D38D8609034B}"/>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1</a:t>
              </a:r>
            </a:p>
          </p:txBody>
        </p:sp>
        <p:sp>
          <p:nvSpPr>
            <p:cNvPr id="12" name="TextBox 11">
              <a:extLst>
                <a:ext uri="{FF2B5EF4-FFF2-40B4-BE49-F238E27FC236}">
                  <a16:creationId xmlns:a16="http://schemas.microsoft.com/office/drawing/2014/main" id="{8E5189E8-8A6E-0E40-FC06-B7949E8E416C}"/>
                </a:ext>
                <a:ext uri="{C183D7F6-B498-43B3-948B-1728B52AA6E4}">
                  <adec:decorative xmlns:adec="http://schemas.microsoft.com/office/drawing/2017/decorative" val="1"/>
                </a:ext>
              </a:extLst>
            </p:cNvPr>
            <p:cNvSpPr txBox="1"/>
            <p:nvPr/>
          </p:nvSpPr>
          <p:spPr>
            <a:xfrm>
              <a:off x="3286732" y="3386065"/>
              <a:ext cx="1513305" cy="338554"/>
            </a:xfrm>
            <a:prstGeom prst="rect">
              <a:avLst/>
            </a:prstGeom>
            <a:noFill/>
          </p:spPr>
          <p:txBody>
            <a:bodyPr wrap="square" rtlCol="0">
              <a:spAutoFit/>
            </a:bodyPr>
            <a:lstStyle/>
            <a:p>
              <a:pPr algn="ctr"/>
              <a:r>
                <a:rPr lang="en-US" sz="1600"/>
                <a:t>Amazon EC2</a:t>
              </a:r>
            </a:p>
          </p:txBody>
        </p:sp>
        <p:pic>
          <p:nvPicPr>
            <p:cNvPr id="13" name="Graphic 12">
              <a:extLst>
                <a:ext uri="{FF2B5EF4-FFF2-40B4-BE49-F238E27FC236}">
                  <a16:creationId xmlns:a16="http://schemas.microsoft.com/office/drawing/2014/main" id="{857E2F42-6518-84A9-F4AD-AEC9FA90AF6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58590" y="2794773"/>
              <a:ext cx="483546" cy="483546"/>
            </a:xfrm>
            <a:prstGeom prst="rect">
              <a:avLst/>
            </a:prstGeom>
          </p:spPr>
        </p:pic>
        <p:sp>
          <p:nvSpPr>
            <p:cNvPr id="14" name="Rectangle 13">
              <a:extLst>
                <a:ext uri="{FF2B5EF4-FFF2-40B4-BE49-F238E27FC236}">
                  <a16:creationId xmlns:a16="http://schemas.microsoft.com/office/drawing/2014/main" id="{7DC8BC2D-1D79-A918-2E07-E4704B401E76}"/>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2</a:t>
              </a:r>
            </a:p>
          </p:txBody>
        </p:sp>
        <p:sp>
          <p:nvSpPr>
            <p:cNvPr id="15" name="TextBox 14">
              <a:extLst>
                <a:ext uri="{FF2B5EF4-FFF2-40B4-BE49-F238E27FC236}">
                  <a16:creationId xmlns:a16="http://schemas.microsoft.com/office/drawing/2014/main" id="{563656AF-A314-0038-9E20-54ADD7C3CAEF}"/>
                </a:ext>
                <a:ext uri="{C183D7F6-B498-43B3-948B-1728B52AA6E4}">
                  <adec:decorative xmlns:adec="http://schemas.microsoft.com/office/drawing/2017/decorative" val="1"/>
                </a:ext>
              </a:extLst>
            </p:cNvPr>
            <p:cNvSpPr txBox="1"/>
            <p:nvPr/>
          </p:nvSpPr>
          <p:spPr>
            <a:xfrm>
              <a:off x="3499212" y="5010871"/>
              <a:ext cx="1741310" cy="584775"/>
            </a:xfrm>
            <a:prstGeom prst="rect">
              <a:avLst/>
            </a:prstGeom>
            <a:noFill/>
          </p:spPr>
          <p:txBody>
            <a:bodyPr wrap="square" rtlCol="0">
              <a:spAutoFit/>
            </a:bodyPr>
            <a:lstStyle/>
            <a:p>
              <a:pPr algn="ctr"/>
              <a:r>
                <a:rPr lang="en-US" sz="1600"/>
                <a:t>Amazon RDS </a:t>
              </a:r>
            </a:p>
            <a:p>
              <a:pPr algn="ctr"/>
              <a:r>
                <a:rPr lang="en-US" sz="1600"/>
                <a:t>instance</a:t>
              </a:r>
            </a:p>
          </p:txBody>
        </p:sp>
        <p:pic>
          <p:nvPicPr>
            <p:cNvPr id="16" name="Graphic 15">
              <a:extLst>
                <a:ext uri="{FF2B5EF4-FFF2-40B4-BE49-F238E27FC236}">
                  <a16:creationId xmlns:a16="http://schemas.microsoft.com/office/drawing/2014/main" id="{D446D400-633B-410C-0B82-56964914EC1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23114" y="4477337"/>
              <a:ext cx="537998" cy="537998"/>
            </a:xfrm>
            <a:prstGeom prst="rect">
              <a:avLst/>
            </a:prstGeom>
          </p:spPr>
        </p:pic>
        <p:pic>
          <p:nvPicPr>
            <p:cNvPr id="17" name="Graphic 16">
              <a:extLst>
                <a:ext uri="{FF2B5EF4-FFF2-40B4-BE49-F238E27FC236}">
                  <a16:creationId xmlns:a16="http://schemas.microsoft.com/office/drawing/2014/main" id="{D0CE8CA7-68EF-B222-A29A-6131A624D5B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8924" y="4477337"/>
              <a:ext cx="537998" cy="537998"/>
            </a:xfrm>
            <a:prstGeom prst="rect">
              <a:avLst/>
            </a:prstGeom>
          </p:spPr>
        </p:pic>
        <p:sp>
          <p:nvSpPr>
            <p:cNvPr id="18" name="TextBox 17">
              <a:extLst>
                <a:ext uri="{FF2B5EF4-FFF2-40B4-BE49-F238E27FC236}">
                  <a16:creationId xmlns:a16="http://schemas.microsoft.com/office/drawing/2014/main" id="{42D5AF22-10CE-04DA-5544-9D32425E56E6}"/>
                </a:ext>
                <a:ext uri="{C183D7F6-B498-43B3-948B-1728B52AA6E4}">
                  <adec:decorative xmlns:adec="http://schemas.microsoft.com/office/drawing/2017/decorative" val="1"/>
                </a:ext>
              </a:extLst>
            </p:cNvPr>
            <p:cNvSpPr txBox="1"/>
            <p:nvPr/>
          </p:nvSpPr>
          <p:spPr>
            <a:xfrm>
              <a:off x="8230494" y="5115767"/>
              <a:ext cx="1354858" cy="584775"/>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19" name="Arrow: Right 18">
              <a:extLst>
                <a:ext uri="{FF2B5EF4-FFF2-40B4-BE49-F238E27FC236}">
                  <a16:creationId xmlns:a16="http://schemas.microsoft.com/office/drawing/2014/main" id="{13AA60B7-5899-FBD4-A031-5EC4E3EFB7E9}"/>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75552FD-66B1-3668-A140-F68B493C8087}"/>
                </a:ext>
                <a:ext uri="{C183D7F6-B498-43B3-948B-1728B52AA6E4}">
                  <adec:decorative xmlns:adec="http://schemas.microsoft.com/office/drawing/2017/decorative" val="1"/>
                </a:ext>
              </a:extLst>
            </p:cNvPr>
            <p:cNvSpPr txBox="1"/>
            <p:nvPr/>
          </p:nvSpPr>
          <p:spPr>
            <a:xfrm>
              <a:off x="5744934" y="4720690"/>
              <a:ext cx="1346844"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21" name="Rectangle: Rounded Corners 20">
              <a:extLst>
                <a:ext uri="{FF2B5EF4-FFF2-40B4-BE49-F238E27FC236}">
                  <a16:creationId xmlns:a16="http://schemas.microsoft.com/office/drawing/2014/main" id="{3024FB6D-FBC4-DFC0-EDE6-62AAA86680FF}"/>
                </a:ext>
                <a:ext uri="{C183D7F6-B498-43B3-948B-1728B52AA6E4}">
                  <adec:decorative xmlns:adec="http://schemas.microsoft.com/office/drawing/2017/decorative" val="1"/>
                </a:ext>
              </a:extLst>
            </p:cNvPr>
            <p:cNvSpPr/>
            <p:nvPr/>
          </p:nvSpPr>
          <p:spPr>
            <a:xfrm>
              <a:off x="5163284" y="2781300"/>
              <a:ext cx="483546" cy="430116"/>
            </a:xfrm>
            <a:prstGeom prst="roundRect">
              <a:avLst/>
            </a:prstGeom>
            <a:solidFill>
              <a:schemeClr val="accent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9BCE66-459C-6049-AB95-59B0E50C5B79}"/>
                </a:ext>
                <a:ext uri="{C183D7F6-B498-43B3-948B-1728B52AA6E4}">
                  <adec:decorative xmlns:adec="http://schemas.microsoft.com/office/drawing/2017/decorative" val="1"/>
                </a:ext>
              </a:extLst>
            </p:cNvPr>
            <p:cNvSpPr txBox="1"/>
            <p:nvPr/>
          </p:nvSpPr>
          <p:spPr>
            <a:xfrm>
              <a:off x="4808580" y="3386065"/>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cxnSp>
          <p:nvCxnSpPr>
            <p:cNvPr id="23" name="Straight Arrow Connector 22">
              <a:extLst>
                <a:ext uri="{FF2B5EF4-FFF2-40B4-BE49-F238E27FC236}">
                  <a16:creationId xmlns:a16="http://schemas.microsoft.com/office/drawing/2014/main" id="{02E6FAB2-F184-BC4C-7EB1-581633BB8609}"/>
                </a:ext>
                <a:ext uri="{C183D7F6-B498-43B3-948B-1728B52AA6E4}">
                  <adec:decorative xmlns:adec="http://schemas.microsoft.com/office/drawing/2017/decorative" val="1"/>
                </a:ext>
              </a:extLst>
            </p:cNvPr>
            <p:cNvCxnSpPr>
              <a:cxnSpLocks/>
            </p:cNvCxnSpPr>
            <p:nvPr/>
          </p:nvCxnSpPr>
          <p:spPr>
            <a:xfrm>
              <a:off x="5372806" y="3737088"/>
              <a:ext cx="0" cy="629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5EC15E93-A2D9-A7B7-1339-0702555B7A06}"/>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35" name="Graphic 34">
                <a:extLst>
                  <a:ext uri="{FF2B5EF4-FFF2-40B4-BE49-F238E27FC236}">
                    <a16:creationId xmlns:a16="http://schemas.microsoft.com/office/drawing/2014/main" id="{7BA22B6A-5F07-CB04-9523-C69B9D12A5F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73782" y="4434743"/>
                <a:ext cx="640080" cy="640080"/>
              </a:xfrm>
              <a:prstGeom prst="rect">
                <a:avLst/>
              </a:prstGeom>
            </p:spPr>
          </p:pic>
          <p:sp>
            <p:nvSpPr>
              <p:cNvPr id="36" name="TextBox 35">
                <a:extLst>
                  <a:ext uri="{FF2B5EF4-FFF2-40B4-BE49-F238E27FC236}">
                    <a16:creationId xmlns:a16="http://schemas.microsoft.com/office/drawing/2014/main" id="{4C9FE27B-5B61-A11C-8EAF-6944255D5F04}"/>
                  </a:ext>
                  <a:ext uri="{C183D7F6-B498-43B3-948B-1728B52AA6E4}">
                    <adec:decorative xmlns:adec="http://schemas.microsoft.com/office/drawing/2017/decorative" val="1"/>
                  </a:ext>
                </a:extLst>
              </p:cNvPr>
              <p:cNvSpPr txBox="1"/>
              <p:nvPr/>
            </p:nvSpPr>
            <p:spPr>
              <a:xfrm>
                <a:off x="5317331" y="4656612"/>
                <a:ext cx="352982" cy="338554"/>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25" name="Group 24">
              <a:extLst>
                <a:ext uri="{FF2B5EF4-FFF2-40B4-BE49-F238E27FC236}">
                  <a16:creationId xmlns:a16="http://schemas.microsoft.com/office/drawing/2014/main" id="{AB6A3790-7712-13D0-1161-56E271BE0AE5}"/>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33" name="Graphic 32">
                <a:extLst>
                  <a:ext uri="{FF2B5EF4-FFF2-40B4-BE49-F238E27FC236}">
                    <a16:creationId xmlns:a16="http://schemas.microsoft.com/office/drawing/2014/main" id="{E6D85342-7382-351F-924D-D8FC77AB4E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08355" y="4443120"/>
                <a:ext cx="640080" cy="640080"/>
              </a:xfrm>
              <a:prstGeom prst="rect">
                <a:avLst/>
              </a:prstGeom>
            </p:spPr>
          </p:pic>
          <p:sp>
            <p:nvSpPr>
              <p:cNvPr id="34" name="TextBox 33">
                <a:extLst>
                  <a:ext uri="{FF2B5EF4-FFF2-40B4-BE49-F238E27FC236}">
                    <a16:creationId xmlns:a16="http://schemas.microsoft.com/office/drawing/2014/main" id="{11596094-DDE5-277A-EAF8-92815EA9A180}"/>
                  </a:ext>
                  <a:ext uri="{C183D7F6-B498-43B3-948B-1728B52AA6E4}">
                    <adec:decorative xmlns:adec="http://schemas.microsoft.com/office/drawing/2017/decorative" val="1"/>
                  </a:ext>
                </a:extLst>
              </p:cNvPr>
              <p:cNvSpPr txBox="1"/>
              <p:nvPr/>
            </p:nvSpPr>
            <p:spPr>
              <a:xfrm>
                <a:off x="7179155" y="4656612"/>
                <a:ext cx="298480"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26" name="Rectangle 25">
              <a:extLst>
                <a:ext uri="{FF2B5EF4-FFF2-40B4-BE49-F238E27FC236}">
                  <a16:creationId xmlns:a16="http://schemas.microsoft.com/office/drawing/2014/main" id="{0D68938C-62DC-519B-136E-64A05CE66915}"/>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27" name="Graphic 26">
              <a:extLst>
                <a:ext uri="{FF2B5EF4-FFF2-40B4-BE49-F238E27FC236}">
                  <a16:creationId xmlns:a16="http://schemas.microsoft.com/office/drawing/2014/main" id="{B77EEA0A-27C7-0955-A39F-A676544EDDB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1789" y="1285494"/>
              <a:ext cx="457200" cy="457200"/>
            </a:xfrm>
            <a:prstGeom prst="rect">
              <a:avLst/>
            </a:prstGeom>
          </p:spPr>
        </p:pic>
        <p:pic>
          <p:nvPicPr>
            <p:cNvPr id="28" name="Graphic 27">
              <a:extLst>
                <a:ext uri="{FF2B5EF4-FFF2-40B4-BE49-F238E27FC236}">
                  <a16:creationId xmlns:a16="http://schemas.microsoft.com/office/drawing/2014/main" id="{FCAB4E10-517E-13AF-C912-D101463B445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99617" y="2026835"/>
              <a:ext cx="457200" cy="457200"/>
            </a:xfrm>
            <a:prstGeom prst="rect">
              <a:avLst/>
            </a:prstGeom>
          </p:spPr>
        </p:pic>
        <p:pic>
          <p:nvPicPr>
            <p:cNvPr id="29" name="Graphic 28">
              <a:extLst>
                <a:ext uri="{FF2B5EF4-FFF2-40B4-BE49-F238E27FC236}">
                  <a16:creationId xmlns:a16="http://schemas.microsoft.com/office/drawing/2014/main" id="{6C0BFF73-2A38-07D9-5B22-BAAFAF661AB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73417" y="2232916"/>
              <a:ext cx="457200" cy="457200"/>
            </a:xfrm>
            <a:prstGeom prst="rect">
              <a:avLst/>
            </a:prstGeom>
          </p:spPr>
        </p:pic>
        <p:pic>
          <p:nvPicPr>
            <p:cNvPr id="30" name="Graphic 29">
              <a:extLst>
                <a:ext uri="{FF2B5EF4-FFF2-40B4-BE49-F238E27FC236}">
                  <a16:creationId xmlns:a16="http://schemas.microsoft.com/office/drawing/2014/main" id="{E199529D-DF35-8A91-2436-2FC36A2745C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90567" y="4087465"/>
              <a:ext cx="457200" cy="457200"/>
            </a:xfrm>
            <a:prstGeom prst="rect">
              <a:avLst/>
            </a:prstGeom>
          </p:spPr>
        </p:pic>
        <p:pic>
          <p:nvPicPr>
            <p:cNvPr id="31" name="Graphic 30">
              <a:extLst>
                <a:ext uri="{FF2B5EF4-FFF2-40B4-BE49-F238E27FC236}">
                  <a16:creationId xmlns:a16="http://schemas.microsoft.com/office/drawing/2014/main" id="{764CBB58-B683-E955-EB0A-890F217FB3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85626" y="4087465"/>
              <a:ext cx="457200" cy="457200"/>
            </a:xfrm>
            <a:prstGeom prst="rect">
              <a:avLst/>
            </a:prstGeom>
          </p:spPr>
        </p:pic>
        <p:sp>
          <p:nvSpPr>
            <p:cNvPr id="32" name="Rectangle 31">
              <a:extLst>
                <a:ext uri="{FF2B5EF4-FFF2-40B4-BE49-F238E27FC236}">
                  <a16:creationId xmlns:a16="http://schemas.microsoft.com/office/drawing/2014/main" id="{B7C014FB-E5C7-D27A-B068-EE1C66B93275}"/>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p>
          </p:txBody>
        </p:sp>
      </p:grpSp>
    </p:spTree>
    <p:extLst>
      <p:ext uri="{BB962C8B-B14F-4D97-AF65-F5344CB8AC3E}">
        <p14:creationId xmlns:p14="http://schemas.microsoft.com/office/powerpoint/2010/main" val="362124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3E72D-FE73-D868-A551-247A62CBA2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9FFC1D-422E-C00E-0C04-58227BEC62D1}"/>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When to </a:t>
            </a:r>
            <a:r>
              <a:rPr lang="en-US" sz="2800" b="1" dirty="0">
                <a:solidFill>
                  <a:srgbClr val="2A2929"/>
                </a:solidFill>
                <a:latin typeface="Roboto"/>
              </a:rPr>
              <a:t>u</a:t>
            </a:r>
            <a:r>
              <a:rPr lang="en-US" sz="2800" b="1" i="0" dirty="0">
                <a:solidFill>
                  <a:srgbClr val="2A2929"/>
                </a:solidFill>
                <a:latin typeface="Roboto"/>
              </a:rPr>
              <a:t>se Amazon RDS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C4D55A1D-C8FE-4BB7-7FDA-6069DB869AF9}"/>
              </a:ext>
            </a:extLst>
          </p:cNvPr>
          <p:cNvSpPr/>
          <p:nvPr/>
        </p:nvSpPr>
        <p:spPr>
          <a:xfrm>
            <a:off x="640080" y="1001879"/>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6317A52-9AA7-D0F3-4954-CC1AF7F2ABAC}"/>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E397701-E0F2-9A72-9F3D-0A45F0D78A1F}"/>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191A7D3F-98AE-14B1-763B-EDF33EAD37BF}"/>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
        <p:nvSpPr>
          <p:cNvPr id="4" name="Text Placeholder 1">
            <a:extLst>
              <a:ext uri="{FF2B5EF4-FFF2-40B4-BE49-F238E27FC236}">
                <a16:creationId xmlns:a16="http://schemas.microsoft.com/office/drawing/2014/main" id="{659396BC-93F9-91A9-CBF1-96BA4D32A29D}"/>
              </a:ext>
            </a:extLst>
          </p:cNvPr>
          <p:cNvSpPr txBox="1">
            <a:spLocks/>
          </p:cNvSpPr>
          <p:nvPr/>
        </p:nvSpPr>
        <p:spPr>
          <a:xfrm>
            <a:off x="329184" y="1200150"/>
            <a:ext cx="5503863" cy="1402948"/>
          </a:xfrm>
          <a:prstGeom prst="rect">
            <a:avLst/>
          </a:prstGeom>
        </p:spPr>
        <p:txBody>
          <a:bodyPr vert="horz" wrap="square" lIns="91440" tIns="45720" rIns="91440" bIns="45720" rtlCol="0" anchor="t" anchorCtr="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400" b="1">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Use</a:t>
            </a:r>
            <a:r>
              <a:rPr lang="en-US" sz="2400" b="1">
                <a:latin typeface="Amazon Ember" panose="020B0603020204020204" pitchFamily="34" charset="0"/>
                <a:ea typeface="Amazon Ember" panose="020B0603020204020204" pitchFamily="34" charset="0"/>
                <a:cs typeface="Amazon Ember" panose="020B0603020204020204" pitchFamily="34" charset="0"/>
              </a:rPr>
              <a:t> Amazon RDS when your application requires:</a:t>
            </a:r>
          </a:p>
          <a:p>
            <a:endParaRPr lang="en-US" b="1" dirty="0"/>
          </a:p>
        </p:txBody>
      </p:sp>
      <p:sp>
        <p:nvSpPr>
          <p:cNvPr id="8" name="Content Placeholder 2">
            <a:extLst>
              <a:ext uri="{FF2B5EF4-FFF2-40B4-BE49-F238E27FC236}">
                <a16:creationId xmlns:a16="http://schemas.microsoft.com/office/drawing/2014/main" id="{C35E1FE1-3C40-9B77-E39D-B29C6ED8DCC1}"/>
              </a:ext>
            </a:extLst>
          </p:cNvPr>
          <p:cNvSpPr txBox="1">
            <a:spLocks/>
          </p:cNvSpPr>
          <p:nvPr/>
        </p:nvSpPr>
        <p:spPr>
          <a:xfrm>
            <a:off x="365760" y="2039112"/>
            <a:ext cx="5504688" cy="4133087"/>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spcBef>
                <a:spcPts val="1200"/>
              </a:spcBef>
              <a:spcAft>
                <a:spcPts val="800"/>
              </a:spcAft>
            </a:pPr>
            <a:r>
              <a:rPr lang="en-US" sz="2400"/>
              <a:t>Complex transactions or complex queries</a:t>
            </a:r>
          </a:p>
          <a:p>
            <a:pPr marL="457200" indent="-457200">
              <a:spcBef>
                <a:spcPts val="1200"/>
              </a:spcBef>
              <a:spcAft>
                <a:spcPts val="800"/>
              </a:spcAft>
            </a:pPr>
            <a:r>
              <a:rPr lang="en-US" sz="2400"/>
              <a:t>A medium to high query or write rate – Up to 30,000 IOPS (15,000 reads + 15,000 writes)</a:t>
            </a:r>
          </a:p>
          <a:p>
            <a:pPr marL="457200" indent="-457200">
              <a:spcBef>
                <a:spcPts val="1200"/>
              </a:spcBef>
              <a:spcAft>
                <a:spcPts val="800"/>
              </a:spcAft>
            </a:pPr>
            <a:r>
              <a:rPr lang="en-US" sz="2400"/>
              <a:t>No more than a single worker node or shard</a:t>
            </a:r>
          </a:p>
          <a:p>
            <a:pPr marL="457200" indent="-457200">
              <a:spcBef>
                <a:spcPts val="1200"/>
              </a:spcBef>
              <a:spcAft>
                <a:spcPts val="800"/>
              </a:spcAft>
            </a:pPr>
            <a:r>
              <a:rPr lang="en-US" sz="2400"/>
              <a:t>High durability</a:t>
            </a:r>
            <a:endParaRPr lang="en-US" sz="2400" dirty="0"/>
          </a:p>
        </p:txBody>
      </p:sp>
      <p:sp>
        <p:nvSpPr>
          <p:cNvPr id="9" name="Text Placeholder 4">
            <a:extLst>
              <a:ext uri="{FF2B5EF4-FFF2-40B4-BE49-F238E27FC236}">
                <a16:creationId xmlns:a16="http://schemas.microsoft.com/office/drawing/2014/main" id="{6B69A97C-AA0B-0967-4D92-7F59601951C9}"/>
              </a:ext>
            </a:extLst>
          </p:cNvPr>
          <p:cNvSpPr txBox="1">
            <a:spLocks/>
          </p:cNvSpPr>
          <p:nvPr/>
        </p:nvSpPr>
        <p:spPr>
          <a:xfrm>
            <a:off x="6245352" y="1230313"/>
            <a:ext cx="5503862" cy="830997"/>
          </a:xfrm>
          <a:prstGeom prst="rect">
            <a:avLst/>
          </a:prstGeom>
        </p:spPr>
        <p:txBody>
          <a:bodyPr vert="horz" lIns="91440" tIns="45720" rIns="91440" bIns="45720" rtlCol="0" anchor="t" anchorCtr="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a:solidFill>
                  <a:schemeClr val="accent6"/>
                </a:solidFill>
              </a:rPr>
              <a:t>Do not use </a:t>
            </a:r>
            <a:r>
              <a:rPr lang="en-US" sz="2400" b="1"/>
              <a:t>Amazon RDS when your application requires:</a:t>
            </a:r>
          </a:p>
        </p:txBody>
      </p:sp>
      <p:sp>
        <p:nvSpPr>
          <p:cNvPr id="10" name="Content Placeholder 5">
            <a:extLst>
              <a:ext uri="{FF2B5EF4-FFF2-40B4-BE49-F238E27FC236}">
                <a16:creationId xmlns:a16="http://schemas.microsoft.com/office/drawing/2014/main" id="{C0E621B8-08DC-12CA-16D4-8BDCDA2EE0B6}"/>
              </a:ext>
            </a:extLst>
          </p:cNvPr>
          <p:cNvSpPr txBox="1">
            <a:spLocks/>
          </p:cNvSpPr>
          <p:nvPr/>
        </p:nvSpPr>
        <p:spPr>
          <a:xfrm>
            <a:off x="6245352" y="2041525"/>
            <a:ext cx="5503862" cy="413226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spcBef>
                <a:spcPts val="1200"/>
              </a:spcBef>
              <a:spcAft>
                <a:spcPts val="800"/>
              </a:spcAft>
            </a:pPr>
            <a:r>
              <a:rPr lang="en-US" sz="2400"/>
              <a:t>Massive read/write rates (for example, 150,000 write/second)</a:t>
            </a:r>
          </a:p>
          <a:p>
            <a:pPr marL="457200" indent="-457200">
              <a:spcBef>
                <a:spcPts val="1200"/>
              </a:spcBef>
              <a:spcAft>
                <a:spcPts val="800"/>
              </a:spcAft>
            </a:pPr>
            <a:r>
              <a:rPr lang="en-US" sz="2400"/>
              <a:t>Sharding due to high data size or throughput demands </a:t>
            </a:r>
          </a:p>
          <a:p>
            <a:pPr marL="457200" indent="-457200">
              <a:spcBef>
                <a:spcPts val="1200"/>
              </a:spcBef>
              <a:spcAft>
                <a:spcPts val="800"/>
              </a:spcAft>
            </a:pPr>
            <a:r>
              <a:rPr lang="en-US" sz="2400"/>
              <a:t>Simple GET or PUT requests and queries that a NoSQL database can handle</a:t>
            </a:r>
          </a:p>
          <a:p>
            <a:pPr marL="457200" indent="-457200">
              <a:spcBef>
                <a:spcPts val="1200"/>
              </a:spcBef>
              <a:spcAft>
                <a:spcPts val="800"/>
              </a:spcAft>
            </a:pPr>
            <a:r>
              <a:rPr lang="en-US" sz="2400"/>
              <a:t>Relational database management system (RDBMS) customization</a:t>
            </a:r>
          </a:p>
        </p:txBody>
      </p:sp>
    </p:spTree>
    <p:extLst>
      <p:ext uri="{BB962C8B-B14F-4D97-AF65-F5344CB8AC3E}">
        <p14:creationId xmlns:p14="http://schemas.microsoft.com/office/powerpoint/2010/main" val="969614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database you'll build</a:t>
            </a:r>
          </a:p>
          <a:p>
            <a:pPr>
              <a:spcBef>
                <a:spcPts val="200"/>
              </a:spcBef>
            </a:pPr>
            <a:r>
              <a:rPr sz="1800" b="0" i="1">
                <a:solidFill>
                  <a:srgbClr val="D68E10"/>
                </a:solidFill>
                <a:latin typeface="Roboto Light"/>
              </a:rPr>
              <a:t>the supplied design</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Amazon RDS for SQL Server, Standard edition (preserves the existing engine + data).</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Instance class db.m6i.large* (C2 decision); gp3 storage ~22 GB + growth; in private-data-a, sg-db, not public.</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Multi-AZ off at baseline; KMS encryption on; automated backups + tx-log backups to RPO ≤ 1 hour.</a:t>
            </a:r>
          </a:p>
          <a:p>
            <a:pPr marL="0" indent="0">
              <a:lnSpc>
                <a:spcPct val="105000"/>
              </a:lnSpc>
              <a:spcBef>
                <a:spcPts val="0"/>
              </a:spcBef>
              <a:spcAft>
                <a:spcPts val="1000"/>
              </a:spcAft>
            </a:pPr>
            <a:r>
              <a:rPr sz="1800" b="1" i="0">
                <a:solidFill>
                  <a:srgbClr val="92268F"/>
                </a:solidFill>
                <a:latin typeface="Roboto"/>
              </a:rPr>
              <a:t>■  MTS provisions an EMPTY instance — schema and data migration are YAT ICT's responsibility. (*= implementer; licence model = C3.)</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2331720" cy="457200"/>
          </a:xfrm>
          <a:prstGeom prst="round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2A2929"/>
                </a:solidFill>
                <a:latin typeface="Roboto"/>
              </a:rPr>
              <a:t>RECORDED DEMO</a:t>
            </a:r>
          </a:p>
        </p:txBody>
      </p:sp>
      <p:sp>
        <p:nvSpPr>
          <p:cNvPr id="4" name="TextBox 3"/>
          <p:cNvSpPr txBox="1"/>
          <p:nvPr/>
        </p:nvSpPr>
        <p:spPr>
          <a:xfrm>
            <a:off x="3200400" y="310896"/>
            <a:ext cx="8321040" cy="685800"/>
          </a:xfrm>
          <a:prstGeom prst="rect">
            <a:avLst/>
          </a:prstGeom>
          <a:noFill/>
        </p:spPr>
        <p:txBody>
          <a:bodyPr wrap="square" lIns="0" tIns="0" rIns="0" bIns="0" anchor="ctr">
            <a:spAutoFit/>
          </a:bodyPr>
          <a:lstStyle/>
          <a:p>
            <a:r>
              <a:rPr sz="2500" b="1" i="0">
                <a:solidFill>
                  <a:srgbClr val="FFFFFF"/>
                </a:solidFill>
                <a:latin typeface="Roboto"/>
              </a:rPr>
              <a:t>Provision an RDS database</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Create a DB subnet group and the database security group.</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Launch an RDS DB instance: choose the engine, instance class, storage and backup settings.</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Connect to the database from the application tier to confirm it's reachable.</a:t>
            </a:r>
          </a:p>
        </p:txBody>
      </p:sp>
      <p:sp>
        <p:nvSpPr>
          <p:cNvPr id="6" name="Rounded Rectangle 5"/>
          <p:cNvSpPr/>
          <p:nvPr/>
        </p:nvSpPr>
        <p:spPr>
          <a:xfrm>
            <a:off x="640080" y="5897880"/>
            <a:ext cx="786384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7498080" cy="365760"/>
          </a:xfrm>
          <a:prstGeom prst="rect">
            <a:avLst/>
          </a:prstGeom>
          <a:noFill/>
        </p:spPr>
        <p:txBody>
          <a:bodyPr wrap="square" lIns="0" tIns="0" rIns="0" bIns="0" anchor="ctr">
            <a:spAutoFit/>
          </a:bodyPr>
          <a:lstStyle/>
          <a:p>
            <a:r>
              <a:rPr sz="1400" b="1" i="0">
                <a:solidFill>
                  <a:srgbClr val="2A2929"/>
                </a:solidFill>
                <a:latin typeface="Roboto"/>
              </a:rPr>
              <a:t>▶  Play the AWS recorded demo (ACF M08 · RDS console (S22) + ACA M06 · backups (S37)) — you do this next</a:t>
            </a:r>
          </a:p>
        </p:txBody>
      </p:sp>
      <p:sp>
        <p:nvSpPr>
          <p:cNvPr id="8" name="Rectangle 7"/>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Provision the Ledgerline database</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In the lab, per the design, provision the database:</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RDS for SQL Server (class + storage per the design); in private-data-a with sg-db; not public</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enable automated backups + KMS encryption; leave Multi-AZ off (baseline)</a:t>
            </a:r>
          </a:p>
          <a:p>
            <a:pPr marL="0" indent="0">
              <a:lnSpc>
                <a:spcPct val="105000"/>
              </a:lnSpc>
              <a:spcBef>
                <a:spcPts val="0"/>
              </a:spcBef>
              <a:spcAft>
                <a:spcPts val="1000"/>
              </a:spcAft>
            </a:pPr>
            <a:r>
              <a:rPr sz="1700" b="1" i="0">
                <a:solidFill>
                  <a:srgbClr val="92268F"/>
                </a:solidFill>
                <a:latin typeface="Roboto"/>
              </a:rPr>
              <a:t>■  Test app → database connectivity (completes the Topic 7 connectivity test) and fix any errors.</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Capture evidence — the instance, its network/SG, backup + encryption settings.</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~20 min</a:t>
            </a:r>
          </a:p>
        </p:txBody>
      </p:sp>
      <p:sp>
        <p:nvSpPr>
          <p:cNvPr id="8" name="Rectangle 7"/>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92268F"/>
                </a:solidFill>
                <a:latin typeface="Roboto"/>
              </a:rPr>
              <a:t>Section 1 · Managed database</a:t>
            </a:r>
          </a:p>
        </p:txBody>
      </p:sp>
      <p:sp>
        <p:nvSpPr>
          <p:cNvPr id="3" name="Rectangle 2"/>
          <p:cNvSpPr/>
          <p:nvPr/>
        </p:nvSpPr>
        <p:spPr>
          <a:xfrm>
            <a:off x="658368" y="16002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 managed database (RDS) offloads OS/engine patching, backups, scaling and availability.</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Place it in a private subnet, lock it to the app's security group, encrypt it.</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MTS delivers an empty instance — schema and data are the customer's job.</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Multi-AZ is the HA option — deferred to AT3; baseline is single-AZ.</a:t>
            </a:r>
          </a:p>
        </p:txBody>
      </p:sp>
      <p:sp>
        <p:nvSpPr>
          <p:cNvPr id="16" name="Rectangle 15"/>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02</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27B5CE"/>
                </a:solidFill>
                <a:latin typeface="Roboto"/>
              </a:rPr>
              <a:t>SECTION</a:t>
            </a:r>
          </a:p>
          <a:p>
            <a:pPr>
              <a:spcBef>
                <a:spcPts val="600"/>
              </a:spcBef>
            </a:pPr>
            <a:r>
              <a:rPr sz="3800" b="1" i="0">
                <a:solidFill>
                  <a:srgbClr val="2A2929"/>
                </a:solidFill>
                <a:latin typeface="Roboto"/>
              </a:rPr>
              <a:t>Object &amp; archive storage</a:t>
            </a:r>
          </a:p>
          <a:p>
            <a:pPr>
              <a:spcBef>
                <a:spcPts val="1000"/>
              </a:spcBef>
            </a:pPr>
            <a:r>
              <a:rPr sz="2000" b="0" i="1">
                <a:solidFill>
                  <a:srgbClr val="484848"/>
                </a:solidFill>
                <a:latin typeface="Roboto Light"/>
              </a:rPr>
              <a:t>Amazon S3 + Glacier</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Block vs object vs archive</a:t>
            </a:r>
          </a:p>
          <a:p>
            <a:pPr>
              <a:spcBef>
                <a:spcPts val="200"/>
              </a:spcBef>
            </a:pPr>
            <a:r>
              <a:rPr sz="1800" b="0" i="1">
                <a:solidFill>
                  <a:srgbClr val="D68E10"/>
                </a:solidFill>
                <a:latin typeface="Roboto Light"/>
              </a:rPr>
              <a:t>primer + AWS · ACF M07 S7</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Block storage = a virtual disk attached to one instance (EBS) — change one block of a file.</a:t>
            </a:r>
          </a:p>
          <a:p>
            <a:pPr marL="0" indent="0">
              <a:lnSpc>
                <a:spcPct val="105000"/>
              </a:lnSpc>
              <a:spcBef>
                <a:spcPts val="0"/>
              </a:spcBef>
              <a:spcAft>
                <a:spcPts val="1000"/>
              </a:spcAft>
            </a:pPr>
            <a:r>
              <a:rPr sz="1800" b="1" i="0">
                <a:solidFill>
                  <a:srgbClr val="27B5CE"/>
                </a:solidFill>
                <a:latin typeface="Roboto"/>
              </a:rPr>
              <a:t>■  Object storage = whole files (objects) + metadata, reached by API, virtually unlimited (S3).</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Archive storage = very cheap, slow to retrieve, for long-term retention (Glacier).</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Match the storage to the job — performance and cost both depend on it.</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0FE92-B3F5-FC44-5FE4-35D074DB32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5FCEE9-FA70-8E11-F283-4BF4F98DF1A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AWS storage options: Block storage versus object storage</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8D45C937-9BEA-F544-E339-FCC26716EEC3}"/>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E22F5ECB-8E01-F26E-13F2-80F262598AF9}"/>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5741694-4BB0-C65B-5E72-A5F35FDF1DB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A888A2F8-7D41-9117-68A4-BAFA845001D1}"/>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grpSp>
        <p:nvGrpSpPr>
          <p:cNvPr id="8" name="Group 7" descr="What if you want to change one character in a 1-GB file?">
            <a:extLst>
              <a:ext uri="{FF2B5EF4-FFF2-40B4-BE49-F238E27FC236}">
                <a16:creationId xmlns:a16="http://schemas.microsoft.com/office/drawing/2014/main" id="{B3B4C098-A7C2-092F-FEB1-7B23C791B255}"/>
              </a:ext>
            </a:extLst>
          </p:cNvPr>
          <p:cNvGrpSpPr/>
          <p:nvPr/>
        </p:nvGrpSpPr>
        <p:grpSpPr>
          <a:xfrm>
            <a:off x="320639" y="1406757"/>
            <a:ext cx="10052963" cy="829839"/>
            <a:chOff x="703236" y="2835131"/>
            <a:chExt cx="7205194" cy="622379"/>
          </a:xfrm>
        </p:grpSpPr>
        <p:grpSp>
          <p:nvGrpSpPr>
            <p:cNvPr id="9" name="Group 8">
              <a:extLst>
                <a:ext uri="{FF2B5EF4-FFF2-40B4-BE49-F238E27FC236}">
                  <a16:creationId xmlns:a16="http://schemas.microsoft.com/office/drawing/2014/main" id="{91236580-9FEE-DA33-5C46-88DAF0A118F4}"/>
                </a:ext>
              </a:extLst>
            </p:cNvPr>
            <p:cNvGrpSpPr/>
            <p:nvPr/>
          </p:nvGrpSpPr>
          <p:grpSpPr>
            <a:xfrm>
              <a:off x="703236" y="2835131"/>
              <a:ext cx="540451" cy="622379"/>
              <a:chOff x="3402623" y="3640015"/>
              <a:chExt cx="826477" cy="861647"/>
            </a:xfrm>
          </p:grpSpPr>
          <p:sp>
            <p:nvSpPr>
              <p:cNvPr id="11" name="Flowchart: Document 10">
                <a:extLst>
                  <a:ext uri="{FF2B5EF4-FFF2-40B4-BE49-F238E27FC236}">
                    <a16:creationId xmlns:a16="http://schemas.microsoft.com/office/drawing/2014/main" id="{C54B57DA-EB04-3609-5306-7F418AE966A9}"/>
                  </a:ext>
                </a:extLst>
              </p:cNvPr>
              <p:cNvSpPr/>
              <p:nvPr/>
            </p:nvSpPr>
            <p:spPr>
              <a:xfrm>
                <a:off x="3402623" y="3640015"/>
                <a:ext cx="826477" cy="861647"/>
              </a:xfrm>
              <a:prstGeom prst="flowChartDocumen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12" name="Straight Connector 11">
                <a:extLst>
                  <a:ext uri="{FF2B5EF4-FFF2-40B4-BE49-F238E27FC236}">
                    <a16:creationId xmlns:a16="http://schemas.microsoft.com/office/drawing/2014/main" id="{48A9BB07-B794-9452-AE76-46B60E9B6780}"/>
                  </a:ext>
                </a:extLst>
              </p:cNvPr>
              <p:cNvCxnSpPr/>
              <p:nvPr/>
            </p:nvCxnSpPr>
            <p:spPr>
              <a:xfrm>
                <a:off x="3464169" y="38070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2C9D807-A6B0-EB94-F1FA-A34DD3966725}"/>
                  </a:ext>
                </a:extLst>
              </p:cNvPr>
              <p:cNvCxnSpPr/>
              <p:nvPr/>
            </p:nvCxnSpPr>
            <p:spPr>
              <a:xfrm>
                <a:off x="3464169" y="39594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4" name="Straight Connector 23">
                <a:extLst>
                  <a:ext uri="{FF2B5EF4-FFF2-40B4-BE49-F238E27FC236}">
                    <a16:creationId xmlns:a16="http://schemas.microsoft.com/office/drawing/2014/main" id="{762064E1-E5E3-EEF9-8EA1-D356DE200C38}"/>
                  </a:ext>
                </a:extLst>
              </p:cNvPr>
              <p:cNvCxnSpPr/>
              <p:nvPr/>
            </p:nvCxnSpPr>
            <p:spPr>
              <a:xfrm>
                <a:off x="3464169" y="41118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5" name="Straight Connector 25">
                <a:extLst>
                  <a:ext uri="{FF2B5EF4-FFF2-40B4-BE49-F238E27FC236}">
                    <a16:creationId xmlns:a16="http://schemas.microsoft.com/office/drawing/2014/main" id="{2620371B-002B-D158-377C-1815A6921000}"/>
                  </a:ext>
                </a:extLst>
              </p:cNvPr>
              <p:cNvCxnSpPr/>
              <p:nvPr/>
            </p:nvCxnSpPr>
            <p:spPr>
              <a:xfrm>
                <a:off x="3464169" y="42642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10" name="TextBox 9">
              <a:extLst>
                <a:ext uri="{FF2B5EF4-FFF2-40B4-BE49-F238E27FC236}">
                  <a16:creationId xmlns:a16="http://schemas.microsoft.com/office/drawing/2014/main" id="{E4163A6C-9AC6-D77D-8C60-D129C05E86A1}"/>
                </a:ext>
              </a:extLst>
            </p:cNvPr>
            <p:cNvSpPr txBox="1"/>
            <p:nvPr/>
          </p:nvSpPr>
          <p:spPr>
            <a:xfrm>
              <a:off x="1309261" y="2932340"/>
              <a:ext cx="6599169" cy="346249"/>
            </a:xfrm>
            <a:prstGeom prst="rect">
              <a:avLst/>
            </a:prstGeom>
            <a:noFill/>
          </p:spPr>
          <p:txBody>
            <a:bodyPr wrap="square" rtlCol="0">
              <a:spAutoFit/>
            </a:bodyPr>
            <a:lstStyle/>
            <a:p>
              <a:r>
                <a:rPr lang="en-US" sz="2400" dirty="0">
                  <a:latin typeface="Roboto" panose="02000000000000000000" pitchFamily="2" charset="0"/>
                  <a:ea typeface="Roboto" panose="02000000000000000000" pitchFamily="2" charset="0"/>
                  <a:cs typeface="Roboto" panose="02000000000000000000" pitchFamily="2" charset="0"/>
                </a:rPr>
                <a:t>What if you want to change </a:t>
              </a:r>
              <a:r>
                <a:rPr lang="en-US" sz="2400" b="1" dirty="0">
                  <a:latin typeface="Roboto" panose="02000000000000000000" pitchFamily="2" charset="0"/>
                  <a:ea typeface="Roboto" panose="02000000000000000000" pitchFamily="2" charset="0"/>
                  <a:cs typeface="Roboto" panose="02000000000000000000" pitchFamily="2" charset="0"/>
                </a:rPr>
                <a:t>one character</a:t>
              </a:r>
              <a:r>
                <a:rPr lang="en-US" sz="2400" dirty="0">
                  <a:latin typeface="Roboto" panose="02000000000000000000" pitchFamily="2" charset="0"/>
                  <a:ea typeface="Roboto" panose="02000000000000000000" pitchFamily="2" charset="0"/>
                  <a:cs typeface="Roboto" panose="02000000000000000000" pitchFamily="2" charset="0"/>
                </a:rPr>
                <a:t> in a 1-GB file?</a:t>
              </a:r>
            </a:p>
          </p:txBody>
        </p:sp>
      </p:grpSp>
      <p:graphicFrame>
        <p:nvGraphicFramePr>
          <p:cNvPr id="16" name="Table 15">
            <a:extLst>
              <a:ext uri="{FF2B5EF4-FFF2-40B4-BE49-F238E27FC236}">
                <a16:creationId xmlns:a16="http://schemas.microsoft.com/office/drawing/2014/main" id="{17010EBC-0BAE-4700-E946-35A295FB9759}"/>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1816831593"/>
              </p:ext>
            </p:extLst>
          </p:nvPr>
        </p:nvGraphicFramePr>
        <p:xfrm>
          <a:off x="2374187" y="2425416"/>
          <a:ext cx="1896663" cy="2156276"/>
        </p:xfrm>
        <a:graphic>
          <a:graphicData uri="http://schemas.openxmlformats.org/drawingml/2006/table">
            <a:tbl>
              <a:tblPr firstRow="1" bandRow="1"/>
              <a:tblGrid>
                <a:gridCol w="632221">
                  <a:extLst>
                    <a:ext uri="{9D8B030D-6E8A-4147-A177-3AD203B41FA5}">
                      <a16:colId xmlns:a16="http://schemas.microsoft.com/office/drawing/2014/main" val="20000"/>
                    </a:ext>
                  </a:extLst>
                </a:gridCol>
                <a:gridCol w="632221">
                  <a:extLst>
                    <a:ext uri="{9D8B030D-6E8A-4147-A177-3AD203B41FA5}">
                      <a16:colId xmlns:a16="http://schemas.microsoft.com/office/drawing/2014/main" val="20001"/>
                    </a:ext>
                  </a:extLst>
                </a:gridCol>
                <a:gridCol w="632221">
                  <a:extLst>
                    <a:ext uri="{9D8B030D-6E8A-4147-A177-3AD203B41FA5}">
                      <a16:colId xmlns:a16="http://schemas.microsoft.com/office/drawing/2014/main" val="20002"/>
                    </a:ext>
                  </a:extLst>
                </a:gridCol>
              </a:tblGrid>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0"/>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1"/>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2"/>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3"/>
                  </a:ext>
                </a:extLst>
              </a:tr>
            </a:tbl>
          </a:graphicData>
        </a:graphic>
      </p:graphicFrame>
      <p:sp>
        <p:nvSpPr>
          <p:cNvPr id="17" name="Content Placeholder 2">
            <a:extLst>
              <a:ext uri="{FF2B5EF4-FFF2-40B4-BE49-F238E27FC236}">
                <a16:creationId xmlns:a16="http://schemas.microsoft.com/office/drawing/2014/main" id="{BF51AB05-5F43-AB67-05A5-000618322D66}"/>
              </a:ext>
            </a:extLst>
          </p:cNvPr>
          <p:cNvSpPr txBox="1">
            <a:spLocks/>
          </p:cNvSpPr>
          <p:nvPr/>
        </p:nvSpPr>
        <p:spPr>
          <a:xfrm>
            <a:off x="1404421" y="4747723"/>
            <a:ext cx="3961207" cy="620681"/>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rgbClr val="4D4D4C"/>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rgbClr val="4D4D4C"/>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rgbClr val="4D4D4C"/>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lgn="ctr">
              <a:buNone/>
            </a:pPr>
            <a:r>
              <a:rPr lang="en-US" sz="3200" dirty="0">
                <a:solidFill>
                  <a:schemeClr val="tx1"/>
                </a:solidFill>
                <a:latin typeface="Roboto" panose="02000000000000000000" pitchFamily="2" charset="0"/>
                <a:ea typeface="Roboto" panose="02000000000000000000" pitchFamily="2" charset="0"/>
                <a:cs typeface="Roboto" panose="02000000000000000000" pitchFamily="2" charset="0"/>
              </a:rPr>
              <a:t>Block storage</a:t>
            </a:r>
          </a:p>
        </p:txBody>
      </p:sp>
      <p:sp>
        <p:nvSpPr>
          <p:cNvPr id="18" name="Content Placeholder 2">
            <a:extLst>
              <a:ext uri="{FF2B5EF4-FFF2-40B4-BE49-F238E27FC236}">
                <a16:creationId xmlns:a16="http://schemas.microsoft.com/office/drawing/2014/main" id="{FDFEC7B0-C3DB-FC9A-EF52-283A9DCB1A65}"/>
              </a:ext>
            </a:extLst>
          </p:cNvPr>
          <p:cNvSpPr txBox="1">
            <a:spLocks/>
          </p:cNvSpPr>
          <p:nvPr/>
        </p:nvSpPr>
        <p:spPr>
          <a:xfrm>
            <a:off x="365760" y="5393494"/>
            <a:ext cx="6460614" cy="983506"/>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lgn="ctr">
              <a:buFont typeface="Arial"/>
              <a:buNone/>
            </a:pPr>
            <a:r>
              <a:rPr lang="en-US" dirty="0">
                <a:latin typeface="Roboto" panose="02000000000000000000" pitchFamily="2" charset="0"/>
                <a:ea typeface="Roboto" panose="02000000000000000000" pitchFamily="2" charset="0"/>
                <a:cs typeface="Roboto" panose="02000000000000000000" pitchFamily="2" charset="0"/>
              </a:rPr>
              <a:t>Change one block (piece of the file)</a:t>
            </a:r>
          </a:p>
          <a:p>
            <a:pPr marL="0" lvl="1" indent="0" algn="ctr">
              <a:buFont typeface="Arial"/>
              <a:buNone/>
            </a:pPr>
            <a:r>
              <a:rPr lang="en-US" dirty="0">
                <a:latin typeface="Roboto" panose="02000000000000000000" pitchFamily="2" charset="0"/>
                <a:ea typeface="Roboto" panose="02000000000000000000" pitchFamily="2" charset="0"/>
                <a:cs typeface="Roboto" panose="02000000000000000000" pitchFamily="2" charset="0"/>
              </a:rPr>
              <a:t>that contains the character</a:t>
            </a:r>
          </a:p>
        </p:txBody>
      </p:sp>
      <p:graphicFrame>
        <p:nvGraphicFramePr>
          <p:cNvPr id="19" name="Table 18">
            <a:extLst>
              <a:ext uri="{FF2B5EF4-FFF2-40B4-BE49-F238E27FC236}">
                <a16:creationId xmlns:a16="http://schemas.microsoft.com/office/drawing/2014/main" id="{5AC8E29E-91A1-3205-028E-1AFBF3C510E1}"/>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79155092"/>
              </p:ext>
            </p:extLst>
          </p:nvPr>
        </p:nvGraphicFramePr>
        <p:xfrm>
          <a:off x="7864523" y="2432176"/>
          <a:ext cx="1896663" cy="2156276"/>
        </p:xfrm>
        <a:graphic>
          <a:graphicData uri="http://schemas.openxmlformats.org/drawingml/2006/table">
            <a:tbl>
              <a:tblPr firstRow="1" bandRow="1"/>
              <a:tblGrid>
                <a:gridCol w="632221">
                  <a:extLst>
                    <a:ext uri="{9D8B030D-6E8A-4147-A177-3AD203B41FA5}">
                      <a16:colId xmlns:a16="http://schemas.microsoft.com/office/drawing/2014/main" val="20000"/>
                    </a:ext>
                  </a:extLst>
                </a:gridCol>
                <a:gridCol w="632221">
                  <a:extLst>
                    <a:ext uri="{9D8B030D-6E8A-4147-A177-3AD203B41FA5}">
                      <a16:colId xmlns:a16="http://schemas.microsoft.com/office/drawing/2014/main" val="20001"/>
                    </a:ext>
                  </a:extLst>
                </a:gridCol>
                <a:gridCol w="632221">
                  <a:extLst>
                    <a:ext uri="{9D8B030D-6E8A-4147-A177-3AD203B41FA5}">
                      <a16:colId xmlns:a16="http://schemas.microsoft.com/office/drawing/2014/main" val="20002"/>
                    </a:ext>
                  </a:extLst>
                </a:gridCol>
              </a:tblGrid>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0"/>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1"/>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2"/>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3"/>
                  </a:ext>
                </a:extLst>
              </a:tr>
            </a:tbl>
          </a:graphicData>
        </a:graphic>
      </p:graphicFrame>
      <p:sp>
        <p:nvSpPr>
          <p:cNvPr id="20" name="Content Placeholder 2">
            <a:extLst>
              <a:ext uri="{FF2B5EF4-FFF2-40B4-BE49-F238E27FC236}">
                <a16:creationId xmlns:a16="http://schemas.microsoft.com/office/drawing/2014/main" id="{D0CD75AF-42CA-CB88-6CCA-118948186DCE}"/>
              </a:ext>
            </a:extLst>
          </p:cNvPr>
          <p:cNvSpPr txBox="1">
            <a:spLocks/>
          </p:cNvSpPr>
          <p:nvPr/>
        </p:nvSpPr>
        <p:spPr>
          <a:xfrm>
            <a:off x="7286947" y="4743692"/>
            <a:ext cx="3194501" cy="464673"/>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solidFill>
                  <a:srgbClr val="4D4D4C"/>
                </a:solidFill>
                <a:latin typeface="Arial"/>
                <a:cs typeface="Arial"/>
              </a:defRPr>
            </a:lvl1pPr>
            <a:lvl2pPr marL="0" lvl="1" indent="0" algn="ctr" defTabSz="457200">
              <a:spcBef>
                <a:spcPct val="20000"/>
              </a:spcBef>
              <a:buFont typeface="Arial"/>
              <a:buNone/>
              <a:defRPr sz="2133" b="1" i="0">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defTabSz="457200">
              <a:spcBef>
                <a:spcPct val="20000"/>
              </a:spcBef>
              <a:buFont typeface="Arial"/>
              <a:buChar char="•"/>
              <a:defRPr b="0" i="0">
                <a:solidFill>
                  <a:srgbClr val="4D4D4C"/>
                </a:solidFill>
                <a:latin typeface="Arial"/>
                <a:cs typeface="Arial"/>
              </a:defRPr>
            </a:lvl3pPr>
            <a:lvl4pPr marL="1600200" indent="-228600" defTabSz="457200">
              <a:spcBef>
                <a:spcPct val="20000"/>
              </a:spcBef>
              <a:buFont typeface="Arial"/>
              <a:buChar char="–"/>
              <a:defRPr sz="1600" b="0" i="0">
                <a:solidFill>
                  <a:srgbClr val="4D4D4C"/>
                </a:solidFill>
                <a:latin typeface="Arial"/>
                <a:cs typeface="Arial"/>
              </a:defRPr>
            </a:lvl4pPr>
            <a:lvl5pPr marL="2057400" indent="-228600" defTabSz="457200">
              <a:spcBef>
                <a:spcPct val="20000"/>
              </a:spcBef>
              <a:buFont typeface="Arial"/>
              <a:buChar char="»"/>
              <a:defRPr sz="1600" b="0" i="0">
                <a:solidFill>
                  <a:srgbClr val="4D4D4C"/>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sz="3200" b="0" dirty="0">
                <a:latin typeface="Roboto" panose="02000000000000000000" pitchFamily="2" charset="0"/>
                <a:ea typeface="Roboto" panose="02000000000000000000" pitchFamily="2" charset="0"/>
                <a:cs typeface="Roboto" panose="02000000000000000000" pitchFamily="2" charset="0"/>
              </a:rPr>
              <a:t>Object storage</a:t>
            </a:r>
          </a:p>
        </p:txBody>
      </p:sp>
      <p:sp>
        <p:nvSpPr>
          <p:cNvPr id="21" name="Content Placeholder 2">
            <a:extLst>
              <a:ext uri="{FF2B5EF4-FFF2-40B4-BE49-F238E27FC236}">
                <a16:creationId xmlns:a16="http://schemas.microsoft.com/office/drawing/2014/main" id="{37C4DD9C-BAAF-E5B0-D1D4-25F6006A2882}"/>
              </a:ext>
            </a:extLst>
          </p:cNvPr>
          <p:cNvSpPr txBox="1">
            <a:spLocks/>
          </p:cNvSpPr>
          <p:nvPr/>
        </p:nvSpPr>
        <p:spPr>
          <a:xfrm>
            <a:off x="6531721" y="5393494"/>
            <a:ext cx="4313371" cy="377193"/>
          </a:xfrm>
          <a:prstGeom prst="rect">
            <a:avLst/>
          </a:prstGeom>
        </p:spPr>
        <p:txBody>
          <a:bodyPr vert="horz" lIns="91440" tIns="45720" rIns="91440" bIns="45720" rtlCol="0">
            <a:noAutofit/>
          </a:bodyPr>
          <a:lstStyle>
            <a:lvl1pPr marL="228600" indent="-228600">
              <a:lnSpc>
                <a:spcPct val="90000"/>
              </a:lnSpc>
              <a:spcBef>
                <a:spcPts val="1000"/>
              </a:spcBef>
              <a:buFontTx/>
              <a:buBlip>
                <a:blip r:embed="rId3"/>
              </a:buBlip>
              <a:defRPr sz="2800" b="0" i="0">
                <a:latin typeface="Amazon Ember Light" charset="0"/>
                <a:ea typeface="Amazon Ember Light" charset="0"/>
                <a:cs typeface="Amazon Ember Light" charset="0"/>
              </a:defRPr>
            </a:lvl1pPr>
            <a:lvl2pPr marL="0" lvl="1" indent="0" algn="ctr">
              <a:lnSpc>
                <a:spcPct val="90000"/>
              </a:lnSpc>
              <a:spcBef>
                <a:spcPts val="500"/>
              </a:spcBef>
              <a:buFontTx/>
              <a:buNone/>
              <a:defRPr sz="1600" b="0" i="0">
                <a:latin typeface="Amazon Ember Light" charset="0"/>
                <a:ea typeface="Amazon Ember Light" charset="0"/>
                <a:cs typeface="Amazon Ember Light" charset="0"/>
              </a:defRPr>
            </a:lvl2pPr>
            <a:lvl3pPr marL="1143000" indent="-228600">
              <a:lnSpc>
                <a:spcPct val="90000"/>
              </a:lnSpc>
              <a:spcBef>
                <a:spcPts val="500"/>
              </a:spcBef>
              <a:buFontTx/>
              <a:buBlip>
                <a:blip r:embed="rId3"/>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3"/>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3"/>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1"/>
            <a:r>
              <a:rPr lang="en-US" sz="2400" dirty="0">
                <a:latin typeface="Roboto" panose="02000000000000000000" pitchFamily="2" charset="0"/>
                <a:ea typeface="Roboto" panose="02000000000000000000" pitchFamily="2" charset="0"/>
                <a:cs typeface="Roboto" panose="02000000000000000000" pitchFamily="2" charset="0"/>
              </a:rPr>
              <a:t>Entire file must be updated</a:t>
            </a:r>
          </a:p>
        </p:txBody>
      </p:sp>
      <p:sp>
        <p:nvSpPr>
          <p:cNvPr id="22" name="Rectangle 21">
            <a:extLst>
              <a:ext uri="{FF2B5EF4-FFF2-40B4-BE49-F238E27FC236}">
                <a16:creationId xmlns:a16="http://schemas.microsoft.com/office/drawing/2014/main" id="{8415CC39-BBFB-3642-5757-34C5ED6B067E}"/>
              </a:ext>
              <a:ext uri="{C183D7F6-B498-43B3-948B-1728B52AA6E4}">
                <adec:decorative xmlns:adec="http://schemas.microsoft.com/office/drawing/2017/decorative" val="1"/>
              </a:ext>
            </a:extLst>
          </p:cNvPr>
          <p:cNvSpPr/>
          <p:nvPr/>
        </p:nvSpPr>
        <p:spPr>
          <a:xfrm>
            <a:off x="3652058" y="2951789"/>
            <a:ext cx="618792" cy="542397"/>
          </a:xfrm>
          <a:prstGeom prst="rect">
            <a:avLst/>
          </a:prstGeom>
          <a:solidFill>
            <a:srgbClr val="0C67AE">
              <a:lumMod val="60000"/>
              <a:lumOff val="40000"/>
            </a:srgbClr>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57617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Amazon S3</a:t>
            </a:r>
          </a:p>
          <a:p>
            <a:pPr>
              <a:spcBef>
                <a:spcPts val="200"/>
              </a:spcBef>
            </a:pPr>
            <a:r>
              <a:rPr sz="1800" b="0" i="1">
                <a:solidFill>
                  <a:srgbClr val="D68E10"/>
                </a:solidFill>
                <a:latin typeface="Roboto Light"/>
              </a:rPr>
              <a:t>AWS · ACF M07 S22–S34</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6065161" cy="2696507"/>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S3 stores objects in buckets; virtually unlimited; designed for 11 9s of durability.</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Buckets are Region-scoped and globally-unique-named; access is granular (IAM + bucket settings).</a:t>
            </a:r>
          </a:p>
          <a:p>
            <a:pPr marL="0" indent="0">
              <a:lnSpc>
                <a:spcPct val="105000"/>
              </a:lnSpc>
              <a:spcBef>
                <a:spcPts val="0"/>
              </a:spcBef>
              <a:spcAft>
                <a:spcPts val="1000"/>
              </a:spcAft>
            </a:pPr>
            <a:r>
              <a:rPr sz="1800" b="1" i="0" dirty="0">
                <a:solidFill>
                  <a:srgbClr val="27B5CE"/>
                </a:solidFill>
                <a:latin typeface="Roboto"/>
              </a:rPr>
              <a:t>■  Block public access, encrypt (SSE), and enable versioning to protect objects.</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Common uses: backups, application assets, document stores.</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pic>
        <p:nvPicPr>
          <p:cNvPr id="10" name="Graphic 9">
            <a:extLst>
              <a:ext uri="{FF2B5EF4-FFF2-40B4-BE49-F238E27FC236}">
                <a16:creationId xmlns:a16="http://schemas.microsoft.com/office/drawing/2014/main" id="{0D95EA42-B9CC-7919-BEDB-F8C1063DE69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95090" y="1839025"/>
            <a:ext cx="2035432" cy="2035432"/>
          </a:xfrm>
          <a:prstGeom prst="rect">
            <a:avLst/>
          </a:prstGeom>
        </p:spPr>
      </p:pic>
      <p:sp>
        <p:nvSpPr>
          <p:cNvPr id="11" name="TextBox 10">
            <a:extLst>
              <a:ext uri="{FF2B5EF4-FFF2-40B4-BE49-F238E27FC236}">
                <a16:creationId xmlns:a16="http://schemas.microsoft.com/office/drawing/2014/main" id="{C55B9AA8-3A90-D06F-1515-9D007F4C3927}"/>
              </a:ext>
            </a:extLst>
          </p:cNvPr>
          <p:cNvSpPr txBox="1"/>
          <p:nvPr/>
        </p:nvSpPr>
        <p:spPr>
          <a:xfrm>
            <a:off x="6588208" y="4206712"/>
            <a:ext cx="5367146" cy="954107"/>
          </a:xfrm>
          <a:prstGeom prst="rect">
            <a:avLst/>
          </a:prstGeom>
          <a:noFill/>
        </p:spPr>
        <p:txBody>
          <a:bodyPr wrap="square" rtlCol="0">
            <a:spAutoFit/>
          </a:bodyPr>
          <a:lstStyle/>
          <a:p>
            <a:pPr algn="ctr"/>
            <a:r>
              <a:rPr lang="en-US" sz="2800"/>
              <a:t>Amazon Simple Storage Service (Amazon S3)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00FB1-DFFF-DD8D-7F61-92BE3D7BE7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CA7962-3C74-6A73-8FA0-9A20F1C73845}"/>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S3 overview</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B2F4BC7E-2C29-BC15-EC84-CEAC1B7FE22C}"/>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21926E7F-66EE-3D6E-22F5-D2BFAC098AF5}"/>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13C0A04-0062-B16C-B3F9-5AB5D92068CA}"/>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6BAC875-896A-5694-102C-69A26C7B23D1}"/>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grpSp>
        <p:nvGrpSpPr>
          <p:cNvPr id="4" name="Group 3">
            <a:extLst>
              <a:ext uri="{FF2B5EF4-FFF2-40B4-BE49-F238E27FC236}">
                <a16:creationId xmlns:a16="http://schemas.microsoft.com/office/drawing/2014/main" id="{D72590BC-5147-91A2-B52A-2B2E70D35DCF}"/>
              </a:ext>
              <a:ext uri="{C183D7F6-B498-43B3-948B-1728B52AA6E4}">
                <adec:decorative xmlns:adec="http://schemas.microsoft.com/office/drawing/2017/decorative" val="1"/>
              </a:ext>
            </a:extLst>
          </p:cNvPr>
          <p:cNvGrpSpPr/>
          <p:nvPr/>
        </p:nvGrpSpPr>
        <p:grpSpPr>
          <a:xfrm>
            <a:off x="1" y="1273084"/>
            <a:ext cx="12191999" cy="5105400"/>
            <a:chOff x="1" y="1273084"/>
            <a:chExt cx="12191999" cy="5105400"/>
          </a:xfrm>
        </p:grpSpPr>
        <p:grpSp>
          <p:nvGrpSpPr>
            <p:cNvPr id="8" name="Group 7">
              <a:extLst>
                <a:ext uri="{FF2B5EF4-FFF2-40B4-BE49-F238E27FC236}">
                  <a16:creationId xmlns:a16="http://schemas.microsoft.com/office/drawing/2014/main" id="{0A4E988A-5BD4-7CEE-062D-1BE1FCE01CCA}"/>
                </a:ext>
              </a:extLst>
            </p:cNvPr>
            <p:cNvGrpSpPr/>
            <p:nvPr/>
          </p:nvGrpSpPr>
          <p:grpSpPr>
            <a:xfrm>
              <a:off x="1" y="1273084"/>
              <a:ext cx="12191999" cy="5105400"/>
              <a:chOff x="-30967" y="1273084"/>
              <a:chExt cx="12191999" cy="5105400"/>
            </a:xfrm>
          </p:grpSpPr>
          <p:pic>
            <p:nvPicPr>
              <p:cNvPr id="16" name="Picture 15">
                <a:extLst>
                  <a:ext uri="{FF2B5EF4-FFF2-40B4-BE49-F238E27FC236}">
                    <a16:creationId xmlns:a16="http://schemas.microsoft.com/office/drawing/2014/main" id="{C1A914B7-D77C-73E4-AF96-04A604B5BB0E}"/>
                  </a:ext>
                  <a:ext uri="{C183D7F6-B498-43B3-948B-1728B52AA6E4}">
                    <adec:decorative xmlns:adec="http://schemas.microsoft.com/office/drawing/2017/decorative" val="1"/>
                  </a:ext>
                </a:extLst>
              </p:cNvPr>
              <p:cNvPicPr>
                <a:picLocks noChangeAspect="1"/>
              </p:cNvPicPr>
              <p:nvPr/>
            </p:nvPicPr>
            <p:blipFill rotWithShape="1">
              <a:blip r:embed="rId3"/>
              <a:srcRect t="6889" b="11271"/>
              <a:stretch/>
            </p:blipFill>
            <p:spPr>
              <a:xfrm>
                <a:off x="-30967" y="1273084"/>
                <a:ext cx="12191999" cy="5105400"/>
              </a:xfrm>
              <a:prstGeom prst="rect">
                <a:avLst/>
              </a:prstGeom>
              <a:ln w="19050">
                <a:noFill/>
              </a:ln>
            </p:spPr>
          </p:pic>
          <p:sp>
            <p:nvSpPr>
              <p:cNvPr id="17" name="Rectangle 16">
                <a:extLst>
                  <a:ext uri="{FF2B5EF4-FFF2-40B4-BE49-F238E27FC236}">
                    <a16:creationId xmlns:a16="http://schemas.microsoft.com/office/drawing/2014/main" id="{7304D693-BD68-E484-322D-A4E085F6FCF4}"/>
                  </a:ext>
                  <a:ext uri="{C183D7F6-B498-43B3-948B-1728B52AA6E4}">
                    <adec:decorative xmlns:adec="http://schemas.microsoft.com/office/drawing/2017/decorative" val="1"/>
                  </a:ext>
                </a:extLst>
              </p:cNvPr>
              <p:cNvSpPr/>
              <p:nvPr/>
            </p:nvSpPr>
            <p:spPr bwMode="auto">
              <a:xfrm>
                <a:off x="-29444" y="1283544"/>
                <a:ext cx="12188952" cy="5081405"/>
              </a:xfrm>
              <a:prstGeom prst="rect">
                <a:avLst/>
              </a:prstGeom>
              <a:solidFill>
                <a:srgbClr val="FFFFFF">
                  <a:alpha val="80000"/>
                </a:srgbClr>
              </a:solidFill>
              <a:ln w="19050">
                <a:solidFill>
                  <a:schemeClr val="tx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pic>
          <p:nvPicPr>
            <p:cNvPr id="9" name="Graphic 38">
              <a:extLst>
                <a:ext uri="{FF2B5EF4-FFF2-40B4-BE49-F238E27FC236}">
                  <a16:creationId xmlns:a16="http://schemas.microsoft.com/office/drawing/2014/main" id="{DF9ED760-9CA0-42D5-0C65-007699E3726E}"/>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187" y="1965501"/>
              <a:ext cx="760824" cy="760824"/>
            </a:xfrm>
            <a:prstGeom prst="rect">
              <a:avLst/>
            </a:prstGeom>
          </p:spPr>
        </p:pic>
        <p:pic>
          <p:nvPicPr>
            <p:cNvPr id="10" name="Graphic 38">
              <a:extLst>
                <a:ext uri="{FF2B5EF4-FFF2-40B4-BE49-F238E27FC236}">
                  <a16:creationId xmlns:a16="http://schemas.microsoft.com/office/drawing/2014/main" id="{42C7FD5B-6E19-D947-71DA-61E5EFCB2DD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6506" y="2202925"/>
              <a:ext cx="760824" cy="760824"/>
            </a:xfrm>
            <a:prstGeom prst="rect">
              <a:avLst/>
            </a:prstGeom>
          </p:spPr>
        </p:pic>
        <p:pic>
          <p:nvPicPr>
            <p:cNvPr id="11" name="Graphic 38">
              <a:extLst>
                <a:ext uri="{FF2B5EF4-FFF2-40B4-BE49-F238E27FC236}">
                  <a16:creationId xmlns:a16="http://schemas.microsoft.com/office/drawing/2014/main" id="{9F3FE132-C834-D980-B1ED-ADFB4FEDA35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2337" y="1833233"/>
              <a:ext cx="760824" cy="760824"/>
            </a:xfrm>
            <a:prstGeom prst="rect">
              <a:avLst/>
            </a:prstGeom>
          </p:spPr>
        </p:pic>
        <p:pic>
          <p:nvPicPr>
            <p:cNvPr id="12" name="Graphic 38">
              <a:extLst>
                <a:ext uri="{FF2B5EF4-FFF2-40B4-BE49-F238E27FC236}">
                  <a16:creationId xmlns:a16="http://schemas.microsoft.com/office/drawing/2014/main" id="{6C86CCB2-2BCE-14F6-35F5-2DC47FA35C2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15705" y="2281800"/>
              <a:ext cx="760824" cy="760824"/>
            </a:xfrm>
            <a:prstGeom prst="rect">
              <a:avLst/>
            </a:prstGeom>
          </p:spPr>
        </p:pic>
        <p:pic>
          <p:nvPicPr>
            <p:cNvPr id="13" name="Graphic 38">
              <a:extLst>
                <a:ext uri="{FF2B5EF4-FFF2-40B4-BE49-F238E27FC236}">
                  <a16:creationId xmlns:a16="http://schemas.microsoft.com/office/drawing/2014/main" id="{7756BFAF-6FB6-CA95-EB15-C6A0814D01A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7770" y="5197521"/>
              <a:ext cx="760824" cy="760824"/>
            </a:xfrm>
            <a:prstGeom prst="rect">
              <a:avLst/>
            </a:prstGeom>
          </p:spPr>
        </p:pic>
        <p:pic>
          <p:nvPicPr>
            <p:cNvPr id="14" name="Graphic 38">
              <a:extLst>
                <a:ext uri="{FF2B5EF4-FFF2-40B4-BE49-F238E27FC236}">
                  <a16:creationId xmlns:a16="http://schemas.microsoft.com/office/drawing/2014/main" id="{707A8E7E-3E6E-1FB4-1C4E-E0DEF280D46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9592" y="5473564"/>
              <a:ext cx="760824" cy="760824"/>
            </a:xfrm>
            <a:prstGeom prst="rect">
              <a:avLst/>
            </a:prstGeom>
          </p:spPr>
        </p:pic>
        <p:pic>
          <p:nvPicPr>
            <p:cNvPr id="15" name="Graphic 38">
              <a:extLst>
                <a:ext uri="{FF2B5EF4-FFF2-40B4-BE49-F238E27FC236}">
                  <a16:creationId xmlns:a16="http://schemas.microsoft.com/office/drawing/2014/main" id="{A4CBB908-42A9-C3F9-B25E-34C54FA26C7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17959" y="5180274"/>
              <a:ext cx="760824" cy="760824"/>
            </a:xfrm>
            <a:prstGeom prst="rect">
              <a:avLst/>
            </a:prstGeom>
          </p:spPr>
        </p:pic>
      </p:grpSp>
      <p:sp>
        <p:nvSpPr>
          <p:cNvPr id="18" name="Rounded Rectangle 11">
            <a:extLst>
              <a:ext uri="{FF2B5EF4-FFF2-40B4-BE49-F238E27FC236}">
                <a16:creationId xmlns:a16="http://schemas.microsoft.com/office/drawing/2014/main" id="{1C433CE2-95A2-6751-1092-F045754D1A23}"/>
              </a:ext>
              <a:ext uri="{C183D7F6-B498-43B3-948B-1728B52AA6E4}">
                <adec:decorative xmlns:adec="http://schemas.microsoft.com/office/drawing/2017/decorative" val="1"/>
              </a:ext>
            </a:extLst>
          </p:cNvPr>
          <p:cNvSpPr/>
          <p:nvPr/>
        </p:nvSpPr>
        <p:spPr bwMode="auto">
          <a:xfrm>
            <a:off x="2618782" y="2808412"/>
            <a:ext cx="6627572" cy="2296913"/>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9" name="Content Placeholder 3">
            <a:extLst>
              <a:ext uri="{FF2B5EF4-FFF2-40B4-BE49-F238E27FC236}">
                <a16:creationId xmlns:a16="http://schemas.microsoft.com/office/drawing/2014/main" id="{3E49D731-70CC-11A6-CFD6-CEC30904575A}"/>
              </a:ext>
            </a:extLst>
          </p:cNvPr>
          <p:cNvSpPr txBox="1">
            <a:spLocks/>
          </p:cNvSpPr>
          <p:nvPr/>
        </p:nvSpPr>
        <p:spPr>
          <a:xfrm>
            <a:off x="2825953" y="2927532"/>
            <a:ext cx="6322429" cy="2054776"/>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indent="-457200">
              <a:lnSpc>
                <a:spcPct val="100000"/>
              </a:lnSpc>
              <a:buFont typeface="Arial" panose="020B0604020202020204" pitchFamily="34" charset="0"/>
              <a:buChar char="•"/>
            </a:pPr>
            <a:r>
              <a:rPr lang="en-US" sz="2400" dirty="0"/>
              <a:t>Data is stored as objects in buckets</a:t>
            </a:r>
          </a:p>
          <a:p>
            <a:pPr marL="457200" indent="-457200">
              <a:lnSpc>
                <a:spcPct val="100000"/>
              </a:lnSpc>
              <a:buFont typeface="Arial" panose="020B0604020202020204" pitchFamily="34" charset="0"/>
              <a:buChar char="•"/>
            </a:pPr>
            <a:r>
              <a:rPr lang="en-US" sz="2400" dirty="0"/>
              <a:t>Virtually unlimited storage</a:t>
            </a:r>
          </a:p>
          <a:p>
            <a:pPr marL="793343" lvl="1" indent="-457200">
              <a:lnSpc>
                <a:spcPct val="100000"/>
              </a:lnSpc>
              <a:buFont typeface="Arial" panose="020B0604020202020204" pitchFamily="34" charset="0"/>
              <a:buChar char="•"/>
            </a:pPr>
            <a:r>
              <a:rPr lang="en-US" sz="1800" dirty="0"/>
              <a:t>Single object is limited to 5 TB</a:t>
            </a:r>
          </a:p>
          <a:p>
            <a:pPr marL="457200" indent="-457200">
              <a:lnSpc>
                <a:spcPct val="100000"/>
              </a:lnSpc>
              <a:buFont typeface="Arial" panose="020B0604020202020204" pitchFamily="34" charset="0"/>
              <a:buChar char="•"/>
            </a:pPr>
            <a:r>
              <a:rPr lang="en-US" sz="2400" dirty="0"/>
              <a:t>Designed for 11 9s of durability</a:t>
            </a:r>
          </a:p>
          <a:p>
            <a:pPr marL="457200" indent="-457200">
              <a:lnSpc>
                <a:spcPct val="100000"/>
              </a:lnSpc>
              <a:buFont typeface="Arial" panose="020B0604020202020204" pitchFamily="34" charset="0"/>
              <a:buChar char="•"/>
            </a:pPr>
            <a:r>
              <a:rPr lang="en-US" sz="2400" dirty="0"/>
              <a:t>Granular access to bucket and objects </a:t>
            </a:r>
          </a:p>
        </p:txBody>
      </p:sp>
    </p:spTree>
    <p:extLst>
      <p:ext uri="{BB962C8B-B14F-4D97-AF65-F5344CB8AC3E}">
        <p14:creationId xmlns:p14="http://schemas.microsoft.com/office/powerpoint/2010/main" val="1624525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9FF5C-4670-E31A-853A-1AA520B0DC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A177DF-A7AA-DA91-9A54-3A768AE45B76}"/>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S3 storage classes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635FF687-3C84-2305-D58B-F89F59DB7C73}"/>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EFA7E1E5-7A20-9615-5F83-63425FEFE4E0}"/>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6F6582C-DD70-79A3-CB58-6C750F4C4788}"/>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AB880116-8860-D9D7-B92A-2A66A0DFC3E9}"/>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
        <p:nvSpPr>
          <p:cNvPr id="4" name="Content Placeholder 2">
            <a:extLst>
              <a:ext uri="{FF2B5EF4-FFF2-40B4-BE49-F238E27FC236}">
                <a16:creationId xmlns:a16="http://schemas.microsoft.com/office/drawing/2014/main" id="{8C1FAF6D-83D5-21F2-AC42-B199FA4AD0F3}"/>
              </a:ext>
            </a:extLst>
          </p:cNvPr>
          <p:cNvSpPr txBox="1">
            <a:spLocks/>
          </p:cNvSpPr>
          <p:nvPr/>
        </p:nvSpPr>
        <p:spPr>
          <a:xfrm>
            <a:off x="365760" y="1143000"/>
            <a:ext cx="11587890" cy="529175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lnSpc>
                <a:spcPct val="110000"/>
              </a:lnSpc>
              <a:spcBef>
                <a:spcPts val="1000"/>
              </a:spcBef>
              <a:spcAft>
                <a:spcPts val="800"/>
              </a:spcAft>
              <a:buFont typeface="Arial"/>
              <a:buNone/>
            </a:pPr>
            <a:r>
              <a:rPr lang="en-US" sz="3000" dirty="0">
                <a:latin typeface="Roboto" panose="02000000000000000000" pitchFamily="2" charset="0"/>
                <a:ea typeface="Roboto" panose="02000000000000000000" pitchFamily="2" charset="0"/>
                <a:cs typeface="Roboto" panose="02000000000000000000" pitchFamily="2" charset="0"/>
              </a:rPr>
              <a:t>Amazon S3 offers a range of object-level storage classes that are designed for different use cases:</a:t>
            </a:r>
          </a:p>
          <a:p>
            <a:pPr marL="914400" lvl="2" indent="-457200">
              <a:lnSpc>
                <a:spcPct val="110000"/>
              </a:lnSpc>
              <a:spcBef>
                <a:spcPts val="1000"/>
              </a:spcBef>
              <a:spcAft>
                <a:spcPts val="800"/>
              </a:spcAft>
            </a:pPr>
            <a:r>
              <a:rPr lang="en-US" sz="2600" dirty="0">
                <a:latin typeface="Roboto" panose="02000000000000000000" pitchFamily="2" charset="0"/>
                <a:ea typeface="Roboto" panose="02000000000000000000" pitchFamily="2" charset="0"/>
                <a:cs typeface="Roboto" panose="02000000000000000000" pitchFamily="2" charset="0"/>
              </a:rPr>
              <a:t>Amazon S3 Standard</a:t>
            </a:r>
          </a:p>
          <a:p>
            <a:pPr marL="914400" lvl="2" indent="-457200">
              <a:lnSpc>
                <a:spcPct val="110000"/>
              </a:lnSpc>
              <a:spcBef>
                <a:spcPts val="1000"/>
              </a:spcBef>
              <a:spcAft>
                <a:spcPts val="800"/>
              </a:spcAft>
            </a:pPr>
            <a:r>
              <a:rPr lang="en-US" sz="2600" dirty="0">
                <a:latin typeface="Roboto" panose="02000000000000000000" pitchFamily="2" charset="0"/>
                <a:ea typeface="Roboto" panose="02000000000000000000" pitchFamily="2" charset="0"/>
                <a:cs typeface="Roboto" panose="02000000000000000000" pitchFamily="2" charset="0"/>
              </a:rPr>
              <a:t>Amazon S3 Intelligent-Tiering</a:t>
            </a:r>
          </a:p>
          <a:p>
            <a:pPr marL="914400" lvl="2" indent="-457200">
              <a:lnSpc>
                <a:spcPct val="110000"/>
              </a:lnSpc>
              <a:spcBef>
                <a:spcPts val="1000"/>
              </a:spcBef>
              <a:spcAft>
                <a:spcPts val="800"/>
              </a:spcAft>
            </a:pPr>
            <a:r>
              <a:rPr lang="en-US" sz="2600" dirty="0">
                <a:latin typeface="Roboto" panose="02000000000000000000" pitchFamily="2" charset="0"/>
                <a:ea typeface="Roboto" panose="02000000000000000000" pitchFamily="2" charset="0"/>
                <a:cs typeface="Roboto" panose="02000000000000000000" pitchFamily="2" charset="0"/>
              </a:rPr>
              <a:t>Amazon S3 Standard-Infrequent Access (Amazon S3 Standard-IA)</a:t>
            </a:r>
          </a:p>
          <a:p>
            <a:pPr marL="914400" lvl="2" indent="-457200">
              <a:lnSpc>
                <a:spcPct val="110000"/>
              </a:lnSpc>
              <a:spcBef>
                <a:spcPts val="1000"/>
              </a:spcBef>
              <a:spcAft>
                <a:spcPts val="800"/>
              </a:spcAft>
            </a:pPr>
            <a:r>
              <a:rPr lang="en-US" sz="2600" dirty="0">
                <a:latin typeface="Roboto" panose="02000000000000000000" pitchFamily="2" charset="0"/>
                <a:ea typeface="Roboto" panose="02000000000000000000" pitchFamily="2" charset="0"/>
                <a:cs typeface="Roboto" panose="02000000000000000000" pitchFamily="2" charset="0"/>
              </a:rPr>
              <a:t>Amazon S3 One Zone-Infrequent Access (Amazon S3 One Zone-IA)</a:t>
            </a:r>
          </a:p>
          <a:p>
            <a:pPr marL="914400" lvl="2" indent="-457200">
              <a:lnSpc>
                <a:spcPct val="110000"/>
              </a:lnSpc>
              <a:spcBef>
                <a:spcPts val="1000"/>
              </a:spcBef>
              <a:spcAft>
                <a:spcPts val="800"/>
              </a:spcAft>
            </a:pPr>
            <a:r>
              <a:rPr lang="en-US" sz="2600" dirty="0">
                <a:latin typeface="Roboto" panose="02000000000000000000" pitchFamily="2" charset="0"/>
                <a:ea typeface="Roboto" panose="02000000000000000000" pitchFamily="2" charset="0"/>
                <a:cs typeface="Roboto" panose="02000000000000000000" pitchFamily="2" charset="0"/>
              </a:rPr>
              <a:t>Amazon S3 Glacier </a:t>
            </a:r>
          </a:p>
          <a:p>
            <a:pPr marL="914400" lvl="2" indent="-457200">
              <a:lnSpc>
                <a:spcPct val="110000"/>
              </a:lnSpc>
              <a:spcBef>
                <a:spcPts val="1000"/>
              </a:spcBef>
              <a:spcAft>
                <a:spcPts val="800"/>
              </a:spcAft>
            </a:pPr>
            <a:r>
              <a:rPr lang="en-US" sz="2600" dirty="0">
                <a:latin typeface="Roboto" panose="02000000000000000000" pitchFamily="2" charset="0"/>
                <a:ea typeface="Roboto" panose="02000000000000000000" pitchFamily="2" charset="0"/>
                <a:cs typeface="Roboto" panose="02000000000000000000" pitchFamily="2" charset="0"/>
              </a:rPr>
              <a:t>Amazon S3 Glacier Deep Archive</a:t>
            </a:r>
          </a:p>
        </p:txBody>
      </p:sp>
    </p:spTree>
    <p:extLst>
      <p:ext uri="{BB962C8B-B14F-4D97-AF65-F5344CB8AC3E}">
        <p14:creationId xmlns:p14="http://schemas.microsoft.com/office/powerpoint/2010/main" val="4160009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C84D0-C257-68CF-A350-3AD34388DF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F134B3-035F-F721-EFEC-9265C8EFA725}"/>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S3 bucket URLs (two styles)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1F0ECEF5-FAB8-CC56-1E8F-270F5C9A1DCF}"/>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8ADB038-2603-ED0B-A3FF-9C20450BEA64}"/>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84F6210-A4FE-C908-8D78-C9E72570E39C}"/>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6A2175C-7440-1A6C-C690-A063F014B0FF}"/>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
        <p:nvSpPr>
          <p:cNvPr id="4" name="Content Placeholder 2">
            <a:extLst>
              <a:ext uri="{FF2B5EF4-FFF2-40B4-BE49-F238E27FC236}">
                <a16:creationId xmlns:a16="http://schemas.microsoft.com/office/drawing/2014/main" id="{FC1F0610-56D8-B508-7F2C-CB757FE32BAF}"/>
              </a:ext>
            </a:extLst>
          </p:cNvPr>
          <p:cNvSpPr txBox="1">
            <a:spLocks/>
          </p:cNvSpPr>
          <p:nvPr/>
        </p:nvSpPr>
        <p:spPr>
          <a:xfrm>
            <a:off x="2791168" y="1143000"/>
            <a:ext cx="9162482" cy="1870005"/>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233" lvl="1" indent="0">
              <a:spcBef>
                <a:spcPts val="1200"/>
              </a:spcBef>
              <a:buFont typeface="Arial"/>
              <a:buNone/>
            </a:pPr>
            <a:r>
              <a:rPr lang="en-US"/>
              <a:t>To upload your data: </a:t>
            </a:r>
          </a:p>
          <a:p>
            <a:pPr marL="766214" lvl="1" indent="-452955">
              <a:spcBef>
                <a:spcPts val="1200"/>
              </a:spcBef>
              <a:buSzPct val="100000"/>
              <a:buFont typeface="+mj-lt"/>
              <a:buAutoNum type="arabicPeriod"/>
            </a:pPr>
            <a:r>
              <a:rPr lang="en-US"/>
              <a:t>Create a </a:t>
            </a:r>
            <a:r>
              <a:rPr lang="en-US" b="1">
                <a:solidFill>
                  <a:srgbClr val="504BAB"/>
                </a:solidFill>
              </a:rPr>
              <a:t>bucket</a:t>
            </a:r>
            <a:r>
              <a:rPr lang="en-US"/>
              <a:t> in an AWS Region.</a:t>
            </a:r>
          </a:p>
          <a:p>
            <a:pPr marL="766214" lvl="1" indent="-452955">
              <a:spcBef>
                <a:spcPts val="1200"/>
              </a:spcBef>
              <a:buSzPct val="100000"/>
              <a:buFont typeface="+mj-lt"/>
              <a:buAutoNum type="arabicPeriod"/>
            </a:pPr>
            <a:r>
              <a:rPr lang="en-US"/>
              <a:t>Upload almost any number of </a:t>
            </a:r>
            <a:r>
              <a:rPr lang="en-US" b="1">
                <a:solidFill>
                  <a:srgbClr val="504BAB"/>
                </a:solidFill>
              </a:rPr>
              <a:t>objects</a:t>
            </a:r>
            <a:r>
              <a:rPr lang="en-US"/>
              <a:t> to the bucket.</a:t>
            </a:r>
          </a:p>
        </p:txBody>
      </p:sp>
      <p:grpSp>
        <p:nvGrpSpPr>
          <p:cNvPr id="8" name="Group 7">
            <a:extLst>
              <a:ext uri="{FF2B5EF4-FFF2-40B4-BE49-F238E27FC236}">
                <a16:creationId xmlns:a16="http://schemas.microsoft.com/office/drawing/2014/main" id="{8FDD8533-5C06-6ACB-A22D-87145FC63AD3}"/>
              </a:ext>
              <a:ext uri="{C183D7F6-B498-43B3-948B-1728B52AA6E4}">
                <adec:decorative xmlns:adec="http://schemas.microsoft.com/office/drawing/2017/decorative" val="1"/>
              </a:ext>
            </a:extLst>
          </p:cNvPr>
          <p:cNvGrpSpPr/>
          <p:nvPr/>
        </p:nvGrpSpPr>
        <p:grpSpPr>
          <a:xfrm>
            <a:off x="854562" y="1297945"/>
            <a:ext cx="1734786" cy="5040328"/>
            <a:chOff x="854562" y="1297945"/>
            <a:chExt cx="1734786" cy="5040328"/>
          </a:xfrm>
        </p:grpSpPr>
        <p:pic>
          <p:nvPicPr>
            <p:cNvPr id="9" name="Graphic 8" descr="s3 bucket.">
              <a:extLst>
                <a:ext uri="{FF2B5EF4-FFF2-40B4-BE49-F238E27FC236}">
                  <a16:creationId xmlns:a16="http://schemas.microsoft.com/office/drawing/2014/main" id="{B9D7E423-81A0-3C77-53CC-08DCFE50F331}"/>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2785" y="3013005"/>
              <a:ext cx="731520" cy="731520"/>
            </a:xfrm>
            <a:prstGeom prst="rect">
              <a:avLst/>
            </a:prstGeom>
          </p:spPr>
        </p:pic>
        <p:sp>
          <p:nvSpPr>
            <p:cNvPr id="10" name="TextBox 46">
              <a:extLst>
                <a:ext uri="{FF2B5EF4-FFF2-40B4-BE49-F238E27FC236}">
                  <a16:creationId xmlns:a16="http://schemas.microsoft.com/office/drawing/2014/main" id="{2513DAD6-375A-B49C-EAE7-3B460F135BBB}"/>
                </a:ext>
              </a:extLst>
            </p:cNvPr>
            <p:cNvSpPr txBox="1">
              <a:spLocks noChangeArrowheads="1"/>
            </p:cNvSpPr>
            <p:nvPr/>
          </p:nvSpPr>
          <p:spPr bwMode="auto">
            <a:xfrm>
              <a:off x="1019412" y="1297945"/>
              <a:ext cx="143513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cs typeface="Arial" charset="0"/>
                </a:rPr>
                <a:t>Amazon S3</a:t>
              </a:r>
            </a:p>
          </p:txBody>
        </p:sp>
        <p:sp>
          <p:nvSpPr>
            <p:cNvPr id="11" name="TextBox 52">
              <a:extLst>
                <a:ext uri="{FF2B5EF4-FFF2-40B4-BE49-F238E27FC236}">
                  <a16:creationId xmlns:a16="http://schemas.microsoft.com/office/drawing/2014/main" id="{0EC66C1C-A22D-8D90-06B8-0B39F2DB01AE}"/>
                </a:ext>
              </a:extLst>
            </p:cNvPr>
            <p:cNvSpPr txBox="1">
              <a:spLocks noChangeArrowheads="1"/>
            </p:cNvSpPr>
            <p:nvPr/>
          </p:nvSpPr>
          <p:spPr bwMode="auto">
            <a:xfrm>
              <a:off x="980301" y="3809807"/>
              <a:ext cx="147949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mn-lt"/>
                  <a:cs typeface="Arial" charset="0"/>
                </a:rPr>
                <a:t>[bucket name]</a:t>
              </a:r>
              <a:endParaRPr lang="en-US" sz="1867" i="1" dirty="0">
                <a:latin typeface="+mn-lt"/>
                <a:cs typeface="Arial" charset="0"/>
              </a:endParaRPr>
            </a:p>
          </p:txBody>
        </p:sp>
        <p:pic>
          <p:nvPicPr>
            <p:cNvPr id="12" name="Picture 11">
              <a:extLst>
                <a:ext uri="{FF2B5EF4-FFF2-40B4-BE49-F238E27FC236}">
                  <a16:creationId xmlns:a16="http://schemas.microsoft.com/office/drawing/2014/main" id="{068A12D4-6464-86E6-7E09-1AFC227E6CEC}"/>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33334" y="4489737"/>
              <a:ext cx="975360" cy="975360"/>
            </a:xfrm>
            <a:prstGeom prst="rect">
              <a:avLst/>
            </a:prstGeom>
          </p:spPr>
        </p:pic>
        <p:sp>
          <p:nvSpPr>
            <p:cNvPr id="13" name="TextBox 52">
              <a:extLst>
                <a:ext uri="{FF2B5EF4-FFF2-40B4-BE49-F238E27FC236}">
                  <a16:creationId xmlns:a16="http://schemas.microsoft.com/office/drawing/2014/main" id="{D0212DE4-F304-8775-76F6-E8CC54ABC035}"/>
                </a:ext>
              </a:extLst>
            </p:cNvPr>
            <p:cNvSpPr txBox="1">
              <a:spLocks noChangeArrowheads="1"/>
            </p:cNvSpPr>
            <p:nvPr/>
          </p:nvSpPr>
          <p:spPr bwMode="auto">
            <a:xfrm>
              <a:off x="957962" y="5441050"/>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mn-lt"/>
                  <a:cs typeface="Arial" charset="0"/>
                </a:rPr>
                <a:t>Preview2.mp4</a:t>
              </a:r>
              <a:endParaRPr lang="en-US" sz="1867" i="1" dirty="0">
                <a:latin typeface="+mn-lt"/>
                <a:cs typeface="Arial" charset="0"/>
              </a:endParaRPr>
            </a:p>
          </p:txBody>
        </p:sp>
        <p:sp>
          <p:nvSpPr>
            <p:cNvPr id="14" name="TextBox 33">
              <a:extLst>
                <a:ext uri="{FF2B5EF4-FFF2-40B4-BE49-F238E27FC236}">
                  <a16:creationId xmlns:a16="http://schemas.microsoft.com/office/drawing/2014/main" id="{5A33E17A-1AC1-981F-07CA-07853585F933}"/>
                </a:ext>
              </a:extLst>
            </p:cNvPr>
            <p:cNvSpPr txBox="1">
              <a:spLocks noChangeArrowheads="1"/>
            </p:cNvSpPr>
            <p:nvPr/>
          </p:nvSpPr>
          <p:spPr bwMode="auto">
            <a:xfrm>
              <a:off x="854562" y="5753498"/>
              <a:ext cx="1730974" cy="584775"/>
            </a:xfrm>
            <a:prstGeom prst="rect">
              <a:avLst/>
            </a:prstGeom>
            <a:noFill/>
            <a:ln w="9525">
              <a:noFill/>
              <a:miter lim="800000"/>
              <a:headEnd/>
              <a:tailEnd/>
            </a:ln>
          </p:spPr>
          <p:txBody>
            <a:bodyPr wrap="square">
              <a:spAutoFit/>
            </a:bodyPr>
            <a:lstStyle/>
            <a:p>
              <a:pPr algn="ctr"/>
              <a:r>
                <a:rPr lang="en-US" sz="1600" dirty="0">
                  <a:ea typeface="Verdana" pitchFamily="34" charset="0"/>
                  <a:cs typeface="Helvetica Neue"/>
                </a:rPr>
                <a:t>Tokyo Region (ap-northeast-1)</a:t>
              </a:r>
            </a:p>
          </p:txBody>
        </p:sp>
        <p:cxnSp>
          <p:nvCxnSpPr>
            <p:cNvPr id="15" name="Straight Connector 14">
              <a:extLst>
                <a:ext uri="{FF2B5EF4-FFF2-40B4-BE49-F238E27FC236}">
                  <a16:creationId xmlns:a16="http://schemas.microsoft.com/office/drawing/2014/main" id="{30A355B7-8E51-4CC8-B348-CACB2B3BB3A5}"/>
                </a:ext>
                <a:ext uri="{C183D7F6-B498-43B3-948B-1728B52AA6E4}">
                  <adec:decorative xmlns:adec="http://schemas.microsoft.com/office/drawing/2017/decorative" val="1"/>
                </a:ext>
              </a:extLst>
            </p:cNvPr>
            <p:cNvCxnSpPr>
              <a:cxnSpLocks/>
            </p:cNvCxnSpPr>
            <p:nvPr/>
          </p:nvCxnSpPr>
          <p:spPr>
            <a:xfrm>
              <a:off x="1729658" y="2472012"/>
              <a:ext cx="3904" cy="446749"/>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2BAE5CD0-2871-8772-BA2A-3F0FB6E9D45F}"/>
                </a:ext>
                <a:ext uri="{C183D7F6-B498-43B3-948B-1728B52AA6E4}">
                  <adec:decorative xmlns:adec="http://schemas.microsoft.com/office/drawing/2017/decorative" val="1"/>
                </a:ext>
              </a:extLst>
            </p:cNvPr>
            <p:cNvCxnSpPr>
              <a:stCxn id="11" idx="2"/>
              <a:endCxn id="12" idx="0"/>
            </p:cNvCxnSpPr>
            <p:nvPr/>
          </p:nvCxnSpPr>
          <p:spPr>
            <a:xfrm>
              <a:off x="1720050" y="4056028"/>
              <a:ext cx="964" cy="433709"/>
            </a:xfrm>
            <a:prstGeom prst="line">
              <a:avLst/>
            </a:prstGeom>
            <a:ln w="28575"/>
          </p:spPr>
          <p:style>
            <a:lnRef idx="1">
              <a:schemeClr val="dk1"/>
            </a:lnRef>
            <a:fillRef idx="0">
              <a:schemeClr val="dk1"/>
            </a:fillRef>
            <a:effectRef idx="0">
              <a:schemeClr val="dk1"/>
            </a:effectRef>
            <a:fontRef idx="minor">
              <a:schemeClr val="tx1"/>
            </a:fontRef>
          </p:style>
        </p:cxnSp>
        <p:sp>
          <p:nvSpPr>
            <p:cNvPr id="17" name="Rounded Rectangle 46">
              <a:extLst>
                <a:ext uri="{FF2B5EF4-FFF2-40B4-BE49-F238E27FC236}">
                  <a16:creationId xmlns:a16="http://schemas.microsoft.com/office/drawing/2014/main" id="{78E9594E-A0AD-AA6C-BEF5-0B1DA321E888}"/>
                </a:ext>
                <a:ext uri="{C183D7F6-B498-43B3-948B-1728B52AA6E4}">
                  <adec:decorative xmlns:adec="http://schemas.microsoft.com/office/drawing/2017/decorative" val="1"/>
                </a:ext>
              </a:extLst>
            </p:cNvPr>
            <p:cNvSpPr/>
            <p:nvPr/>
          </p:nvSpPr>
          <p:spPr>
            <a:xfrm>
              <a:off x="864464" y="2716427"/>
              <a:ext cx="1724884" cy="3585468"/>
            </a:xfrm>
            <a:prstGeom prst="roundRect">
              <a:avLst>
                <a:gd name="adj" fmla="val 9818"/>
              </a:avLst>
            </a:prstGeom>
            <a:noFill/>
            <a:ln w="19050">
              <a:solidFill>
                <a:schemeClr val="tx1"/>
              </a:solidFill>
              <a:prstDash val="sysDot"/>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cs typeface="Helvetica Neue"/>
              </a:endParaRPr>
            </a:p>
          </p:txBody>
        </p:sp>
        <p:pic>
          <p:nvPicPr>
            <p:cNvPr id="18" name="Graphic 17" descr="Amazon Simple Storage Service icon.">
              <a:extLst>
                <a:ext uri="{FF2B5EF4-FFF2-40B4-BE49-F238E27FC236}">
                  <a16:creationId xmlns:a16="http://schemas.microsoft.com/office/drawing/2014/main" id="{0041ACF2-CE65-44CE-AAF6-89E6B897F3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63750" y="1630899"/>
              <a:ext cx="754380" cy="754380"/>
            </a:xfrm>
            <a:prstGeom prst="rect">
              <a:avLst/>
            </a:prstGeom>
          </p:spPr>
        </p:pic>
      </p:grpSp>
      <p:sp>
        <p:nvSpPr>
          <p:cNvPr id="19" name="TextBox 52">
            <a:extLst>
              <a:ext uri="{FF2B5EF4-FFF2-40B4-BE49-F238E27FC236}">
                <a16:creationId xmlns:a16="http://schemas.microsoft.com/office/drawing/2014/main" id="{90A504A8-384C-97D6-4DEA-BE290E684A3A}"/>
              </a:ext>
            </a:extLst>
          </p:cNvPr>
          <p:cNvSpPr txBox="1">
            <a:spLocks noChangeArrowheads="1"/>
          </p:cNvSpPr>
          <p:nvPr/>
        </p:nvSpPr>
        <p:spPr bwMode="auto">
          <a:xfrm>
            <a:off x="2839486" y="3190505"/>
            <a:ext cx="8579363"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dirty="0">
                <a:latin typeface="+mn-lt"/>
                <a:cs typeface="Arial" charset="0"/>
              </a:rPr>
              <a:t>Bucket path-style URL endpoint: </a:t>
            </a:r>
            <a:endParaRPr lang="en-US" sz="1867" dirty="0">
              <a:latin typeface="+mn-lt"/>
              <a:cs typeface="Arial" charset="0"/>
            </a:endParaRPr>
          </a:p>
        </p:txBody>
      </p:sp>
      <p:sp>
        <p:nvSpPr>
          <p:cNvPr id="20" name="TextBox 52">
            <a:extLst>
              <a:ext uri="{FF2B5EF4-FFF2-40B4-BE49-F238E27FC236}">
                <a16:creationId xmlns:a16="http://schemas.microsoft.com/office/drawing/2014/main" id="{19C7319A-C315-8D9F-0177-D0097A5CDA7E}"/>
              </a:ext>
              <a:ext uri="{C183D7F6-B498-43B3-948B-1728B52AA6E4}">
                <adec:decorative xmlns:adec="http://schemas.microsoft.com/office/drawing/2017/decorative" val="0"/>
              </a:ext>
            </a:extLst>
          </p:cNvPr>
          <p:cNvSpPr txBox="1">
            <a:spLocks noChangeArrowheads="1"/>
          </p:cNvSpPr>
          <p:nvPr/>
        </p:nvSpPr>
        <p:spPr bwMode="auto">
          <a:xfrm>
            <a:off x="2839486" y="3695051"/>
            <a:ext cx="9276039" cy="2873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67" b="1" i="1" dirty="0">
                <a:latin typeface="+mn-lt"/>
                <a:cs typeface="Arial" charset="0"/>
                <a:hlinkClick r:id="rId6">
                  <a:extLst>
                    <a:ext uri="{A12FA001-AC4F-418D-AE19-62706E023703}">
                      <ahyp:hlinkClr xmlns:ahyp="http://schemas.microsoft.com/office/drawing/2018/hyperlinkcolor" val="tx"/>
                    </a:ext>
                  </a:extLst>
                </a:hlinkClick>
              </a:rPr>
              <a:t>https://</a:t>
            </a:r>
            <a:r>
              <a:rPr lang="en-US" sz="1867" b="1" i="1" dirty="0">
                <a:latin typeface="+mn-lt"/>
                <a:cs typeface="Arial" charset="0"/>
              </a:rPr>
              <a:t>s3.</a:t>
            </a:r>
            <a:r>
              <a:rPr lang="en-US" sz="1867" b="1" i="1" dirty="0">
                <a:solidFill>
                  <a:srgbClr val="FF9933"/>
                </a:solidFill>
                <a:latin typeface="+mn-lt"/>
                <a:cs typeface="Arial" charset="0"/>
              </a:rPr>
              <a:t>ap-northeast-1</a:t>
            </a:r>
            <a:r>
              <a:rPr lang="en-US" sz="1867" b="1" i="1" dirty="0">
                <a:latin typeface="+mn-lt"/>
                <a:cs typeface="Arial" charset="0"/>
              </a:rPr>
              <a:t>.amazonaws.com/</a:t>
            </a:r>
            <a:r>
              <a:rPr lang="en-US" sz="1867" b="1" i="1" dirty="0">
                <a:solidFill>
                  <a:srgbClr val="FF9933"/>
                </a:solidFill>
                <a:latin typeface="+mn-lt"/>
                <a:cs typeface="Arial" charset="0"/>
              </a:rPr>
              <a:t>bucket-name</a:t>
            </a:r>
            <a:endParaRPr lang="en-US" sz="2133" b="1" i="1" dirty="0">
              <a:solidFill>
                <a:srgbClr val="FF9933"/>
              </a:solidFill>
              <a:latin typeface="+mn-lt"/>
              <a:cs typeface="Arial" charset="0"/>
            </a:endParaRPr>
          </a:p>
        </p:txBody>
      </p:sp>
      <p:sp>
        <p:nvSpPr>
          <p:cNvPr id="21" name="TextBox 52">
            <a:extLst>
              <a:ext uri="{FF2B5EF4-FFF2-40B4-BE49-F238E27FC236}">
                <a16:creationId xmlns:a16="http://schemas.microsoft.com/office/drawing/2014/main" id="{1BB6F058-11B3-AE87-7F2E-B3B8650DF146}"/>
              </a:ext>
            </a:extLst>
          </p:cNvPr>
          <p:cNvSpPr txBox="1">
            <a:spLocks noChangeArrowheads="1"/>
          </p:cNvSpPr>
          <p:nvPr/>
        </p:nvSpPr>
        <p:spPr bwMode="auto">
          <a:xfrm>
            <a:off x="3915071" y="4445958"/>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Region code</a:t>
            </a:r>
            <a:endParaRPr lang="en-US" sz="1867" b="1" dirty="0">
              <a:solidFill>
                <a:schemeClr val="accent2"/>
              </a:solidFill>
              <a:latin typeface="+mn-lt"/>
              <a:cs typeface="Arial" charset="0"/>
            </a:endParaRPr>
          </a:p>
        </p:txBody>
      </p:sp>
      <p:sp>
        <p:nvSpPr>
          <p:cNvPr id="22" name="Right Brace 21">
            <a:extLst>
              <a:ext uri="{FF2B5EF4-FFF2-40B4-BE49-F238E27FC236}">
                <a16:creationId xmlns:a16="http://schemas.microsoft.com/office/drawing/2014/main" id="{F1855DE8-D643-A47E-4D07-D2E0A15ADF7E}"/>
              </a:ext>
              <a:ext uri="{C183D7F6-B498-43B3-948B-1728B52AA6E4}">
                <adec:decorative xmlns:adec="http://schemas.microsoft.com/office/drawing/2017/decorative" val="1"/>
              </a:ext>
            </a:extLst>
          </p:cNvPr>
          <p:cNvSpPr/>
          <p:nvPr/>
        </p:nvSpPr>
        <p:spPr>
          <a:xfrm rot="5400000">
            <a:off x="4512720" y="3375972"/>
            <a:ext cx="367701" cy="157060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3" name="TextBox 52">
            <a:extLst>
              <a:ext uri="{FF2B5EF4-FFF2-40B4-BE49-F238E27FC236}">
                <a16:creationId xmlns:a16="http://schemas.microsoft.com/office/drawing/2014/main" id="{FE51904A-205E-B2A9-B910-603EF1CAFB52}"/>
              </a:ext>
            </a:extLst>
          </p:cNvPr>
          <p:cNvSpPr txBox="1">
            <a:spLocks noChangeArrowheads="1"/>
          </p:cNvSpPr>
          <p:nvPr/>
        </p:nvSpPr>
        <p:spPr bwMode="auto">
          <a:xfrm>
            <a:off x="7217582" y="4437860"/>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Bucket name</a:t>
            </a:r>
            <a:endParaRPr lang="en-US" sz="1867" b="1" dirty="0">
              <a:solidFill>
                <a:schemeClr val="accent2"/>
              </a:solidFill>
              <a:latin typeface="+mn-lt"/>
              <a:cs typeface="Arial" charset="0"/>
            </a:endParaRPr>
          </a:p>
        </p:txBody>
      </p:sp>
      <p:sp>
        <p:nvSpPr>
          <p:cNvPr id="24" name="Right Brace 23">
            <a:extLst>
              <a:ext uri="{FF2B5EF4-FFF2-40B4-BE49-F238E27FC236}">
                <a16:creationId xmlns:a16="http://schemas.microsoft.com/office/drawing/2014/main" id="{13C90204-6857-7C37-D96D-E41003A212A1}"/>
              </a:ext>
              <a:ext uri="{C183D7F6-B498-43B3-948B-1728B52AA6E4}">
                <adec:decorative xmlns:adec="http://schemas.microsoft.com/office/drawing/2017/decorative" val="1"/>
              </a:ext>
            </a:extLst>
          </p:cNvPr>
          <p:cNvSpPr/>
          <p:nvPr/>
        </p:nvSpPr>
        <p:spPr>
          <a:xfrm rot="5400000">
            <a:off x="7808516" y="3505858"/>
            <a:ext cx="369333" cy="1387233"/>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5" name="TextBox 52">
            <a:extLst>
              <a:ext uri="{FF2B5EF4-FFF2-40B4-BE49-F238E27FC236}">
                <a16:creationId xmlns:a16="http://schemas.microsoft.com/office/drawing/2014/main" id="{5F641578-1324-91D9-0AD2-B96F8241256F}"/>
              </a:ext>
            </a:extLst>
          </p:cNvPr>
          <p:cNvSpPr txBox="1">
            <a:spLocks noChangeArrowheads="1"/>
          </p:cNvSpPr>
          <p:nvPr/>
        </p:nvSpPr>
        <p:spPr bwMode="auto">
          <a:xfrm>
            <a:off x="2791168" y="4837156"/>
            <a:ext cx="612980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dirty="0">
                <a:latin typeface="+mn-lt"/>
                <a:cs typeface="Arial" charset="0"/>
              </a:rPr>
              <a:t>Bucket virtual hosted-style URL endpoint:</a:t>
            </a:r>
            <a:endParaRPr lang="en-US" sz="1867" dirty="0">
              <a:latin typeface="+mn-lt"/>
              <a:cs typeface="Arial" charset="0"/>
            </a:endParaRPr>
          </a:p>
        </p:txBody>
      </p:sp>
      <p:sp>
        <p:nvSpPr>
          <p:cNvPr id="26" name="TextBox 52">
            <a:extLst>
              <a:ext uri="{FF2B5EF4-FFF2-40B4-BE49-F238E27FC236}">
                <a16:creationId xmlns:a16="http://schemas.microsoft.com/office/drawing/2014/main" id="{F1012A76-61F9-75A6-DFF7-59AB5381A5D5}"/>
              </a:ext>
              <a:ext uri="{C183D7F6-B498-43B3-948B-1728B52AA6E4}">
                <adec:decorative xmlns:adec="http://schemas.microsoft.com/office/drawing/2017/decorative" val="0"/>
              </a:ext>
            </a:extLst>
          </p:cNvPr>
          <p:cNvSpPr txBox="1">
            <a:spLocks noChangeArrowheads="1"/>
          </p:cNvSpPr>
          <p:nvPr/>
        </p:nvSpPr>
        <p:spPr bwMode="auto">
          <a:xfrm>
            <a:off x="3033052" y="5363809"/>
            <a:ext cx="9276039" cy="2873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67" b="1" i="1" dirty="0">
                <a:latin typeface="+mn-lt"/>
                <a:cs typeface="Arial" charset="0"/>
                <a:hlinkClick r:id="rId6">
                  <a:extLst>
                    <a:ext uri="{A12FA001-AC4F-418D-AE19-62706E023703}">
                      <ahyp:hlinkClr xmlns:ahyp="http://schemas.microsoft.com/office/drawing/2018/hyperlinkcolor" val="tx"/>
                    </a:ext>
                  </a:extLst>
                </a:hlinkClick>
              </a:rPr>
              <a:t>https://</a:t>
            </a:r>
            <a:r>
              <a:rPr lang="en-US" sz="1867" b="1" i="1" dirty="0">
                <a:solidFill>
                  <a:srgbClr val="FF9933"/>
                </a:solidFill>
                <a:latin typeface="+mn-lt"/>
                <a:cs typeface="Arial" charset="0"/>
              </a:rPr>
              <a:t> bucket-name</a:t>
            </a:r>
            <a:r>
              <a:rPr lang="en-US" sz="1867" b="1" i="1" dirty="0">
                <a:latin typeface="+mn-lt"/>
                <a:cs typeface="Arial" charset="0"/>
              </a:rPr>
              <a:t>.s3-</a:t>
            </a:r>
            <a:r>
              <a:rPr lang="en-US" sz="1867" b="1" i="1" dirty="0">
                <a:solidFill>
                  <a:srgbClr val="FF9933"/>
                </a:solidFill>
                <a:latin typeface="+mn-lt"/>
                <a:cs typeface="Arial" charset="0"/>
              </a:rPr>
              <a:t>ap-northeast-1</a:t>
            </a:r>
            <a:r>
              <a:rPr lang="en-US" sz="1867" b="1" i="1" dirty="0">
                <a:latin typeface="+mn-lt"/>
                <a:cs typeface="Arial" charset="0"/>
              </a:rPr>
              <a:t>.amazonaws.com</a:t>
            </a:r>
            <a:endParaRPr lang="en-US" sz="2133" b="1" i="1" dirty="0">
              <a:solidFill>
                <a:srgbClr val="FF9933"/>
              </a:solidFill>
              <a:latin typeface="+mn-lt"/>
              <a:cs typeface="Arial" charset="0"/>
            </a:endParaRPr>
          </a:p>
        </p:txBody>
      </p:sp>
      <p:sp>
        <p:nvSpPr>
          <p:cNvPr id="27" name="TextBox 52">
            <a:extLst>
              <a:ext uri="{FF2B5EF4-FFF2-40B4-BE49-F238E27FC236}">
                <a16:creationId xmlns:a16="http://schemas.microsoft.com/office/drawing/2014/main" id="{3FD3FBCD-05F2-2399-FBB4-626841F96189}"/>
              </a:ext>
            </a:extLst>
          </p:cNvPr>
          <p:cNvSpPr txBox="1">
            <a:spLocks noChangeArrowheads="1"/>
          </p:cNvSpPr>
          <p:nvPr/>
        </p:nvSpPr>
        <p:spPr bwMode="auto">
          <a:xfrm>
            <a:off x="3771647" y="6093318"/>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Bucket name</a:t>
            </a:r>
            <a:endParaRPr lang="en-US" sz="1867" b="1" dirty="0">
              <a:solidFill>
                <a:schemeClr val="accent2"/>
              </a:solidFill>
              <a:latin typeface="+mn-lt"/>
              <a:cs typeface="Arial" charset="0"/>
            </a:endParaRPr>
          </a:p>
        </p:txBody>
      </p:sp>
      <p:sp>
        <p:nvSpPr>
          <p:cNvPr id="28" name="TextBox 52">
            <a:extLst>
              <a:ext uri="{FF2B5EF4-FFF2-40B4-BE49-F238E27FC236}">
                <a16:creationId xmlns:a16="http://schemas.microsoft.com/office/drawing/2014/main" id="{68106EB3-A11F-84C8-326C-103E51CAD429}"/>
              </a:ext>
            </a:extLst>
          </p:cNvPr>
          <p:cNvSpPr txBox="1">
            <a:spLocks noChangeArrowheads="1"/>
          </p:cNvSpPr>
          <p:nvPr/>
        </p:nvSpPr>
        <p:spPr bwMode="auto">
          <a:xfrm>
            <a:off x="5596172" y="6093317"/>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Region code </a:t>
            </a:r>
            <a:endParaRPr lang="en-US" sz="1867" b="1" dirty="0">
              <a:solidFill>
                <a:schemeClr val="accent2"/>
              </a:solidFill>
              <a:latin typeface="+mn-lt"/>
              <a:cs typeface="Arial" charset="0"/>
            </a:endParaRPr>
          </a:p>
        </p:txBody>
      </p:sp>
      <p:sp>
        <p:nvSpPr>
          <p:cNvPr id="29" name="Right Brace 28">
            <a:extLst>
              <a:ext uri="{FF2B5EF4-FFF2-40B4-BE49-F238E27FC236}">
                <a16:creationId xmlns:a16="http://schemas.microsoft.com/office/drawing/2014/main" id="{6597A6F2-9DB8-5205-DA70-0CC7D567BF23}"/>
              </a:ext>
              <a:ext uri="{C183D7F6-B498-43B3-948B-1728B52AA6E4}">
                <adec:decorative xmlns:adec="http://schemas.microsoft.com/office/drawing/2017/decorative" val="1"/>
              </a:ext>
            </a:extLst>
          </p:cNvPr>
          <p:cNvSpPr/>
          <p:nvPr/>
        </p:nvSpPr>
        <p:spPr>
          <a:xfrm rot="5400000">
            <a:off x="4343547" y="5165781"/>
            <a:ext cx="396326" cy="131291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30" name="Right Brace 29">
            <a:extLst>
              <a:ext uri="{FF2B5EF4-FFF2-40B4-BE49-F238E27FC236}">
                <a16:creationId xmlns:a16="http://schemas.microsoft.com/office/drawing/2014/main" id="{3E49D8C1-0591-AE2C-57AD-119E7932311E}"/>
              </a:ext>
              <a:ext uri="{C183D7F6-B498-43B3-948B-1728B52AA6E4}">
                <adec:decorative xmlns:adec="http://schemas.microsoft.com/office/drawing/2017/decorative" val="1"/>
              </a:ext>
            </a:extLst>
          </p:cNvPr>
          <p:cNvSpPr/>
          <p:nvPr/>
        </p:nvSpPr>
        <p:spPr>
          <a:xfrm rot="5400000">
            <a:off x="6176598" y="5070642"/>
            <a:ext cx="369333" cy="1530184"/>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Tree>
    <p:extLst>
      <p:ext uri="{BB962C8B-B14F-4D97-AF65-F5344CB8AC3E}">
        <p14:creationId xmlns:p14="http://schemas.microsoft.com/office/powerpoint/2010/main" val="891717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3CF4E-E3F9-65BF-E42B-FDF6EDC3C7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D248B5-E830-8E21-2E70-8FF644EB0D1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Designed for seamless scaling</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3A1CF03D-A222-46D7-8451-8E1C65D56EA4}"/>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459D9A2D-E933-055B-9937-C30B6931EE2A}"/>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5F23E1F-85CB-CAFE-3BBC-256DB5666B8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7F2B6724-9167-1D18-409A-0DC9417F48FC}"/>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grpSp>
        <p:nvGrpSpPr>
          <p:cNvPr id="4" name="Group 3">
            <a:extLst>
              <a:ext uri="{FF2B5EF4-FFF2-40B4-BE49-F238E27FC236}">
                <a16:creationId xmlns:a16="http://schemas.microsoft.com/office/drawing/2014/main" id="{27288675-8167-59CF-DB30-7418F07C16A9}"/>
              </a:ext>
              <a:ext uri="{C183D7F6-B498-43B3-948B-1728B52AA6E4}">
                <adec:decorative xmlns:adec="http://schemas.microsoft.com/office/drawing/2017/decorative" val="1"/>
              </a:ext>
            </a:extLst>
          </p:cNvPr>
          <p:cNvGrpSpPr/>
          <p:nvPr/>
        </p:nvGrpSpPr>
        <p:grpSpPr>
          <a:xfrm>
            <a:off x="658368" y="1494023"/>
            <a:ext cx="569431" cy="4202727"/>
            <a:chOff x="358588" y="1642083"/>
            <a:chExt cx="569431" cy="4202727"/>
          </a:xfrm>
        </p:grpSpPr>
        <p:pic>
          <p:nvPicPr>
            <p:cNvPr id="8" name="Graphic 7">
              <a:extLst>
                <a:ext uri="{FF2B5EF4-FFF2-40B4-BE49-F238E27FC236}">
                  <a16:creationId xmlns:a16="http://schemas.microsoft.com/office/drawing/2014/main" id="{A2A4FAF0-65C9-ECDB-6D43-F4901AD5AB0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358588" y="1642083"/>
              <a:ext cx="483586" cy="469900"/>
            </a:xfrm>
            <a:prstGeom prst="rect">
              <a:avLst/>
            </a:prstGeom>
          </p:spPr>
        </p:pic>
        <p:pic>
          <p:nvPicPr>
            <p:cNvPr id="9" name="Graphic 8">
              <a:extLst>
                <a:ext uri="{FF2B5EF4-FFF2-40B4-BE49-F238E27FC236}">
                  <a16:creationId xmlns:a16="http://schemas.microsoft.com/office/drawing/2014/main" id="{353A2947-4A6A-1518-AE03-FB63F7C8263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358588" y="2410319"/>
              <a:ext cx="483586" cy="469900"/>
            </a:xfrm>
            <a:prstGeom prst="rect">
              <a:avLst/>
            </a:prstGeom>
          </p:spPr>
        </p:pic>
        <p:pic>
          <p:nvPicPr>
            <p:cNvPr id="10" name="Graphic 9">
              <a:extLst>
                <a:ext uri="{FF2B5EF4-FFF2-40B4-BE49-F238E27FC236}">
                  <a16:creationId xmlns:a16="http://schemas.microsoft.com/office/drawing/2014/main" id="{29A3849D-4C02-D236-4E0A-A45A7F0870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399613" y="3178555"/>
              <a:ext cx="483586" cy="469900"/>
            </a:xfrm>
            <a:prstGeom prst="rect">
              <a:avLst/>
            </a:prstGeom>
          </p:spPr>
        </p:pic>
        <p:pic>
          <p:nvPicPr>
            <p:cNvPr id="11" name="Graphic 10">
              <a:extLst>
                <a:ext uri="{FF2B5EF4-FFF2-40B4-BE49-F238E27FC236}">
                  <a16:creationId xmlns:a16="http://schemas.microsoft.com/office/drawing/2014/main" id="{0B63EBB6-6FF7-4CC6-A0A9-63F48EECD38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03408" y="3838438"/>
              <a:ext cx="483586" cy="469900"/>
            </a:xfrm>
            <a:prstGeom prst="rect">
              <a:avLst/>
            </a:prstGeom>
          </p:spPr>
        </p:pic>
        <p:pic>
          <p:nvPicPr>
            <p:cNvPr id="12" name="Graphic 11">
              <a:extLst>
                <a:ext uri="{FF2B5EF4-FFF2-40B4-BE49-F238E27FC236}">
                  <a16:creationId xmlns:a16="http://schemas.microsoft.com/office/drawing/2014/main" id="{6E660B37-5831-F837-44A3-348C47F8D18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03408" y="4606674"/>
              <a:ext cx="483586" cy="469900"/>
            </a:xfrm>
            <a:prstGeom prst="rect">
              <a:avLst/>
            </a:prstGeom>
          </p:spPr>
        </p:pic>
        <p:pic>
          <p:nvPicPr>
            <p:cNvPr id="13" name="Graphic 12">
              <a:extLst>
                <a:ext uri="{FF2B5EF4-FFF2-40B4-BE49-F238E27FC236}">
                  <a16:creationId xmlns:a16="http://schemas.microsoft.com/office/drawing/2014/main" id="{B4CB4799-8AE0-5082-E09A-C523B947484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44433" y="5374910"/>
              <a:ext cx="483586" cy="469900"/>
            </a:xfrm>
            <a:prstGeom prst="rect">
              <a:avLst/>
            </a:prstGeom>
          </p:spPr>
        </p:pic>
      </p:grpSp>
      <p:grpSp>
        <p:nvGrpSpPr>
          <p:cNvPr id="14" name="Group 13" descr="A collection of files and one S3 bucket.">
            <a:extLst>
              <a:ext uri="{FF2B5EF4-FFF2-40B4-BE49-F238E27FC236}">
                <a16:creationId xmlns:a16="http://schemas.microsoft.com/office/drawing/2014/main" id="{65E3FA62-3F9C-4B58-E7FB-95F0D23EB1B6}"/>
              </a:ext>
            </a:extLst>
          </p:cNvPr>
          <p:cNvGrpSpPr/>
          <p:nvPr/>
        </p:nvGrpSpPr>
        <p:grpSpPr>
          <a:xfrm>
            <a:off x="2923223" y="1745415"/>
            <a:ext cx="7915469" cy="3584455"/>
            <a:chOff x="2623443" y="1893475"/>
            <a:chExt cx="7915469" cy="3584455"/>
          </a:xfrm>
        </p:grpSpPr>
        <p:sp>
          <p:nvSpPr>
            <p:cNvPr id="15" name="TextBox 14">
              <a:extLst>
                <a:ext uri="{FF2B5EF4-FFF2-40B4-BE49-F238E27FC236}">
                  <a16:creationId xmlns:a16="http://schemas.microsoft.com/office/drawing/2014/main" id="{6605F23B-C44C-5F1F-4333-77DF467D0FD2}"/>
                </a:ext>
                <a:ext uri="{C183D7F6-B498-43B3-948B-1728B52AA6E4}">
                  <adec:decorative xmlns:adec="http://schemas.microsoft.com/office/drawing/2017/decorative" val="1"/>
                </a:ext>
              </a:extLst>
            </p:cNvPr>
            <p:cNvSpPr txBox="1"/>
            <p:nvPr/>
          </p:nvSpPr>
          <p:spPr>
            <a:xfrm>
              <a:off x="4416926" y="2759875"/>
              <a:ext cx="1914307" cy="307777"/>
            </a:xfrm>
            <a:prstGeom prst="rect">
              <a:avLst/>
            </a:prstGeom>
            <a:noFill/>
          </p:spPr>
          <p:txBody>
            <a:bodyPr wrap="none" rtlCol="0">
              <a:spAutoFit/>
            </a:bodyPr>
            <a:lstStyle/>
            <a:p>
              <a:r>
                <a:rPr lang="en-US" sz="1400">
                  <a:solidFill>
                    <a:srgbClr val="FF9900"/>
                  </a:solidFill>
                  <a:latin typeface="Amazon Ember" panose="02000000000000000000" pitchFamily="2" charset="0"/>
                  <a:ea typeface="Amazon Ember" panose="02000000000000000000" pitchFamily="2" charset="0"/>
                </a:rPr>
                <a:t>media/welcome.mp4</a:t>
              </a:r>
            </a:p>
          </p:txBody>
        </p:sp>
        <p:sp>
          <p:nvSpPr>
            <p:cNvPr id="16" name="TextBox 15">
              <a:extLst>
                <a:ext uri="{FF2B5EF4-FFF2-40B4-BE49-F238E27FC236}">
                  <a16:creationId xmlns:a16="http://schemas.microsoft.com/office/drawing/2014/main" id="{D0A5DE6B-11B9-E85C-577A-96A53DA7471E}"/>
                </a:ext>
                <a:ext uri="{C183D7F6-B498-43B3-948B-1728B52AA6E4}">
                  <adec:decorative xmlns:adec="http://schemas.microsoft.com/office/drawing/2017/decorative" val="1"/>
                </a:ext>
              </a:extLst>
            </p:cNvPr>
            <p:cNvSpPr txBox="1"/>
            <p:nvPr/>
          </p:nvSpPr>
          <p:spPr>
            <a:xfrm>
              <a:off x="6253751" y="2759875"/>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prod2.mp4</a:t>
              </a:r>
            </a:p>
          </p:txBody>
        </p:sp>
        <p:sp>
          <p:nvSpPr>
            <p:cNvPr id="17" name="TextBox 16">
              <a:extLst>
                <a:ext uri="{FF2B5EF4-FFF2-40B4-BE49-F238E27FC236}">
                  <a16:creationId xmlns:a16="http://schemas.microsoft.com/office/drawing/2014/main" id="{39EEACD8-3C4E-B147-638D-3BC613669037}"/>
                </a:ext>
                <a:ext uri="{C183D7F6-B498-43B3-948B-1728B52AA6E4}">
                  <adec:decorative xmlns:adec="http://schemas.microsoft.com/office/drawing/2017/decorative" val="1"/>
                </a:ext>
              </a:extLst>
            </p:cNvPr>
            <p:cNvSpPr txBox="1"/>
            <p:nvPr/>
          </p:nvSpPr>
          <p:spPr>
            <a:xfrm>
              <a:off x="7754894" y="2759875"/>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prod3.mp4</a:t>
              </a:r>
            </a:p>
          </p:txBody>
        </p:sp>
        <p:sp>
          <p:nvSpPr>
            <p:cNvPr id="18" name="TextBox 17">
              <a:extLst>
                <a:ext uri="{FF2B5EF4-FFF2-40B4-BE49-F238E27FC236}">
                  <a16:creationId xmlns:a16="http://schemas.microsoft.com/office/drawing/2014/main" id="{4EDC84C8-8155-36AA-CF87-B5D29CEF10A5}"/>
                </a:ext>
                <a:ext uri="{C183D7F6-B498-43B3-948B-1728B52AA6E4}">
                  <adec:decorative xmlns:adec="http://schemas.microsoft.com/office/drawing/2017/decorative" val="1"/>
                </a:ext>
              </a:extLst>
            </p:cNvPr>
            <p:cNvSpPr txBox="1"/>
            <p:nvPr/>
          </p:nvSpPr>
          <p:spPr>
            <a:xfrm>
              <a:off x="9217298" y="2759875"/>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prod4.mp4</a:t>
              </a:r>
            </a:p>
          </p:txBody>
        </p:sp>
        <p:sp>
          <p:nvSpPr>
            <p:cNvPr id="19" name="TextBox 18">
              <a:extLst>
                <a:ext uri="{FF2B5EF4-FFF2-40B4-BE49-F238E27FC236}">
                  <a16:creationId xmlns:a16="http://schemas.microsoft.com/office/drawing/2014/main" id="{702BA9F6-0C20-39CA-E98F-906B73B380CE}"/>
                </a:ext>
                <a:ext uri="{C183D7F6-B498-43B3-948B-1728B52AA6E4}">
                  <adec:decorative xmlns:adec="http://schemas.microsoft.com/office/drawing/2017/decorative" val="1"/>
                </a:ext>
              </a:extLst>
            </p:cNvPr>
            <p:cNvSpPr txBox="1"/>
            <p:nvPr/>
          </p:nvSpPr>
          <p:spPr>
            <a:xfrm>
              <a:off x="4828899" y="3959986"/>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prod5.mp4</a:t>
              </a:r>
            </a:p>
          </p:txBody>
        </p:sp>
        <p:sp>
          <p:nvSpPr>
            <p:cNvPr id="20" name="TextBox 19">
              <a:extLst>
                <a:ext uri="{FF2B5EF4-FFF2-40B4-BE49-F238E27FC236}">
                  <a16:creationId xmlns:a16="http://schemas.microsoft.com/office/drawing/2014/main" id="{61BB4EBC-19AA-6664-D416-E0EE970EB117}"/>
                </a:ext>
                <a:ext uri="{C183D7F6-B498-43B3-948B-1728B52AA6E4}">
                  <adec:decorative xmlns:adec="http://schemas.microsoft.com/office/drawing/2017/decorative" val="1"/>
                </a:ext>
              </a:extLst>
            </p:cNvPr>
            <p:cNvSpPr txBox="1"/>
            <p:nvPr/>
          </p:nvSpPr>
          <p:spPr>
            <a:xfrm>
              <a:off x="6253751" y="3959986"/>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prod6.mp4</a:t>
              </a:r>
            </a:p>
          </p:txBody>
        </p:sp>
        <p:sp>
          <p:nvSpPr>
            <p:cNvPr id="21" name="TextBox 20">
              <a:extLst>
                <a:ext uri="{FF2B5EF4-FFF2-40B4-BE49-F238E27FC236}">
                  <a16:creationId xmlns:a16="http://schemas.microsoft.com/office/drawing/2014/main" id="{7C5EE768-D853-6A8C-C9D8-A7AC8B85E9CF}"/>
                </a:ext>
                <a:ext uri="{C183D7F6-B498-43B3-948B-1728B52AA6E4}">
                  <adec:decorative xmlns:adec="http://schemas.microsoft.com/office/drawing/2017/decorative" val="1"/>
                </a:ext>
              </a:extLst>
            </p:cNvPr>
            <p:cNvSpPr txBox="1"/>
            <p:nvPr/>
          </p:nvSpPr>
          <p:spPr>
            <a:xfrm>
              <a:off x="7754894" y="3959986"/>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prod7.mp4</a:t>
              </a:r>
            </a:p>
          </p:txBody>
        </p:sp>
        <p:sp>
          <p:nvSpPr>
            <p:cNvPr id="22" name="TextBox 21">
              <a:extLst>
                <a:ext uri="{FF2B5EF4-FFF2-40B4-BE49-F238E27FC236}">
                  <a16:creationId xmlns:a16="http://schemas.microsoft.com/office/drawing/2014/main" id="{96F615F2-DCD4-5323-C82C-A6C387F87DB0}"/>
                </a:ext>
                <a:ext uri="{C183D7F6-B498-43B3-948B-1728B52AA6E4}">
                  <adec:decorative xmlns:adec="http://schemas.microsoft.com/office/drawing/2017/decorative" val="1"/>
                </a:ext>
              </a:extLst>
            </p:cNvPr>
            <p:cNvSpPr txBox="1"/>
            <p:nvPr/>
          </p:nvSpPr>
          <p:spPr>
            <a:xfrm>
              <a:off x="9217298" y="3959986"/>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prod8.mp4</a:t>
              </a:r>
            </a:p>
          </p:txBody>
        </p:sp>
        <p:sp>
          <p:nvSpPr>
            <p:cNvPr id="23" name="TextBox 22">
              <a:extLst>
                <a:ext uri="{FF2B5EF4-FFF2-40B4-BE49-F238E27FC236}">
                  <a16:creationId xmlns:a16="http://schemas.microsoft.com/office/drawing/2014/main" id="{8A587827-68F8-64F0-FD44-5B10729A6E7E}"/>
                </a:ext>
                <a:ext uri="{C183D7F6-B498-43B3-948B-1728B52AA6E4}">
                  <adec:decorative xmlns:adec="http://schemas.microsoft.com/office/drawing/2017/decorative" val="1"/>
                </a:ext>
              </a:extLst>
            </p:cNvPr>
            <p:cNvSpPr txBox="1"/>
            <p:nvPr/>
          </p:nvSpPr>
          <p:spPr>
            <a:xfrm>
              <a:off x="4828899" y="5170153"/>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prod9.mp4</a:t>
              </a:r>
            </a:p>
          </p:txBody>
        </p:sp>
        <p:sp>
          <p:nvSpPr>
            <p:cNvPr id="24" name="TextBox 23">
              <a:extLst>
                <a:ext uri="{FF2B5EF4-FFF2-40B4-BE49-F238E27FC236}">
                  <a16:creationId xmlns:a16="http://schemas.microsoft.com/office/drawing/2014/main" id="{1499B186-540F-FB56-BE41-AEC0172BC4B6}"/>
                </a:ext>
                <a:ext uri="{C183D7F6-B498-43B3-948B-1728B52AA6E4}">
                  <adec:decorative xmlns:adec="http://schemas.microsoft.com/office/drawing/2017/decorative" val="1"/>
                </a:ext>
              </a:extLst>
            </p:cNvPr>
            <p:cNvSpPr txBox="1"/>
            <p:nvPr/>
          </p:nvSpPr>
          <p:spPr>
            <a:xfrm>
              <a:off x="6200852" y="5170153"/>
              <a:ext cx="1196161"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prod10.mp4</a:t>
              </a:r>
            </a:p>
          </p:txBody>
        </p:sp>
        <p:sp>
          <p:nvSpPr>
            <p:cNvPr id="25" name="TextBox 24">
              <a:extLst>
                <a:ext uri="{FF2B5EF4-FFF2-40B4-BE49-F238E27FC236}">
                  <a16:creationId xmlns:a16="http://schemas.microsoft.com/office/drawing/2014/main" id="{F70C5938-351F-CFC3-104C-BB07173A08FF}"/>
                </a:ext>
                <a:ext uri="{C183D7F6-B498-43B3-948B-1728B52AA6E4}">
                  <adec:decorative xmlns:adec="http://schemas.microsoft.com/office/drawing/2017/decorative" val="1"/>
                </a:ext>
              </a:extLst>
            </p:cNvPr>
            <p:cNvSpPr txBox="1"/>
            <p:nvPr/>
          </p:nvSpPr>
          <p:spPr>
            <a:xfrm>
              <a:off x="7610458" y="5170153"/>
              <a:ext cx="1379236"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prod11.mp4</a:t>
              </a:r>
            </a:p>
          </p:txBody>
        </p:sp>
        <p:sp>
          <p:nvSpPr>
            <p:cNvPr id="26" name="TextBox 25">
              <a:extLst>
                <a:ext uri="{FF2B5EF4-FFF2-40B4-BE49-F238E27FC236}">
                  <a16:creationId xmlns:a16="http://schemas.microsoft.com/office/drawing/2014/main" id="{AA0DBB63-D7E9-AF9A-207D-60495F595275}"/>
                </a:ext>
                <a:ext uri="{C183D7F6-B498-43B3-948B-1728B52AA6E4}">
                  <adec:decorative xmlns:adec="http://schemas.microsoft.com/office/drawing/2017/decorative" val="1"/>
                </a:ext>
              </a:extLst>
            </p:cNvPr>
            <p:cNvSpPr txBox="1"/>
            <p:nvPr/>
          </p:nvSpPr>
          <p:spPr>
            <a:xfrm>
              <a:off x="8986048" y="5170153"/>
              <a:ext cx="1552864"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prod12.mp4</a:t>
              </a:r>
            </a:p>
          </p:txBody>
        </p:sp>
        <p:sp>
          <p:nvSpPr>
            <p:cNvPr id="27" name="TextBox 26">
              <a:extLst>
                <a:ext uri="{FF2B5EF4-FFF2-40B4-BE49-F238E27FC236}">
                  <a16:creationId xmlns:a16="http://schemas.microsoft.com/office/drawing/2014/main" id="{78B67C90-1FD0-5C74-3BAA-9A31C0343C3D}"/>
                </a:ext>
                <a:ext uri="{C183D7F6-B498-43B3-948B-1728B52AA6E4}">
                  <adec:decorative xmlns:adec="http://schemas.microsoft.com/office/drawing/2017/decorative" val="1"/>
                </a:ext>
              </a:extLst>
            </p:cNvPr>
            <p:cNvSpPr txBox="1"/>
            <p:nvPr/>
          </p:nvSpPr>
          <p:spPr>
            <a:xfrm>
              <a:off x="2623443" y="4459996"/>
              <a:ext cx="1981633" cy="369332"/>
            </a:xfrm>
            <a:prstGeom prst="rect">
              <a:avLst/>
            </a:prstGeom>
            <a:noFill/>
          </p:spPr>
          <p:txBody>
            <a:bodyPr wrap="none" rtlCol="0">
              <a:spAutoFit/>
            </a:bodyPr>
            <a:lstStyle/>
            <a:p>
              <a:r>
                <a:rPr lang="en-US">
                  <a:latin typeface="Amazon Ember" panose="02000000000000000000" pitchFamily="2" charset="0"/>
                  <a:ea typeface="Amazon Ember" panose="02000000000000000000" pitchFamily="2" charset="0"/>
                </a:rPr>
                <a:t>my-bucket-name</a:t>
              </a:r>
            </a:p>
          </p:txBody>
        </p:sp>
        <p:pic>
          <p:nvPicPr>
            <p:cNvPr id="28" name="Graphic 27">
              <a:extLst>
                <a:ext uri="{FF2B5EF4-FFF2-40B4-BE49-F238E27FC236}">
                  <a16:creationId xmlns:a16="http://schemas.microsoft.com/office/drawing/2014/main" id="{01744FF0-E018-2E5B-BC9A-A7141019E08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5804" y="3421512"/>
              <a:ext cx="826530" cy="826530"/>
            </a:xfrm>
            <a:prstGeom prst="rect">
              <a:avLst/>
            </a:prstGeom>
          </p:spPr>
        </p:pic>
        <p:pic>
          <p:nvPicPr>
            <p:cNvPr id="29" name="Graphic 28">
              <a:extLst>
                <a:ext uri="{FF2B5EF4-FFF2-40B4-BE49-F238E27FC236}">
                  <a16:creationId xmlns:a16="http://schemas.microsoft.com/office/drawing/2014/main" id="{FB2CD550-9509-15F8-2965-E96E590FC7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965" y="1893475"/>
              <a:ext cx="666228" cy="666228"/>
            </a:xfrm>
            <a:prstGeom prst="rect">
              <a:avLst/>
            </a:prstGeom>
          </p:spPr>
        </p:pic>
        <p:pic>
          <p:nvPicPr>
            <p:cNvPr id="30" name="Graphic 29">
              <a:extLst>
                <a:ext uri="{FF2B5EF4-FFF2-40B4-BE49-F238E27FC236}">
                  <a16:creationId xmlns:a16="http://schemas.microsoft.com/office/drawing/2014/main" id="{D5029D6F-537C-E78F-6C77-F03CB85BEC0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2407" y="1909868"/>
              <a:ext cx="666228" cy="666228"/>
            </a:xfrm>
            <a:prstGeom prst="rect">
              <a:avLst/>
            </a:prstGeom>
          </p:spPr>
        </p:pic>
        <p:pic>
          <p:nvPicPr>
            <p:cNvPr id="31" name="Graphic 30">
              <a:extLst>
                <a:ext uri="{FF2B5EF4-FFF2-40B4-BE49-F238E27FC236}">
                  <a16:creationId xmlns:a16="http://schemas.microsoft.com/office/drawing/2014/main" id="{8655556F-76E0-C901-63C5-72B52E117B5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66961" y="1909868"/>
              <a:ext cx="666228" cy="666228"/>
            </a:xfrm>
            <a:prstGeom prst="rect">
              <a:avLst/>
            </a:prstGeom>
          </p:spPr>
        </p:pic>
        <p:pic>
          <p:nvPicPr>
            <p:cNvPr id="32" name="Graphic 31">
              <a:extLst>
                <a:ext uri="{FF2B5EF4-FFF2-40B4-BE49-F238E27FC236}">
                  <a16:creationId xmlns:a16="http://schemas.microsoft.com/office/drawing/2014/main" id="{60E51ECA-A960-F863-91BB-9DAEE639064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29365" y="1929424"/>
              <a:ext cx="666228" cy="666228"/>
            </a:xfrm>
            <a:prstGeom prst="rect">
              <a:avLst/>
            </a:prstGeom>
          </p:spPr>
        </p:pic>
        <p:pic>
          <p:nvPicPr>
            <p:cNvPr id="33" name="Graphic 32">
              <a:extLst>
                <a:ext uri="{FF2B5EF4-FFF2-40B4-BE49-F238E27FC236}">
                  <a16:creationId xmlns:a16="http://schemas.microsoft.com/office/drawing/2014/main" id="{5A0DCDF5-2061-CCC7-E948-C87C2552AB7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965" y="3121402"/>
              <a:ext cx="666228" cy="666228"/>
            </a:xfrm>
            <a:prstGeom prst="rect">
              <a:avLst/>
            </a:prstGeom>
          </p:spPr>
        </p:pic>
        <p:pic>
          <p:nvPicPr>
            <p:cNvPr id="34" name="Graphic 33">
              <a:extLst>
                <a:ext uri="{FF2B5EF4-FFF2-40B4-BE49-F238E27FC236}">
                  <a16:creationId xmlns:a16="http://schemas.microsoft.com/office/drawing/2014/main" id="{4FC88D53-3D7C-CF7A-4698-4E563F754C1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2407" y="3137795"/>
              <a:ext cx="666228" cy="666228"/>
            </a:xfrm>
            <a:prstGeom prst="rect">
              <a:avLst/>
            </a:prstGeom>
          </p:spPr>
        </p:pic>
        <p:pic>
          <p:nvPicPr>
            <p:cNvPr id="35" name="Graphic 34">
              <a:extLst>
                <a:ext uri="{FF2B5EF4-FFF2-40B4-BE49-F238E27FC236}">
                  <a16:creationId xmlns:a16="http://schemas.microsoft.com/office/drawing/2014/main" id="{43082615-A5CA-5C6A-5307-D3516D774A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66961" y="3137795"/>
              <a:ext cx="666228" cy="666228"/>
            </a:xfrm>
            <a:prstGeom prst="rect">
              <a:avLst/>
            </a:prstGeom>
          </p:spPr>
        </p:pic>
        <p:pic>
          <p:nvPicPr>
            <p:cNvPr id="36" name="Graphic 35">
              <a:extLst>
                <a:ext uri="{FF2B5EF4-FFF2-40B4-BE49-F238E27FC236}">
                  <a16:creationId xmlns:a16="http://schemas.microsoft.com/office/drawing/2014/main" id="{DCEF488F-CBCC-3EEE-4947-2BD114830E7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29365" y="3157351"/>
              <a:ext cx="666228" cy="666228"/>
            </a:xfrm>
            <a:prstGeom prst="rect">
              <a:avLst/>
            </a:prstGeom>
          </p:spPr>
        </p:pic>
        <p:pic>
          <p:nvPicPr>
            <p:cNvPr id="37" name="Graphic 36">
              <a:extLst>
                <a:ext uri="{FF2B5EF4-FFF2-40B4-BE49-F238E27FC236}">
                  <a16:creationId xmlns:a16="http://schemas.microsoft.com/office/drawing/2014/main" id="{FE5DC634-6C87-3C70-ADC5-3550ABB9738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965" y="4423281"/>
              <a:ext cx="666228" cy="666228"/>
            </a:xfrm>
            <a:prstGeom prst="rect">
              <a:avLst/>
            </a:prstGeom>
          </p:spPr>
        </p:pic>
        <p:pic>
          <p:nvPicPr>
            <p:cNvPr id="38" name="Graphic 37">
              <a:extLst>
                <a:ext uri="{FF2B5EF4-FFF2-40B4-BE49-F238E27FC236}">
                  <a16:creationId xmlns:a16="http://schemas.microsoft.com/office/drawing/2014/main" id="{F9BF5938-9C19-512D-4572-7F5D318A88E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2407" y="4439674"/>
              <a:ext cx="666228" cy="666228"/>
            </a:xfrm>
            <a:prstGeom prst="rect">
              <a:avLst/>
            </a:prstGeom>
          </p:spPr>
        </p:pic>
        <p:pic>
          <p:nvPicPr>
            <p:cNvPr id="39" name="Graphic 38">
              <a:extLst>
                <a:ext uri="{FF2B5EF4-FFF2-40B4-BE49-F238E27FC236}">
                  <a16:creationId xmlns:a16="http://schemas.microsoft.com/office/drawing/2014/main" id="{9ADFC2D9-E65A-F1D9-1508-9551B35CBB0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66961" y="4439674"/>
              <a:ext cx="666228" cy="666228"/>
            </a:xfrm>
            <a:prstGeom prst="rect">
              <a:avLst/>
            </a:prstGeom>
          </p:spPr>
        </p:pic>
        <p:pic>
          <p:nvPicPr>
            <p:cNvPr id="40" name="Graphic 39">
              <a:extLst>
                <a:ext uri="{FF2B5EF4-FFF2-40B4-BE49-F238E27FC236}">
                  <a16:creationId xmlns:a16="http://schemas.microsoft.com/office/drawing/2014/main" id="{0D30B0E9-2E9B-CD3D-7F04-F350405A46E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29365" y="4459230"/>
              <a:ext cx="666228" cy="666228"/>
            </a:xfrm>
            <a:prstGeom prst="rect">
              <a:avLst/>
            </a:prstGeom>
          </p:spPr>
        </p:pic>
      </p:grpSp>
    </p:spTree>
    <p:extLst>
      <p:ext uri="{BB962C8B-B14F-4D97-AF65-F5344CB8AC3E}">
        <p14:creationId xmlns:p14="http://schemas.microsoft.com/office/powerpoint/2010/main" val="284302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Lifecycle to Glacier — retention</a:t>
            </a:r>
          </a:p>
          <a:p>
            <a:pPr>
              <a:spcBef>
                <a:spcPts val="200"/>
              </a:spcBef>
            </a:pPr>
            <a:r>
              <a:rPr sz="1800" b="0" i="1">
                <a:solidFill>
                  <a:srgbClr val="D68E10"/>
                </a:solidFill>
                <a:latin typeface="Roboto Light"/>
              </a:rPr>
              <a:t>AWS · ACF M07 S44–S50 · ACA M04 S36</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6423750" cy="2696507"/>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Amazon S3 Glacier is extremely low-cost archive storage; retrieval takes minutes to hours.</a:t>
            </a:r>
          </a:p>
          <a:p>
            <a:pPr marL="0" indent="0">
              <a:lnSpc>
                <a:spcPct val="105000"/>
              </a:lnSpc>
              <a:spcBef>
                <a:spcPts val="0"/>
              </a:spcBef>
              <a:spcAft>
                <a:spcPts val="1000"/>
              </a:spcAft>
            </a:pPr>
            <a:r>
              <a:rPr sz="1800" b="1" i="0" dirty="0">
                <a:solidFill>
                  <a:srgbClr val="27B5CE"/>
                </a:solidFill>
                <a:latin typeface="Roboto"/>
              </a:rPr>
              <a:t>■  A lifecycle rule transitions objects from S3 to Glacier by age — automatic, cheaper over time.</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Object Lock enforces write-once retention — for records that must not be altered or deleted.</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This is how the design meets the 7-year financial-records retention.</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11</a:t>
            </a:r>
          </a:p>
        </p:txBody>
      </p:sp>
      <p:sp>
        <p:nvSpPr>
          <p:cNvPr id="8" name="TextBox 7">
            <a:extLst>
              <a:ext uri="{FF2B5EF4-FFF2-40B4-BE49-F238E27FC236}">
                <a16:creationId xmlns:a16="http://schemas.microsoft.com/office/drawing/2014/main" id="{1401120D-3945-C171-FD3C-15EC1D124161}"/>
              </a:ext>
            </a:extLst>
          </p:cNvPr>
          <p:cNvSpPr txBox="1"/>
          <p:nvPr/>
        </p:nvSpPr>
        <p:spPr>
          <a:xfrm>
            <a:off x="6982159" y="4390767"/>
            <a:ext cx="4558107" cy="492443"/>
          </a:xfrm>
          <a:prstGeom prst="rect">
            <a:avLst/>
          </a:prstGeom>
          <a:noFill/>
        </p:spPr>
        <p:txBody>
          <a:bodyPr wrap="square" lIns="0" tIns="0" rIns="0" bIns="0" rtlCol="0" anchor="ctr">
            <a:spAutoFit/>
          </a:bodyPr>
          <a:lstStyle/>
          <a:p>
            <a:pPr algn="ctr"/>
            <a:r>
              <a:rPr lang="en-US" sz="3200">
                <a:ea typeface="Amazon Ember" panose="020B0603020204020204" pitchFamily="34" charset="0"/>
                <a:cs typeface="Amazon Ember" panose="020B0603020204020204" pitchFamily="34" charset="0"/>
              </a:rPr>
              <a:t>Amazon S3 Glacier</a:t>
            </a:r>
            <a:endParaRPr lang="en-US" sz="6600">
              <a:ea typeface="Amazon Ember" panose="020B0603020204020204" pitchFamily="34" charset="0"/>
              <a:cs typeface="Amazon Ember" panose="020B0603020204020204" pitchFamily="34" charset="0"/>
            </a:endParaRPr>
          </a:p>
        </p:txBody>
      </p:sp>
      <p:pic>
        <p:nvPicPr>
          <p:cNvPr id="9" name="Graphic 8">
            <a:extLst>
              <a:ext uri="{FF2B5EF4-FFF2-40B4-BE49-F238E27FC236}">
                <a16:creationId xmlns:a16="http://schemas.microsoft.com/office/drawing/2014/main" id="{DD066BF3-9C8F-4EFD-B768-6BC9EEFD7E4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12287" y="1873742"/>
            <a:ext cx="1933702" cy="193370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95656-9A71-4315-DEF8-0188B808E9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1D70B3-4FDE-B3EA-BD02-3570C9719E7B}"/>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S3 Glacier</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124595CC-4CB2-00AE-B3F5-A6D225F97B7E}"/>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631B50BB-D5F7-B006-D8C1-3B52B0F812CB}"/>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6E8F190-BFB1-9B22-6CD0-FEA49CC38AA1}"/>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4396FDF1-D5D3-55DB-318F-FE6AD3B6AB65}"/>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
        <p:nvSpPr>
          <p:cNvPr id="4" name="Rounded Rectangle 27">
            <a:extLst>
              <a:ext uri="{FF2B5EF4-FFF2-40B4-BE49-F238E27FC236}">
                <a16:creationId xmlns:a16="http://schemas.microsoft.com/office/drawing/2014/main" id="{D135F98B-884B-C540-74A0-07033BD1CCB7}"/>
              </a:ext>
              <a:ext uri="{C183D7F6-B498-43B3-948B-1728B52AA6E4}">
                <adec:decorative xmlns:adec="http://schemas.microsoft.com/office/drawing/2017/decorative" val="1"/>
              </a:ext>
            </a:extLst>
          </p:cNvPr>
          <p:cNvSpPr/>
          <p:nvPr/>
        </p:nvSpPr>
        <p:spPr bwMode="auto">
          <a:xfrm>
            <a:off x="451741" y="1610343"/>
            <a:ext cx="5389258" cy="4340138"/>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8" name="Group 7" descr="Move objects from S3 bucket to Amazon S3 Glacier Archive after 30 days. Delete objects from Amazon S3 Glacier Archive after five years.">
            <a:extLst>
              <a:ext uri="{FF2B5EF4-FFF2-40B4-BE49-F238E27FC236}">
                <a16:creationId xmlns:a16="http://schemas.microsoft.com/office/drawing/2014/main" id="{997EFCB9-5544-EC88-86C5-411CE440BB86}"/>
              </a:ext>
            </a:extLst>
          </p:cNvPr>
          <p:cNvGrpSpPr/>
          <p:nvPr/>
        </p:nvGrpSpPr>
        <p:grpSpPr>
          <a:xfrm>
            <a:off x="6311250" y="1610343"/>
            <a:ext cx="5389258" cy="4340138"/>
            <a:chOff x="6311250" y="1610343"/>
            <a:chExt cx="5389258" cy="4340138"/>
          </a:xfrm>
        </p:grpSpPr>
        <p:sp>
          <p:nvSpPr>
            <p:cNvPr id="9" name="Rounded Rectangle 29" descr="illustrates Amazon S3 bucket sending data to archive in Amazon S3 Glacier.">
              <a:extLst>
                <a:ext uri="{FF2B5EF4-FFF2-40B4-BE49-F238E27FC236}">
                  <a16:creationId xmlns:a16="http://schemas.microsoft.com/office/drawing/2014/main" id="{1D473753-0115-8C8A-6BE6-79388D775B6C}"/>
                </a:ext>
              </a:extLst>
            </p:cNvPr>
            <p:cNvSpPr/>
            <p:nvPr/>
          </p:nvSpPr>
          <p:spPr bwMode="auto">
            <a:xfrm>
              <a:off x="6311250" y="1610343"/>
              <a:ext cx="5389258" cy="4340138"/>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F186C68B-10B6-D5CD-49F4-11046CE7E3C8}"/>
                </a:ext>
                <a:ext uri="{C183D7F6-B498-43B3-948B-1728B52AA6E4}">
                  <adec:decorative xmlns:adec="http://schemas.microsoft.com/office/drawing/2017/decorative" val="1"/>
                </a:ext>
              </a:extLst>
            </p:cNvPr>
            <p:cNvSpPr/>
            <p:nvPr/>
          </p:nvSpPr>
          <p:spPr>
            <a:xfrm>
              <a:off x="6578450" y="3904669"/>
              <a:ext cx="1488920" cy="3527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45F3DFF0-688C-AEA0-E2F5-299207570A0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3396" y="3210259"/>
              <a:ext cx="640080" cy="640080"/>
            </a:xfrm>
            <a:prstGeom prst="rect">
              <a:avLst/>
            </a:prstGeom>
          </p:spPr>
        </p:pic>
        <p:sp>
          <p:nvSpPr>
            <p:cNvPr id="12" name="TextBox 11">
              <a:extLst>
                <a:ext uri="{FF2B5EF4-FFF2-40B4-BE49-F238E27FC236}">
                  <a16:creationId xmlns:a16="http://schemas.microsoft.com/office/drawing/2014/main" id="{0F447C90-ADC2-D36E-FECF-B70F479CB547}"/>
                </a:ext>
                <a:ext uri="{C183D7F6-B498-43B3-948B-1728B52AA6E4}">
                  <adec:decorative xmlns:adec="http://schemas.microsoft.com/office/drawing/2017/decorative" val="1"/>
                </a:ext>
              </a:extLst>
            </p:cNvPr>
            <p:cNvSpPr txBox="1"/>
            <p:nvPr/>
          </p:nvSpPr>
          <p:spPr>
            <a:xfrm>
              <a:off x="6662755" y="3876478"/>
              <a:ext cx="1101363" cy="584775"/>
            </a:xfrm>
            <a:prstGeom prst="rect">
              <a:avLst/>
            </a:prstGeom>
            <a:noFill/>
          </p:spPr>
          <p:txBody>
            <a:bodyPr wrap="square" rtlCol="0">
              <a:spAutoFit/>
            </a:bodyPr>
            <a:lstStyle/>
            <a:p>
              <a:pPr algn="ctr"/>
              <a:r>
                <a:rPr lang="en-US" sz="1600">
                  <a:solidFill>
                    <a:srgbClr val="504BAB"/>
                  </a:solidFill>
                  <a:latin typeface="Amazon Ember"/>
                  <a:ea typeface="Amazon Ember Medium" panose="020B0603020204030204" pitchFamily="34" charset="0"/>
                  <a:cs typeface="Arial" panose="020B0604020202020204" pitchFamily="34" charset="0"/>
                </a:rPr>
                <a:t>Amazon S3 bucket</a:t>
              </a:r>
            </a:p>
          </p:txBody>
        </p:sp>
        <p:sp>
          <p:nvSpPr>
            <p:cNvPr id="13" name="TextBox 12">
              <a:extLst>
                <a:ext uri="{FF2B5EF4-FFF2-40B4-BE49-F238E27FC236}">
                  <a16:creationId xmlns:a16="http://schemas.microsoft.com/office/drawing/2014/main" id="{75112BC0-D435-116F-4BDD-D2DEAF1D7EB6}"/>
                </a:ext>
                <a:ext uri="{C183D7F6-B498-43B3-948B-1728B52AA6E4}">
                  <adec:decorative xmlns:adec="http://schemas.microsoft.com/office/drawing/2017/decorative" val="1"/>
                </a:ext>
              </a:extLst>
            </p:cNvPr>
            <p:cNvSpPr txBox="1"/>
            <p:nvPr/>
          </p:nvSpPr>
          <p:spPr>
            <a:xfrm>
              <a:off x="7522272" y="3014342"/>
              <a:ext cx="1370728" cy="584775"/>
            </a:xfrm>
            <a:prstGeom prst="rect">
              <a:avLst/>
            </a:prstGeom>
            <a:noFill/>
          </p:spPr>
          <p:txBody>
            <a:bodyPr wrap="square" rtlCol="0">
              <a:spAutoFit/>
            </a:bodyPr>
            <a:lstStyle/>
            <a:p>
              <a:pPr algn="ctr"/>
              <a:r>
                <a:rPr lang="en-US" sz="1600">
                  <a:latin typeface="Amazon Ember"/>
                  <a:ea typeface="Amazon Ember Light" panose="020B0403020204020204" pitchFamily="34" charset="0"/>
                  <a:cs typeface="Amazon Ember Light" panose="020B0403020204020204" pitchFamily="34" charset="0"/>
                </a:rPr>
                <a:t>Archive after 30 days</a:t>
              </a:r>
            </a:p>
          </p:txBody>
        </p:sp>
        <p:cxnSp>
          <p:nvCxnSpPr>
            <p:cNvPr id="14" name="Straight Arrow Connector 13">
              <a:extLst>
                <a:ext uri="{FF2B5EF4-FFF2-40B4-BE49-F238E27FC236}">
                  <a16:creationId xmlns:a16="http://schemas.microsoft.com/office/drawing/2014/main" id="{9FE8CA9A-D0C4-1130-626E-CA7BA7AE90F9}"/>
                </a:ext>
                <a:ext uri="{C183D7F6-B498-43B3-948B-1728B52AA6E4}">
                  <adec:decorative xmlns:adec="http://schemas.microsoft.com/office/drawing/2017/decorative" val="1"/>
                </a:ext>
              </a:extLst>
            </p:cNvPr>
            <p:cNvCxnSpPr/>
            <p:nvPr/>
          </p:nvCxnSpPr>
          <p:spPr>
            <a:xfrm>
              <a:off x="7563331"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D21B9110-A7B8-7024-66D3-E7F6BD521B5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81006" y="3217522"/>
              <a:ext cx="640080" cy="640080"/>
            </a:xfrm>
            <a:prstGeom prst="rect">
              <a:avLst/>
            </a:prstGeom>
          </p:spPr>
        </p:pic>
        <p:sp>
          <p:nvSpPr>
            <p:cNvPr id="16" name="TextBox 15">
              <a:extLst>
                <a:ext uri="{FF2B5EF4-FFF2-40B4-BE49-F238E27FC236}">
                  <a16:creationId xmlns:a16="http://schemas.microsoft.com/office/drawing/2014/main" id="{BA1ADBD1-02D7-3ABB-214C-243F61C97A68}"/>
                </a:ext>
                <a:ext uri="{C183D7F6-B498-43B3-948B-1728B52AA6E4}">
                  <adec:decorative xmlns:adec="http://schemas.microsoft.com/office/drawing/2017/decorative" val="1"/>
                </a:ext>
              </a:extLst>
            </p:cNvPr>
            <p:cNvSpPr txBox="1"/>
            <p:nvPr/>
          </p:nvSpPr>
          <p:spPr>
            <a:xfrm>
              <a:off x="8606686" y="3861557"/>
              <a:ext cx="1188720" cy="830997"/>
            </a:xfrm>
            <a:prstGeom prst="rect">
              <a:avLst/>
            </a:prstGeom>
            <a:noFill/>
          </p:spPr>
          <p:txBody>
            <a:bodyPr wrap="square" rtlCol="0">
              <a:spAutoFit/>
            </a:bodyPr>
            <a:lstStyle/>
            <a:p>
              <a:pPr algn="ctr"/>
              <a:r>
                <a:rPr lang="en-US" sz="1600">
                  <a:solidFill>
                    <a:srgbClr val="504BAB"/>
                  </a:solidFill>
                  <a:latin typeface="Amazon Ember"/>
                  <a:ea typeface="Amazon Ember Medium" panose="020B0603020204030204" pitchFamily="34" charset="0"/>
                  <a:cs typeface="Arial" panose="020B0604020202020204" pitchFamily="34" charset="0"/>
                </a:rPr>
                <a:t>Amazon S3 Glacier Archive</a:t>
              </a:r>
            </a:p>
          </p:txBody>
        </p:sp>
        <p:sp>
          <p:nvSpPr>
            <p:cNvPr id="17" name="TextBox 16">
              <a:extLst>
                <a:ext uri="{FF2B5EF4-FFF2-40B4-BE49-F238E27FC236}">
                  <a16:creationId xmlns:a16="http://schemas.microsoft.com/office/drawing/2014/main" id="{DD242D82-176B-E54A-5934-F3C520B255FA}"/>
                </a:ext>
                <a:ext uri="{C183D7F6-B498-43B3-948B-1728B52AA6E4}">
                  <adec:decorative xmlns:adec="http://schemas.microsoft.com/office/drawing/2017/decorative" val="1"/>
                </a:ext>
              </a:extLst>
            </p:cNvPr>
            <p:cNvSpPr txBox="1"/>
            <p:nvPr/>
          </p:nvSpPr>
          <p:spPr>
            <a:xfrm>
              <a:off x="9430693" y="3014342"/>
              <a:ext cx="1370728" cy="584775"/>
            </a:xfrm>
            <a:prstGeom prst="rect">
              <a:avLst/>
            </a:prstGeom>
            <a:noFill/>
          </p:spPr>
          <p:txBody>
            <a:bodyPr wrap="square" rtlCol="0">
              <a:spAutoFit/>
            </a:bodyPr>
            <a:lstStyle/>
            <a:p>
              <a:pPr algn="ctr"/>
              <a:r>
                <a:rPr lang="en-US" sz="1600">
                  <a:latin typeface="Amazon Ember"/>
                  <a:ea typeface="Amazon Ember Light" panose="020B0403020204020204" pitchFamily="34" charset="0"/>
                  <a:cs typeface="Amazon Ember Light" panose="020B0403020204020204" pitchFamily="34" charset="0"/>
                </a:rPr>
                <a:t>Delete after 5 years</a:t>
              </a:r>
            </a:p>
          </p:txBody>
        </p:sp>
        <p:cxnSp>
          <p:nvCxnSpPr>
            <p:cNvPr id="18" name="Straight Arrow Connector 17">
              <a:extLst>
                <a:ext uri="{FF2B5EF4-FFF2-40B4-BE49-F238E27FC236}">
                  <a16:creationId xmlns:a16="http://schemas.microsoft.com/office/drawing/2014/main" id="{1E8BAF5E-67C2-B3E4-6A3D-D79D1A602CF0}"/>
                </a:ext>
                <a:ext uri="{C183D7F6-B498-43B3-948B-1728B52AA6E4}">
                  <adec:decorative xmlns:adec="http://schemas.microsoft.com/office/drawing/2017/decorative" val="1"/>
                </a:ext>
              </a:extLst>
            </p:cNvPr>
            <p:cNvCxnSpPr/>
            <p:nvPr/>
          </p:nvCxnSpPr>
          <p:spPr>
            <a:xfrm>
              <a:off x="9471752"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BC1EA9B3-5A91-26DF-02F5-5865DCE03F5F}"/>
                </a:ext>
                <a:ext uri="{C183D7F6-B498-43B3-948B-1728B52AA6E4}">
                  <adec:decorative xmlns:adec="http://schemas.microsoft.com/office/drawing/2017/decorative" val="1"/>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900"/>
                      </a14:imgEffect>
                    </a14:imgLayer>
                  </a14:imgProps>
                </a:ext>
                <a:ext uri="{28A0092B-C50C-407E-A947-70E740481C1C}">
                  <a14:useLocalDpi xmlns:a14="http://schemas.microsoft.com/office/drawing/2010/main" val="0"/>
                </a:ext>
              </a:extLst>
            </a:blip>
            <a:stretch>
              <a:fillRect/>
            </a:stretch>
          </p:blipFill>
          <p:spPr>
            <a:xfrm>
              <a:off x="10640001" y="3196007"/>
              <a:ext cx="793308" cy="793308"/>
            </a:xfrm>
            <a:prstGeom prst="rect">
              <a:avLst/>
            </a:prstGeom>
          </p:spPr>
        </p:pic>
      </p:grpSp>
      <p:sp>
        <p:nvSpPr>
          <p:cNvPr id="20" name="Content Placeholder 2">
            <a:extLst>
              <a:ext uri="{FF2B5EF4-FFF2-40B4-BE49-F238E27FC236}">
                <a16:creationId xmlns:a16="http://schemas.microsoft.com/office/drawing/2014/main" id="{C8C77103-8799-D7FB-8366-7ABBCD3EB516}"/>
              </a:ext>
            </a:extLst>
          </p:cNvPr>
          <p:cNvSpPr txBox="1">
            <a:spLocks/>
          </p:cNvSpPr>
          <p:nvPr/>
        </p:nvSpPr>
        <p:spPr>
          <a:xfrm>
            <a:off x="576681" y="1880327"/>
            <a:ext cx="5103813" cy="378301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00"/>
              </a:spcBef>
            </a:pPr>
            <a:r>
              <a:rPr lang="en-US" sz="2400"/>
              <a:t>Storage service for low-cost data archiving and long-term backup </a:t>
            </a:r>
          </a:p>
          <a:p>
            <a:pPr>
              <a:spcBef>
                <a:spcPts val="600"/>
              </a:spcBef>
            </a:pPr>
            <a:r>
              <a:rPr lang="en-US" sz="2400"/>
              <a:t>You can configure lifecycle archiving of Amazon S3 content to Amazon S3 Glacier</a:t>
            </a:r>
          </a:p>
          <a:p>
            <a:pPr>
              <a:spcBef>
                <a:spcPts val="600"/>
              </a:spcBef>
            </a:pPr>
            <a:r>
              <a:rPr lang="en-US" sz="2400"/>
              <a:t>Retrieval options – </a:t>
            </a:r>
          </a:p>
          <a:p>
            <a:pPr lvl="1">
              <a:spcBef>
                <a:spcPts val="600"/>
              </a:spcBef>
            </a:pPr>
            <a:r>
              <a:rPr lang="en-US" sz="2000"/>
              <a:t>Standard: 3–5 hours</a:t>
            </a:r>
          </a:p>
          <a:p>
            <a:pPr lvl="1">
              <a:spcBef>
                <a:spcPts val="600"/>
              </a:spcBef>
            </a:pPr>
            <a:r>
              <a:rPr lang="en-US" sz="2000"/>
              <a:t>Bulk: 5–12 hours</a:t>
            </a:r>
          </a:p>
          <a:p>
            <a:pPr lvl="1">
              <a:spcBef>
                <a:spcPts val="600"/>
              </a:spcBef>
            </a:pPr>
            <a:r>
              <a:rPr lang="en-US" sz="2000"/>
              <a:t>Expedited: 1–5 minutes</a:t>
            </a:r>
            <a:endParaRPr lang="en-US" sz="2000" dirty="0"/>
          </a:p>
        </p:txBody>
      </p:sp>
    </p:spTree>
    <p:extLst>
      <p:ext uri="{BB962C8B-B14F-4D97-AF65-F5344CB8AC3E}">
        <p14:creationId xmlns:p14="http://schemas.microsoft.com/office/powerpoint/2010/main" val="880038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90537-9609-0E51-1168-2591B4F528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59A950-5A9C-CA71-7423-D0F64A64F480}"/>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S3 Glacier use cases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4F1DADC3-05AB-3F37-8B8B-244F76092E6B}"/>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ACD07D70-3BCD-F94C-B3FA-133761130074}"/>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5F43972-98FD-C02A-D974-8333FD7BE7F6}"/>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B7BAD817-F0DF-ED38-B427-7CF44034D4E0}"/>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
        <p:nvSpPr>
          <p:cNvPr id="4" name="Rounded Rectangle 13">
            <a:extLst>
              <a:ext uri="{FF2B5EF4-FFF2-40B4-BE49-F238E27FC236}">
                <a16:creationId xmlns:a16="http://schemas.microsoft.com/office/drawing/2014/main" id="{31A68FB1-2F81-30E4-4D93-496504FCD846}"/>
              </a:ext>
              <a:ext uri="{C183D7F6-B498-43B3-948B-1728B52AA6E4}">
                <adec:decorative xmlns:adec="http://schemas.microsoft.com/office/drawing/2017/decorative" val="1"/>
              </a:ext>
            </a:extLst>
          </p:cNvPr>
          <p:cNvSpPr/>
          <p:nvPr/>
        </p:nvSpPr>
        <p:spPr bwMode="auto">
          <a:xfrm>
            <a:off x="2822220" y="1525852"/>
            <a:ext cx="6791971" cy="4422626"/>
          </a:xfrm>
          <a:prstGeom prst="roundRect">
            <a:avLst>
              <a:gd name="adj" fmla="val 13771"/>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8" name="Content Placeholder 2">
            <a:extLst>
              <a:ext uri="{FF2B5EF4-FFF2-40B4-BE49-F238E27FC236}">
                <a16:creationId xmlns:a16="http://schemas.microsoft.com/office/drawing/2014/main" id="{13790917-C417-3A8A-CB19-A78723332E24}"/>
              </a:ext>
            </a:extLst>
          </p:cNvPr>
          <p:cNvSpPr txBox="1">
            <a:spLocks/>
          </p:cNvSpPr>
          <p:nvPr/>
        </p:nvSpPr>
        <p:spPr>
          <a:xfrm>
            <a:off x="4189133" y="1686982"/>
            <a:ext cx="5425058" cy="426149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50000"/>
              </a:lnSpc>
              <a:spcBef>
                <a:spcPts val="1200"/>
              </a:spcBef>
              <a:buFont typeface="Arial"/>
              <a:buNone/>
            </a:pPr>
            <a:r>
              <a:rPr lang="en-US" sz="2400"/>
              <a:t>Media asset archiving</a:t>
            </a:r>
          </a:p>
          <a:p>
            <a:pPr marL="0" indent="0">
              <a:lnSpc>
                <a:spcPct val="150000"/>
              </a:lnSpc>
              <a:spcBef>
                <a:spcPts val="1200"/>
              </a:spcBef>
              <a:buFont typeface="Arial"/>
              <a:buNone/>
            </a:pPr>
            <a:r>
              <a:rPr lang="en-US" sz="2400"/>
              <a:t>Healthcare information archiving</a:t>
            </a:r>
          </a:p>
          <a:p>
            <a:pPr marL="0" indent="0">
              <a:lnSpc>
                <a:spcPct val="150000"/>
              </a:lnSpc>
              <a:spcBef>
                <a:spcPts val="1200"/>
              </a:spcBef>
              <a:buFont typeface="Arial"/>
              <a:buNone/>
            </a:pPr>
            <a:r>
              <a:rPr lang="en-US" sz="2400"/>
              <a:t>Regulatory and compliance archiving</a:t>
            </a:r>
          </a:p>
          <a:p>
            <a:pPr marL="0" indent="0">
              <a:lnSpc>
                <a:spcPct val="150000"/>
              </a:lnSpc>
              <a:spcBef>
                <a:spcPts val="1200"/>
              </a:spcBef>
              <a:buFont typeface="Arial"/>
              <a:buNone/>
            </a:pPr>
            <a:r>
              <a:rPr lang="en-US" sz="2400"/>
              <a:t>Scientific data archiving</a:t>
            </a:r>
          </a:p>
          <a:p>
            <a:pPr marL="0" indent="0">
              <a:lnSpc>
                <a:spcPct val="150000"/>
              </a:lnSpc>
              <a:spcBef>
                <a:spcPts val="1200"/>
              </a:spcBef>
              <a:buFont typeface="Arial"/>
              <a:buNone/>
            </a:pPr>
            <a:r>
              <a:rPr lang="en-US" sz="2400"/>
              <a:t>Digital preservation</a:t>
            </a:r>
          </a:p>
          <a:p>
            <a:pPr marL="0" indent="0">
              <a:lnSpc>
                <a:spcPct val="150000"/>
              </a:lnSpc>
              <a:spcBef>
                <a:spcPts val="1200"/>
              </a:spcBef>
              <a:buFont typeface="Arial"/>
              <a:buNone/>
            </a:pPr>
            <a:r>
              <a:rPr lang="en-US" sz="2400"/>
              <a:t>Magnetic tape replacement</a:t>
            </a:r>
          </a:p>
        </p:txBody>
      </p:sp>
      <p:pic>
        <p:nvPicPr>
          <p:cNvPr id="9" name="Picture 8">
            <a:extLst>
              <a:ext uri="{FF2B5EF4-FFF2-40B4-BE49-F238E27FC236}">
                <a16:creationId xmlns:a16="http://schemas.microsoft.com/office/drawing/2014/main" id="{52F55BBB-9787-50D5-EA9E-389FFCFFEC58}"/>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3374345" y="1725331"/>
            <a:ext cx="782422" cy="778694"/>
          </a:xfrm>
          <a:prstGeom prst="rect">
            <a:avLst/>
          </a:prstGeom>
        </p:spPr>
      </p:pic>
      <p:pic>
        <p:nvPicPr>
          <p:cNvPr id="10" name="Picture 9">
            <a:extLst>
              <a:ext uri="{FF2B5EF4-FFF2-40B4-BE49-F238E27FC236}">
                <a16:creationId xmlns:a16="http://schemas.microsoft.com/office/drawing/2014/main" id="{06B9C412-A7CD-E94F-62E5-A5BCBC036375}"/>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474151" y="2519799"/>
            <a:ext cx="582810" cy="582810"/>
          </a:xfrm>
          <a:prstGeom prst="rect">
            <a:avLst/>
          </a:prstGeom>
        </p:spPr>
      </p:pic>
      <p:pic>
        <p:nvPicPr>
          <p:cNvPr id="11" name="Picture 10">
            <a:extLst>
              <a:ext uri="{FF2B5EF4-FFF2-40B4-BE49-F238E27FC236}">
                <a16:creationId xmlns:a16="http://schemas.microsoft.com/office/drawing/2014/main" id="{91F40E9B-8024-E5AC-39A4-B3FB17B22A50}"/>
              </a:ext>
              <a:ext uri="{C183D7F6-B498-43B3-948B-1728B52AA6E4}">
                <adec:decorative xmlns:adec="http://schemas.microsoft.com/office/drawing/2017/decorative" val="1"/>
              </a:ext>
            </a:extLst>
          </p:cNvPr>
          <p:cNvPicPr>
            <a:picLocks noChangeAspect="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452743" y="3131702"/>
            <a:ext cx="625626" cy="622646"/>
          </a:xfrm>
          <a:prstGeom prst="rect">
            <a:avLst/>
          </a:prstGeom>
        </p:spPr>
      </p:pic>
      <p:pic>
        <p:nvPicPr>
          <p:cNvPr id="12" name="Picture 11">
            <a:extLst>
              <a:ext uri="{FF2B5EF4-FFF2-40B4-BE49-F238E27FC236}">
                <a16:creationId xmlns:a16="http://schemas.microsoft.com/office/drawing/2014/main" id="{61383C51-D16D-BF6B-3317-86BA35B4643B}"/>
              </a:ext>
              <a:ext uri="{C183D7F6-B498-43B3-948B-1728B52AA6E4}">
                <adec:decorative xmlns:adec="http://schemas.microsoft.com/office/drawing/2017/decorative" val="1"/>
              </a:ext>
            </a:extLst>
          </p:cNvPr>
          <p:cNvPicPr>
            <a:picLocks noChangeAspect="1"/>
          </p:cNvPicPr>
          <p:nvPr/>
        </p:nvPicPr>
        <p:blipFill>
          <a:blip r:embed="rId6">
            <a:duotone>
              <a:prstClr val="black"/>
              <a:schemeClr val="accent2">
                <a:tint val="45000"/>
                <a:satMod val="400000"/>
              </a:schemeClr>
            </a:duotone>
          </a:blip>
          <a:stretch>
            <a:fillRect/>
          </a:stretch>
        </p:blipFill>
        <p:spPr>
          <a:xfrm>
            <a:off x="3363387" y="3845194"/>
            <a:ext cx="804338" cy="804338"/>
          </a:xfrm>
          <a:prstGeom prst="rect">
            <a:avLst/>
          </a:prstGeom>
        </p:spPr>
      </p:pic>
      <p:pic>
        <p:nvPicPr>
          <p:cNvPr id="13" name="Picture 12">
            <a:extLst>
              <a:ext uri="{FF2B5EF4-FFF2-40B4-BE49-F238E27FC236}">
                <a16:creationId xmlns:a16="http://schemas.microsoft.com/office/drawing/2014/main" id="{01F175B5-D3F3-A6D5-B0F5-2ABA4508C30C}"/>
              </a:ext>
              <a:ext uri="{C183D7F6-B498-43B3-948B-1728B52AA6E4}">
                <adec:decorative xmlns:adec="http://schemas.microsoft.com/office/drawing/2017/decorative" val="1"/>
              </a:ext>
            </a:extLst>
          </p:cNvPr>
          <p:cNvPicPr>
            <a:picLocks noChangeAspect="1"/>
          </p:cNvPicPr>
          <p:nvPr/>
        </p:nvPicPr>
        <p:blipFill>
          <a:blip r:embed="rId7">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474151" y="4649532"/>
            <a:ext cx="682616" cy="682616"/>
          </a:xfrm>
          <a:prstGeom prst="rect">
            <a:avLst/>
          </a:prstGeom>
        </p:spPr>
      </p:pic>
      <p:pic>
        <p:nvPicPr>
          <p:cNvPr id="14" name="Picture 13">
            <a:extLst>
              <a:ext uri="{FF2B5EF4-FFF2-40B4-BE49-F238E27FC236}">
                <a16:creationId xmlns:a16="http://schemas.microsoft.com/office/drawing/2014/main" id="{895C5BF9-32F0-9ED6-C1BA-D555B395EA55}"/>
              </a:ext>
              <a:ext uri="{C183D7F6-B498-43B3-948B-1728B52AA6E4}">
                <adec:decorative xmlns:adec="http://schemas.microsoft.com/office/drawing/2017/decorative" val="1"/>
              </a:ext>
            </a:extLst>
          </p:cNvPr>
          <p:cNvPicPr>
            <a:picLocks noChangeAspect="1"/>
          </p:cNvPicPr>
          <p:nvPr/>
        </p:nvPicPr>
        <p:blipFill>
          <a:blip r:embed="rId8">
            <a:duotone>
              <a:schemeClr val="accent6">
                <a:shade val="45000"/>
                <a:satMod val="135000"/>
              </a:schemeClr>
              <a:prstClr val="white"/>
            </a:duotone>
          </a:blip>
          <a:stretch>
            <a:fillRect/>
          </a:stretch>
        </p:blipFill>
        <p:spPr>
          <a:xfrm>
            <a:off x="3385303" y="5361826"/>
            <a:ext cx="782422" cy="401642"/>
          </a:xfrm>
          <a:prstGeom prst="rect">
            <a:avLst/>
          </a:prstGeom>
        </p:spPr>
      </p:pic>
    </p:spTree>
    <p:extLst>
      <p:ext uri="{BB962C8B-B14F-4D97-AF65-F5344CB8AC3E}">
        <p14:creationId xmlns:p14="http://schemas.microsoft.com/office/powerpoint/2010/main" val="3880017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AF0F-CD46-B493-4192-8BD57D837A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9AAD29-4889-7BD0-4F45-B99A0B5D8322}"/>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Lifecycle policies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265414AC-628B-EEFF-6F7B-DD4F4255E94F}"/>
              </a:ext>
            </a:extLst>
          </p:cNvPr>
          <p:cNvSpPr/>
          <p:nvPr/>
        </p:nvSpPr>
        <p:spPr>
          <a:xfrm>
            <a:off x="658368" y="933314"/>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3BF9208-B678-5DE9-E99C-D94AA80FFDFF}"/>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2D042EB-540A-0244-4E2F-BEE99B86737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24C9587-EBCB-66D1-BF29-B5E3C160AD53}"/>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
        <p:nvSpPr>
          <p:cNvPr id="8" name="Content Placeholder 2">
            <a:extLst>
              <a:ext uri="{FF2B5EF4-FFF2-40B4-BE49-F238E27FC236}">
                <a16:creationId xmlns:a16="http://schemas.microsoft.com/office/drawing/2014/main" id="{9C8FDED0-613D-24EC-EF77-D43840D87E79}"/>
              </a:ext>
            </a:extLst>
          </p:cNvPr>
          <p:cNvSpPr txBox="1">
            <a:spLocks/>
          </p:cNvSpPr>
          <p:nvPr/>
        </p:nvSpPr>
        <p:spPr>
          <a:xfrm>
            <a:off x="365760" y="1367565"/>
            <a:ext cx="11587890"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Amazon</a:t>
            </a:r>
            <a:r>
              <a:rPr lang="en-US">
                <a:solidFill>
                  <a:srgbClr val="504BAB"/>
                </a:solidFill>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S3</a:t>
            </a:r>
            <a:r>
              <a:rPr lang="en-US">
                <a:solidFill>
                  <a:srgbClr val="504BAB"/>
                </a:solidFill>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lifecycle</a:t>
            </a:r>
            <a:r>
              <a:rPr lang="en-US">
                <a:solidFill>
                  <a:srgbClr val="504BAB"/>
                </a:solidFill>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policies</a:t>
            </a:r>
            <a:r>
              <a:rPr lang="en-US">
                <a:solidFill>
                  <a:srgbClr val="504BAB"/>
                </a:solidFill>
              </a:rPr>
              <a:t> </a:t>
            </a:r>
            <a:r>
              <a:rPr lang="en-US"/>
              <a:t>enable you to delete or move objects based on age.</a:t>
            </a:r>
            <a:endParaRPr lang="en-US" dirty="0"/>
          </a:p>
        </p:txBody>
      </p:sp>
      <p:sp>
        <p:nvSpPr>
          <p:cNvPr id="9" name="TextBox 52">
            <a:extLst>
              <a:ext uri="{FF2B5EF4-FFF2-40B4-BE49-F238E27FC236}">
                <a16:creationId xmlns:a16="http://schemas.microsoft.com/office/drawing/2014/main" id="{64DA00B0-B6AF-55EE-E4F6-7E3019140AC5}"/>
              </a:ext>
              <a:ext uri="{C183D7F6-B498-43B3-948B-1728B52AA6E4}">
                <adec:decorative xmlns:adec="http://schemas.microsoft.com/office/drawing/2017/decorative" val="0"/>
              </a:ext>
            </a:extLst>
          </p:cNvPr>
          <p:cNvSpPr txBox="1">
            <a:spLocks noChangeArrowheads="1"/>
          </p:cNvSpPr>
          <p:nvPr/>
        </p:nvSpPr>
        <p:spPr bwMode="auto">
          <a:xfrm>
            <a:off x="945393" y="3057408"/>
            <a:ext cx="1683056" cy="2975293"/>
          </a:xfrm>
          <a:prstGeom prst="roundRect">
            <a:avLst/>
          </a:prstGeom>
          <a:noFill/>
          <a:ln w="28575">
            <a:solidFill>
              <a:schemeClr val="accent2"/>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Amazon S3 Standard</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0" name="Picture 9">
            <a:extLst>
              <a:ext uri="{FF2B5EF4-FFF2-40B4-BE49-F238E27FC236}">
                <a16:creationId xmlns:a16="http://schemas.microsoft.com/office/drawing/2014/main" id="{732B4842-1225-EB8F-C4B4-E25934A9B1C2}"/>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02236" y="4238005"/>
            <a:ext cx="1192895" cy="1192895"/>
          </a:xfrm>
          <a:prstGeom prst="rect">
            <a:avLst/>
          </a:prstGeom>
        </p:spPr>
      </p:pic>
      <p:grpSp>
        <p:nvGrpSpPr>
          <p:cNvPr id="11" name="Group 10" descr="30 days arrow pointing to next text box.">
            <a:extLst>
              <a:ext uri="{FF2B5EF4-FFF2-40B4-BE49-F238E27FC236}">
                <a16:creationId xmlns:a16="http://schemas.microsoft.com/office/drawing/2014/main" id="{289443BE-6666-A970-26C0-264EB4E7C46F}"/>
              </a:ext>
              <a:ext uri="{C183D7F6-B498-43B3-948B-1728B52AA6E4}">
                <adec:decorative xmlns:adec="http://schemas.microsoft.com/office/drawing/2017/decorative" val="0"/>
              </a:ext>
            </a:extLst>
          </p:cNvPr>
          <p:cNvGrpSpPr/>
          <p:nvPr/>
        </p:nvGrpSpPr>
        <p:grpSpPr>
          <a:xfrm>
            <a:off x="2463538" y="4381223"/>
            <a:ext cx="1626109" cy="901172"/>
            <a:chOff x="1847653" y="2965826"/>
            <a:chExt cx="1219582" cy="675879"/>
          </a:xfrm>
          <a:solidFill>
            <a:schemeClr val="accent2"/>
          </a:solidFill>
        </p:grpSpPr>
        <p:sp>
          <p:nvSpPr>
            <p:cNvPr id="12" name="Right Arrow 35">
              <a:extLst>
                <a:ext uri="{FF2B5EF4-FFF2-40B4-BE49-F238E27FC236}">
                  <a16:creationId xmlns:a16="http://schemas.microsoft.com/office/drawing/2014/main" id="{348847B7-130E-38BC-3093-FA922EC0F739}"/>
                </a:ext>
              </a:extLst>
            </p:cNvPr>
            <p:cNvSpPr/>
            <p:nvPr/>
          </p:nvSpPr>
          <p:spPr>
            <a:xfrm>
              <a:off x="1847653" y="2965826"/>
              <a:ext cx="1219582" cy="675879"/>
            </a:xfrm>
            <a:prstGeom prst="rightArrow">
              <a:avLst/>
            </a:prstGeom>
            <a:grp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TextBox 9">
              <a:extLst>
                <a:ext uri="{FF2B5EF4-FFF2-40B4-BE49-F238E27FC236}">
                  <a16:creationId xmlns:a16="http://schemas.microsoft.com/office/drawing/2014/main" id="{4B93CEFF-F163-0C35-50C0-BA8BCB8B6644}"/>
                </a:ext>
              </a:extLst>
            </p:cNvPr>
            <p:cNvSpPr txBox="1"/>
            <p:nvPr/>
          </p:nvSpPr>
          <p:spPr>
            <a:xfrm>
              <a:off x="2069628" y="3166605"/>
              <a:ext cx="640080" cy="274320"/>
            </a:xfrm>
            <a:prstGeom prst="rect">
              <a:avLst/>
            </a:prstGeom>
            <a:grpFill/>
            <a:ln>
              <a:solidFill>
                <a:schemeClr val="accent2"/>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30 days</a:t>
              </a:r>
            </a:p>
          </p:txBody>
        </p:sp>
      </p:grpSp>
      <p:sp>
        <p:nvSpPr>
          <p:cNvPr id="14" name="TextBox 52">
            <a:extLst>
              <a:ext uri="{FF2B5EF4-FFF2-40B4-BE49-F238E27FC236}">
                <a16:creationId xmlns:a16="http://schemas.microsoft.com/office/drawing/2014/main" id="{BB66EB8B-78E3-ACC7-5560-9EBEDC773AD7}"/>
              </a:ext>
              <a:ext uri="{C183D7F6-B498-43B3-948B-1728B52AA6E4}">
                <adec:decorative xmlns:adec="http://schemas.microsoft.com/office/drawing/2017/decorative" val="0"/>
              </a:ext>
            </a:extLst>
          </p:cNvPr>
          <p:cNvSpPr txBox="1">
            <a:spLocks noChangeArrowheads="1"/>
          </p:cNvSpPr>
          <p:nvPr/>
        </p:nvSpPr>
        <p:spPr bwMode="auto">
          <a:xfrm>
            <a:off x="3849218" y="3057408"/>
            <a:ext cx="1683056" cy="2975293"/>
          </a:xfrm>
          <a:prstGeom prst="roundRect">
            <a:avLst/>
          </a:prstGeom>
          <a:noFill/>
          <a:ln w="28575">
            <a:solidFill>
              <a:schemeClr val="accent2">
                <a:lumMod val="60000"/>
                <a:lumOff val="40000"/>
              </a:schemeClr>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Amazon S3 Standard - Infrequent Access</a:t>
            </a:r>
          </a:p>
        </p:txBody>
      </p:sp>
      <p:pic>
        <p:nvPicPr>
          <p:cNvPr id="15" name="Picture 14">
            <a:extLst>
              <a:ext uri="{FF2B5EF4-FFF2-40B4-BE49-F238E27FC236}">
                <a16:creationId xmlns:a16="http://schemas.microsoft.com/office/drawing/2014/main" id="{537ADC01-8B27-D70A-21E1-30ECD885B56D}"/>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9647" y="4238005"/>
            <a:ext cx="1192895" cy="1192895"/>
          </a:xfrm>
          <a:prstGeom prst="rect">
            <a:avLst/>
          </a:prstGeom>
        </p:spPr>
      </p:pic>
      <p:grpSp>
        <p:nvGrpSpPr>
          <p:cNvPr id="16" name="Group 15" descr="60 days arrow pointing to the next text box.">
            <a:extLst>
              <a:ext uri="{FF2B5EF4-FFF2-40B4-BE49-F238E27FC236}">
                <a16:creationId xmlns:a16="http://schemas.microsoft.com/office/drawing/2014/main" id="{7B4BFE70-5182-32C8-C748-A64E856A0272}"/>
              </a:ext>
              <a:ext uri="{C183D7F6-B498-43B3-948B-1728B52AA6E4}">
                <adec:decorative xmlns:adec="http://schemas.microsoft.com/office/drawing/2017/decorative" val="0"/>
              </a:ext>
            </a:extLst>
          </p:cNvPr>
          <p:cNvGrpSpPr/>
          <p:nvPr/>
        </p:nvGrpSpPr>
        <p:grpSpPr>
          <a:xfrm>
            <a:off x="5340079" y="4388970"/>
            <a:ext cx="1626109" cy="901172"/>
            <a:chOff x="4012123" y="2971636"/>
            <a:chExt cx="1219582" cy="675879"/>
          </a:xfrm>
          <a:solidFill>
            <a:schemeClr val="accent2">
              <a:lumMod val="60000"/>
              <a:lumOff val="40000"/>
            </a:schemeClr>
          </a:solidFill>
        </p:grpSpPr>
        <p:sp>
          <p:nvSpPr>
            <p:cNvPr id="17" name="Right Arrow 71">
              <a:extLst>
                <a:ext uri="{FF2B5EF4-FFF2-40B4-BE49-F238E27FC236}">
                  <a16:creationId xmlns:a16="http://schemas.microsoft.com/office/drawing/2014/main" id="{275B042F-265F-3C68-7FCB-0DF82A085FE1}"/>
                </a:ext>
              </a:extLst>
            </p:cNvPr>
            <p:cNvSpPr/>
            <p:nvPr/>
          </p:nvSpPr>
          <p:spPr>
            <a:xfrm>
              <a:off x="4012123" y="2971636"/>
              <a:ext cx="1219582" cy="675879"/>
            </a:xfrm>
            <a:prstGeom prst="rightArrow">
              <a:avLst/>
            </a:prstGeom>
            <a:grp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8" name="TextBox 9">
              <a:extLst>
                <a:ext uri="{FF2B5EF4-FFF2-40B4-BE49-F238E27FC236}">
                  <a16:creationId xmlns:a16="http://schemas.microsoft.com/office/drawing/2014/main" id="{35A36B9C-7FD9-18C5-0FF4-A70959FFEF12}"/>
                </a:ext>
              </a:extLst>
            </p:cNvPr>
            <p:cNvSpPr txBox="1"/>
            <p:nvPr/>
          </p:nvSpPr>
          <p:spPr>
            <a:xfrm>
              <a:off x="4218674" y="3169549"/>
              <a:ext cx="640080" cy="274320"/>
            </a:xfrm>
            <a:prstGeom prst="rect">
              <a:avLst/>
            </a:prstGeom>
            <a:grpFill/>
            <a:ln>
              <a:solidFill>
                <a:schemeClr val="accent2">
                  <a:lumMod val="60000"/>
                  <a:lumOff val="4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60 days</a:t>
              </a:r>
            </a:p>
          </p:txBody>
        </p:sp>
      </p:grpSp>
      <p:sp>
        <p:nvSpPr>
          <p:cNvPr id="19" name="TextBox 52">
            <a:extLst>
              <a:ext uri="{FF2B5EF4-FFF2-40B4-BE49-F238E27FC236}">
                <a16:creationId xmlns:a16="http://schemas.microsoft.com/office/drawing/2014/main" id="{C0038D78-51B0-ECA7-3505-F3BAA59B5300}"/>
              </a:ext>
              <a:ext uri="{C183D7F6-B498-43B3-948B-1728B52AA6E4}">
                <adec:decorative xmlns:adec="http://schemas.microsoft.com/office/drawing/2017/decorative" val="0"/>
              </a:ext>
            </a:extLst>
          </p:cNvPr>
          <p:cNvSpPr txBox="1">
            <a:spLocks noChangeArrowheads="1"/>
          </p:cNvSpPr>
          <p:nvPr/>
        </p:nvSpPr>
        <p:spPr bwMode="auto">
          <a:xfrm>
            <a:off x="6664597" y="3057408"/>
            <a:ext cx="1683056" cy="2975293"/>
          </a:xfrm>
          <a:prstGeom prst="roundRect">
            <a:avLst/>
          </a:prstGeom>
          <a:noFill/>
          <a:ln w="28575">
            <a:solidFill>
              <a:schemeClr val="accent2">
                <a:lumMod val="20000"/>
                <a:lumOff val="80000"/>
              </a:schemeClr>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Amazon </a:t>
            </a:r>
          </a:p>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S3 Glacier</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0" name="Picture 19">
            <a:extLst>
              <a:ext uri="{FF2B5EF4-FFF2-40B4-BE49-F238E27FC236}">
                <a16:creationId xmlns:a16="http://schemas.microsoft.com/office/drawing/2014/main" id="{119CB62E-479A-9433-98C9-9845BE43A4E0}"/>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75607" y="4235363"/>
            <a:ext cx="1192895" cy="1192895"/>
          </a:xfrm>
          <a:prstGeom prst="rect">
            <a:avLst/>
          </a:prstGeom>
        </p:spPr>
      </p:pic>
      <p:grpSp>
        <p:nvGrpSpPr>
          <p:cNvPr id="21" name="Group 20" descr="365 day arrow pointing at a trash can.">
            <a:extLst>
              <a:ext uri="{FF2B5EF4-FFF2-40B4-BE49-F238E27FC236}">
                <a16:creationId xmlns:a16="http://schemas.microsoft.com/office/drawing/2014/main" id="{4D040CB2-7951-E0DE-DFB0-4EAFFA6CF7DC}"/>
              </a:ext>
              <a:ext uri="{C183D7F6-B498-43B3-948B-1728B52AA6E4}">
                <adec:decorative xmlns:adec="http://schemas.microsoft.com/office/drawing/2017/decorative" val="0"/>
              </a:ext>
            </a:extLst>
          </p:cNvPr>
          <p:cNvGrpSpPr/>
          <p:nvPr/>
        </p:nvGrpSpPr>
        <p:grpSpPr>
          <a:xfrm>
            <a:off x="8187340" y="4388970"/>
            <a:ext cx="1626109" cy="901172"/>
            <a:chOff x="6160441" y="2971635"/>
            <a:chExt cx="1219582" cy="675879"/>
          </a:xfrm>
          <a:solidFill>
            <a:schemeClr val="accent2">
              <a:lumMod val="20000"/>
              <a:lumOff val="80000"/>
            </a:schemeClr>
          </a:solidFill>
        </p:grpSpPr>
        <p:sp>
          <p:nvSpPr>
            <p:cNvPr id="22" name="Right Arrow 74">
              <a:extLst>
                <a:ext uri="{FF2B5EF4-FFF2-40B4-BE49-F238E27FC236}">
                  <a16:creationId xmlns:a16="http://schemas.microsoft.com/office/drawing/2014/main" id="{714A23CA-A7ED-5112-EF93-88F92FFCEB38}"/>
                </a:ext>
              </a:extLst>
            </p:cNvPr>
            <p:cNvSpPr/>
            <p:nvPr/>
          </p:nvSpPr>
          <p:spPr>
            <a:xfrm>
              <a:off x="6160441" y="2971635"/>
              <a:ext cx="1219582" cy="675879"/>
            </a:xfrm>
            <a:prstGeom prst="rightArrow">
              <a:avLst/>
            </a:prstGeom>
            <a:grpFill/>
            <a:ln>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3" name="TextBox 9">
              <a:extLst>
                <a:ext uri="{FF2B5EF4-FFF2-40B4-BE49-F238E27FC236}">
                  <a16:creationId xmlns:a16="http://schemas.microsoft.com/office/drawing/2014/main" id="{93DAE9B3-7034-2B32-0EDF-255C42DA980E}"/>
                </a:ext>
              </a:extLst>
            </p:cNvPr>
            <p:cNvSpPr txBox="1"/>
            <p:nvPr/>
          </p:nvSpPr>
          <p:spPr>
            <a:xfrm>
              <a:off x="6376138" y="3162134"/>
              <a:ext cx="640080" cy="274320"/>
            </a:xfrm>
            <a:prstGeom prst="rect">
              <a:avLst/>
            </a:prstGeom>
            <a:grpFill/>
            <a:ln>
              <a:solidFill>
                <a:schemeClr val="accent2">
                  <a:lumMod val="20000"/>
                  <a:lumOff val="8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latin typeface="Amazon Ember Light" panose="020B0403020204020204" pitchFamily="34" charset="0"/>
                  <a:ea typeface="Amazon Ember Light" panose="020B0403020204020204" pitchFamily="34" charset="0"/>
                  <a:cs typeface="Amazon Ember Light" panose="020B0403020204020204" pitchFamily="34" charset="0"/>
                </a:rPr>
                <a:t>365 days</a:t>
              </a:r>
            </a:p>
          </p:txBody>
        </p:sp>
      </p:grpSp>
      <p:grpSp>
        <p:nvGrpSpPr>
          <p:cNvPr id="24" name="Group 23" descr="Delete.">
            <a:extLst>
              <a:ext uri="{FF2B5EF4-FFF2-40B4-BE49-F238E27FC236}">
                <a16:creationId xmlns:a16="http://schemas.microsoft.com/office/drawing/2014/main" id="{08EC090F-0790-F872-DE7D-A590538ECD32}"/>
              </a:ext>
              <a:ext uri="{C183D7F6-B498-43B3-948B-1728B52AA6E4}">
                <adec:decorative xmlns:adec="http://schemas.microsoft.com/office/drawing/2017/decorative" val="0"/>
              </a:ext>
            </a:extLst>
          </p:cNvPr>
          <p:cNvGrpSpPr/>
          <p:nvPr/>
        </p:nvGrpSpPr>
        <p:grpSpPr>
          <a:xfrm>
            <a:off x="9531768" y="3078701"/>
            <a:ext cx="1551200" cy="2690475"/>
            <a:chOff x="7148826" y="1800395"/>
            <a:chExt cx="1163400" cy="2017856"/>
          </a:xfrm>
        </p:grpSpPr>
        <p:pic>
          <p:nvPicPr>
            <p:cNvPr id="25" name="Picture 2" descr="Trash can.">
              <a:extLst>
                <a:ext uri="{FF2B5EF4-FFF2-40B4-BE49-F238E27FC236}">
                  <a16:creationId xmlns:a16="http://schemas.microsoft.com/office/drawing/2014/main" id="{4580AE42-DD3B-77BF-66A7-63261DD3E1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8664" y="2793242"/>
              <a:ext cx="983724" cy="1025009"/>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52">
              <a:extLst>
                <a:ext uri="{FF2B5EF4-FFF2-40B4-BE49-F238E27FC236}">
                  <a16:creationId xmlns:a16="http://schemas.microsoft.com/office/drawing/2014/main" id="{6C024CC3-7244-B731-B2F8-B0357C6C33B6}"/>
                </a:ext>
              </a:extLst>
            </p:cNvPr>
            <p:cNvSpPr txBox="1">
              <a:spLocks noChangeArrowheads="1"/>
            </p:cNvSpPr>
            <p:nvPr/>
          </p:nvSpPr>
          <p:spPr bwMode="auto">
            <a:xfrm>
              <a:off x="7148826" y="1800395"/>
              <a:ext cx="1163400" cy="1846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Delete</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grpSp>
    </p:spTree>
    <p:extLst>
      <p:ext uri="{BB962C8B-B14F-4D97-AF65-F5344CB8AC3E}">
        <p14:creationId xmlns:p14="http://schemas.microsoft.com/office/powerpoint/2010/main" val="1064313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storage you'll build</a:t>
            </a:r>
          </a:p>
          <a:p>
            <a:pPr>
              <a:spcBef>
                <a:spcPts val="200"/>
              </a:spcBef>
            </a:pPr>
            <a:r>
              <a:rPr sz="1800" b="0" i="1">
                <a:solidFill>
                  <a:srgbClr val="D68E10"/>
                </a:solidFill>
                <a:latin typeface="Roboto Light"/>
              </a:rPr>
              <a:t>the supplied design</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Documents bucket — scanned invoices / POs / supporting docs; lifecycle to Glacier for the 7-year hold.</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Backups bucket — off-instance SQL backup exports and file snapshots.</a:t>
            </a:r>
          </a:p>
          <a:p>
            <a:pPr marL="0" indent="0">
              <a:lnSpc>
                <a:spcPct val="105000"/>
              </a:lnSpc>
              <a:spcBef>
                <a:spcPts val="0"/>
              </a:spcBef>
              <a:spcAft>
                <a:spcPts val="1000"/>
              </a:spcAft>
            </a:pPr>
            <a:r>
              <a:rPr sz="1800" b="1" i="0">
                <a:solidFill>
                  <a:srgbClr val="27B5CE"/>
                </a:solidFill>
                <a:latin typeface="Roboto"/>
              </a:rPr>
              <a:t>■  Both buckets: block all public access; SSE(-KMS) encryption; versioning on; access logging.</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Object Lock considered for the financial-records hold.</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2331720" cy="457200"/>
          </a:xfrm>
          <a:prstGeom prst="round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2A2929"/>
                </a:solidFill>
                <a:latin typeface="Roboto"/>
              </a:rPr>
              <a:t>RECORDED DEMO</a:t>
            </a:r>
          </a:p>
        </p:txBody>
      </p:sp>
      <p:sp>
        <p:nvSpPr>
          <p:cNvPr id="4" name="TextBox 3"/>
          <p:cNvSpPr txBox="1"/>
          <p:nvPr/>
        </p:nvSpPr>
        <p:spPr>
          <a:xfrm>
            <a:off x="3200400" y="310896"/>
            <a:ext cx="8321040" cy="685800"/>
          </a:xfrm>
          <a:prstGeom prst="rect">
            <a:avLst/>
          </a:prstGeom>
          <a:noFill/>
        </p:spPr>
        <p:txBody>
          <a:bodyPr wrap="square" lIns="0" tIns="0" rIns="0" bIns="0" anchor="ctr">
            <a:spAutoFit/>
          </a:bodyPr>
          <a:lstStyle/>
          <a:p>
            <a:r>
              <a:rPr sz="2500" b="1" i="0">
                <a:solidFill>
                  <a:srgbClr val="FFFFFF"/>
                </a:solidFill>
                <a:latin typeface="Roboto"/>
              </a:rPr>
              <a:t>S3 buckets, versioning &amp; lifecycle</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Create a bucket; block public access; enable encryption and versioning.</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Add a lifecycle rule to transition objects to Glacier after an age threshold.</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(Glacier is the archive tier the lifecycle rule targets.)</a:t>
            </a:r>
          </a:p>
        </p:txBody>
      </p:sp>
      <p:sp>
        <p:nvSpPr>
          <p:cNvPr id="6" name="Rounded Rectangle 5"/>
          <p:cNvSpPr/>
          <p:nvPr/>
        </p:nvSpPr>
        <p:spPr>
          <a:xfrm>
            <a:off x="640080" y="5897880"/>
            <a:ext cx="786384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7498080" cy="365760"/>
          </a:xfrm>
          <a:prstGeom prst="rect">
            <a:avLst/>
          </a:prstGeom>
          <a:noFill/>
        </p:spPr>
        <p:txBody>
          <a:bodyPr wrap="square" lIns="0" tIns="0" rIns="0" bIns="0" anchor="ctr">
            <a:spAutoFit/>
          </a:bodyPr>
          <a:lstStyle/>
          <a:p>
            <a:r>
              <a:rPr sz="1400" b="1" i="0">
                <a:solidFill>
                  <a:srgbClr val="2A2929"/>
                </a:solidFill>
                <a:latin typeface="Roboto"/>
              </a:rPr>
              <a:t>▶  Play the AWS recorded demo (ACA M04 · S3 lifecycle (S36) + versioning (S43) · ACF M07 S35/S55) — you do this next</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Create the buckets per the design</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In the lab, per the design, create the storage:</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the Documents bucket and the Backups bucket</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block public access; enable SSE encryption + versioning + access logging</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add the lifecycle rule transitioning Documents objects to Glacier (7-year retention)</a:t>
            </a:r>
          </a:p>
          <a:p>
            <a:pPr marL="0" indent="0">
              <a:lnSpc>
                <a:spcPct val="105000"/>
              </a:lnSpc>
              <a:spcBef>
                <a:spcPts val="0"/>
              </a:spcBef>
              <a:spcAft>
                <a:spcPts val="1000"/>
              </a:spcAft>
            </a:pPr>
            <a:r>
              <a:rPr sz="1700" b="1" i="0">
                <a:solidFill>
                  <a:srgbClr val="27B5CE"/>
                </a:solidFill>
                <a:latin typeface="Roboto"/>
              </a:rPr>
              <a:t>■  Capture evidence — bucket settings, encryption, versioning, the lifecycle rule.</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~15 min</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27B5CE"/>
                </a:solidFill>
                <a:latin typeface="Roboto"/>
              </a:rPr>
              <a:t>Section 2 · Object &amp; archive storage</a:t>
            </a:r>
          </a:p>
        </p:txBody>
      </p:sp>
      <p:sp>
        <p:nvSpPr>
          <p:cNvPr id="3" name="Rectangle 2"/>
          <p:cNvSpPr/>
          <p:nvPr/>
        </p:nvSpPr>
        <p:spPr>
          <a:xfrm>
            <a:off x="658368" y="16002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S3 is durable object storage in buckets; block public access, encrypt, version.</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Lifecycle rules move objects to Glacier to meet long retention cheaply.</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Object Lock enforces write-once retention for financial records.</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Build the buckets to the design and evidence the settings.</a:t>
            </a:r>
          </a:p>
        </p:txBody>
      </p:sp>
      <p:sp>
        <p:nvSpPr>
          <p:cNvPr id="16" name="Rectangle 15"/>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EDAB0C"/>
                </a:solidFill>
                <a:latin typeface="Roboto"/>
              </a:rPr>
              <a:t>Topic 8 · Key takeaways</a:t>
            </a:r>
          </a:p>
        </p:txBody>
      </p:sp>
      <p:sp>
        <p:nvSpPr>
          <p:cNvPr id="3" name="Rectangle 2"/>
          <p:cNvSpPr/>
          <p:nvPr/>
        </p:nvSpPr>
        <p:spPr>
          <a:xfrm>
            <a:off x="658368" y="16002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The whole workload tier now lives in the Topic 7 network: compute, elasticity, database, storage.</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EC2 + EBS run the app; the ALB + ASG make it scale and self-heal.</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RDS gives a managed database; S3 + Glacier give durable object &amp; archive storage.</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Everything is built to the supplied design, tested, and evidenced.</a:t>
            </a:r>
          </a:p>
        </p:txBody>
      </p:sp>
      <p:sp>
        <p:nvSpPr>
          <p:cNvPr id="16" name="Rectangle 15"/>
          <p:cNvSpPr/>
          <p:nvPr/>
        </p:nvSpPr>
        <p:spPr>
          <a:xfrm>
            <a:off x="640080" y="5769864"/>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5769864"/>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5769864"/>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Single-AZ baseline throughout — high availability is the AT3 story.</a:t>
            </a:r>
          </a:p>
        </p:txBody>
      </p:sp>
      <p:sp>
        <p:nvSpPr>
          <p:cNvPr id="19" name="Rectangle 18"/>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21" name="TextBox 20"/>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463040"/>
            <a:ext cx="10515600" cy="4023360"/>
          </a:xfrm>
          <a:prstGeom prst="rect">
            <a:avLst/>
          </a:prstGeom>
          <a:noFill/>
        </p:spPr>
        <p:txBody>
          <a:bodyPr wrap="square" lIns="0" tIns="0" rIns="0" bIns="0" anchor="t">
            <a:spAutoFit/>
          </a:bodyPr>
          <a:lstStyle/>
          <a:p>
            <a:r>
              <a:rPr sz="4000" b="1" i="0">
                <a:solidFill>
                  <a:srgbClr val="FFFFFF"/>
                </a:solidFill>
                <a:latin typeface="Roboto"/>
              </a:rPr>
              <a:t>Next: Topic 9 — operability &amp; justification</a:t>
            </a:r>
          </a:p>
          <a:p>
            <a:pPr>
              <a:lnSpc>
                <a:spcPct val="105000"/>
              </a:lnSpc>
              <a:spcBef>
                <a:spcPts val="1200"/>
              </a:spcBef>
            </a:pPr>
            <a:r>
              <a:rPr sz="1900" b="0" i="0">
                <a:solidFill>
                  <a:srgbClr val="E8E8E8"/>
                </a:solidFill>
                <a:latin typeface="Roboto Light"/>
              </a:rPr>
              <a:t>Monitoring the build with CloudWatch, validating it works, and justifying the configuration decisions against the workload.</a:t>
            </a:r>
          </a:p>
          <a:p>
            <a:pPr>
              <a:lnSpc>
                <a:spcPct val="105000"/>
              </a:lnSpc>
              <a:spcBef>
                <a:spcPts val="1200"/>
              </a:spcBef>
            </a:pPr>
            <a:r>
              <a:rPr sz="1900" b="0" i="0">
                <a:solidFill>
                  <a:srgbClr val="E8E8E8"/>
                </a:solidFill>
                <a:latin typeface="Roboto Light"/>
              </a:rPr>
              <a:t>Bring your evidence log — Topic 10 turns it into the Deployment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6329</Words>
  <Application>Microsoft Office PowerPoint</Application>
  <PresentationFormat>Widescreen</PresentationFormat>
  <Paragraphs>520</Paragraphs>
  <Slides>33</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Amazon Ember</vt:lpstr>
      <vt:lpstr>Amazon Ember Light</vt:lpstr>
      <vt:lpstr>Aptos</vt:lpstr>
      <vt:lpstr>Arial</vt:lpstr>
      <vt:lpstr>Calibri</vt:lpstr>
      <vt:lpstr>Helvetica Neue</vt:lpstr>
      <vt:lpstr>Roboto</vt:lpstr>
      <vt:lpstr>Roboto Light</vt:lpstr>
      <vt:lpstr>Segoe UI</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Timothy Baird</cp:lastModifiedBy>
  <cp:revision>18</cp:revision>
  <dcterms:created xsi:type="dcterms:W3CDTF">2013-01-27T09:14:16Z</dcterms:created>
  <dcterms:modified xsi:type="dcterms:W3CDTF">2026-06-03T06:14:36Z</dcterms:modified>
  <cp:category/>
</cp:coreProperties>
</file>