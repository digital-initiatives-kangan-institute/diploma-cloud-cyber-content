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62" r:id="rId24"/>
    <p:sldId id="263" r:id="rId25"/>
    <p:sldId id="264" r:id="rId26"/>
    <p:sldId id="265" r:id="rId27"/>
    <p:sldId id="266" r:id="rId28"/>
    <p:sldId id="267" r:id="rId29"/>
    <p:sldId id="299" r:id="rId30"/>
    <p:sldId id="268" r:id="rId31"/>
    <p:sldId id="294" r:id="rId32"/>
    <p:sldId id="270" r:id="rId33"/>
    <p:sldId id="295" r:id="rId34"/>
    <p:sldId id="296" r:id="rId35"/>
    <p:sldId id="297" r:id="rId36"/>
    <p:sldId id="298" r:id="rId37"/>
    <p:sldId id="271" r:id="rId38"/>
    <p:sldId id="272" r:id="rId39"/>
    <p:sldId id="273" r:id="rId40"/>
    <p:sldId id="274" r:id="rId41"/>
    <p:sldId id="275" r:id="rId42"/>
    <p:sldId id="27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84" autoAdjust="0"/>
  </p:normalViewPr>
  <p:slideViewPr>
    <p:cSldViewPr snapToGrid="0" snapToObjects="1">
      <p:cViewPr varScale="1">
        <p:scale>
          <a:sx n="60" d="100"/>
          <a:sy n="60" d="100"/>
        </p:scale>
        <p:origin x="90" y="4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8ECFA-BF80-453B-87CC-FAFFD191A09B}" type="datetimeFigureOut">
              <a:rPr lang="en-AU" smtClean="0"/>
              <a:t>3/06/2026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8DAFD-E839-41BA-8B0D-965DE27C86A8}" type="slidenum">
              <a:rPr lang="en-AU" smtClean="0"/>
              <a:t>‹#›</a:t>
            </a:fld>
            <a:endParaRPr lang="en-AU"/>
          </a:p>
        </p:txBody>
      </p:sp>
    </p:spTree>
    <p:extLst>
      <p:ext uri="{BB962C8B-B14F-4D97-AF65-F5344CB8AC3E}">
        <p14:creationId xmlns:p14="http://schemas.microsoft.com/office/powerpoint/2010/main" val="1660680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aws.amazon.com/AWSEC2/latest/UserGuide/placement-groups.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docs.aws.amazon.com/AWSEC2/latest/UserGuide/enhanced-networking-ena.htm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aws.amazon.com/AWSEC2/latest/WindowsGuide/ec2-windows-user-data.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aws.amazon.com/premiumsupport/knowledge-center/execute-user-data-ec2/"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amazon.com/answers/account-management/aws-tagging-strategie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d1.awsstatic.com/whitepapers/aws-tagging-best-practices.pdf"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a:t>
            </a:r>
            <a:r>
              <a:rPr lang="en-US" b="1" dirty="0"/>
              <a:t>EC2</a:t>
            </a:r>
            <a:r>
              <a:rPr lang="en-US" dirty="0"/>
              <a:t> in Amazon EC2 stands for </a:t>
            </a:r>
            <a:r>
              <a:rPr lang="en-US" b="1" dirty="0"/>
              <a:t>Elastic Compute Cloud:</a:t>
            </a:r>
          </a:p>
          <a:p>
            <a:pPr marL="171450" lvl="0" indent="-171450">
              <a:buFont typeface="Arial" panose="020B0604020202020204" pitchFamily="34" charset="0"/>
              <a:buChar char="•"/>
            </a:pPr>
            <a:r>
              <a:rPr lang="en-US" dirty="0"/>
              <a:t>Elastic refers to the fact that you can easily increase or decrease the number of servers you run to support an application automatically, and you can also increase or decrease the size of existing servers.</a:t>
            </a:r>
          </a:p>
          <a:p>
            <a:pPr marL="171450" lvl="0" indent="-171450">
              <a:buFont typeface="Arial" panose="020B0604020202020204" pitchFamily="34" charset="0"/>
              <a:buChar char="•"/>
            </a:pPr>
            <a:r>
              <a:rPr lang="en-US" dirty="0"/>
              <a:t>Compute refers to reason why most users run servers in the first place, which is to host running applications or process data—actions that require compute resources, including processing power (CPU) and memory (RAM). </a:t>
            </a:r>
          </a:p>
          <a:p>
            <a:pPr marL="171450" lvl="0" indent="-171450">
              <a:buFont typeface="Arial" panose="020B0604020202020204" pitchFamily="34" charset="0"/>
              <a:buChar char="•"/>
            </a:pPr>
            <a:r>
              <a:rPr lang="en-US" dirty="0"/>
              <a:t>Cloud refers to the fact that the EC2 instances that you run are hosted in the cloud. </a:t>
            </a:r>
          </a:p>
          <a:p>
            <a:pPr lvl="0"/>
            <a:endParaRPr lang="en-US" dirty="0"/>
          </a:p>
          <a:p>
            <a:r>
              <a:rPr lang="en-US" dirty="0"/>
              <a:t>Amazon EC2 provides virtual machines in the cloud and gives you full administrative control over the Windows or Linux operating system that runs on the instance. Most server operating systems are supported, including: Windows 2008, 2012, 2016, and 2019, Red Hat, </a:t>
            </a:r>
            <a:r>
              <a:rPr lang="en-US" dirty="0" err="1"/>
              <a:t>SuSE</a:t>
            </a:r>
            <a:r>
              <a:rPr lang="en-US" dirty="0"/>
              <a:t>, Ubuntu, and Amazon Linux.</a:t>
            </a:r>
          </a:p>
          <a:p>
            <a:endParaRPr lang="en-US" dirty="0"/>
          </a:p>
          <a:p>
            <a:r>
              <a:rPr lang="en-US" dirty="0"/>
              <a:t>An operating system that runs on a virtual machine is often called a guest operating system to distinguish it from the host operating system. The host operating system is directly installed on any server hardware that hosts one or more virtual machines.</a:t>
            </a:r>
          </a:p>
          <a:p>
            <a:endParaRPr lang="en-US" dirty="0"/>
          </a:p>
          <a:p>
            <a:r>
              <a:rPr lang="en-US" dirty="0"/>
              <a:t>With Amazon EC2, you can launch any number of instances of any size into any Availability Zone anywhere in the world in a matter of minutes. Instances launch from </a:t>
            </a:r>
            <a:r>
              <a:rPr lang="en-US" b="1" dirty="0"/>
              <a:t>Amazon Machine Images (AMIs)</a:t>
            </a:r>
            <a:r>
              <a:rPr lang="en-US" dirty="0"/>
              <a:t>, which are effectively virtual machine templates. AMIs are discussed in more detail later in this module.</a:t>
            </a:r>
          </a:p>
          <a:p>
            <a:endParaRPr lang="en-US" dirty="0"/>
          </a:p>
          <a:p>
            <a:r>
              <a:rPr lang="en-US" dirty="0"/>
              <a:t>You can control traffic to and from instances by using security groups. Also, because the servers run in the AWS Cloud, you can build solutions that take use multiple AWS services.</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6</a:t>
            </a:fld>
            <a:endParaRPr lang="en-AU"/>
          </a:p>
        </p:txBody>
      </p:sp>
    </p:spTree>
    <p:extLst>
      <p:ext uri="{BB962C8B-B14F-4D97-AF65-F5344CB8AC3E}">
        <p14:creationId xmlns:p14="http://schemas.microsoft.com/office/powerpoint/2010/main" val="3135528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time you launch an Amazon EC2 instance, you will likely use the AWS Management Console Launch Instance Wizard. You will have the opportunity to experience using the Launch Wizard in the </a:t>
            </a:r>
            <a:r>
              <a:rPr lang="en-US" b="1" dirty="0"/>
              <a:t>lab</a:t>
            </a:r>
            <a:r>
              <a:rPr lang="en-US" dirty="0"/>
              <a:t> that is in this module.</a:t>
            </a:r>
          </a:p>
          <a:p>
            <a:endParaRPr lang="en-US" dirty="0"/>
          </a:p>
          <a:p>
            <a:r>
              <a:rPr lang="en-US" dirty="0"/>
              <a:t>The </a:t>
            </a:r>
            <a:r>
              <a:rPr lang="en-US" b="1" dirty="0"/>
              <a:t>Launch Instance Wizard </a:t>
            </a:r>
            <a:r>
              <a:rPr lang="en-US" dirty="0"/>
              <a:t>makes it easy to launch an instance. For example, if you choose to accept all the default settings, you can skip most of the steps that are provided by the wizard and launch an EC2 instance in as few as six clicks. An example of this process is shown in the </a:t>
            </a:r>
            <a:r>
              <a:rPr lang="en-US" b="1" dirty="0"/>
              <a:t>demonstration</a:t>
            </a:r>
            <a:r>
              <a:rPr lang="en-US" dirty="0"/>
              <a:t> at the end of this section. </a:t>
            </a:r>
          </a:p>
          <a:p>
            <a:endParaRPr lang="en-US" dirty="0"/>
          </a:p>
          <a:p>
            <a:r>
              <a:rPr lang="en-US" dirty="0"/>
              <a:t>However, for most deployments you will want to modify the default settings so that the servers you launch are deployed in a way that matches your specific needs.</a:t>
            </a:r>
          </a:p>
          <a:p>
            <a:endParaRPr lang="en-US" dirty="0"/>
          </a:p>
          <a:p>
            <a:r>
              <a:rPr lang="en-US" dirty="0"/>
              <a:t>The next series of slides introduce you to the essential choices that you must make when you launch an instance. The slides cover essential concepts that are good to know when you make these choices. These concepts are described to help you understand the options that are available, and the effects of the decisions that you will make.</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7</a:t>
            </a:fld>
            <a:endParaRPr lang="en-AU"/>
          </a:p>
        </p:txBody>
      </p:sp>
    </p:spTree>
    <p:extLst>
      <p:ext uri="{BB962C8B-B14F-4D97-AF65-F5344CB8AC3E}">
        <p14:creationId xmlns:p14="http://schemas.microsoft.com/office/powerpoint/2010/main" val="265657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
            </a:r>
            <a:r>
              <a:rPr lang="en-US" b="1" dirty="0"/>
              <a:t>Amazon Machine Image (AMI) </a:t>
            </a:r>
            <a:r>
              <a:rPr lang="en-US" dirty="0"/>
              <a:t>provides information that is required to launch an </a:t>
            </a:r>
            <a:r>
              <a:rPr lang="en-US" b="1" dirty="0"/>
              <a:t>EC2 instance</a:t>
            </a:r>
            <a:r>
              <a:rPr lang="en-US" dirty="0"/>
              <a:t>. You must specify a source AMI when you launch an instance. You can use different AMIs to launch different types of instances. For example, you can choose one AMI to launch an instance that will become a web server and another AMI to deploy an instance that will host an application server. You can also launch multiple instances from a single AMI.</a:t>
            </a:r>
          </a:p>
          <a:p>
            <a:endParaRPr lang="en-US" dirty="0"/>
          </a:p>
          <a:p>
            <a:r>
              <a:rPr lang="en-US" dirty="0"/>
              <a:t>An AMI includes the following components:</a:t>
            </a:r>
          </a:p>
          <a:p>
            <a:pPr marL="171450" indent="-171450">
              <a:buFont typeface="Arial" panose="020B0604020202020204" pitchFamily="34" charset="0"/>
              <a:buChar char="•"/>
            </a:pPr>
            <a:r>
              <a:rPr lang="en-US" dirty="0"/>
              <a:t>A </a:t>
            </a:r>
            <a:r>
              <a:rPr lang="en-US" b="1" dirty="0"/>
              <a:t>template for the root volume </a:t>
            </a:r>
            <a:r>
              <a:rPr lang="en-US" dirty="0"/>
              <a:t>of the instance. A root volume typically contains an operating system (OS) and everything that was installed in that OS (applications, libraries, etc.). Amazon EC2 copies the template to the root volume of a new EC2 instance, and then starts it.</a:t>
            </a:r>
          </a:p>
          <a:p>
            <a:pPr marL="171450" indent="-171450">
              <a:buFont typeface="Arial" panose="020B0604020202020204" pitchFamily="34" charset="0"/>
              <a:buChar char="•"/>
            </a:pPr>
            <a:r>
              <a:rPr lang="en-US" b="1" dirty="0"/>
              <a:t>Launch permissions </a:t>
            </a:r>
            <a:r>
              <a:rPr lang="en-US" dirty="0"/>
              <a:t>that control which AWS accounts can use the AMI.</a:t>
            </a:r>
          </a:p>
          <a:p>
            <a:pPr marL="171450" indent="-171450">
              <a:buFont typeface="Arial" panose="020B0604020202020204" pitchFamily="34" charset="0"/>
              <a:buChar char="•"/>
            </a:pPr>
            <a:r>
              <a:rPr lang="en-US" dirty="0"/>
              <a:t>A </a:t>
            </a:r>
            <a:r>
              <a:rPr lang="en-US" b="1" dirty="0"/>
              <a:t>block device mapping </a:t>
            </a:r>
            <a:r>
              <a:rPr lang="en-US" dirty="0"/>
              <a:t>that specifies the volumes to attach to the instance (if any) when it is launched.</a:t>
            </a:r>
          </a:p>
          <a:p>
            <a:endParaRPr lang="en-US" dirty="0"/>
          </a:p>
          <a:p>
            <a:r>
              <a:rPr lang="en-US" dirty="0"/>
              <a:t>You can choose many AMIs:</a:t>
            </a:r>
          </a:p>
          <a:p>
            <a:pPr marL="171450" indent="-171450">
              <a:buFont typeface="Arial" panose="020B0604020202020204" pitchFamily="34" charset="0"/>
              <a:buChar char="•"/>
            </a:pPr>
            <a:r>
              <a:rPr lang="en-US" b="1" dirty="0"/>
              <a:t>Quick Start </a:t>
            </a:r>
            <a:r>
              <a:rPr lang="en-US" dirty="0"/>
              <a:t>– AWS offers a number of pre-built AMIs for launching your instances. These AMIs include many Linux and Windows options.</a:t>
            </a:r>
          </a:p>
          <a:p>
            <a:pPr marL="171450" lvl="0" indent="-171450">
              <a:buFont typeface="Arial" panose="020B0604020202020204" pitchFamily="34" charset="0"/>
              <a:buChar char="•"/>
            </a:pPr>
            <a:r>
              <a:rPr lang="en-US" b="1" dirty="0"/>
              <a:t>My AMIs </a:t>
            </a:r>
            <a:r>
              <a:rPr lang="en-US" dirty="0"/>
              <a:t>– These AMIs are AMIs that you created. </a:t>
            </a:r>
          </a:p>
          <a:p>
            <a:pPr marL="171450" indent="-171450">
              <a:buFont typeface="Arial" panose="020B0604020202020204" pitchFamily="34" charset="0"/>
              <a:buChar char="•"/>
            </a:pPr>
            <a:r>
              <a:rPr lang="en-US" b="1" dirty="0"/>
              <a:t>AWS Marketplace </a:t>
            </a:r>
            <a:r>
              <a:rPr lang="en-US" dirty="0"/>
              <a:t>– The AWS Marketplace offers a digital catalog that lists thousands of software solutions. These AMIs can offer specific use cases to help you get started quickly.</a:t>
            </a:r>
          </a:p>
          <a:p>
            <a:pPr marL="171450" indent="-171450">
              <a:buFont typeface="Arial" panose="020B0604020202020204" pitchFamily="34" charset="0"/>
              <a:buChar char="•"/>
            </a:pPr>
            <a:r>
              <a:rPr lang="en-US" b="1" dirty="0"/>
              <a:t>Community AMIs </a:t>
            </a:r>
            <a:r>
              <a:rPr lang="en-US" dirty="0"/>
              <a:t>– These AMIs are created by people all around the world. These AMIs are not checked by AWS, so use them at your own risk. Community AMIs can offer many different solutions to various problems, but use them with care. Avoid using them in any production or corporate environment.</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8</a:t>
            </a:fld>
            <a:endParaRPr lang="en-AU"/>
          </a:p>
        </p:txBody>
      </p:sp>
    </p:spTree>
    <p:extLst>
      <p:ext uri="{BB962C8B-B14F-4D97-AF65-F5344CB8AC3E}">
        <p14:creationId xmlns:p14="http://schemas.microsoft.com/office/powerpoint/2010/main" val="4155816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9</a:t>
            </a:fld>
            <a:endParaRPr lang="en-AU"/>
          </a:p>
        </p:txBody>
      </p:sp>
    </p:spTree>
    <p:extLst>
      <p:ext uri="{BB962C8B-B14F-4D97-AF65-F5344CB8AC3E}">
        <p14:creationId xmlns:p14="http://schemas.microsoft.com/office/powerpoint/2010/main" val="70553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choose the AMI for launching the instance, you must choose on an instance type. </a:t>
            </a:r>
          </a:p>
          <a:p>
            <a:endParaRPr lang="en-US" dirty="0"/>
          </a:p>
          <a:p>
            <a:r>
              <a:rPr lang="en-US" dirty="0"/>
              <a:t>Amazon EC2 provides a selection of </a:t>
            </a:r>
            <a:r>
              <a:rPr lang="en-US" b="1" dirty="0"/>
              <a:t>instance types </a:t>
            </a:r>
            <a:r>
              <a:rPr lang="en-US" dirty="0"/>
              <a:t>that optimized to fit different use cases. Instance types comprise varying combinations of CPU, memory, storage, and networking capacity. The different instance types give you the flexibility to choose the appropriate mix of resources for your applications. Each instance type includes one or more instance sizes, which enable you to scale your resources to the requirements of your target workload.</a:t>
            </a:r>
          </a:p>
          <a:p>
            <a:endParaRPr lang="en-US" dirty="0"/>
          </a:p>
          <a:p>
            <a:r>
              <a:rPr lang="en-US" b="1" dirty="0"/>
              <a:t>Instance type categories </a:t>
            </a:r>
            <a:r>
              <a:rPr lang="en-US" dirty="0"/>
              <a:t>include general purpose, compute optimized, memory optimized, storage optimized, and accelerated computing instances. Each instance type category offers many instance types to choose from. </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10</a:t>
            </a:fld>
            <a:endParaRPr lang="en-AU"/>
          </a:p>
        </p:txBody>
      </p:sp>
    </p:spTree>
    <p:extLst>
      <p:ext uri="{BB962C8B-B14F-4D97-AF65-F5344CB8AC3E}">
        <p14:creationId xmlns:p14="http://schemas.microsoft.com/office/powerpoint/2010/main" val="2952329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look at an EC2 instance type, you will see that its name has several parts. For example, consider the T type. </a:t>
            </a:r>
          </a:p>
          <a:p>
            <a:endParaRPr lang="en-US" dirty="0"/>
          </a:p>
          <a:p>
            <a:r>
              <a:rPr lang="en-US" dirty="0"/>
              <a:t>T is the </a:t>
            </a:r>
            <a:r>
              <a:rPr lang="en-US" b="1" dirty="0"/>
              <a:t>family name</a:t>
            </a:r>
            <a:r>
              <a:rPr lang="en-US" dirty="0"/>
              <a:t>, which is then followed by a number. Here, that number is 3. </a:t>
            </a:r>
          </a:p>
          <a:p>
            <a:endParaRPr lang="en-US" dirty="0"/>
          </a:p>
          <a:p>
            <a:r>
              <a:rPr lang="en-US" dirty="0"/>
              <a:t>The number is the </a:t>
            </a:r>
            <a:r>
              <a:rPr lang="en-US" b="1" dirty="0"/>
              <a:t>generation number </a:t>
            </a:r>
            <a:r>
              <a:rPr lang="en-US" dirty="0"/>
              <a:t>of that type. So, a t3 instance is the third generation of the T family. In general, instance types that are of a higher generation are more powerful and provide a better value for the price.</a:t>
            </a:r>
          </a:p>
          <a:p>
            <a:r>
              <a:rPr lang="en-US" dirty="0"/>
              <a:t> </a:t>
            </a:r>
          </a:p>
          <a:p>
            <a:r>
              <a:rPr lang="en-US" dirty="0"/>
              <a:t>The next part of the name is the size portion of the instance. When you compare sizes, it is important to look at the coefficient portion of the size category.</a:t>
            </a:r>
          </a:p>
          <a:p>
            <a:r>
              <a:rPr lang="en-US" dirty="0"/>
              <a:t> </a:t>
            </a:r>
          </a:p>
          <a:p>
            <a:r>
              <a:rPr lang="en-US" dirty="0"/>
              <a:t>For example, a </a:t>
            </a:r>
            <a:r>
              <a:rPr lang="en-US" b="1" dirty="0"/>
              <a:t>t3.2xlarge </a:t>
            </a:r>
            <a:r>
              <a:rPr lang="en-US" dirty="0"/>
              <a:t>has twice the vCPU and memory of a </a:t>
            </a:r>
            <a:r>
              <a:rPr lang="en-US" b="1" dirty="0"/>
              <a:t>t3.xlarge</a:t>
            </a:r>
            <a:r>
              <a:rPr lang="en-US" dirty="0"/>
              <a:t>. The t3.xlarge has, in turn, twice the vCPU and memory of a t3.large.</a:t>
            </a:r>
          </a:p>
          <a:p>
            <a:r>
              <a:rPr lang="en-US" dirty="0"/>
              <a:t> </a:t>
            </a:r>
          </a:p>
          <a:p>
            <a:r>
              <a:rPr lang="en-US" dirty="0"/>
              <a:t>It is also important to note that </a:t>
            </a:r>
            <a:r>
              <a:rPr lang="en-US" b="1" dirty="0"/>
              <a:t>network bandwidth </a:t>
            </a:r>
            <a:r>
              <a:rPr lang="en-US" dirty="0"/>
              <a:t>is also tied to the size of the Amazon EC2 instance. If you will run jobs that will be very network-intensive, you might be required to increase the instance specifications to meet your needs.</a:t>
            </a:r>
          </a:p>
          <a:p>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11</a:t>
            </a:fld>
            <a:endParaRPr lang="en-AU"/>
          </a:p>
        </p:txBody>
      </p:sp>
    </p:spTree>
    <p:extLst>
      <p:ext uri="{BB962C8B-B14F-4D97-AF65-F5344CB8AC3E}">
        <p14:creationId xmlns:p14="http://schemas.microsoft.com/office/powerpoint/2010/main" val="474369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Instance types v</a:t>
            </a:r>
            <a:r>
              <a:rPr lang="en-US" dirty="0"/>
              <a:t>ary in several ways, including: CPU type, CPU or core count, storage type, storage amount, memory amount, and network performance. The chart provides a high-level view of the different instance categories, and which instance type families and generation numbers fit into each category type. Consider a few of the instance types in more detail:</a:t>
            </a:r>
          </a:p>
          <a:p>
            <a:pPr marL="171450" indent="-171450">
              <a:buFont typeface="Arial" panose="020B0604020202020204" pitchFamily="34" charset="0"/>
              <a:buChar char="•"/>
            </a:pPr>
            <a:r>
              <a:rPr lang="en-US" b="1" dirty="0"/>
              <a:t>T3 </a:t>
            </a:r>
            <a:r>
              <a:rPr lang="en-US" dirty="0"/>
              <a:t>instances provide burstable performance </a:t>
            </a:r>
            <a:r>
              <a:rPr lang="en-US" b="1" dirty="0"/>
              <a:t>general purpose </a:t>
            </a:r>
            <a:r>
              <a:rPr lang="en-US" dirty="0"/>
              <a:t>instances that provide a baseline level of CPU performance with the ability to burst above the baseline. Use cases for this type of instance include websites and web applications, development environments, build servers, code repositories, microservices, test and staging environments, and line-of-business applications.</a:t>
            </a:r>
          </a:p>
          <a:p>
            <a:pPr marL="171450" indent="-171450">
              <a:buFont typeface="Arial" panose="020B0604020202020204" pitchFamily="34" charset="0"/>
              <a:buChar char="•"/>
            </a:pPr>
            <a:r>
              <a:rPr lang="en-US" b="1" dirty="0"/>
              <a:t>C5</a:t>
            </a:r>
            <a:r>
              <a:rPr lang="en-US" dirty="0"/>
              <a:t> instances are optimized for </a:t>
            </a:r>
            <a:r>
              <a:rPr lang="en-US" b="1" dirty="0"/>
              <a:t>compute-intensive </a:t>
            </a:r>
            <a:r>
              <a:rPr lang="en-US" dirty="0"/>
              <a:t>workloads, and deliver cost-effective high performance at a low price per compute ratio. Use cases include scientific modeling, batch processing, ad serving, highly scalable multiplayer gaming, and video encoding.</a:t>
            </a:r>
          </a:p>
          <a:p>
            <a:pPr marL="171450" indent="-171450">
              <a:buFont typeface="Arial" panose="020B0604020202020204" pitchFamily="34" charset="0"/>
              <a:buChar char="•"/>
            </a:pPr>
            <a:r>
              <a:rPr lang="en-US" b="1" dirty="0"/>
              <a:t>R5</a:t>
            </a:r>
            <a:r>
              <a:rPr lang="en-US" dirty="0"/>
              <a:t> instances are optimized for memory-intensive applications. Use cases include high-performance databases, data mining and analysis, in-memory databases, distributed web-scale in-memory caches, applications that perform real-time processing of unstructured big data, Apache Hadoop or Apache Spark clusters, and other enterprise applications.</a:t>
            </a:r>
          </a:p>
          <a:p>
            <a:endParaRPr lang="en-US" dirty="0"/>
          </a:p>
          <a:p>
            <a:r>
              <a:rPr lang="en-US" dirty="0"/>
              <a:t>To learn more about each instance type, see the Amazon EC2 Instance Types documentation at </a:t>
            </a:r>
            <a:r>
              <a:rPr lang="en-GB" dirty="0">
                <a:hlinkClick r:id="rId3"/>
              </a:rPr>
              <a:t>https://aws.amazon.com/ec2/instance-types/</a:t>
            </a:r>
            <a:r>
              <a:rPr lang="en-US" dirty="0"/>
              <a:t>.</a:t>
            </a:r>
          </a:p>
          <a:p>
            <a:endParaRPr lang="en-US" dirty="0"/>
          </a:p>
          <a:p>
            <a:endParaRPr lang="en-US" dirty="0"/>
          </a:p>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12</a:t>
            </a:fld>
            <a:endParaRPr lang="en-AU"/>
          </a:p>
        </p:txBody>
      </p:sp>
    </p:spTree>
    <p:extLst>
      <p:ext uri="{BB962C8B-B14F-4D97-AF65-F5344CB8AC3E}">
        <p14:creationId xmlns:p14="http://schemas.microsoft.com/office/powerpoint/2010/main" val="227257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considering the CPU, RAM, and storage needs of your workloads, it is also important to consider your network bandwidth requirements.</a:t>
            </a:r>
          </a:p>
          <a:p>
            <a:endParaRPr lang="en-US" dirty="0"/>
          </a:p>
          <a:p>
            <a:r>
              <a:rPr lang="en-US" dirty="0"/>
              <a:t>Each instance type provides a documented network performance level. For example, an a1.medium instance will provide up to 10 Gbps, but a p3dn.24xlarge instance provides up to 100 Gbps. Choose an instance type that meets your requirements.</a:t>
            </a:r>
          </a:p>
          <a:p>
            <a:endParaRPr lang="en-US" dirty="0"/>
          </a:p>
          <a:p>
            <a:pPr marL="0" marR="0">
              <a:spcBef>
                <a:spcPts val="0"/>
              </a:spcBef>
              <a:spcAft>
                <a:spcPts val="0"/>
              </a:spcAft>
            </a:pPr>
            <a:r>
              <a:rPr lang="en-US" dirty="0"/>
              <a:t>When you launch multiple new EC2 instances, Amazon EC2 attempts to place the instances so that they are spread out across the underlying hardware by default. It does this to minimize correlated failures. However, if you want to specify specific placement criteria, you can use </a:t>
            </a:r>
            <a:r>
              <a:rPr lang="en-US" b="1" dirty="0"/>
              <a:t>placement groups </a:t>
            </a:r>
            <a:r>
              <a:rPr lang="en-US" dirty="0"/>
              <a:t>to influence the placement of a group of </a:t>
            </a:r>
            <a:r>
              <a:rPr lang="en-US" b="1" dirty="0"/>
              <a:t>interdependent</a:t>
            </a:r>
            <a:r>
              <a:rPr lang="en-US" dirty="0"/>
              <a:t> instances to meet the needs of your workload. For example, you might specify that three instances should all be deployed in the same Availability Zone to ensure lower network latency and higher network throughput between instances. </a:t>
            </a:r>
            <a:r>
              <a:rPr lang="en-US" dirty="0">
                <a:effectLst/>
                <a:ea typeface="Calibri" panose="020F0502020204030204" pitchFamily="34" charset="0"/>
                <a:cs typeface="Times New Roman" panose="02020603050405020304" pitchFamily="18" charset="0"/>
              </a:rPr>
              <a:t>See the Placement Group documentation at </a:t>
            </a:r>
            <a:r>
              <a:rPr lang="en-GB" u="sng" dirty="0">
                <a:solidFill>
                  <a:srgbClr val="0563C1"/>
                </a:solidFill>
                <a:effectLst/>
                <a:ea typeface="Calibri" panose="020F0502020204030204" pitchFamily="34" charset="0"/>
                <a:cs typeface="Times New Roman" panose="02020603050405020304" pitchFamily="18" charset="0"/>
                <a:hlinkClick r:id="rId3"/>
              </a:rPr>
              <a:t>https://docs.aws.amazon.com/AWSEC2/latest/UserGuide/placement-groups.html</a:t>
            </a:r>
            <a:r>
              <a:rPr lang="en-US" dirty="0">
                <a:effectLst/>
                <a:ea typeface="Calibri" panose="020F0502020204030204" pitchFamily="34" charset="0"/>
                <a:cs typeface="Times New Roman" panose="02020603050405020304" pitchFamily="18" charset="0"/>
              </a:rPr>
              <a:t> for details. </a:t>
            </a:r>
          </a:p>
          <a:p>
            <a:br>
              <a:rPr lang="en-US" dirty="0">
                <a:effectLst/>
                <a:ea typeface="Calibri" panose="020F0502020204030204" pitchFamily="34" charset="0"/>
                <a:cs typeface="Times New Roman" panose="02020603050405020304" pitchFamily="18" charset="0"/>
              </a:rPr>
            </a:br>
            <a:r>
              <a:rPr lang="en-US" dirty="0">
                <a:effectLst/>
                <a:ea typeface="Calibri" panose="020F0502020204030204" pitchFamily="34" charset="0"/>
                <a:cs typeface="Times New Roman" panose="02020603050405020304" pitchFamily="18" charset="0"/>
              </a:rPr>
              <a:t>Many instance types also enable you to configure enhanced networking to get significantly higher packet per second (PPS) performance, lower delay variation in the arrival of packets over the network (network jitter), and lower latencies. See the Elastic Network Adapter (ENA) documentation at </a:t>
            </a:r>
            <a:r>
              <a:rPr lang="en-GB" u="sng" dirty="0">
                <a:solidFill>
                  <a:srgbClr val="0563C1"/>
                </a:solidFill>
                <a:effectLst/>
                <a:ea typeface="Calibri" panose="020F0502020204030204" pitchFamily="34" charset="0"/>
                <a:cs typeface="Times New Roman" panose="02020603050405020304" pitchFamily="18" charset="0"/>
                <a:hlinkClick r:id="rId4"/>
              </a:rPr>
              <a:t>https://docs.aws.amazon.com/AWSEC2/latest/UserGuide/enhanced-networking-ena.html</a:t>
            </a:r>
            <a:r>
              <a:rPr lang="en-US" dirty="0">
                <a:effectLst/>
                <a:ea typeface="Calibri" panose="020F0502020204030204" pitchFamily="34" charset="0"/>
                <a:cs typeface="Times New Roman" panose="02020603050405020304" pitchFamily="18" charset="0"/>
              </a:rPr>
              <a:t>for details.</a:t>
            </a:r>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13</a:t>
            </a:fld>
            <a:endParaRPr lang="en-AU"/>
          </a:p>
        </p:txBody>
      </p:sp>
    </p:spTree>
    <p:extLst>
      <p:ext uri="{BB962C8B-B14F-4D97-AF65-F5344CB8AC3E}">
        <p14:creationId xmlns:p14="http://schemas.microsoft.com/office/powerpoint/2010/main" val="3670231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have choose an AMI and an instance type, you must specify the network location where the EC2 instance will be deployed. The choice of </a:t>
            </a:r>
            <a:r>
              <a:rPr lang="en-US" b="1" dirty="0"/>
              <a:t>Region</a:t>
            </a:r>
            <a:r>
              <a:rPr lang="en-US" dirty="0"/>
              <a:t> must be made before you start the Launch Instance Wizard. Verify that you are in the correct Region page of the Amazon EC2 console before you choose </a:t>
            </a:r>
            <a:r>
              <a:rPr lang="en-US" b="1" dirty="0"/>
              <a:t>Launch Instance.</a:t>
            </a:r>
          </a:p>
          <a:p>
            <a:endParaRPr lang="en-US" dirty="0"/>
          </a:p>
          <a:p>
            <a:r>
              <a:rPr lang="en-US" dirty="0"/>
              <a:t>When you launch an instance in a </a:t>
            </a:r>
            <a:r>
              <a:rPr lang="en-US" b="1" dirty="0"/>
              <a:t>default VPC</a:t>
            </a:r>
            <a:r>
              <a:rPr lang="en-US" dirty="0"/>
              <a:t>, AWS will assign it a </a:t>
            </a:r>
            <a:r>
              <a:rPr lang="en-US" b="1" dirty="0"/>
              <a:t>public IP address </a:t>
            </a:r>
            <a:r>
              <a:rPr lang="en-US" dirty="0"/>
              <a:t>by default. When you launch an instance into a </a:t>
            </a:r>
            <a:r>
              <a:rPr lang="en-US" b="1" dirty="0"/>
              <a:t>nondefault VPC</a:t>
            </a:r>
            <a:r>
              <a:rPr lang="en-US" dirty="0"/>
              <a:t>, the subnet has an attribute that determines whether instances launched into that subnet receive a public IP address from the public IPv4 address pool. By default, AWS will not assign a public IP address to instances that are launched in a nondefault subnet. You can control whether your instance receives a public IP address by either modifying the public IP addressing attribute of your subnet, or by enabling or disabling the public IP addressing feature during launch (which overrides the subnet's public IP addressing attribute). </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14</a:t>
            </a:fld>
            <a:endParaRPr lang="en-AU"/>
          </a:p>
        </p:txBody>
      </p:sp>
    </p:spTree>
    <p:extLst>
      <p:ext uri="{BB962C8B-B14F-4D97-AF65-F5344CB8AC3E}">
        <p14:creationId xmlns:p14="http://schemas.microsoft.com/office/powerpoint/2010/main" val="1600098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common to use EC2 instances to run an application that must make secure API calls to other AWS services. To support these use cases, AWS enables you to </a:t>
            </a:r>
            <a:r>
              <a:rPr lang="en-US" b="1" dirty="0"/>
              <a:t>attach an AWS Identity and Access Management (IAM) role to an EC2 instance. </a:t>
            </a:r>
            <a:r>
              <a:rPr lang="en-US" dirty="0"/>
              <a:t>Without this feature, you might be tempted to place AWS credentials on an EC2 instance so an application that runs on that instance to use. However, you should never store AWS credentials on an EC2 instance. It is highly insecure. Instead, attach an IAM role to the EC2 instance. The IAM role then grants permission to make application programming interface (API) requests to the applications that run on the EC2 instance.</a:t>
            </a:r>
          </a:p>
          <a:p>
            <a:endParaRPr lang="en-US" dirty="0"/>
          </a:p>
          <a:p>
            <a:r>
              <a:rPr lang="en-US" dirty="0"/>
              <a:t>An </a:t>
            </a:r>
            <a:r>
              <a:rPr lang="en-US" b="1" dirty="0"/>
              <a:t>instance profile</a:t>
            </a:r>
            <a:r>
              <a:rPr lang="en-US" dirty="0"/>
              <a:t> is a container for an IAM role. If you use the AWS Management Console to create a role for Amazon EC2, the console automatically creates an instance profile and gives it the same name as the role. When you then use the Amazon EC2 console to launch an instance with an IAM role, you can select a role to associate with the instance. In the console, the list that displays is actually a list of instance profile names. </a:t>
            </a:r>
          </a:p>
          <a:p>
            <a:endParaRPr lang="en-US" dirty="0"/>
          </a:p>
          <a:p>
            <a:r>
              <a:rPr lang="en-US" b="1" dirty="0"/>
              <a:t>In the example, </a:t>
            </a:r>
            <a:r>
              <a:rPr lang="en-US" dirty="0"/>
              <a:t>you see that an IAM role is used to grant permissions to an application that runs on an EC2 instance. The application must access a bucket in Amazon S3.</a:t>
            </a:r>
          </a:p>
          <a:p>
            <a:endParaRPr lang="en-US" dirty="0"/>
          </a:p>
          <a:p>
            <a:r>
              <a:rPr lang="en-US" dirty="0"/>
              <a:t>You can attach an IAM role when you launch the instance, but you can also attach a role to an already running EC2 instance. When you define a role that can be used by an EC2 instance, you define which accounts or AWS services can assume the role. You also define which API actions and resources the application can use after it assumes the role. If you change a role, the change is propagated to all instances that have the role attached to them.</a:t>
            </a:r>
          </a:p>
          <a:p>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15</a:t>
            </a:fld>
            <a:endParaRPr lang="en-AU"/>
          </a:p>
        </p:txBody>
      </p:sp>
    </p:spTree>
    <p:extLst>
      <p:ext uri="{BB962C8B-B14F-4D97-AF65-F5344CB8AC3E}">
        <p14:creationId xmlns:p14="http://schemas.microsoft.com/office/powerpoint/2010/main" val="87336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create your EC2 instances, you have the option of passing </a:t>
            </a:r>
            <a:r>
              <a:rPr lang="en-US" b="1" dirty="0"/>
              <a:t>user data </a:t>
            </a:r>
            <a:r>
              <a:rPr lang="en-US" dirty="0"/>
              <a:t>to the instance. User data can automate the completion of installations and configurations at instance launch. For example, a user data script might patch and update the instance's operating system, fetch and install software license keys, or install additional software. </a:t>
            </a:r>
          </a:p>
          <a:p>
            <a:endParaRPr lang="en-US" dirty="0"/>
          </a:p>
          <a:p>
            <a:r>
              <a:rPr lang="en-US" dirty="0"/>
              <a:t>In the example user data script, you see a simple three-line </a:t>
            </a:r>
            <a:r>
              <a:rPr lang="en-US" b="1" dirty="0"/>
              <a:t>Linux</a:t>
            </a:r>
            <a:r>
              <a:rPr lang="en-US" dirty="0"/>
              <a:t> Bash shell script. The first line indicates that the script should be run by the Bash shell. The second line invokes the </a:t>
            </a:r>
            <a:r>
              <a:rPr lang="en-US" dirty="0" err="1"/>
              <a:t>Yellowdog</a:t>
            </a:r>
            <a:r>
              <a:rPr lang="en-US" dirty="0"/>
              <a:t> Updater, Modified (YUM) utility, which is commonly used in many Linux distributions—such as Amazon Linux, CentOS, and Red Hat Linux—to retrieve software from an online repository and install it. In line two of the example, that command tells YUM to update all installed packages to the latest versions that are known to the software repository that it is configured to access. Line three of the script indicates that the Wget utility should be installed. Wget is a common utility for downloading files from the web.</a:t>
            </a:r>
          </a:p>
          <a:p>
            <a:endParaRPr lang="en-US" dirty="0"/>
          </a:p>
          <a:p>
            <a:pPr marL="0" marR="0">
              <a:spcBef>
                <a:spcPts val="0"/>
              </a:spcBef>
              <a:spcAft>
                <a:spcPts val="0"/>
              </a:spcAft>
            </a:pPr>
            <a:r>
              <a:rPr lang="en-US" dirty="0">
                <a:effectLst/>
                <a:ea typeface="Calibri" panose="020F0502020204030204" pitchFamily="34" charset="0"/>
                <a:cs typeface="Times New Roman" panose="02020603050405020304" pitchFamily="18" charset="0"/>
              </a:rPr>
              <a:t>For a </a:t>
            </a:r>
            <a:r>
              <a:rPr lang="en-US" b="1" dirty="0">
                <a:effectLst/>
                <a:ea typeface="Calibri" panose="020F0502020204030204" pitchFamily="34" charset="0"/>
                <a:cs typeface="Times New Roman" panose="02020603050405020304" pitchFamily="18" charset="0"/>
              </a:rPr>
              <a:t>Windows</a:t>
            </a:r>
            <a:r>
              <a:rPr lang="en-US" dirty="0">
                <a:effectLst/>
                <a:ea typeface="Calibri" panose="020F0502020204030204" pitchFamily="34" charset="0"/>
                <a:cs typeface="Times New Roman" panose="02020603050405020304" pitchFamily="18" charset="0"/>
              </a:rPr>
              <a:t> instance, the user data script should be written in a format that is compatible with a Command Prompt window (batch commands) or with Windows PowerShell. See the Windows User Data Scripts documentation for details at </a:t>
            </a:r>
            <a:r>
              <a:rPr lang="en-US" u="sng" dirty="0">
                <a:solidFill>
                  <a:srgbClr val="0563C1"/>
                </a:solidFill>
                <a:effectLst/>
                <a:ea typeface="Calibri" panose="020F0502020204030204" pitchFamily="34" charset="0"/>
                <a:cs typeface="Times New Roman" panose="02020603050405020304" pitchFamily="18" charset="0"/>
                <a:hlinkClick r:id="rId3"/>
              </a:rPr>
              <a:t>https://docs.aws.amazon.com/AWSEC2/latest/WindowsGuide/ec2-windows-user-data.html</a:t>
            </a:r>
            <a:r>
              <a:rPr lang="en-US" dirty="0">
                <a:effectLst/>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ea typeface="Calibri" panose="020F0502020204030204" pitchFamily="34" charset="0"/>
                <a:cs typeface="Times New Roman" panose="02020603050405020304" pitchFamily="18" charset="0"/>
              </a:rPr>
              <a:t> </a:t>
            </a:r>
          </a:p>
          <a:p>
            <a:r>
              <a:rPr lang="en-US" dirty="0">
                <a:effectLst/>
                <a:ea typeface="Calibri" panose="020F0502020204030204" pitchFamily="34" charset="0"/>
                <a:cs typeface="Times New Roman" panose="02020603050405020304" pitchFamily="18" charset="0"/>
              </a:rPr>
              <a:t>When the EC2 instance is created, </a:t>
            </a:r>
            <a:r>
              <a:rPr lang="en-US" b="1" dirty="0">
                <a:effectLst/>
                <a:ea typeface="Calibri" panose="020F0502020204030204" pitchFamily="34" charset="0"/>
                <a:cs typeface="Times New Roman" panose="02020603050405020304" pitchFamily="18" charset="0"/>
              </a:rPr>
              <a:t>the user data script will run with root privileges </a:t>
            </a:r>
            <a:r>
              <a:rPr lang="en-US" dirty="0">
                <a:effectLst/>
                <a:ea typeface="Calibri" panose="020F0502020204030204" pitchFamily="34" charset="0"/>
                <a:cs typeface="Times New Roman" panose="02020603050405020304" pitchFamily="18" charset="0"/>
              </a:rPr>
              <a:t>during the final phases of the boot process. On Linux instances, it is run by the cloud-</a:t>
            </a:r>
            <a:r>
              <a:rPr lang="en-US" dirty="0" err="1">
                <a:effectLst/>
                <a:ea typeface="Calibri" panose="020F0502020204030204" pitchFamily="34" charset="0"/>
                <a:cs typeface="Times New Roman" panose="02020603050405020304" pitchFamily="18" charset="0"/>
              </a:rPr>
              <a:t>init</a:t>
            </a:r>
            <a:r>
              <a:rPr lang="en-US" dirty="0">
                <a:effectLst/>
                <a:ea typeface="Calibri" panose="020F0502020204030204" pitchFamily="34" charset="0"/>
                <a:cs typeface="Times New Roman" panose="02020603050405020304" pitchFamily="18" charset="0"/>
              </a:rPr>
              <a:t> service. On Windows instances, it is run by the EC2Config or EC2Launch utility. </a:t>
            </a:r>
            <a:r>
              <a:rPr lang="en-US" b="1" dirty="0">
                <a:effectLst/>
                <a:ea typeface="Calibri" panose="020F0502020204030204" pitchFamily="34" charset="0"/>
                <a:cs typeface="Times New Roman" panose="02020603050405020304" pitchFamily="18" charset="0"/>
              </a:rPr>
              <a:t>By default, user data only runs the first time that the instance starts up. </a:t>
            </a:r>
            <a:r>
              <a:rPr lang="en-US" dirty="0">
                <a:effectLst/>
                <a:ea typeface="Calibri" panose="020F0502020204030204" pitchFamily="34" charset="0"/>
                <a:cs typeface="Times New Roman" panose="02020603050405020304" pitchFamily="18" charset="0"/>
              </a:rPr>
              <a:t>However, if you would like your user data script to run every time the instance is booted, you can create a Multipurpose Internet Mail Extensions (MIME) multipart file user data script (this process is not commonly done). See </a:t>
            </a:r>
            <a:r>
              <a:rPr lang="en-GB" u="sng" dirty="0">
                <a:solidFill>
                  <a:srgbClr val="0563C1"/>
                </a:solidFill>
                <a:effectLst/>
                <a:ea typeface="Calibri" panose="020F0502020204030204" pitchFamily="34" charset="0"/>
                <a:cs typeface="Times New Roman" panose="02020603050405020304" pitchFamily="18" charset="0"/>
                <a:hlinkClick r:id="rId4"/>
              </a:rPr>
              <a:t>https://aws.amazon.com/premiumsupport/knowledge-center/execute-user-data-ec2/</a:t>
            </a:r>
            <a:r>
              <a:rPr lang="en-GB" dirty="0">
                <a:effectLst/>
                <a:ea typeface="Calibri" panose="020F0502020204030204" pitchFamily="34" charset="0"/>
                <a:cs typeface="Times New Roman" panose="02020603050405020304" pitchFamily="18" charset="0"/>
              </a:rPr>
              <a:t> for more information.</a:t>
            </a:r>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16</a:t>
            </a:fld>
            <a:endParaRPr lang="en-AU"/>
          </a:p>
        </p:txBody>
      </p:sp>
    </p:spTree>
    <p:extLst>
      <p:ext uri="{BB962C8B-B14F-4D97-AF65-F5344CB8AC3E}">
        <p14:creationId xmlns:p14="http://schemas.microsoft.com/office/powerpoint/2010/main" val="2677021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launch an EC2 instance, you can configure storage options. For example, you can configure the size of the root volume where the guest operating system is installed. You can also attach additional storage volumes when you launch the instance. Some AMIs are also configured to launch more than one storage volume by default to provide storage that is separate from the root volume. </a:t>
            </a:r>
          </a:p>
          <a:p>
            <a:endParaRPr lang="en-US" dirty="0"/>
          </a:p>
          <a:p>
            <a:r>
              <a:rPr lang="en-US" dirty="0"/>
              <a:t>For each volume that your instance will have, you can specify the size of the disks, the volume types, and whether the storage will be retained if the instance is terminated. You can also specify if encryption should be used.</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17</a:t>
            </a:fld>
            <a:endParaRPr lang="en-AU"/>
          </a:p>
        </p:txBody>
      </p:sp>
    </p:spTree>
    <p:extLst>
      <p:ext uri="{BB962C8B-B14F-4D97-AF65-F5344CB8AC3E}">
        <p14:creationId xmlns:p14="http://schemas.microsoft.com/office/powerpoint/2010/main" val="4270743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Amazon Elastic Block Store (Amazon EBS)</a:t>
            </a:r>
            <a:r>
              <a:rPr lang="en-US" dirty="0"/>
              <a:t> is an easy-to-use, high-performance </a:t>
            </a:r>
            <a:r>
              <a:rPr lang="en-US" b="1" dirty="0"/>
              <a:t>durable block storage</a:t>
            </a:r>
            <a:r>
              <a:rPr lang="en-US" dirty="0"/>
              <a:t> service that is designed to be used with Amazon EC2 for both throughput- and transaction-intensive workloads. With Amazon EBS, you can choose from four different volume types to balance the optimal price and performance. You can change volume types or increase volume size without disrupting your critical applications, so you can have cost-effective storage when you need it.</a:t>
            </a:r>
          </a:p>
          <a:p>
            <a:endParaRPr lang="en-US" dirty="0"/>
          </a:p>
          <a:p>
            <a:r>
              <a:rPr lang="en-US" b="1" dirty="0"/>
              <a:t>Amazon EC2 Instance Store </a:t>
            </a:r>
            <a:r>
              <a:rPr lang="en-US" dirty="0"/>
              <a:t>provides ephemeral, or temporary, block-level storage for your instance. This storage is located on disks that are physically attached to the host computer. Instance Store works well when you must temporarily store information that changes frequently, such as buffers, caches, scratch data, and other temporary content. You can also use Instance Store for data that is replicated across a fleet of instances, such as a load balanced pool of web servers. If the instances are stopped—either because of user error or a malfunction—the data on the instance store will be deleted.</a:t>
            </a:r>
          </a:p>
          <a:p>
            <a:endParaRPr lang="en-US" dirty="0"/>
          </a:p>
          <a:p>
            <a:r>
              <a:rPr lang="en-US" b="1" dirty="0"/>
              <a:t>Amazon Elastic File System (Amazon EFS) </a:t>
            </a:r>
            <a:r>
              <a:rPr lang="en-US" dirty="0"/>
              <a:t>provides a simple, scalable, fully managed elastic Network File System (NFS) file system for use with AWS Cloud services and on-premises resources. It is built to scale on-demand to petabytes without disrupting applications. It grows and shrinks automatically as you add and remove files, which reduces the need to provision and manage capacity to accommodate growth.</a:t>
            </a:r>
          </a:p>
          <a:p>
            <a:endParaRPr lang="en-US" dirty="0"/>
          </a:p>
          <a:p>
            <a:r>
              <a:rPr lang="en-US" b="1" dirty="0"/>
              <a:t>Amazon Simple Storage Service (Amazon S3) </a:t>
            </a:r>
            <a:r>
              <a:rPr lang="en-US" dirty="0"/>
              <a:t>is an object storage service that offers scalability, data availability, security, and performance. You can store and protect any amount of data for a variety of use cases, such as websites, mobile apps, backup and restore, archive, enterprise applications, Internet of Things (IoT) devices, and big data analytics.</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18</a:t>
            </a:fld>
            <a:endParaRPr lang="en-AU"/>
          </a:p>
        </p:txBody>
      </p:sp>
    </p:spTree>
    <p:extLst>
      <p:ext uri="{BB962C8B-B14F-4D97-AF65-F5344CB8AC3E}">
        <p14:creationId xmlns:p14="http://schemas.microsoft.com/office/powerpoint/2010/main" val="1107165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see two examples of how storage options could be configured for EC2 instances.</a:t>
            </a:r>
          </a:p>
          <a:p>
            <a:endParaRPr lang="en-US" dirty="0"/>
          </a:p>
          <a:p>
            <a:r>
              <a:rPr lang="en-US" dirty="0"/>
              <a:t>The </a:t>
            </a:r>
            <a:r>
              <a:rPr lang="en-US" b="1" dirty="0"/>
              <a:t>Instance 1</a:t>
            </a:r>
            <a:r>
              <a:rPr lang="en-US" dirty="0"/>
              <a:t> example shows that the root volume—which contains the OS and possibly other data—is stored on Amazon EBS. This instance also has two attached volumes. One volume is a 500-GB Amazon EBS storage volume, and the other volume is an Instance Store volume. </a:t>
            </a:r>
            <a:r>
              <a:rPr lang="en-US" b="1" dirty="0"/>
              <a:t>If this instance was stopped and then started again,</a:t>
            </a:r>
            <a:r>
              <a:rPr lang="en-US" dirty="0"/>
              <a:t> the OS would survive and any data that was stored on either the 20-GB Amazon EBS volume or the 500-GB Amazon EBS volume would remain intact. However, any data that was stored on Ephemeral volume 1 would be permanently lost. Instance Store works well for temporarily storing information that changes frequently, such as buffers, caches, scratch data, and other temporary content.</a:t>
            </a:r>
          </a:p>
          <a:p>
            <a:endParaRPr lang="en-US" dirty="0"/>
          </a:p>
          <a:p>
            <a:r>
              <a:rPr lang="en-US" dirty="0"/>
              <a:t>The </a:t>
            </a:r>
            <a:r>
              <a:rPr lang="en-US" b="1" dirty="0"/>
              <a:t>Instance 2</a:t>
            </a:r>
            <a:r>
              <a:rPr lang="en-US" dirty="0"/>
              <a:t> example shows that the root volume is on an instance store (Ephemeral volume 2). </a:t>
            </a:r>
            <a:r>
              <a:rPr lang="en-US" b="1" dirty="0"/>
              <a:t>An instance with an Instance Store root volume cannot be stopped by an Amazon EC2 API call. It can only be terminated.</a:t>
            </a:r>
            <a:r>
              <a:rPr lang="en-US" dirty="0"/>
              <a:t> However, it could be stopped from within the instance's OS (for example, by issuing a shutdown command)—or it could stop because of OS or disk failure—which would cause the instance to be terminated. If the instance was terminated, all the data that was stored on Ephemeral volume 2 would be lost, including the OS. You would not be able to start the instance again. Therefore, do not rely on Instance Store for valuable, long-term data. Instead, use more durable data storage, such as Amazon EBS, Amazon EFS, or Amazon S3. </a:t>
            </a:r>
          </a:p>
          <a:p>
            <a:endParaRPr lang="en-US" dirty="0"/>
          </a:p>
          <a:p>
            <a:r>
              <a:rPr lang="en-US" dirty="0"/>
              <a:t>If an instance reboots (intentionally or unintentionally), data on the instance store root volume does persist. </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19</a:t>
            </a:fld>
            <a:endParaRPr lang="en-AU"/>
          </a:p>
        </p:txBody>
      </p:sp>
    </p:spTree>
    <p:extLst>
      <p:ext uri="{BB962C8B-B14F-4D97-AF65-F5344CB8AC3E}">
        <p14:creationId xmlns:p14="http://schemas.microsoft.com/office/powerpoint/2010/main" val="2633128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tag is a label that you assign to an AWS resource. Each tag consists of a key and an optional value, both of which you define. Tags enable you to categorize AWS resources, such as EC2 instances, in different ways. For example, you might tag instances by purpose, owner, or environment. </a:t>
            </a:r>
          </a:p>
          <a:p>
            <a:endParaRPr lang="en-US" dirty="0">
              <a:hlinkClick r:id="rId3"/>
            </a:endParaRPr>
          </a:p>
          <a:p>
            <a:pPr lvl="0"/>
            <a:r>
              <a:rPr lang="en-US" dirty="0"/>
              <a:t>Tagging is how you can attach metadata to an EC2 instance. </a:t>
            </a:r>
          </a:p>
          <a:p>
            <a:endParaRPr lang="en-US" dirty="0">
              <a:hlinkClick r:id="rId3"/>
            </a:endParaRPr>
          </a:p>
          <a:p>
            <a:pPr lvl="0"/>
            <a:r>
              <a:rPr lang="en-US" dirty="0"/>
              <a:t>Tag keys and tag values are case-sensitive. For example, a commonly used tag for EC2 instances is a tag key that is called Name and a tag value that describes the instance, such as My Web Server. The Name tag is exposed by default in the Amazon EC2 console </a:t>
            </a:r>
            <a:r>
              <a:rPr lang="en-US" b="1" dirty="0"/>
              <a:t>Instances</a:t>
            </a:r>
            <a:r>
              <a:rPr lang="en-US" dirty="0"/>
              <a:t> page. However, if you create a key that is called name (with lower-case n), it will not appear in the </a:t>
            </a:r>
            <a:r>
              <a:rPr lang="en-US" b="1" dirty="0"/>
              <a:t>Name</a:t>
            </a:r>
            <a:r>
              <a:rPr lang="en-US" dirty="0"/>
              <a:t> column for the list of instances (though it will still appear in the instance details panel in the </a:t>
            </a:r>
            <a:r>
              <a:rPr lang="en-US" b="1" dirty="0"/>
              <a:t>Tags</a:t>
            </a:r>
            <a:r>
              <a:rPr lang="en-US" dirty="0"/>
              <a:t> tab).</a:t>
            </a:r>
            <a:endParaRPr lang="en-US" dirty="0">
              <a:hlinkClick r:id="rId3"/>
            </a:endParaRPr>
          </a:p>
          <a:p>
            <a:endParaRPr lang="en-US" dirty="0">
              <a:hlinkClick r:id="rId3"/>
            </a:endParaRPr>
          </a:p>
          <a:p>
            <a:pPr lvl="0"/>
            <a:r>
              <a:rPr lang="en-US" dirty="0"/>
              <a:t>It is a best practice to develop tagging strategies. Using a consistent set of tag keys makes it easier for you to manage your resources. You can also search and filter the resources based on the tags that you add. See </a:t>
            </a:r>
            <a:r>
              <a:rPr lang="en-GB" dirty="0">
                <a:hlinkClick r:id="rId4"/>
              </a:rPr>
              <a:t>https://d1.awsstatic.com/whitepapers/aws-tagging-best-practices.pdf</a:t>
            </a:r>
            <a:r>
              <a:rPr lang="en-GB" dirty="0"/>
              <a:t> for more information.</a:t>
            </a:r>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20</a:t>
            </a:fld>
            <a:endParaRPr lang="en-AU"/>
          </a:p>
        </p:txBody>
      </p:sp>
    </p:spTree>
    <p:extLst>
      <p:ext uri="{BB962C8B-B14F-4D97-AF65-F5344CB8AC3E}">
        <p14:creationId xmlns:p14="http://schemas.microsoft.com/office/powerpoint/2010/main" val="2683841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security group</a:t>
            </a:r>
            <a:r>
              <a:rPr lang="en-US" dirty="0"/>
              <a:t> acts as a virtual firewall that controls network traffic for one or more instances. When you launch an instance, you can specify one or more security groups; otherwise, the default security group is used. </a:t>
            </a:r>
          </a:p>
          <a:p>
            <a:endParaRPr lang="en-US" dirty="0"/>
          </a:p>
          <a:p>
            <a:r>
              <a:rPr lang="en-US" dirty="0"/>
              <a:t>You can add </a:t>
            </a:r>
            <a:r>
              <a:rPr lang="en-US" b="1" dirty="0"/>
              <a:t>rules</a:t>
            </a:r>
            <a:r>
              <a:rPr lang="en-US" dirty="0"/>
              <a:t> to each security group. Rules allow traffic to or from its associated instances. You can modify the rules for a security group at any time, and the new rules will be automatically applied to all instances that are associated with the security group. When AWS decides whether to allow traffic to reach an instance, all the rules from all the security groups that are associated with the instance are evaluated. When you launch an instance in a virtual private cloud (VPC), you must either create a new security group or use one that already exists in that VPC. After you launch an instance, you can change its security groups. </a:t>
            </a:r>
          </a:p>
          <a:p>
            <a:endParaRPr lang="en-US" dirty="0"/>
          </a:p>
          <a:p>
            <a:r>
              <a:rPr lang="en-US" dirty="0"/>
              <a:t>When you </a:t>
            </a:r>
            <a:r>
              <a:rPr lang="en-US" b="1" dirty="0"/>
              <a:t>define a rule, </a:t>
            </a:r>
            <a:r>
              <a:rPr lang="en-US" dirty="0"/>
              <a:t>you can specify the allowable source of the network communication (inbound rules) or destination (outbound rules). The </a:t>
            </a:r>
            <a:r>
              <a:rPr lang="en-US" b="1" dirty="0"/>
              <a:t>source</a:t>
            </a:r>
            <a:r>
              <a:rPr lang="en-US" dirty="0"/>
              <a:t> can be an IP address, an IP address range, another security group, a gateway VPC endpoint, or anywhere (which means that all sources will be allowed). By default, a </a:t>
            </a:r>
            <a:r>
              <a:rPr lang="en-US" b="1" dirty="0"/>
              <a:t>security group </a:t>
            </a:r>
            <a:r>
              <a:rPr lang="en-US" dirty="0"/>
              <a:t>includes an </a:t>
            </a:r>
            <a:r>
              <a:rPr lang="en-US" b="1" dirty="0"/>
              <a:t>outbound rule </a:t>
            </a:r>
            <a:r>
              <a:rPr lang="en-US" dirty="0"/>
              <a:t>that allows all </a:t>
            </a:r>
            <a:r>
              <a:rPr lang="en-US" b="1" dirty="0"/>
              <a:t>outbound</a:t>
            </a:r>
            <a:r>
              <a:rPr lang="en-US" dirty="0"/>
              <a:t> traffic. You can remove the </a:t>
            </a:r>
            <a:r>
              <a:rPr lang="en-US" b="1" dirty="0"/>
              <a:t>rule</a:t>
            </a:r>
            <a:r>
              <a:rPr lang="en-US" dirty="0"/>
              <a:t> and add </a:t>
            </a:r>
            <a:r>
              <a:rPr lang="en-US" b="1" dirty="0"/>
              <a:t>outbound rules </a:t>
            </a:r>
            <a:r>
              <a:rPr lang="en-US" dirty="0"/>
              <a:t>that only allow specific outbound traffic. If your </a:t>
            </a:r>
            <a:r>
              <a:rPr lang="en-US" b="1" dirty="0"/>
              <a:t>security group </a:t>
            </a:r>
            <a:r>
              <a:rPr lang="en-US" dirty="0"/>
              <a:t>has no </a:t>
            </a:r>
            <a:r>
              <a:rPr lang="en-US" b="1" dirty="0"/>
              <a:t>outbound rules, </a:t>
            </a:r>
            <a:r>
              <a:rPr lang="en-US" dirty="0"/>
              <a:t>no </a:t>
            </a:r>
            <a:r>
              <a:rPr lang="en-US" b="1" dirty="0"/>
              <a:t>outbound</a:t>
            </a:r>
            <a:r>
              <a:rPr lang="en-US" dirty="0"/>
              <a:t> traffic that originates from your instance is allowed.</a:t>
            </a:r>
          </a:p>
          <a:p>
            <a:endParaRPr lang="en-US" dirty="0"/>
          </a:p>
          <a:p>
            <a:r>
              <a:rPr lang="en-US" b="1" dirty="0"/>
              <a:t>In the example rule, </a:t>
            </a:r>
            <a:r>
              <a:rPr lang="en-US" dirty="0"/>
              <a:t>the rule allows Secure Shell (SSH) traffic over Transmission Control Protocol (TCP) port 22 if the source of the request is My IP. The My IP </a:t>
            </a:r>
            <a:r>
              <a:rPr lang="en-US" dirty="0" err="1"/>
              <a:t>IP</a:t>
            </a:r>
            <a:r>
              <a:rPr lang="en-US" dirty="0"/>
              <a:t> address is calculated by determining what IP address you are currently connected to the AWS Cloud from when you define the rule. </a:t>
            </a:r>
          </a:p>
          <a:p>
            <a:endParaRPr lang="en-US" dirty="0"/>
          </a:p>
          <a:p>
            <a:r>
              <a:rPr lang="en-US" dirty="0"/>
              <a:t>Network access control lists (network ACLs) can also be used are firewalls to protect subnets in a VPC.</a:t>
            </a:r>
          </a:p>
          <a:p>
            <a:endParaRPr lang="en-US" dirty="0"/>
          </a:p>
          <a:p>
            <a:r>
              <a:rPr lang="en-AU" b="1" dirty="0">
                <a:effectLst/>
                <a:latin typeface="Calibri" panose="020F0502020204030204" pitchFamily="34" charset="0"/>
                <a:ea typeface="Calibri" panose="020F0502020204030204" pitchFamily="34" charset="0"/>
              </a:rPr>
              <a:t>For accessibility:</a:t>
            </a:r>
            <a:r>
              <a:rPr lang="en-AU" dirty="0">
                <a:effectLst/>
                <a:latin typeface="Calibri" panose="020F0502020204030204" pitchFamily="34" charset="0"/>
                <a:ea typeface="Calibri" panose="020F0502020204030204" pitchFamily="34" charset="0"/>
              </a:rPr>
              <a:t> Screenshot of the EC2 console screen where you can define a security group rule. It shows a rule with type SSH, protocol TCP, port range 22, source My IP, and a CIDR block that shows an example My IP address. </a:t>
            </a:r>
            <a:r>
              <a:rPr lang="en-AU" b="1" dirty="0">
                <a:effectLst/>
                <a:latin typeface="Calibri" panose="020F0502020204030204" pitchFamily="34" charset="0"/>
                <a:ea typeface="Calibri" panose="020F0502020204030204" pitchFamily="34" charset="0"/>
              </a:rPr>
              <a:t>End of accessibility description.</a:t>
            </a:r>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21</a:t>
            </a:fld>
            <a:endParaRPr lang="en-AU"/>
          </a:p>
        </p:txBody>
      </p:sp>
    </p:spTree>
    <p:extLst>
      <p:ext uri="{BB962C8B-B14F-4D97-AF65-F5344CB8AC3E}">
        <p14:creationId xmlns:p14="http://schemas.microsoft.com/office/powerpoint/2010/main" val="212097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So far, you have learned about application components, environments, and ways to secure access to applications. When designing an application, you must also ensure that it will run optimally under various conditions and will not need manual intervention to recover from failures.</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Many modern applications are expected to handle petabytes of data, require close to 100 percent uptime, and deliver sub-second response time to users. A growing number of enterprises have adopted reactive architectures and reactive systems because it is necessary to design applications in a highly scalable and responsive way. </a:t>
            </a:r>
            <a:r>
              <a:rPr lang="en-US" dirty="0">
                <a:latin typeface="Calibri" panose="020F0502020204030204" pitchFamily="34" charset="0"/>
              </a:rPr>
              <a:t>To meet these requirements, you can implement a </a:t>
            </a:r>
            <a:r>
              <a:rPr lang="en-US" dirty="0">
                <a:latin typeface="Calibri" panose="020F0502020204030204" pitchFamily="34" charset="0"/>
                <a:ea typeface="Amazon Ember Light" panose="020B0403020204020204" pitchFamily="34" charset="0"/>
                <a:cs typeface="Amazon Ember Light" panose="020B0403020204020204" pitchFamily="34" charset="0"/>
              </a:rPr>
              <a:t>reactive application that is </a:t>
            </a:r>
            <a:r>
              <a:rPr lang="en-US" dirty="0">
                <a:latin typeface="Calibri" panose="020F0502020204030204" pitchFamily="34" charset="0"/>
              </a:rPr>
              <a:t>elastic, resilient, responsive, and message-driven.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Elastic scaling is a mechanism to scale an application’s resources dynamically. This type of scaling will add or remove resources to react to changes and avoid downtime or traffic bottlenecks. </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Responsive means that applications should respond in a timely manner with the lowest latency possible. A reactive application remains responsive under varying workloads. </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A resilient application stays responsive in the face of failure. A resilient application has the capability to recover when stressed by load, attacks, and failure of any component in the workload's components. </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Being message-driven is perhaps the most important characteristic of reactive systems. To establish boundaries between services, reactive applications rely on asynchronous message-passing to help ensure loose coupling, isolation, and location transparency. Location transparency is the access of data without the explicit knowledge of the data location.</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29</a:t>
            </a:fld>
            <a:endParaRPr lang="en-AU"/>
          </a:p>
        </p:txBody>
      </p:sp>
    </p:spTree>
    <p:extLst>
      <p:ext uri="{BB962C8B-B14F-4D97-AF65-F5344CB8AC3E}">
        <p14:creationId xmlns:p14="http://schemas.microsoft.com/office/powerpoint/2010/main" val="1134799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One characteristic of a reactive architecture is elasticity. </a:t>
            </a:r>
            <a:r>
              <a:rPr lang="en-US" i="0" dirty="0">
                <a:latin typeface="Calibri" panose="020F0502020204030204" pitchFamily="34" charset="0"/>
              </a:rPr>
              <a:t>Elasticity</a:t>
            </a:r>
            <a:r>
              <a:rPr lang="en-US" dirty="0">
                <a:latin typeface="Calibri" panose="020F0502020204030204" pitchFamily="34" charset="0"/>
              </a:rPr>
              <a:t> means that the infrastructure can expand and contract when capacity requirements change. You can acquire resources when you need them and release resources when you do not. For example, you can increase the number of web servers when traffic to your application spikes or lower the write capacity on your database when traffic goes down.</a:t>
            </a:r>
          </a:p>
          <a:p>
            <a:endParaRPr lang="en-US" b="0" dirty="0">
              <a:latin typeface="Calibri" panose="020F0502020204030204" pitchFamily="34" charset="0"/>
            </a:endParaRPr>
          </a:p>
          <a:p>
            <a:pPr marL="0" marR="0" lvl="0" indent="0" defTabSz="914400" rtl="0" eaLnBrk="1" fontAlgn="auto" latinLnBrk="0" hangingPunct="1">
              <a:buClrTx/>
              <a:buSzTx/>
              <a:buFontTx/>
              <a:buNone/>
              <a:tabLst/>
              <a:defRPr/>
            </a:pPr>
            <a:r>
              <a:rPr lang="en-US" b="0" dirty="0">
                <a:latin typeface="Calibri" panose="020F0502020204030204" pitchFamily="34" charset="0"/>
                <a:cs typeface="Arial"/>
              </a:rPr>
              <a:t>Scaling is the ability to increase or decrease the compute capacity of your application. </a:t>
            </a:r>
            <a:r>
              <a:rPr lang="en-US" b="0" i="0" dirty="0">
                <a:latin typeface="Calibri" panose="020F0502020204030204" pitchFamily="34" charset="0"/>
              </a:rPr>
              <a:t>Scaling</a:t>
            </a:r>
            <a:r>
              <a:rPr lang="en-US" b="0" dirty="0">
                <a:latin typeface="Calibri" panose="020F0502020204030204" pitchFamily="34" charset="0"/>
              </a:rPr>
              <a:t> is a technique that is used to achieve elasticity. </a:t>
            </a:r>
          </a:p>
          <a:p>
            <a:pPr marL="0" marR="0" lvl="0" indent="0" defTabSz="914400" rtl="0" eaLnBrk="1" fontAlgn="auto" latinLnBrk="0" hangingPunct="1">
              <a:buClrTx/>
              <a:buSzTx/>
              <a:buFontTx/>
              <a:buNone/>
              <a:tabLst/>
              <a:defRPr/>
            </a:pPr>
            <a:endParaRPr lang="en-US" i="0" dirty="0">
              <a:latin typeface="Calibri" panose="020F0502020204030204" pitchFamily="34" charset="0"/>
            </a:endParaRPr>
          </a:p>
          <a:p>
            <a:pPr marL="0" marR="0" lvl="0" indent="0" defTabSz="914400" rtl="0" eaLnBrk="1" fontAlgn="auto" latinLnBrk="0" hangingPunct="1">
              <a:buClrTx/>
              <a:buSzTx/>
              <a:buFontTx/>
              <a:buNone/>
              <a:tabLst/>
              <a:defRPr/>
            </a:pPr>
            <a:r>
              <a:rPr lang="en-US" i="0" dirty="0">
                <a:latin typeface="Calibri" panose="020F0502020204030204" pitchFamily="34" charset="0"/>
              </a:rPr>
              <a:t>Vertical scaling </a:t>
            </a:r>
            <a:r>
              <a:rPr lang="en-US" dirty="0">
                <a:latin typeface="Calibri" panose="020F0502020204030204" pitchFamily="34" charset="0"/>
              </a:rPr>
              <a:t>is where you increase or decrease the specifications of an individual resource. For example, you could upgrade to a new server with a larger hard drive or a faster CPU. Typically the application and data has to be transferred to a new resource, which can lead to application downtime. For example, with Amazon EC2, you can stop an instance and resize it to an instance type that has more RAM, CPU, I/O, or networking capabilities. AWS will transfer the instance data to the new instance for you. Vertical scaling can eventually reach a limit because it is hardware bound, and it is not always a cost-efficient or a highly available approach. </a:t>
            </a:r>
          </a:p>
          <a:p>
            <a:pPr marL="0" marR="0" lvl="0" indent="0" defTabSz="914400" rtl="0" eaLnBrk="1" fontAlgn="auto" latinLnBrk="0" hangingPunct="1">
              <a:buClrTx/>
              <a:buSzTx/>
              <a:buFontTx/>
              <a:buNone/>
              <a:tabLst/>
              <a:defRPr/>
            </a:pPr>
            <a:endParaRPr lang="en-US" i="0" dirty="0">
              <a:latin typeface="Calibri" panose="020F0502020204030204" pitchFamily="34" charset="0"/>
            </a:endParaRPr>
          </a:p>
          <a:p>
            <a:pPr marL="0" marR="0" lvl="0" indent="0" defTabSz="914400" rtl="0" eaLnBrk="1" fontAlgn="auto" latinLnBrk="0" hangingPunct="1">
              <a:buClrTx/>
              <a:buSzTx/>
              <a:buFontTx/>
              <a:buNone/>
              <a:tabLst/>
              <a:defRPr/>
            </a:pPr>
            <a:r>
              <a:rPr lang="en-US" i="0" dirty="0">
                <a:latin typeface="Calibri" panose="020F0502020204030204" pitchFamily="34" charset="0"/>
              </a:rPr>
              <a:t>Horizontal scaling </a:t>
            </a:r>
            <a:r>
              <a:rPr lang="en-US" dirty="0">
                <a:latin typeface="Calibri" panose="020F0502020204030204" pitchFamily="34" charset="0"/>
              </a:rPr>
              <a:t>is where you add or remove resources available to the application. </a:t>
            </a:r>
            <a:r>
              <a:rPr lang="en-US" i="0" kern="1200" dirty="0">
                <a:solidFill>
                  <a:schemeClr val="tx1"/>
                </a:solidFill>
                <a:effectLst/>
                <a:latin typeface="Calibri" panose="020F0502020204030204" pitchFamily="34" charset="0"/>
                <a:ea typeface="+mn-ea"/>
                <a:cs typeface="+mn-cs"/>
              </a:rPr>
              <a:t>For example, you might need to add more hard drives to a storage array or add more servers to support an application. </a:t>
            </a:r>
            <a:r>
              <a:rPr lang="en-US" kern="1200" dirty="0">
                <a:solidFill>
                  <a:schemeClr val="tx1"/>
                </a:solidFill>
                <a:effectLst/>
                <a:latin typeface="Calibri" panose="020F0502020204030204" pitchFamily="34" charset="0"/>
                <a:ea typeface="+mn-ea"/>
                <a:cs typeface="+mn-cs"/>
              </a:rPr>
              <a:t>Adding resources is referred to as </a:t>
            </a:r>
            <a:r>
              <a:rPr lang="en-US" i="0" kern="1200" dirty="0">
                <a:solidFill>
                  <a:schemeClr val="tx1"/>
                </a:solidFill>
                <a:effectLst/>
                <a:latin typeface="Calibri" panose="020F0502020204030204" pitchFamily="34" charset="0"/>
                <a:ea typeface="+mn-ea"/>
                <a:cs typeface="+mn-cs"/>
              </a:rPr>
              <a:t>scaling out</a:t>
            </a:r>
            <a:r>
              <a:rPr lang="en-US" kern="1200" dirty="0">
                <a:solidFill>
                  <a:schemeClr val="tx1"/>
                </a:solidFill>
                <a:effectLst/>
                <a:latin typeface="Calibri" panose="020F0502020204030204" pitchFamily="34" charset="0"/>
                <a:ea typeface="+mn-ea"/>
                <a:cs typeface="+mn-cs"/>
              </a:rPr>
              <a:t>, and ending resources is referred to as </a:t>
            </a:r>
            <a:r>
              <a:rPr lang="en-US" i="0" kern="1200" dirty="0">
                <a:solidFill>
                  <a:schemeClr val="tx1"/>
                </a:solidFill>
                <a:effectLst/>
                <a:latin typeface="Calibri" panose="020F0502020204030204" pitchFamily="34" charset="0"/>
                <a:ea typeface="+mn-ea"/>
                <a:cs typeface="+mn-cs"/>
              </a:rPr>
              <a:t>scaling in</a:t>
            </a:r>
            <a:r>
              <a:rPr lang="en-US" i="1" kern="1200" dirty="0">
                <a:solidFill>
                  <a:schemeClr val="tx1"/>
                </a:solidFill>
                <a:effectLst/>
                <a:latin typeface="Calibri" panose="020F0502020204030204" pitchFamily="34" charset="0"/>
                <a:ea typeface="+mn-ea"/>
                <a:cs typeface="+mn-cs"/>
              </a:rPr>
              <a:t>.</a:t>
            </a:r>
            <a:r>
              <a:rPr lang="en-US" i="0" kern="1200" dirty="0">
                <a:solidFill>
                  <a:schemeClr val="tx1"/>
                </a:solidFill>
                <a:effectLst/>
                <a:latin typeface="Calibri" panose="020F0502020204030204" pitchFamily="34" charset="0"/>
                <a:ea typeface="+mn-ea"/>
                <a:cs typeface="+mn-cs"/>
              </a:rPr>
              <a:t> Horizontal scaling is a good way to build internet-scale applications that take advantage of the elasticity of cloud computing. Applications, data, or both are</a:t>
            </a:r>
            <a:r>
              <a:rPr lang="en-US" dirty="0">
                <a:latin typeface="Calibri" panose="020F0502020204030204" pitchFamily="34" charset="0"/>
              </a:rPr>
              <a:t> automatically transferred to added resources.</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30</a:t>
            </a:fld>
            <a:endParaRPr lang="en-AU"/>
          </a:p>
        </p:txBody>
      </p:sp>
    </p:spTree>
    <p:extLst>
      <p:ext uri="{BB962C8B-B14F-4D97-AF65-F5344CB8AC3E}">
        <p14:creationId xmlns:p14="http://schemas.microsoft.com/office/powerpoint/2010/main" val="1971988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Calibri" panose="020F0502020204030204" pitchFamily="34" charset="0"/>
              </a:rPr>
              <a:t>You can select the type of load balancer that best suits your needs. </a:t>
            </a:r>
            <a:r>
              <a:rPr lang="en-US" b="0" i="0" u="none" strike="noStrike" baseline="0" dirty="0">
                <a:latin typeface="Calibri" panose="020F0502020204030204" pitchFamily="34" charset="0"/>
              </a:rPr>
              <a:t>All the types offer the high availability, automatic scaling, and robust security required to make your applications fault-tolerant. </a:t>
            </a:r>
          </a:p>
          <a:p>
            <a:endParaRPr lang="en-US" b="0" i="0" u="none" strike="noStrike" baseline="0" dirty="0">
              <a:latin typeface="Calibri" panose="020F0502020204030204" pitchFamily="34" charset="0"/>
            </a:endParaRPr>
          </a:p>
          <a:p>
            <a:r>
              <a:rPr lang="en-US" b="0" i="0" u="none" strike="noStrike" baseline="0" dirty="0">
                <a:latin typeface="Calibri" panose="020F0502020204030204" pitchFamily="34" charset="0"/>
              </a:rPr>
              <a:t>An</a:t>
            </a:r>
            <a:r>
              <a:rPr lang="en-US" b="0" i="0" dirty="0">
                <a:effectLst/>
                <a:latin typeface="Calibri" panose="020F0502020204030204" pitchFamily="34" charset="0"/>
              </a:rPr>
              <a:t> Application Load Balancer (ALB) functions at the application layer, the seventh layer of the Open Systems Interconnection (OSI) model.</a:t>
            </a:r>
            <a:r>
              <a:rPr lang="en-US" b="0" i="0" u="none" strike="noStrike" baseline="0" dirty="0">
                <a:latin typeface="Calibri" panose="020F0502020204030204" pitchFamily="34" charset="0"/>
              </a:rPr>
              <a:t> It routes HTTP and HTTPS traffic to targets such as EC2 instances, containers, IP addresses, and Lambda functions based on the content of the request. </a:t>
            </a:r>
            <a:r>
              <a:rPr lang="en-US" b="0" i="0" dirty="0">
                <a:effectLst/>
                <a:latin typeface="Calibri" panose="020F0502020204030204" pitchFamily="34" charset="0"/>
              </a:rPr>
              <a:t>ALBs support Automatic Target Weights (ATW), which use a routing algorithm to optimize the amount of traffic sent to each target based on information available to the load balancer. ALB will adjust the amount of traffic sent to each target based on implicit health information, such as 5XX errors and connection errors.</a:t>
            </a:r>
            <a:endParaRPr lang="en-US" b="0" i="0" u="none" strike="noStrike" baseline="0" dirty="0">
              <a:latin typeface="Calibri" panose="020F0502020204030204" pitchFamily="34" charset="0"/>
            </a:endParaRPr>
          </a:p>
          <a:p>
            <a:endParaRPr lang="en-US" b="0" i="0" u="none" strike="noStrike" baseline="0" dirty="0">
              <a:latin typeface="Calibri" panose="020F0502020204030204" pitchFamily="34" charset="0"/>
            </a:endParaRPr>
          </a:p>
          <a:p>
            <a:r>
              <a:rPr lang="en-US" b="0" i="0" dirty="0">
                <a:effectLst/>
                <a:latin typeface="Calibri" panose="020F0502020204030204" pitchFamily="34" charset="0"/>
              </a:rPr>
              <a:t>A Network Load Balancer functions at the fourth layer of the OSI model, the transport layer. It can handle millions of requests per second </a:t>
            </a:r>
            <a:r>
              <a:rPr lang="en-US" b="0" i="0" u="none" strike="noStrike" baseline="0" dirty="0">
                <a:latin typeface="Calibri" panose="020F0502020204030204" pitchFamily="34" charset="0"/>
              </a:rPr>
              <a:t>and routes connections to targets such as EC2 instances, containers, Application Load Balancers, and IP addresses. It supports TCP, UDP, TCP_UDP, and TLS protocols and performs with ultra-low latencies. A Network Load Balancer is optimized to handle sudden and volatile network traffic patterns.</a:t>
            </a:r>
          </a:p>
          <a:p>
            <a:endParaRPr lang="en-US" b="0" i="0" u="none" strike="noStrike" baseline="0" dirty="0">
              <a:effectLst/>
              <a:latin typeface="Calibri" panose="020F0502020204030204" pitchFamily="34" charset="0"/>
            </a:endParaRPr>
          </a:p>
          <a:p>
            <a:r>
              <a:rPr lang="en-US" b="0" i="0" dirty="0">
                <a:effectLst/>
                <a:latin typeface="Calibri" panose="020F0502020204030204" pitchFamily="34" charset="0"/>
              </a:rPr>
              <a:t>A Gateway Load Balancer operates at the third layer of the OSI model, the network layer. By using a Gateway Load Balancer, you can deploy, scale, and manage virtual appliances, such as firewalls, intrusion detection and prevention systems, and deep packet inspection systems. A Gateway Load Balancer combines a single entry and exit point for all traffic and distributes traffic while scaling your virtual appliances with the demand.</a:t>
            </a:r>
            <a:endParaRPr lang="en-US" b="0" i="0" u="none" strike="noStrike" baseline="0" dirty="0">
              <a:latin typeface="Calibri" panose="020F0502020204030204" pitchFamily="34" charset="0"/>
            </a:endParaRPr>
          </a:p>
          <a:p>
            <a:endParaRPr lang="en-US" b="0" i="0" u="none" strike="noStrike" baseline="0" dirty="0">
              <a:latin typeface="Calibri" panose="020F0502020204030204" pitchFamily="34" charset="0"/>
            </a:endParaRPr>
          </a:p>
          <a:p>
            <a:r>
              <a:rPr lang="en-US" b="0" i="0" u="none" strike="noStrike" baseline="0" dirty="0">
                <a:latin typeface="Calibri" panose="020F0502020204030204" pitchFamily="34" charset="0"/>
              </a:rPr>
              <a:t>A Classic Load Balancer provides basic load balancing across multiple EC2 instances, and it operates at both the application level and network transport level. A Classic Load Balancer supports the load balancing of applications that use HTTP, HTTPS, TCP, and SSL. The Classic Load Balancer is an older implementation. When possible, AWS recommends that you use a dedicated Application Load Balancer or Network Load Balancer.</a:t>
            </a:r>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31</a:t>
            </a:fld>
            <a:endParaRPr lang="en-AU"/>
          </a:p>
        </p:txBody>
      </p:sp>
    </p:spTree>
    <p:extLst>
      <p:ext uri="{BB962C8B-B14F-4D97-AF65-F5344CB8AC3E}">
        <p14:creationId xmlns:p14="http://schemas.microsoft.com/office/powerpoint/2010/main" val="2678892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In the cloud, scaling can be handled automatically. </a:t>
            </a:r>
            <a:r>
              <a:rPr lang="en-US" dirty="0">
                <a:latin typeface="Calibri" panose="020F0502020204030204" pitchFamily="34" charset="0"/>
                <a:ea typeface="Amazon Ember Light" panose="020B0403020204020204" pitchFamily="34" charset="0"/>
                <a:cs typeface="Amazon Ember Light" panose="020B0403020204020204" pitchFamily="34" charset="0"/>
              </a:rPr>
              <a:t>Amazon EC2 Auto Scaling does this by grouping EC2 instances in a management group called an Amazon EC2 Auto Scaling group. The group can span across Availability Zones. An Amazon EC2 Auto Scaling group can</a:t>
            </a:r>
            <a:r>
              <a:rPr lang="en-US" dirty="0">
                <a:latin typeface="Calibri" panose="020F0502020204030204" pitchFamily="34" charset="0"/>
              </a:rPr>
              <a:t> automatically add or remove EC2 instances according to user-defined scaling policies, schedule actions, and Elastic Load Balancing (ELB) health checks.</a:t>
            </a:r>
            <a:r>
              <a:rPr lang="en-US" kern="1200" dirty="0">
                <a:solidFill>
                  <a:schemeClr val="tx1"/>
                </a:solidFill>
                <a:effectLst/>
                <a:latin typeface="Calibri" panose="020F0502020204030204" pitchFamily="34" charset="0"/>
                <a:ea typeface="+mn-ea"/>
                <a:cs typeface="+mn-cs"/>
              </a:rPr>
              <a:t> When a new EC2 instance is added to the group, a launch template or launch configuration that specifies the instance configuration is used.</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Amazon EC2 Auto Scaling integrates with ELB. It automatically registers new instances with load balancers to distribute incoming traffic across the instances in the group. Amazon EC2 Auto Scaling can receive notifications of an unhealthy instance to remove from the group. The group can also balance the number of instances across Availability Zones so that the number of instances is similar for each Availability Zone.</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r>
              <a:rPr lang="en-US" b="0" i="0" dirty="0">
                <a:solidFill>
                  <a:srgbClr val="16191F"/>
                </a:solidFill>
                <a:effectLst/>
                <a:latin typeface="Calibri" panose="020F0502020204030204" pitchFamily="34" charset="0"/>
              </a:rPr>
              <a:t>With Amazon EC2 Auto Scaling, your applications gain the following benefits:</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fault tolerance: Amazon EC2 Auto Scaling can detect when an instance is unhealthy, terminate it, and launch an instance to replace it. You can also configure Amazon EC2 Auto Scaling to use multiple Availability Zones. If one Availability Zone becomes unavailable, Amazon EC2 Auto Scaling can launch instances in another one to compensate.</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availability: Amazon EC2 Auto Scaling helps ensure that your application always has the right amount of capacity to handle the current traffic demand.</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Better cost management: Amazon EC2 Auto Scaling can dynamically increase and decrease capacity as needed. Because you pay for the EC2 instances you use, you save money by launching instances when they are needed and terminating them when they aren’t.</a:t>
            </a:r>
          </a:p>
          <a:p>
            <a:pPr>
              <a:buFont typeface="Arial" panose="020B0604020202020204" pitchFamily="34" charset="0"/>
              <a:buNone/>
            </a:pPr>
            <a:endParaRPr lang="en-US" b="0" i="0" dirty="0">
              <a:solidFill>
                <a:srgbClr val="16191F"/>
              </a:solidFill>
              <a:effectLst/>
              <a:latin typeface="Calibri" panose="020F0502020204030204" pitchFamily="34" charset="0"/>
            </a:endParaRPr>
          </a:p>
          <a:p>
            <a:pPr>
              <a:buFont typeface="Arial" panose="020B0604020202020204" pitchFamily="34" charset="0"/>
              <a:buNone/>
            </a:pPr>
            <a:r>
              <a:rPr lang="en-US" b="0" i="0" dirty="0">
                <a:solidFill>
                  <a:srgbClr val="16191F"/>
                </a:solidFill>
                <a:effectLst/>
                <a:latin typeface="Calibri" panose="020F0502020204030204" pitchFamily="34" charset="0"/>
              </a:rPr>
              <a:t>For more information, see the AWS Well-Architected Framework on the content resources page of your online course.</a:t>
            </a:r>
            <a:endParaRPr lang="en-US" b="0" dirty="0">
              <a:latin typeface="Calibri" panose="020F0502020204030204" pitchFamily="34" charset="0"/>
            </a:endParaRP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32</a:t>
            </a:fld>
            <a:endParaRPr lang="en-AU"/>
          </a:p>
        </p:txBody>
      </p:sp>
    </p:spTree>
    <p:extLst>
      <p:ext uri="{BB962C8B-B14F-4D97-AF65-F5344CB8AC3E}">
        <p14:creationId xmlns:p14="http://schemas.microsoft.com/office/powerpoint/2010/main" val="2078583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Amazon EC2 Auto Scaling uses Amazon EC2 Auto Scaling groups to manage a collection of EC2 instances. The number of instances in the group is determined by the capacity settings. Minimum capacity is the smallest number of instances needed to run the application, and maximum capacity is the largest number of instances permitted for the group. Desired capacity is the optimal number of instances needed to run the application under normal circumstances. When demand or environment changes, then desired capacity is adjusted.</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You can adjust the group size to meet demand, either manually or by using automatic scaling. In both cases, you cannot exceed the group capacity minimum or maximum settings. </a:t>
            </a:r>
            <a:r>
              <a:rPr lang="en-US" i="0" kern="1200" dirty="0">
                <a:solidFill>
                  <a:schemeClr val="tx1"/>
                </a:solidFill>
                <a:effectLst/>
                <a:latin typeface="Calibri" panose="020F0502020204030204" pitchFamily="34" charset="0"/>
              </a:rPr>
              <a:t>With </a:t>
            </a:r>
            <a:r>
              <a:rPr lang="en-US" dirty="0">
                <a:latin typeface="Calibri" panose="020F0502020204030204" pitchFamily="34" charset="0"/>
                <a:ea typeface="Amazon Ember Light" panose="020B0403020204020204" pitchFamily="34" charset="0"/>
                <a:cs typeface="Amazon Ember Light" panose="020B0403020204020204" pitchFamily="34" charset="0"/>
              </a:rPr>
              <a:t>manual scaling</a:t>
            </a:r>
            <a:r>
              <a:rPr lang="en-US" dirty="0">
                <a:latin typeface="Calibri" panose="020F0502020204030204" pitchFamily="34" charset="0"/>
              </a:rPr>
              <a:t>, you specify a new value for the maximum, minimum, or desired capacity of the group. </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Scaling starts with an event, or scaling action, which instructs an Amazon EC2 Auto Scaling group to either launch or end EC2 instances. To launch an EC2 instance, the group needs to know which type of EC2 instances to initiate. The group launch template is used to specify the EC2 instance configuration details, such as the instance type and the Amazon Machine Image (AMI) ID. </a:t>
            </a:r>
            <a:r>
              <a:rPr lang="en-US" kern="1200" dirty="0">
                <a:solidFill>
                  <a:schemeClr val="tx1"/>
                </a:solidFill>
                <a:effectLst/>
                <a:latin typeface="Calibri" panose="020F0502020204030204" pitchFamily="34" charset="0"/>
                <a:ea typeface="+mn-ea"/>
                <a:cs typeface="+mn-cs"/>
              </a:rPr>
              <a:t>You can also specify what percentage of the desired capacity should be fulfilled with </a:t>
            </a:r>
            <a:r>
              <a:rPr lang="en-US" dirty="0">
                <a:latin typeface="Calibri" panose="020F0502020204030204" pitchFamily="34" charset="0"/>
                <a:ea typeface="Amazon Ember Light" panose="020B0403020204020204" pitchFamily="34" charset="0"/>
                <a:cs typeface="Amazon Ember Light" panose="020B0403020204020204" pitchFamily="34" charset="0"/>
              </a:rPr>
              <a:t>On-Demand Instances, Reserved Instances, and Spot Instances. </a:t>
            </a:r>
            <a:r>
              <a:rPr lang="en-US" dirty="0">
                <a:latin typeface="Calibri" panose="020F0502020204030204" pitchFamily="34" charset="0"/>
              </a:rPr>
              <a:t>Amazon EC2 Auto Scaling then provisions the lowest price combination of instances to meet the desired capacity based on these preferences. </a:t>
            </a:r>
            <a:r>
              <a:rPr lang="en-US" dirty="0">
                <a:latin typeface="Calibri" panose="020F0502020204030204" pitchFamily="34" charset="0"/>
                <a:ea typeface="Amazon Ember Light" panose="020B0403020204020204" pitchFamily="34" charset="0"/>
                <a:cs typeface="Amazon Ember Light" panose="020B0403020204020204" pitchFamily="34" charset="0"/>
              </a:rPr>
              <a:t>On-Demand and Reserved Instances are immediately available, but Spot Instances might or might not be available at a specific time.</a:t>
            </a:r>
            <a:r>
              <a:rPr lang="en-US" dirty="0">
                <a:latin typeface="Calibri" panose="020F0502020204030204" pitchFamily="34" charset="0"/>
              </a:rPr>
              <a:t> </a:t>
            </a:r>
            <a:r>
              <a:rPr lang="en-US" b="0" i="0" dirty="0">
                <a:solidFill>
                  <a:srgbClr val="16191F"/>
                </a:solidFill>
                <a:effectLst/>
                <a:latin typeface="Calibri" panose="020F0502020204030204" pitchFamily="34" charset="0"/>
              </a:rPr>
              <a:t>A launch template can be versioned. </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Usually, an Amazon EC2 Auto Scaling group works with a load balancer to assist with scaling. The group can opt to receive load balancer instance health check notifications in addition to the group’s own instance health checks. The group can register new instances with the load balancer.</a:t>
            </a:r>
          </a:p>
          <a:p>
            <a:pPr marL="0" marR="0" lvl="0" indent="0" defTabSz="914400" rtl="0" eaLnBrk="1" fontAlgn="auto" latinLnBrk="0" hangingPunct="1">
              <a:buClrTx/>
              <a:buSzTx/>
              <a:buFontTx/>
              <a:buNone/>
              <a:tabLst/>
              <a:defRPr/>
            </a:pPr>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dirty="0">
                <a:solidFill>
                  <a:srgbClr val="16191F"/>
                </a:solidFill>
                <a:effectLst/>
                <a:latin typeface="Calibri" panose="020F0502020204030204" pitchFamily="34" charset="0"/>
              </a:rPr>
              <a:t>A new Amazon EC2 Auto Scaling group has no scaling mechanisms. You can add scaling mechanisms, such as schedule actions, dynamic scaling policies, and a predictive scaling policy.</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33</a:t>
            </a:fld>
            <a:endParaRPr lang="en-AU"/>
          </a:p>
        </p:txBody>
      </p:sp>
    </p:spTree>
    <p:extLst>
      <p:ext uri="{BB962C8B-B14F-4D97-AF65-F5344CB8AC3E}">
        <p14:creationId xmlns:p14="http://schemas.microsoft.com/office/powerpoint/2010/main" val="1960888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91F"/>
                </a:solidFill>
                <a:effectLst/>
                <a:latin typeface="Calibri" panose="020F0502020204030204" pitchFamily="34" charset="0"/>
              </a:rPr>
              <a:t>In the example on this slide, automatic scaling is used. The group starts by launching enough instances to meet its desired capacity, which is two instances: instances 1 and 2. If an unhealthy instance is reported by the load balancer, the Amazon EC2 Auto Scaling group will end the unhealthy instance and replace it with a new instance.</a:t>
            </a:r>
          </a:p>
          <a:p>
            <a:endParaRPr lang="en-US" b="0" i="0" dirty="0">
              <a:solidFill>
                <a:srgbClr val="16191F"/>
              </a:solidFill>
              <a:effectLst/>
              <a:latin typeface="Calibri" panose="020F0502020204030204" pitchFamily="34" charset="0"/>
            </a:endParaRPr>
          </a:p>
          <a:p>
            <a:r>
              <a:rPr lang="en-US" b="0" i="0" dirty="0">
                <a:solidFill>
                  <a:srgbClr val="16191F"/>
                </a:solidFill>
                <a:effectLst/>
                <a:latin typeface="Calibri" panose="020F0502020204030204" pitchFamily="34" charset="0"/>
              </a:rPr>
              <a:t>You can use scaling policies to increase the number of instances in your group dynamically to meet changing conditions. In the example on this slide, the Amazon EC2 Auto Scaling group tracks a metric from an AWS service such as CloudWatch or </a:t>
            </a:r>
            <a:r>
              <a:rPr lang="en-US" b="0" i="0" kern="1200" dirty="0">
                <a:solidFill>
                  <a:schemeClr val="tx1"/>
                </a:solidFill>
                <a:effectLst/>
                <a:latin typeface="Calibri" panose="020F0502020204030204" pitchFamily="34" charset="0"/>
                <a:ea typeface="+mn-ea"/>
                <a:cs typeface="+mn-cs"/>
              </a:rPr>
              <a:t>Amazon Simple Queue Service (Amazon SQS) </a:t>
            </a:r>
            <a:r>
              <a:rPr lang="en-US" b="0" i="0" dirty="0">
                <a:solidFill>
                  <a:srgbClr val="16191F"/>
                </a:solidFill>
                <a:effectLst/>
                <a:latin typeface="Calibri" panose="020F0502020204030204" pitchFamily="34" charset="0"/>
              </a:rPr>
              <a:t>to scale out. By using a launch template, the Amazon EC2 Auto Scaling group scales out by adding instance 3 to the group to reach the maximum capacity of three instances. The Amazon EC2 Auto Scaling group will make sure that the maximum capacity will not be exceeded even if another scaling out notification is received.</a:t>
            </a:r>
          </a:p>
          <a:p>
            <a:endParaRPr lang="en-US" b="0" i="0" dirty="0">
              <a:solidFill>
                <a:srgbClr val="16191F"/>
              </a:solidFill>
              <a:effectLst/>
              <a:latin typeface="Calibri" panose="020F0502020204030204" pitchFamily="34" charset="0"/>
            </a:endParaRPr>
          </a:p>
          <a:p>
            <a:r>
              <a:rPr lang="en-US" b="0" i="0" dirty="0">
                <a:solidFill>
                  <a:srgbClr val="16191F"/>
                </a:solidFill>
                <a:effectLst/>
                <a:latin typeface="Calibri" panose="020F0502020204030204" pitchFamily="34" charset="0"/>
              </a:rPr>
              <a:t>Likewise, you can use scaling policies to decrease the number of instances in your Amazon EC2 Auto Scaling group. In the example on this slide, a scheduled scaling policy activates to reduce the Amazon EC2 Auto Scaling group capacity to the minimum number of instances in off-peak hours. The Amazon EC2 Auto Scaling group scales in by ending instances 1 and 2 to reach a minimum capacity of one instance with instance 3 running.</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34</a:t>
            </a:fld>
            <a:endParaRPr lang="en-AU"/>
          </a:p>
        </p:txBody>
      </p:sp>
    </p:spTree>
    <p:extLst>
      <p:ext uri="{BB962C8B-B14F-4D97-AF65-F5344CB8AC3E}">
        <p14:creationId xmlns:p14="http://schemas.microsoft.com/office/powerpoint/2010/main" val="1411154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Amazon EC2 Auto Scaling policies provide several ways to adjust scaling to best meet the compute requirements of your applications.</a:t>
            </a:r>
          </a:p>
          <a:p>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i="0" kern="1200" dirty="0">
                <a:solidFill>
                  <a:schemeClr val="tx1"/>
                </a:solidFill>
                <a:effectLst/>
                <a:latin typeface="Calibri" panose="020F0502020204030204" pitchFamily="34" charset="0"/>
              </a:rPr>
              <a:t>With scheduled scaling, </a:t>
            </a:r>
            <a:r>
              <a:rPr lang="en-US" dirty="0">
                <a:latin typeface="Calibri" panose="020F0502020204030204" pitchFamily="34" charset="0"/>
              </a:rPr>
              <a:t>scaling actions are performed automatically as a function of a date and time. This feature is useful for predictable workloads when you know exactly when to increase or decrease the number of instances in your group. For example, suppose</a:t>
            </a:r>
            <a:r>
              <a:rPr lang="en-US" baseline="0" dirty="0">
                <a:latin typeface="Calibri" panose="020F0502020204030204" pitchFamily="34" charset="0"/>
              </a:rPr>
              <a:t> that </a:t>
            </a:r>
            <a:r>
              <a:rPr lang="en-US" dirty="0">
                <a:latin typeface="Calibri" panose="020F0502020204030204" pitchFamily="34" charset="0"/>
              </a:rPr>
              <a:t>every week,</a:t>
            </a:r>
            <a:r>
              <a:rPr lang="en-US" baseline="0" dirty="0">
                <a:latin typeface="Calibri" panose="020F0502020204030204" pitchFamily="34" charset="0"/>
              </a:rPr>
              <a:t> t</a:t>
            </a:r>
            <a:r>
              <a:rPr lang="en-US" dirty="0">
                <a:latin typeface="Calibri" panose="020F0502020204030204" pitchFamily="34" charset="0"/>
              </a:rPr>
              <a:t>he traffic to your web application starts to increase on Wednesday, remains high on Thursday, and starts to decrease on Friday. You can plan your scaling actions based on the predictable traffic patterns of your web application. To implement scheduled scaling, y</a:t>
            </a:r>
            <a:r>
              <a:rPr lang="en-US" i="0" kern="1200" dirty="0">
                <a:solidFill>
                  <a:schemeClr val="tx1"/>
                </a:solidFill>
                <a:effectLst/>
                <a:latin typeface="Calibri" panose="020F0502020204030204" pitchFamily="34" charset="0"/>
              </a:rPr>
              <a:t>ou create a </a:t>
            </a:r>
            <a:r>
              <a:rPr lang="en-US" dirty="0">
                <a:latin typeface="Calibri" panose="020F0502020204030204" pitchFamily="34" charset="0"/>
                <a:ea typeface="Amazon Ember Light" panose="020B0403020204020204" pitchFamily="34" charset="0"/>
                <a:cs typeface="Amazon Ember Light" panose="020B0403020204020204" pitchFamily="34" charset="0"/>
              </a:rPr>
              <a:t>schedule action.</a:t>
            </a:r>
            <a:endParaRPr lang="en-US" dirty="0">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endParaRPr lang="en-US" dirty="0">
              <a:latin typeface="Calibri" panose="020F0502020204030204" pitchFamily="34" charset="0"/>
              <a:ea typeface="Amazon Ember Light" panose="020B0403020204020204" pitchFamily="34" charset="0"/>
              <a:cs typeface="Amazon Ember Light" panose="020B04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Light" panose="020B0403020204020204" pitchFamily="34" charset="0"/>
                <a:cs typeface="Amazon Ember Light" panose="020B0403020204020204" pitchFamily="34" charset="0"/>
              </a:rPr>
              <a:t>Dynamic, on-demand scaling</a:t>
            </a:r>
            <a:r>
              <a:rPr lang="en-US" i="0" kern="1200" baseline="0" dirty="0">
                <a:solidFill>
                  <a:schemeClr val="tx1"/>
                </a:solidFill>
                <a:effectLst/>
                <a:latin typeface="Calibri" panose="020F0502020204030204" pitchFamily="34" charset="0"/>
              </a:rPr>
              <a:t> </a:t>
            </a:r>
            <a:r>
              <a:rPr lang="en-US" dirty="0">
                <a:latin typeface="Calibri" panose="020F0502020204030204" pitchFamily="34" charset="0"/>
              </a:rPr>
              <a:t>is a more advanced way to scale your resources. You can use it to define parameters that control the scaling process. For example, you have a web application that currently runs on two EC2 instances. You want the CPU utilization of the Auto Scaling group to stay close to 50 percent when the load on the application changes. This option is useful for scaling in response to changing conditions, when you don't know when those conditions are going to change. Dynamic scaling gives you extra capacity to handle traffic spikes without maintaining an excessive number of idle resources. </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You can configure your Amazon EC2 Auto Scaling group to scale dynamically with different scaling policy types. </a:t>
            </a:r>
          </a:p>
          <a:p>
            <a:pPr marL="0" marR="0" lvl="0" indent="0" defTabSz="914400" rtl="0" eaLnBrk="1" fontAlgn="auto" latinLnBrk="0" hangingPunct="1">
              <a:buClrTx/>
              <a:buSzTx/>
              <a:buFont typeface="Arial" panose="020B0604020202020204" pitchFamily="34" charset="0"/>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b="0" i="1" dirty="0">
                <a:latin typeface="Calibri" panose="020F0502020204030204" pitchFamily="34" charset="0"/>
              </a:rPr>
              <a:t>Target tracking scaling </a:t>
            </a:r>
            <a:r>
              <a:rPr lang="en-US" dirty="0">
                <a:latin typeface="Calibri" panose="020F0502020204030204" pitchFamily="34" charset="0"/>
              </a:rPr>
              <a:t>policies increase or decrease the current capacity of the group based on a target value for a specific metric. This type of scaling is similar to the way that your thermostat maintains the temperature of your home:</a:t>
            </a:r>
            <a:r>
              <a:rPr lang="en-US" b="0" dirty="0">
                <a:latin typeface="Calibri" panose="020F0502020204030204" pitchFamily="34" charset="0"/>
              </a:rPr>
              <a:t> </a:t>
            </a:r>
            <a:r>
              <a:rPr lang="en-US" dirty="0">
                <a:latin typeface="Calibri" panose="020F0502020204030204" pitchFamily="34" charset="0"/>
              </a:rPr>
              <a:t>you select a temperature, and the thermostat does the rest. </a:t>
            </a:r>
            <a:r>
              <a:rPr lang="en-US" kern="1200" dirty="0">
                <a:solidFill>
                  <a:schemeClr val="tx1"/>
                </a:solidFill>
                <a:effectLst/>
                <a:latin typeface="Calibri" panose="020F0502020204030204" pitchFamily="34" charset="0"/>
                <a:ea typeface="+mn-ea"/>
                <a:cs typeface="+mn-cs"/>
              </a:rPr>
              <a:t>With target tracking scaling policies, you select a scaling metric and set a target value. Amazon EC2 Auto Scaling creates and manages the CloudWatch alarms that invokes the scaling policy and calculates the scaling adjustment based on the metric and the target value. For example, you can </a:t>
            </a:r>
            <a:r>
              <a:rPr lang="en-US" b="0" i="0" dirty="0">
                <a:solidFill>
                  <a:srgbClr val="16191F"/>
                </a:solidFill>
                <a:effectLst/>
                <a:latin typeface="Calibri" panose="020F0502020204030204" pitchFamily="34" charset="0"/>
              </a:rPr>
              <a:t>create a target tracking scaling policy that targets an average CPU utilization of 50 percent. Then, your Auto Scaling group scales the number of instances to keep the actual metric value at or near 50 percent.</a:t>
            </a:r>
          </a:p>
          <a:p>
            <a:pPr marL="0" marR="0" lvl="0" indent="0" defTabSz="914400" rtl="0" eaLnBrk="1" fontAlgn="auto" latinLnBrk="0" hangingPunct="1">
              <a:buClrTx/>
              <a:buSzTx/>
              <a:buFont typeface="Arial" panose="020B0604020202020204" pitchFamily="34" charset="0"/>
              <a:buNone/>
              <a:tabLst/>
              <a:defRPr/>
            </a:pP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kern="1200" dirty="0">
                <a:solidFill>
                  <a:schemeClr val="tx1"/>
                </a:solidFill>
                <a:effectLst/>
                <a:latin typeface="Calibri" panose="020F0502020204030204" pitchFamily="34" charset="0"/>
                <a:ea typeface="+mn-ea"/>
                <a:cs typeface="+mn-cs"/>
              </a:rPr>
              <a:t>With </a:t>
            </a:r>
            <a:r>
              <a:rPr lang="en-US" b="0" i="1" kern="1200" dirty="0">
                <a:solidFill>
                  <a:schemeClr val="tx1"/>
                </a:solidFill>
                <a:effectLst/>
                <a:latin typeface="Calibri" panose="020F0502020204030204" pitchFamily="34" charset="0"/>
                <a:ea typeface="+mn-ea"/>
                <a:cs typeface="+mn-cs"/>
              </a:rPr>
              <a:t>step scaling </a:t>
            </a:r>
            <a:r>
              <a:rPr lang="en-US" kern="1200" dirty="0">
                <a:solidFill>
                  <a:schemeClr val="tx1"/>
                </a:solidFill>
                <a:effectLst/>
                <a:latin typeface="Calibri" panose="020F0502020204030204" pitchFamily="34" charset="0"/>
                <a:ea typeface="+mn-ea"/>
                <a:cs typeface="+mn-cs"/>
              </a:rPr>
              <a:t>and </a:t>
            </a:r>
            <a:r>
              <a:rPr lang="en-US" b="0" i="1" kern="1200" dirty="0">
                <a:solidFill>
                  <a:schemeClr val="tx1"/>
                </a:solidFill>
                <a:effectLst/>
                <a:latin typeface="Calibri" panose="020F0502020204030204" pitchFamily="34" charset="0"/>
                <a:ea typeface="+mn-ea"/>
                <a:cs typeface="+mn-cs"/>
              </a:rPr>
              <a:t>simple scaling </a:t>
            </a:r>
            <a:r>
              <a:rPr lang="en-US" kern="1200" dirty="0">
                <a:solidFill>
                  <a:schemeClr val="tx1"/>
                </a:solidFill>
                <a:effectLst/>
                <a:latin typeface="Calibri" panose="020F0502020204030204" pitchFamily="34" charset="0"/>
                <a:ea typeface="+mn-ea"/>
                <a:cs typeface="+mn-cs"/>
              </a:rPr>
              <a:t>policies, you choose scaling metrics and threshold values for the CloudWatch alarms that invoke the scaling process. Simple scaling will wait for scaling to finish when an alarm is reported ignoring subsequent alarms. Step scaling will adjust the scaling to match the size of the alarm breach. </a:t>
            </a:r>
          </a:p>
          <a:p>
            <a:pPr marL="0" marR="0" lvl="0" indent="0" defTabSz="914400" rtl="0" eaLnBrk="1" fontAlgn="auto" latinLnBrk="0" hangingPunct="1">
              <a:buClrTx/>
              <a:buSzTx/>
              <a:buFont typeface="Arial" panose="020B0604020202020204" pitchFamily="34" charset="0"/>
              <a:buNone/>
              <a:tabLst/>
              <a:defRPr/>
            </a:pPr>
            <a:endParaRPr lang="en-US" i="0" kern="1200" dirty="0">
              <a:solidFill>
                <a:schemeClr val="tx1"/>
              </a:solidFill>
              <a:effectLst/>
              <a:latin typeface="Calibri" panose="020F0502020204030204" pitchFamily="34" charset="0"/>
            </a:endParaRPr>
          </a:p>
          <a:p>
            <a:r>
              <a:rPr lang="en-US" i="0" kern="1200" dirty="0">
                <a:solidFill>
                  <a:schemeClr val="tx1"/>
                </a:solidFill>
                <a:effectLst/>
                <a:latin typeface="Calibri" panose="020F0502020204030204" pitchFamily="34" charset="0"/>
              </a:rPr>
              <a:t>You can use Amazon EC2 Auto Scaling to implement a predictive scaling policy where your capacity scales based on predicted demand. </a:t>
            </a:r>
            <a:r>
              <a:rPr lang="en-US" b="0" i="0" dirty="0">
                <a:solidFill>
                  <a:srgbClr val="16191F"/>
                </a:solidFill>
                <a:effectLst/>
                <a:latin typeface="Calibri" panose="020F0502020204030204" pitchFamily="34" charset="0"/>
              </a:rPr>
              <a:t>Predictive scaling works by analyzing historical load data to detect daily or weekly patterns in traffic flows. It uses this information to forecast future capacity needs so that Amazon EC2 Auto Scaling can proactively increase the capacity of your Auto Scaling group to match the anticipated load. Predictive scaling is well suited for situations where you have the following: </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Cyclical traffic, such as high use of resources during regular business hours and low use of resources during evenings and weekends</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Recurring on-and-off workload patterns, such as batch processing, testing, or periodic data analysis</a:t>
            </a:r>
          </a:p>
          <a:p>
            <a:pPr marL="171450" indent="-171450">
              <a:buFont typeface="Arial" panose="020B0604020202020204" pitchFamily="34" charset="0"/>
              <a:buChar char="•"/>
            </a:pPr>
            <a:r>
              <a:rPr lang="en-US" b="0" i="0" dirty="0">
                <a:solidFill>
                  <a:srgbClr val="16191F"/>
                </a:solidFill>
                <a:effectLst/>
                <a:latin typeface="Calibri" panose="020F0502020204030204" pitchFamily="34" charset="0"/>
              </a:rPr>
              <a:t>Applications that take a long time to initialize, causing a noticeable latency impact on application performance during scale-out events</a:t>
            </a:r>
          </a:p>
          <a:p>
            <a:pPr marR="0" lvl="0" defTabSz="914400" rtl="0" eaLnBrk="1" fontAlgn="auto" latinLnBrk="0" hangingPunct="1">
              <a:buClrTx/>
              <a:buSzTx/>
              <a:tabLst/>
              <a:defRPr/>
            </a:pPr>
            <a:endParaRPr lang="en-US" dirty="0">
              <a:latin typeface="Calibri" panose="020F0502020204030204" pitchFamily="34" charset="0"/>
            </a:endParaRPr>
          </a:p>
          <a:p>
            <a:pPr marR="0" lvl="0" defTabSz="914400" rtl="0" eaLnBrk="1" fontAlgn="auto" latinLnBrk="0" hangingPunct="1">
              <a:buClrTx/>
              <a:buSzTx/>
              <a:tabLst/>
              <a:defRPr/>
            </a:pPr>
            <a:r>
              <a:rPr lang="en-US" dirty="0">
                <a:latin typeface="Calibri" panose="020F0502020204030204" pitchFamily="34" charset="0"/>
              </a:rPr>
              <a:t>You can use dynamic scaling and predictive scaling together to optimally scale your infrastructure.</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35</a:t>
            </a:fld>
            <a:endParaRPr lang="en-AU"/>
          </a:p>
        </p:txBody>
      </p:sp>
    </p:spTree>
    <p:extLst>
      <p:ext uri="{BB962C8B-B14F-4D97-AF65-F5344CB8AC3E}">
        <p14:creationId xmlns:p14="http://schemas.microsoft.com/office/powerpoint/2010/main" val="2639212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91F"/>
                </a:solidFill>
                <a:effectLst/>
                <a:latin typeface="Calibri" panose="020F0502020204030204" pitchFamily="34" charset="0"/>
              </a:rPr>
              <a:t>Step scaling policies increase or decrease the current capacity of a scalable target based on a set of scaling adjustments, known as step adjustments. The adjustments vary based on the size of the alarm breach. The policy continues to respond to additional alarms while a scaling activity is in progress. Therefore, all alarms that are breached are evaluated by AWS Application Auto Scaling as it receives the alarm messages.</a:t>
            </a:r>
          </a:p>
          <a:p>
            <a:endParaRPr lang="en-US" b="0" i="0" dirty="0">
              <a:solidFill>
                <a:srgbClr val="16191F"/>
              </a:solidFill>
              <a:effectLst/>
              <a:latin typeface="Calibri" panose="020F0502020204030204" pitchFamily="34" charset="0"/>
            </a:endParaRPr>
          </a:p>
          <a:p>
            <a:r>
              <a:rPr lang="en-US" b="0" i="0" dirty="0">
                <a:solidFill>
                  <a:srgbClr val="16191F"/>
                </a:solidFill>
                <a:effectLst/>
                <a:latin typeface="Calibri" panose="020F0502020204030204" pitchFamily="34" charset="0"/>
              </a:rPr>
              <a:t>When you create a step scaling policy, you specify one or more step adjustments that automatically scale the capacity of the target dynamically based on the size of the alarm breach. Each step adjustment specifies a lower bound for the metric value, an upper bound for the metric value, and the amount by which to scale based on the scaling adjustment type.</a:t>
            </a:r>
          </a:p>
          <a:p>
            <a:endParaRPr lang="en-US" b="0" i="0" dirty="0">
              <a:solidFill>
                <a:srgbClr val="16191F"/>
              </a:solidFill>
              <a:effectLst/>
              <a:latin typeface="Calibri" panose="020F0502020204030204" pitchFamily="34" charset="0"/>
            </a:endParaRPr>
          </a:p>
          <a:p>
            <a:r>
              <a:rPr lang="en-US" b="0" i="0" dirty="0">
                <a:solidFill>
                  <a:srgbClr val="16191F"/>
                </a:solidFill>
                <a:effectLst/>
                <a:latin typeface="Calibri" panose="020F0502020204030204" pitchFamily="34" charset="0"/>
              </a:rPr>
              <a:t>CloudWatch aggregates metric data points based on the statistic for the metric associated with your CloudWatch alarm. When the alarm is breached, the appropriate scaling policy is activated. </a:t>
            </a:r>
          </a:p>
          <a:p>
            <a:endParaRPr lang="en-US" b="0" i="0" dirty="0">
              <a:solidFill>
                <a:srgbClr val="16191F"/>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For a complete example of step scaling, please see “Overview of Step Scaling Policies” </a:t>
            </a:r>
            <a:r>
              <a:rPr lang="en-US" b="0" i="0" dirty="0">
                <a:solidFill>
                  <a:srgbClr val="16191F"/>
                </a:solidFill>
                <a:effectLst/>
                <a:latin typeface="Calibri" panose="020F0502020204030204" pitchFamily="34" charset="0"/>
              </a:rPr>
              <a:t>on the content resources page of your online course.</a:t>
            </a:r>
          </a:p>
          <a:p>
            <a:endParaRPr lang="en-AU" dirty="0"/>
          </a:p>
        </p:txBody>
      </p:sp>
      <p:sp>
        <p:nvSpPr>
          <p:cNvPr id="4" name="Slide Number Placeholder 3"/>
          <p:cNvSpPr>
            <a:spLocks noGrp="1"/>
          </p:cNvSpPr>
          <p:nvPr>
            <p:ph type="sldNum" sz="quarter" idx="5"/>
          </p:nvPr>
        </p:nvSpPr>
        <p:spPr/>
        <p:txBody>
          <a:bodyPr/>
          <a:lstStyle/>
          <a:p>
            <a:fld id="{40F8DAFD-E839-41BA-8B0D-965DE27C86A8}" type="slidenum">
              <a:rPr lang="en-AU" smtClean="0"/>
              <a:t>36</a:t>
            </a:fld>
            <a:endParaRPr lang="en-AU"/>
          </a:p>
        </p:txBody>
      </p:sp>
    </p:spTree>
    <p:extLst>
      <p:ext uri="{BB962C8B-B14F-4D97-AF65-F5344CB8AC3E}">
        <p14:creationId xmlns:p14="http://schemas.microsoft.com/office/powerpoint/2010/main" val="4082528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40F8DAFD-E839-41BA-8B0D-965DE27C86A8}" type="slidenum">
              <a:rPr lang="en-AU" smtClean="0"/>
              <a:t>42</a:t>
            </a:fld>
            <a:endParaRPr lang="en-AU"/>
          </a:p>
        </p:txBody>
      </p:sp>
    </p:spTree>
    <p:extLst>
      <p:ext uri="{BB962C8B-B14F-4D97-AF65-F5344CB8AC3E}">
        <p14:creationId xmlns:p14="http://schemas.microsoft.com/office/powerpoint/2010/main" val="2532699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docs.aws.amazon.com/AWSEC2/latest/UserGuide/instance-types.html#instance-networking-storage"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3.sv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4.svg"/><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4.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3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3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0.svg"/><Relationship Id="rId4" Type="http://schemas.openxmlformats.org/officeDocument/2006/relationships/image" Target="../media/image38.svg"/></Relationships>
</file>

<file path=ppt/slides/_rels/slide3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42.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515600" cy="2377440"/>
          </a:xfrm>
          <a:prstGeom prst="rect">
            <a:avLst/>
          </a:prstGeom>
          <a:noFill/>
        </p:spPr>
        <p:txBody>
          <a:bodyPr wrap="square" lIns="0" tIns="0" rIns="0" bIns="0" anchor="t">
            <a:spAutoFit/>
          </a:bodyPr>
          <a:lstStyle/>
          <a:p>
            <a:r>
              <a:rPr sz="2000" b="1" i="0">
                <a:solidFill>
                  <a:srgbClr val="FBB900"/>
                </a:solidFill>
                <a:latin typeface="Roboto"/>
              </a:rPr>
              <a:t>TOPIC 08a</a:t>
            </a:r>
          </a:p>
          <a:p>
            <a:pPr>
              <a:spcBef>
                <a:spcPts val="800"/>
              </a:spcBef>
            </a:pPr>
            <a:r>
              <a:rPr sz="4600" b="1" i="0">
                <a:solidFill>
                  <a:srgbClr val="FFFFFF"/>
                </a:solidFill>
                <a:latin typeface="Roboto"/>
              </a:rPr>
              <a:t>The workload tier — compute &amp; elasticity</a:t>
            </a:r>
          </a:p>
          <a:p>
            <a:pPr>
              <a:spcBef>
                <a:spcPts val="1200"/>
              </a:spcBef>
            </a:pPr>
            <a:r>
              <a:rPr sz="2200" b="0" i="1">
                <a:solidFill>
                  <a:srgbClr val="D1D1D1"/>
                </a:solidFill>
                <a:latin typeface="Roboto Light"/>
              </a:rPr>
              <a:t>Launch the application server, give it storage, and put it behind a load balancer that scales</a:t>
            </a:r>
          </a:p>
        </p:txBody>
      </p:sp>
      <p:sp>
        <p:nvSpPr>
          <p:cNvPr id="4" name="TextBox 3"/>
          <p:cNvSpPr txBox="1"/>
          <p:nvPr/>
        </p:nvSpPr>
        <p:spPr>
          <a:xfrm>
            <a:off x="914400" y="5943600"/>
            <a:ext cx="7315200" cy="457200"/>
          </a:xfrm>
          <a:prstGeom prst="rect">
            <a:avLst/>
          </a:prstGeom>
          <a:noFill/>
        </p:spPr>
        <p:txBody>
          <a:bodyPr wrap="square" lIns="0" tIns="0" rIns="0" bIns="0" anchor="t">
            <a:spAutoFit/>
          </a:bodyPr>
          <a:lstStyle/>
          <a:p>
            <a:r>
              <a:rPr sz="1600" b="1" i="0">
                <a:solidFill>
                  <a:srgbClr val="FFFFFF"/>
                </a:solidFill>
                <a:latin typeface="Roboto"/>
              </a:rPr>
              <a:t>Kangan </a:t>
            </a:r>
            <a:r>
              <a:rPr sz="1600" b="1" i="0">
                <a:solidFill>
                  <a:srgbClr val="EDAB0C"/>
                </a:solidFill>
                <a:latin typeface="Roboto"/>
              </a:rPr>
              <a:t>Institute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Filling the network</a:t>
            </a:r>
          </a:p>
          <a:p>
            <a:pPr>
              <a:spcBef>
                <a:spcPts val="200"/>
              </a:spcBef>
            </a:pPr>
            <a:r>
              <a:rPr sz="1800" b="0" i="1">
                <a:solidFill>
                  <a:srgbClr val="D68E10"/>
                </a:solidFill>
                <a:latin typeface="Roboto Light"/>
              </a:rPr>
              <a:t>the workload moves in</a:t>
            </a:r>
          </a:p>
        </p:txBody>
      </p:sp>
      <p:sp>
        <p:nvSpPr>
          <p:cNvPr id="3" name="Rectangle 2"/>
          <p:cNvSpPr/>
          <p:nvPr/>
        </p:nvSpPr>
        <p:spPr>
          <a:xfrm>
            <a:off x="658368" y="13716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Topic 7 laid the network; now the workload goes inside it.</a:t>
            </a:r>
          </a:p>
          <a:p>
            <a:pPr marL="0" indent="0">
              <a:lnSpc>
                <a:spcPct val="105000"/>
              </a:lnSpc>
              <a:spcBef>
                <a:spcPts val="0"/>
              </a:spcBef>
              <a:spcAft>
                <a:spcPts val="1000"/>
              </a:spcAft>
            </a:pPr>
            <a:r>
              <a:rPr sz="1800" b="1" i="0">
                <a:solidFill>
                  <a:srgbClr val="92268F"/>
                </a:solidFill>
                <a:latin typeface="Roboto"/>
              </a:rPr>
              <a:t>■  8a — compute + elasticity (this deck); 8b — the managed database + storage.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Still building the supplied design, still capturing evidence as you go.</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For every AWS build task: watch the recorded demo, then do it yourself.</a:t>
            </a:r>
          </a:p>
        </p:txBody>
      </p:sp>
      <p:sp>
        <p:nvSpPr>
          <p:cNvPr id="5" name="Rectangle 4"/>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01</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92268F"/>
                </a:solidFill>
                <a:latin typeface="Roboto"/>
              </a:rPr>
              <a:t>SECTION</a:t>
            </a:r>
          </a:p>
          <a:p>
            <a:pPr>
              <a:spcBef>
                <a:spcPts val="600"/>
              </a:spcBef>
            </a:pPr>
            <a:r>
              <a:rPr sz="3800" b="1" i="0">
                <a:solidFill>
                  <a:srgbClr val="2A2929"/>
                </a:solidFill>
                <a:latin typeface="Roboto"/>
              </a:rPr>
              <a:t>Compute — the application server</a:t>
            </a:r>
          </a:p>
          <a:p>
            <a:pPr>
              <a:spcBef>
                <a:spcPts val="1000"/>
              </a:spcBef>
            </a:pPr>
            <a:r>
              <a:rPr sz="2000" b="0" i="1">
                <a:solidFill>
                  <a:srgbClr val="484848"/>
                </a:solidFill>
                <a:latin typeface="Roboto Light"/>
              </a:rPr>
              <a:t>EC2 + EBS</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What a server is — and a virtual one</a:t>
            </a:r>
          </a:p>
          <a:p>
            <a:pPr>
              <a:spcBef>
                <a:spcPts val="200"/>
              </a:spcBef>
            </a:pPr>
            <a:r>
              <a:rPr sz="1800" b="0" i="1">
                <a:solidFill>
                  <a:srgbClr val="D68E10"/>
                </a:solidFill>
                <a:latin typeface="Roboto Light"/>
              </a:rPr>
              <a:t>the fundamentals</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 server is a computer that runs your application for others to use.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Its size is four dimensions: CPU (processing), memory (RAM), disk (storage), network bandwidth.</a:t>
            </a:r>
          </a:p>
          <a:p>
            <a:pPr marL="0" indent="0">
              <a:lnSpc>
                <a:spcPct val="105000"/>
              </a:lnSpc>
              <a:spcBef>
                <a:spcPts val="0"/>
              </a:spcBef>
              <a:spcAft>
                <a:spcPts val="1000"/>
              </a:spcAft>
            </a:pPr>
            <a:r>
              <a:rPr sz="1800" b="1" i="0">
                <a:solidFill>
                  <a:srgbClr val="92268F"/>
                </a:solidFill>
                <a:latin typeface="Roboto"/>
              </a:rPr>
              <a:t>■  A virtual machine (VM) is a software-defined server — you rent one and size it to the workload.</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Amazon EC2</a:t>
            </a:r>
          </a:p>
          <a:p>
            <a:pPr>
              <a:spcBef>
                <a:spcPts val="200"/>
              </a:spcBef>
            </a:pPr>
            <a:r>
              <a:rPr sz="1800" b="0" i="1">
                <a:solidFill>
                  <a:srgbClr val="D68E10"/>
                </a:solidFill>
                <a:latin typeface="Roboto Light"/>
              </a:rPr>
              <a:t>AWS · ACF M06 S10</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Amazon EC2 provides resizable virtual machines — called instances — in the cloud.</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You get full control of the guest OS (Windows or Linux).</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You launch an instance from an Amazon Machine Image (AMI) into a subnet, ready in minutes.</a:t>
            </a:r>
          </a:p>
          <a:p>
            <a:pPr marL="0" indent="0">
              <a:lnSpc>
                <a:spcPct val="105000"/>
              </a:lnSpc>
              <a:spcBef>
                <a:spcPts val="0"/>
              </a:spcBef>
              <a:spcAft>
                <a:spcPts val="1000"/>
              </a:spcAft>
            </a:pPr>
            <a:r>
              <a:rPr sz="1800" b="1" i="0">
                <a:solidFill>
                  <a:srgbClr val="92268F"/>
                </a:solidFill>
                <a:latin typeface="Roboto"/>
              </a:rPr>
              <a:t>■  You control traffic to and from it with security groups.</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Launching an instance — the key choices</a:t>
            </a:r>
          </a:p>
          <a:p>
            <a:pPr>
              <a:spcBef>
                <a:spcPts val="200"/>
              </a:spcBef>
            </a:pPr>
            <a:r>
              <a:rPr sz="1800" b="0" i="1">
                <a:solidFill>
                  <a:srgbClr val="D68E10"/>
                </a:solidFill>
                <a:latin typeface="Roboto Light"/>
              </a:rPr>
              <a:t>AWS · ACF M06 S11–S26</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06779" y="2342428"/>
            <a:ext cx="7597541" cy="3079305"/>
          </a:xfrm>
          <a:prstGeom prst="rect">
            <a:avLst/>
          </a:prstGeom>
          <a:noFill/>
        </p:spPr>
        <p:txBody>
          <a:bodyPr wrap="square" lIns="0" tIns="0" rIns="0" bIns="0" anchor="t">
            <a:spAutoFit/>
          </a:bodyPr>
          <a:lstStyle/>
          <a:p>
            <a:pPr marL="0" indent="0">
              <a:lnSpc>
                <a:spcPct val="105000"/>
              </a:lnSpc>
              <a:spcBef>
                <a:spcPts val="0"/>
              </a:spcBef>
              <a:spcAft>
                <a:spcPts val="1000"/>
              </a:spcAft>
            </a:pPr>
            <a:r>
              <a:rPr sz="2400" b="1" i="0" dirty="0">
                <a:solidFill>
                  <a:srgbClr val="EDAB0C"/>
                </a:solidFill>
                <a:latin typeface="Roboto"/>
              </a:rPr>
              <a:t>■  </a:t>
            </a:r>
            <a:r>
              <a:rPr sz="2400" b="0" i="0" dirty="0">
                <a:solidFill>
                  <a:srgbClr val="2A2929"/>
                </a:solidFill>
                <a:latin typeface="Roboto"/>
              </a:rPr>
              <a:t>AMI — the template (OS + any pre-installed software).</a:t>
            </a:r>
          </a:p>
          <a:p>
            <a:pPr marL="0" indent="0">
              <a:lnSpc>
                <a:spcPct val="105000"/>
              </a:lnSpc>
              <a:spcBef>
                <a:spcPts val="0"/>
              </a:spcBef>
              <a:spcAft>
                <a:spcPts val="1000"/>
              </a:spcAft>
            </a:pPr>
            <a:r>
              <a:rPr sz="2400" b="1" i="0" dirty="0">
                <a:solidFill>
                  <a:srgbClr val="EDAB0C"/>
                </a:solidFill>
                <a:latin typeface="Roboto"/>
              </a:rPr>
              <a:t>■  </a:t>
            </a:r>
            <a:r>
              <a:rPr sz="2400" b="0" i="0" dirty="0">
                <a:solidFill>
                  <a:srgbClr val="2A2929"/>
                </a:solidFill>
                <a:latin typeface="Roboto"/>
              </a:rPr>
              <a:t>Instance type — </a:t>
            </a:r>
            <a:r>
              <a:rPr sz="2400" b="0" i="0" dirty="0" err="1">
                <a:solidFill>
                  <a:srgbClr val="2A2929"/>
                </a:solidFill>
                <a:latin typeface="Roboto"/>
              </a:rPr>
              <a:t>family.generation.size</a:t>
            </a:r>
            <a:r>
              <a:rPr sz="2400" b="0" i="0" dirty="0">
                <a:solidFill>
                  <a:srgbClr val="2A2929"/>
                </a:solidFill>
                <a:latin typeface="Roboto"/>
              </a:rPr>
              <a:t> (e.g. m6i.large) sets CPU / RAM / storage / network.</a:t>
            </a:r>
          </a:p>
          <a:p>
            <a:pPr marL="0" indent="0">
              <a:lnSpc>
                <a:spcPct val="105000"/>
              </a:lnSpc>
              <a:spcBef>
                <a:spcPts val="0"/>
              </a:spcBef>
              <a:spcAft>
                <a:spcPts val="1000"/>
              </a:spcAft>
            </a:pPr>
            <a:r>
              <a:rPr sz="2400" b="1" i="0" dirty="0">
                <a:solidFill>
                  <a:srgbClr val="EDAB0C"/>
                </a:solidFill>
                <a:latin typeface="Roboto"/>
              </a:rPr>
              <a:t>■  </a:t>
            </a:r>
            <a:r>
              <a:rPr sz="2400" b="0" i="0" dirty="0">
                <a:solidFill>
                  <a:srgbClr val="2A2929"/>
                </a:solidFill>
                <a:latin typeface="Roboto"/>
              </a:rPr>
              <a:t>Network — which VPC and subnet; IAM role — an instance profile so the app can call AWS services.</a:t>
            </a:r>
          </a:p>
          <a:p>
            <a:pPr marL="0" indent="0">
              <a:lnSpc>
                <a:spcPct val="105000"/>
              </a:lnSpc>
              <a:spcBef>
                <a:spcPts val="0"/>
              </a:spcBef>
              <a:spcAft>
                <a:spcPts val="1000"/>
              </a:spcAft>
            </a:pPr>
            <a:r>
              <a:rPr sz="2400" b="1" i="0" dirty="0">
                <a:solidFill>
                  <a:srgbClr val="EDAB0C"/>
                </a:solidFill>
                <a:latin typeface="Roboto"/>
              </a:rPr>
              <a:t>■  </a:t>
            </a:r>
            <a:r>
              <a:rPr sz="2400" b="0" i="0" dirty="0">
                <a:solidFill>
                  <a:srgbClr val="2A2929"/>
                </a:solidFill>
                <a:latin typeface="Roboto"/>
              </a:rPr>
              <a:t>User data — a first-boot script; storage — root + data volumes; tags; security group; key pair.</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grpSp>
        <p:nvGrpSpPr>
          <p:cNvPr id="8" name="Group 7">
            <a:extLst>
              <a:ext uri="{FF2B5EF4-FFF2-40B4-BE49-F238E27FC236}">
                <a16:creationId xmlns:a16="http://schemas.microsoft.com/office/drawing/2014/main" id="{B52A5A6E-651B-8FBD-A5D7-9F8D55DADCA3}"/>
              </a:ext>
              <a:ext uri="{C183D7F6-B498-43B3-948B-1728B52AA6E4}">
                <adec:decorative xmlns:adec="http://schemas.microsoft.com/office/drawing/2017/decorative" val="1"/>
              </a:ext>
            </a:extLst>
          </p:cNvPr>
          <p:cNvGrpSpPr/>
          <p:nvPr/>
        </p:nvGrpSpPr>
        <p:grpSpPr>
          <a:xfrm>
            <a:off x="677252" y="1916492"/>
            <a:ext cx="2885749" cy="4045058"/>
            <a:chOff x="677252" y="1916492"/>
            <a:chExt cx="2885749" cy="4045058"/>
          </a:xfrm>
        </p:grpSpPr>
        <p:sp>
          <p:nvSpPr>
            <p:cNvPr id="9" name="Rectangle 8">
              <a:extLst>
                <a:ext uri="{FF2B5EF4-FFF2-40B4-BE49-F238E27FC236}">
                  <a16:creationId xmlns:a16="http://schemas.microsoft.com/office/drawing/2014/main" id="{F6632FD5-03E1-2A15-1A89-116FCDF111F7}"/>
                </a:ext>
              </a:extLst>
            </p:cNvPr>
            <p:cNvSpPr/>
            <p:nvPr/>
          </p:nvSpPr>
          <p:spPr>
            <a:xfrm>
              <a:off x="677252"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36BE2973-6EDB-E390-F3E1-30B0A005522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972" y="2924499"/>
              <a:ext cx="1094787" cy="1094787"/>
            </a:xfrm>
            <a:prstGeom prst="rect">
              <a:avLst/>
            </a:prstGeom>
          </p:spPr>
        </p:pic>
      </p:grpSp>
      <p:sp>
        <p:nvSpPr>
          <p:cNvPr id="11" name="TextBox 10">
            <a:extLst>
              <a:ext uri="{FF2B5EF4-FFF2-40B4-BE49-F238E27FC236}">
                <a16:creationId xmlns:a16="http://schemas.microsoft.com/office/drawing/2014/main" id="{1E4165A5-32DD-5529-D312-DD70EF47B7B9}"/>
              </a:ext>
            </a:extLst>
          </p:cNvPr>
          <p:cNvSpPr txBox="1"/>
          <p:nvPr/>
        </p:nvSpPr>
        <p:spPr>
          <a:xfrm>
            <a:off x="1209058" y="4331526"/>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EC2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021F3-D1AE-C9C1-C002-59A89903D9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972E88-5F83-FEA5-0342-082E601C375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Launching an Amazon EC2 instance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29583760-57E5-49E2-F35D-B80CADA37419}"/>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136B600-3E12-B755-03BA-1EA64844122A}"/>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20DE9E2-6143-A4E5-105E-E35090BC313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F72C1BD6-F2B6-5E2E-518D-BE82EB8F89E9}"/>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8" name="TextBox 7">
            <a:extLst>
              <a:ext uri="{FF2B5EF4-FFF2-40B4-BE49-F238E27FC236}">
                <a16:creationId xmlns:a16="http://schemas.microsoft.com/office/drawing/2014/main" id="{3B1E1E3C-8679-942D-2832-B73CCF012668}"/>
              </a:ext>
            </a:extLst>
          </p:cNvPr>
          <p:cNvSpPr txBox="1"/>
          <p:nvPr/>
        </p:nvSpPr>
        <p:spPr>
          <a:xfrm>
            <a:off x="435233" y="1536174"/>
            <a:ext cx="4428605" cy="3416320"/>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This section walks through </a:t>
            </a:r>
            <a:r>
              <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nine key decisions</a:t>
            </a:r>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to make when you create an EC2 instance by using the AWS Management Console </a:t>
            </a:r>
            <a:r>
              <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Launch Instance Wizard</a:t>
            </a:r>
            <a:r>
              <a:rPr lang="en-US" sz="2400" b="1"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 </a:t>
            </a:r>
          </a:p>
          <a:p>
            <a:endPar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Font typeface="Wingdings" pitchFamily="2" charset="2"/>
              <a:buChar char="Ø"/>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Along the way, essential Amazon EC2 concepts will be explored.</a:t>
            </a:r>
          </a:p>
        </p:txBody>
      </p:sp>
      <p:pic>
        <p:nvPicPr>
          <p:cNvPr id="9" name="Picture 8" descr="screenshot of the EC2 console's EC2 Dashboard view.">
            <a:extLst>
              <a:ext uri="{FF2B5EF4-FFF2-40B4-BE49-F238E27FC236}">
                <a16:creationId xmlns:a16="http://schemas.microsoft.com/office/drawing/2014/main" id="{D8CCE5AB-B4B8-5AC7-B022-3B7CA11807D6}"/>
              </a:ext>
            </a:extLst>
          </p:cNvPr>
          <p:cNvPicPr>
            <a:picLocks noChangeAspect="1"/>
          </p:cNvPicPr>
          <p:nvPr/>
        </p:nvPicPr>
        <p:blipFill>
          <a:blip r:embed="rId3"/>
          <a:stretch>
            <a:fillRect/>
          </a:stretch>
        </p:blipFill>
        <p:spPr>
          <a:xfrm>
            <a:off x="5031175" y="1422059"/>
            <a:ext cx="6725592" cy="4730713"/>
          </a:xfrm>
          <a:prstGeom prst="rect">
            <a:avLst/>
          </a:prstGeom>
        </p:spPr>
      </p:pic>
    </p:spTree>
    <p:extLst>
      <p:ext uri="{BB962C8B-B14F-4D97-AF65-F5344CB8AC3E}">
        <p14:creationId xmlns:p14="http://schemas.microsoft.com/office/powerpoint/2010/main" val="2639528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4F5DD-AA6F-6A72-59C8-7AB3A2C38B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E65A12-A4C3-FEE5-BB34-7E49C37D0791}"/>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1. Select an Amazon Machine Image (AMI)</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6D585E5D-4B01-D204-E3AF-05F3DDC6B9EB}"/>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41750D7-E053-BE08-C9B0-74D84444AACA}"/>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32631BC-D0CD-5898-AF14-38863D67A7A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785D1825-1552-B96F-52B3-CAE86DA8EDF5}"/>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8">
            <a:extLst>
              <a:ext uri="{FF2B5EF4-FFF2-40B4-BE49-F238E27FC236}">
                <a16:creationId xmlns:a16="http://schemas.microsoft.com/office/drawing/2014/main" id="{5189915A-2D52-B4DA-9A87-45AFE707652F}"/>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2">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rPr>
              <a:t>Choices made using the</a:t>
            </a:r>
            <a:br>
              <a:rPr lang="en-US" sz="2000" b="1" dirty="0">
                <a:solidFill>
                  <a:srgbClr val="504BAB"/>
                </a:solidFill>
              </a:rPr>
            </a:br>
            <a:r>
              <a:rPr lang="en-US" sz="2000" b="1" dirty="0">
                <a:solidFill>
                  <a:srgbClr val="504BAB"/>
                </a:solidFill>
              </a:rPr>
              <a:t>Launch Instance Wizard:</a:t>
            </a:r>
            <a:br>
              <a:rPr lang="en-US" sz="2400" b="1" dirty="0">
                <a:solidFill>
                  <a:srgbClr val="504BAB"/>
                </a:solidFill>
              </a:rPr>
            </a:br>
            <a:endParaRPr lang="en-US" sz="2000" dirty="0">
              <a:solidFill>
                <a:srgbClr val="504BAB"/>
              </a:solidFill>
            </a:endParaRPr>
          </a:p>
          <a:p>
            <a:pPr marL="514350" indent="-514350">
              <a:lnSpc>
                <a:spcPct val="100000"/>
              </a:lnSpc>
              <a:spcBef>
                <a:spcPts val="400"/>
              </a:spcBef>
              <a:buFont typeface="+mj-lt"/>
              <a:buAutoNum type="arabicPeriod"/>
            </a:pPr>
            <a:r>
              <a:rPr lang="en-US" sz="1600" b="1" dirty="0">
                <a:solidFill>
                  <a:srgbClr val="C9208A"/>
                </a:solidFill>
              </a:rPr>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
        <p:nvSpPr>
          <p:cNvPr id="8" name="Content Placeholder 9">
            <a:extLst>
              <a:ext uri="{FF2B5EF4-FFF2-40B4-BE49-F238E27FC236}">
                <a16:creationId xmlns:a16="http://schemas.microsoft.com/office/drawing/2014/main" id="{CF9F841B-2311-E977-F556-9CA15C47AB20}"/>
              </a:ext>
            </a:extLst>
          </p:cNvPr>
          <p:cNvSpPr txBox="1">
            <a:spLocks/>
          </p:cNvSpPr>
          <p:nvPr/>
        </p:nvSpPr>
        <p:spPr>
          <a:xfrm>
            <a:off x="4049486" y="2523810"/>
            <a:ext cx="7904164" cy="3910939"/>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a:t>Amazon Machine Image (AMI)</a:t>
            </a:r>
          </a:p>
          <a:p>
            <a:pPr lvl="1"/>
            <a:r>
              <a:rPr lang="en-US" sz="1800"/>
              <a:t>Is a template that is used to create an EC2 instance (which is a </a:t>
            </a:r>
            <a:r>
              <a:rPr lang="en-US" sz="1800" b="1">
                <a:solidFill>
                  <a:srgbClr val="504BAB"/>
                </a:solidFill>
              </a:rPr>
              <a:t>virtual machine, or VM,</a:t>
            </a:r>
            <a:r>
              <a:rPr lang="en-US" sz="1800" i="1"/>
              <a:t> </a:t>
            </a:r>
            <a:r>
              <a:rPr lang="en-US" sz="1800"/>
              <a:t>that runs in the AWS Cloud)</a:t>
            </a:r>
          </a:p>
          <a:p>
            <a:pPr lvl="1"/>
            <a:r>
              <a:rPr lang="en-US" sz="1800"/>
              <a:t>Contains a </a:t>
            </a:r>
            <a:r>
              <a:rPr lang="en-US" sz="1800" b="1">
                <a:solidFill>
                  <a:srgbClr val="504BAB"/>
                </a:solidFill>
              </a:rPr>
              <a:t>Windows</a:t>
            </a:r>
            <a:r>
              <a:rPr lang="en-US" sz="1800"/>
              <a:t> or </a:t>
            </a:r>
            <a:r>
              <a:rPr lang="en-US" sz="1800" b="1">
                <a:solidFill>
                  <a:srgbClr val="504BAB"/>
                </a:solidFill>
              </a:rPr>
              <a:t>Linux</a:t>
            </a:r>
            <a:r>
              <a:rPr lang="en-US" sz="1800"/>
              <a:t> operating system</a:t>
            </a:r>
          </a:p>
          <a:p>
            <a:pPr lvl="1"/>
            <a:r>
              <a:rPr lang="en-US" sz="1800"/>
              <a:t>Often also has some </a:t>
            </a:r>
            <a:r>
              <a:rPr lang="en-US" sz="1800" b="1">
                <a:solidFill>
                  <a:srgbClr val="504BAB"/>
                </a:solidFill>
              </a:rPr>
              <a:t>software</a:t>
            </a:r>
            <a:r>
              <a:rPr lang="en-US" sz="1800"/>
              <a:t> pre-installed</a:t>
            </a:r>
          </a:p>
          <a:p>
            <a:r>
              <a:rPr lang="en-US" sz="2400"/>
              <a:t>AMI choices:</a:t>
            </a:r>
            <a:endParaRPr lang="en-US"/>
          </a:p>
          <a:p>
            <a:pPr lvl="1"/>
            <a:r>
              <a:rPr lang="en-US" sz="1800"/>
              <a:t>Quick Start</a:t>
            </a:r>
            <a:r>
              <a:rPr lang="en-US" sz="1800" i="1"/>
              <a:t> – Linux and Windows AMIs that are provided by AWS</a:t>
            </a:r>
          </a:p>
          <a:p>
            <a:pPr lvl="1"/>
            <a:r>
              <a:rPr lang="en-US" sz="1800"/>
              <a:t>My AMIs</a:t>
            </a:r>
            <a:r>
              <a:rPr lang="en-US" sz="1800" i="1"/>
              <a:t> – Any AMIs that you created</a:t>
            </a:r>
          </a:p>
          <a:p>
            <a:pPr lvl="1"/>
            <a:r>
              <a:rPr lang="en-US" sz="1800"/>
              <a:t>AWS Marketplace </a:t>
            </a:r>
            <a:r>
              <a:rPr lang="en-US" sz="1800" i="1"/>
              <a:t>– Pre-configured templates from third parties</a:t>
            </a:r>
          </a:p>
          <a:p>
            <a:pPr lvl="1"/>
            <a:r>
              <a:rPr lang="en-US" sz="1800"/>
              <a:t>Community AMIs </a:t>
            </a:r>
            <a:r>
              <a:rPr lang="en-US" sz="1800" i="1"/>
              <a:t>– AMIs shared by others; use at your own risk</a:t>
            </a:r>
            <a:endParaRPr lang="en-US" sz="1800" i="1" dirty="0"/>
          </a:p>
        </p:txBody>
      </p:sp>
      <p:grpSp>
        <p:nvGrpSpPr>
          <p:cNvPr id="9" name="Group 8" descr="Graphic shows an icon labeled &quot;AMI&quot; with an arrow labeled &quot;Launch instance&quot; extending to the right and pointing at an icon labeled &quot;Instance.&quot;">
            <a:extLst>
              <a:ext uri="{FF2B5EF4-FFF2-40B4-BE49-F238E27FC236}">
                <a16:creationId xmlns:a16="http://schemas.microsoft.com/office/drawing/2014/main" id="{11AAE5DE-61BD-A364-770D-6B05536A0CBC}"/>
              </a:ext>
            </a:extLst>
          </p:cNvPr>
          <p:cNvGrpSpPr/>
          <p:nvPr/>
        </p:nvGrpSpPr>
        <p:grpSpPr>
          <a:xfrm>
            <a:off x="5947576" y="1528176"/>
            <a:ext cx="2774570" cy="802616"/>
            <a:chOff x="5947576" y="1528176"/>
            <a:chExt cx="2774570" cy="802616"/>
          </a:xfrm>
        </p:grpSpPr>
        <p:sp>
          <p:nvSpPr>
            <p:cNvPr id="10" name="TextBox 9">
              <a:extLst>
                <a:ext uri="{FF2B5EF4-FFF2-40B4-BE49-F238E27FC236}">
                  <a16:creationId xmlns:a16="http://schemas.microsoft.com/office/drawing/2014/main" id="{2A4D410C-58AA-243B-A3F1-6824B18B115F}"/>
                </a:ext>
              </a:extLst>
            </p:cNvPr>
            <p:cNvSpPr txBox="1"/>
            <p:nvPr/>
          </p:nvSpPr>
          <p:spPr>
            <a:xfrm>
              <a:off x="5947576" y="1974192"/>
              <a:ext cx="1513305" cy="338554"/>
            </a:xfrm>
            <a:prstGeom prst="rect">
              <a:avLst/>
            </a:prstGeom>
            <a:noFill/>
          </p:spPr>
          <p:txBody>
            <a:bodyPr wrap="square" rtlCol="0">
              <a:spAutoFit/>
            </a:bodyPr>
            <a:lstStyle/>
            <a:p>
              <a:pPr algn="ctr"/>
              <a:r>
                <a:rPr lang="en-US" sz="1600" dirty="0"/>
                <a:t>AMI</a:t>
              </a:r>
            </a:p>
          </p:txBody>
        </p:sp>
        <p:pic>
          <p:nvPicPr>
            <p:cNvPr id="11" name="Graphic 10">
              <a:extLst>
                <a:ext uri="{FF2B5EF4-FFF2-40B4-BE49-F238E27FC236}">
                  <a16:creationId xmlns:a16="http://schemas.microsoft.com/office/drawing/2014/main" id="{6DC90BAC-B6CD-D578-0FDA-7F30DC234F5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83787" y="1528176"/>
              <a:ext cx="469900" cy="469900"/>
            </a:xfrm>
            <a:prstGeom prst="rect">
              <a:avLst/>
            </a:prstGeom>
          </p:spPr>
        </p:pic>
        <p:pic>
          <p:nvPicPr>
            <p:cNvPr id="12" name="Graphic 11">
              <a:extLst>
                <a:ext uri="{FF2B5EF4-FFF2-40B4-BE49-F238E27FC236}">
                  <a16:creationId xmlns:a16="http://schemas.microsoft.com/office/drawing/2014/main" id="{F3EED0B9-9428-AEA2-328B-C18212BD54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71190" y="1528176"/>
              <a:ext cx="469900" cy="469900"/>
            </a:xfrm>
            <a:prstGeom prst="rect">
              <a:avLst/>
            </a:prstGeom>
          </p:spPr>
        </p:pic>
        <p:sp>
          <p:nvSpPr>
            <p:cNvPr id="13" name="TextBox 12">
              <a:extLst>
                <a:ext uri="{FF2B5EF4-FFF2-40B4-BE49-F238E27FC236}">
                  <a16:creationId xmlns:a16="http://schemas.microsoft.com/office/drawing/2014/main" id="{A6440CDB-0709-3209-1B84-BE6967D73F36}"/>
                </a:ext>
              </a:extLst>
            </p:cNvPr>
            <p:cNvSpPr txBox="1"/>
            <p:nvPr/>
          </p:nvSpPr>
          <p:spPr>
            <a:xfrm>
              <a:off x="7690134" y="1958383"/>
              <a:ext cx="1032012" cy="372409"/>
            </a:xfrm>
            <a:prstGeom prst="rect">
              <a:avLst/>
            </a:prstGeom>
            <a:noFill/>
          </p:spPr>
          <p:txBody>
            <a:bodyPr wrap="square" rtlCol="0">
              <a:noAutofit/>
            </a:bodyPr>
            <a:lstStyle/>
            <a:p>
              <a:pPr algn="ctr"/>
              <a:r>
                <a:rPr lang="en-US" sz="1600" dirty="0"/>
                <a:t>Instance</a:t>
              </a:r>
            </a:p>
          </p:txBody>
        </p:sp>
        <p:cxnSp>
          <p:nvCxnSpPr>
            <p:cNvPr id="14" name="Straight Arrow Connector 13">
              <a:extLst>
                <a:ext uri="{FF2B5EF4-FFF2-40B4-BE49-F238E27FC236}">
                  <a16:creationId xmlns:a16="http://schemas.microsoft.com/office/drawing/2014/main" id="{E2B99E27-9984-F054-122B-A8D7E753A15E}"/>
                </a:ext>
              </a:extLst>
            </p:cNvPr>
            <p:cNvCxnSpPr>
              <a:stCxn id="11" idx="3"/>
              <a:endCxn id="12" idx="1"/>
            </p:cNvCxnSpPr>
            <p:nvPr/>
          </p:nvCxnSpPr>
          <p:spPr>
            <a:xfrm>
              <a:off x="6953687" y="1763126"/>
              <a:ext cx="1017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FFBE3F9-8D6F-C3EE-05DB-57477840C2D8}"/>
                </a:ext>
              </a:extLst>
            </p:cNvPr>
            <p:cNvSpPr txBox="1"/>
            <p:nvPr/>
          </p:nvSpPr>
          <p:spPr>
            <a:xfrm>
              <a:off x="7049088" y="1528641"/>
              <a:ext cx="837089" cy="523220"/>
            </a:xfrm>
            <a:prstGeom prst="rect">
              <a:avLst/>
            </a:prstGeom>
            <a:noFill/>
          </p:spPr>
          <p:txBody>
            <a:bodyPr wrap="non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Launch</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grpSp>
    </p:spTree>
    <p:extLst>
      <p:ext uri="{BB962C8B-B14F-4D97-AF65-F5344CB8AC3E}">
        <p14:creationId xmlns:p14="http://schemas.microsoft.com/office/powerpoint/2010/main" val="3235001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37718-C100-46CF-DB87-60C31DF01C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51EF69-3D0A-ABDC-6D35-9E144A2C818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Creating a new AMI: Example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10FF22BE-B805-7A4E-EBB3-D7CA5518912C}"/>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04132F3-C099-7484-1C8D-3EF429F902E1}"/>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C935278-99B4-7039-6959-82F795547A8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DB5AFA7C-7FCF-0723-B7AF-8C48BBCC29F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grpSp>
        <p:nvGrpSpPr>
          <p:cNvPr id="4" name="Group 3" descr="Diagram shows how you can launch an &quot;unmodified&quot; instance from an AMI, manually or through script update the software on that instance, then capture it as a new AMI. You can also copy an AMI to another region.">
            <a:extLst>
              <a:ext uri="{FF2B5EF4-FFF2-40B4-BE49-F238E27FC236}">
                <a16:creationId xmlns:a16="http://schemas.microsoft.com/office/drawing/2014/main" id="{AA7E2B07-0DB1-11DB-BB7C-FBD979D1806B}"/>
              </a:ext>
            </a:extLst>
          </p:cNvPr>
          <p:cNvGrpSpPr/>
          <p:nvPr/>
        </p:nvGrpSpPr>
        <p:grpSpPr>
          <a:xfrm>
            <a:off x="365760" y="1269215"/>
            <a:ext cx="11363640" cy="4929880"/>
            <a:chOff x="365760" y="1269215"/>
            <a:chExt cx="11363640" cy="4929880"/>
          </a:xfrm>
        </p:grpSpPr>
        <p:pic>
          <p:nvPicPr>
            <p:cNvPr id="8" name="Graphic 7">
              <a:extLst>
                <a:ext uri="{FF2B5EF4-FFF2-40B4-BE49-F238E27FC236}">
                  <a16:creationId xmlns:a16="http://schemas.microsoft.com/office/drawing/2014/main" id="{312F9D7E-8ABC-60A8-37DE-4022F6C1AAE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2910" y="1280347"/>
              <a:ext cx="330200" cy="330200"/>
            </a:xfrm>
            <a:prstGeom prst="rect">
              <a:avLst/>
            </a:prstGeom>
          </p:spPr>
        </p:pic>
        <p:sp>
          <p:nvSpPr>
            <p:cNvPr id="9" name="TextBox 8">
              <a:extLst>
                <a:ext uri="{FF2B5EF4-FFF2-40B4-BE49-F238E27FC236}">
                  <a16:creationId xmlns:a16="http://schemas.microsoft.com/office/drawing/2014/main" id="{E58377EE-18D2-4596-2A3B-23E6A7E519A3}"/>
                </a:ext>
              </a:extLst>
            </p:cNvPr>
            <p:cNvSpPr txBox="1"/>
            <p:nvPr/>
          </p:nvSpPr>
          <p:spPr>
            <a:xfrm>
              <a:off x="365760" y="4301281"/>
              <a:ext cx="1922214"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(Optional) Import</a:t>
              </a:r>
            </a:p>
            <a:p>
              <a:r>
                <a:rPr lang="en-US" sz="1600" dirty="0">
                  <a:latin typeface="Amazon Ember" panose="020B0603020204020204" pitchFamily="34" charset="0"/>
                  <a:ea typeface="Amazon Ember" panose="020B0603020204020204" pitchFamily="34" charset="0"/>
                  <a:cs typeface="Amazon Ember" panose="020B0603020204020204" pitchFamily="34" charset="0"/>
                </a:rPr>
                <a:t>a virtual machine</a:t>
              </a:r>
            </a:p>
          </p:txBody>
        </p:sp>
        <p:sp>
          <p:nvSpPr>
            <p:cNvPr id="10" name="TextBox 9">
              <a:extLst>
                <a:ext uri="{FF2B5EF4-FFF2-40B4-BE49-F238E27FC236}">
                  <a16:creationId xmlns:a16="http://schemas.microsoft.com/office/drawing/2014/main" id="{EFCEAF43-6F20-58DA-D6E7-058CFCEF1F8C}"/>
                </a:ext>
              </a:extLst>
            </p:cNvPr>
            <p:cNvSpPr txBox="1"/>
            <p:nvPr/>
          </p:nvSpPr>
          <p:spPr>
            <a:xfrm>
              <a:off x="2159097" y="2430397"/>
              <a:ext cx="1041605" cy="1323439"/>
            </a:xfrm>
            <a:prstGeom prst="rect">
              <a:avLst/>
            </a:prstGeom>
            <a:noFill/>
          </p:spPr>
          <p:txBody>
            <a:bodyPr wrap="square" rtlCol="0">
              <a:spAutoFit/>
            </a:body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Quick Start </a:t>
              </a:r>
              <a:r>
                <a:rPr lang="en-US" sz="1600" dirty="0">
                  <a:latin typeface="Amazon Ember" panose="020B0603020204020204" pitchFamily="34" charset="0"/>
                  <a:ea typeface="Amazon Ember" panose="020B0603020204020204" pitchFamily="34" charset="0"/>
                  <a:cs typeface="Amazon Ember" panose="020B0603020204020204" pitchFamily="34" charset="0"/>
                </a:rPr>
                <a:t>or other</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existing AMI</a:t>
              </a:r>
            </a:p>
          </p:txBody>
        </p:sp>
        <p:sp>
          <p:nvSpPr>
            <p:cNvPr id="11" name="Rectangle 10">
              <a:extLst>
                <a:ext uri="{FF2B5EF4-FFF2-40B4-BE49-F238E27FC236}">
                  <a16:creationId xmlns:a16="http://schemas.microsoft.com/office/drawing/2014/main" id="{77A56783-5119-2292-6A6B-4D03B6C29886}"/>
                </a:ext>
              </a:extLst>
            </p:cNvPr>
            <p:cNvSpPr/>
            <p:nvPr/>
          </p:nvSpPr>
          <p:spPr>
            <a:xfrm>
              <a:off x="2191784" y="1269215"/>
              <a:ext cx="9537616" cy="49298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ysClr val="windowText" lastClr="000000"/>
                  </a:solidFill>
                  <a:latin typeface="Amazon Ember" panose="020B0603020204020204" pitchFamily="34" charset="0"/>
                  <a:ea typeface="Amazon Ember" panose="020B0603020204020204" pitchFamily="34" charset="0"/>
                  <a:cs typeface="Amazon Ember" panose="020B0603020204020204" pitchFamily="34" charset="0"/>
                </a:rPr>
                <a:t>AWS Cloud</a:t>
              </a:r>
            </a:p>
          </p:txBody>
        </p:sp>
        <p:pic>
          <p:nvPicPr>
            <p:cNvPr id="12" name="Graphic 11">
              <a:extLst>
                <a:ext uri="{FF2B5EF4-FFF2-40B4-BE49-F238E27FC236}">
                  <a16:creationId xmlns:a16="http://schemas.microsoft.com/office/drawing/2014/main" id="{2EA0C7B4-4904-65C7-D111-7BB96F79CB4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9838" y="3812990"/>
              <a:ext cx="469900" cy="469900"/>
            </a:xfrm>
            <a:prstGeom prst="rect">
              <a:avLst/>
            </a:prstGeom>
          </p:spPr>
        </p:pic>
        <p:sp>
          <p:nvSpPr>
            <p:cNvPr id="13" name="TextBox 12">
              <a:extLst>
                <a:ext uri="{FF2B5EF4-FFF2-40B4-BE49-F238E27FC236}">
                  <a16:creationId xmlns:a16="http://schemas.microsoft.com/office/drawing/2014/main" id="{C1FDFD30-0131-BA47-5586-AD5461F921DD}"/>
                </a:ext>
              </a:extLst>
            </p:cNvPr>
            <p:cNvSpPr txBox="1"/>
            <p:nvPr/>
          </p:nvSpPr>
          <p:spPr>
            <a:xfrm>
              <a:off x="3140481" y="4282890"/>
              <a:ext cx="988614"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MyAMI</a:t>
              </a:r>
            </a:p>
          </p:txBody>
        </p:sp>
        <p:cxnSp>
          <p:nvCxnSpPr>
            <p:cNvPr id="14" name="Straight Arrow Connector 13">
              <a:extLst>
                <a:ext uri="{FF2B5EF4-FFF2-40B4-BE49-F238E27FC236}">
                  <a16:creationId xmlns:a16="http://schemas.microsoft.com/office/drawing/2014/main" id="{42D2C648-0A2A-0117-661C-8394E4ED2B98}"/>
                </a:ext>
              </a:extLst>
            </p:cNvPr>
            <p:cNvCxnSpPr>
              <a:cxnSpLocks/>
              <a:stCxn id="12" idx="3"/>
              <a:endCxn id="18" idx="1"/>
            </p:cNvCxnSpPr>
            <p:nvPr/>
          </p:nvCxnSpPr>
          <p:spPr>
            <a:xfrm flipV="1">
              <a:off x="3869738" y="3398047"/>
              <a:ext cx="1862237" cy="649893"/>
            </a:xfrm>
            <a:prstGeom prst="bentConnector3">
              <a:avLst>
                <a:gd name="adj1" fmla="val 28337"/>
              </a:avLst>
            </a:prstGeom>
            <a:ln w="28575">
              <a:tailEnd type="triangl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B1312C2-E6C4-45A2-F8E5-A07D3340F732}"/>
                </a:ext>
              </a:extLst>
            </p:cNvPr>
            <p:cNvSpPr txBox="1"/>
            <p:nvPr/>
          </p:nvSpPr>
          <p:spPr>
            <a:xfrm>
              <a:off x="4431823" y="2821751"/>
              <a:ext cx="1165705" cy="584775"/>
            </a:xfrm>
            <a:prstGeom prst="rect">
              <a:avLst/>
            </a:prstGeom>
            <a:noFill/>
          </p:spPr>
          <p:txBody>
            <a:bodyPr wrap="squar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Launch</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an instance</a:t>
              </a:r>
            </a:p>
          </p:txBody>
        </p:sp>
        <p:pic>
          <p:nvPicPr>
            <p:cNvPr id="16" name="Graphic 15">
              <a:extLst>
                <a:ext uri="{FF2B5EF4-FFF2-40B4-BE49-F238E27FC236}">
                  <a16:creationId xmlns:a16="http://schemas.microsoft.com/office/drawing/2014/main" id="{33294BC7-2908-0BE8-EFF6-12471B5C8C6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9838" y="2583191"/>
              <a:ext cx="469900" cy="469900"/>
            </a:xfrm>
            <a:prstGeom prst="rect">
              <a:avLst/>
            </a:prstGeom>
          </p:spPr>
        </p:pic>
        <p:sp>
          <p:nvSpPr>
            <p:cNvPr id="17" name="TextBox 16">
              <a:extLst>
                <a:ext uri="{FF2B5EF4-FFF2-40B4-BE49-F238E27FC236}">
                  <a16:creationId xmlns:a16="http://schemas.microsoft.com/office/drawing/2014/main" id="{42A2B682-2B3E-D18E-213A-6875CDF8202B}"/>
                </a:ext>
              </a:extLst>
            </p:cNvPr>
            <p:cNvSpPr txBox="1"/>
            <p:nvPr/>
          </p:nvSpPr>
          <p:spPr>
            <a:xfrm>
              <a:off x="3140481" y="3059493"/>
              <a:ext cx="98861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Starter</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pic>
          <p:nvPicPr>
            <p:cNvPr id="18" name="Graphic 17">
              <a:extLst>
                <a:ext uri="{FF2B5EF4-FFF2-40B4-BE49-F238E27FC236}">
                  <a16:creationId xmlns:a16="http://schemas.microsoft.com/office/drawing/2014/main" id="{C391A331-0AD0-6BE2-D7B8-D4FE51D581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31975" y="3163097"/>
              <a:ext cx="469900" cy="469900"/>
            </a:xfrm>
            <a:prstGeom prst="rect">
              <a:avLst/>
            </a:prstGeom>
          </p:spPr>
        </p:pic>
        <p:cxnSp>
          <p:nvCxnSpPr>
            <p:cNvPr id="19" name="Straight Arrow Connector 13">
              <a:extLst>
                <a:ext uri="{FF2B5EF4-FFF2-40B4-BE49-F238E27FC236}">
                  <a16:creationId xmlns:a16="http://schemas.microsoft.com/office/drawing/2014/main" id="{E9BB3E5C-2176-9594-1ACE-394B47A3F957}"/>
                </a:ext>
              </a:extLst>
            </p:cNvPr>
            <p:cNvCxnSpPr>
              <a:cxnSpLocks/>
              <a:stCxn id="16" idx="3"/>
              <a:endCxn id="18" idx="1"/>
            </p:cNvCxnSpPr>
            <p:nvPr/>
          </p:nvCxnSpPr>
          <p:spPr>
            <a:xfrm>
              <a:off x="3869738" y="2818141"/>
              <a:ext cx="1862237" cy="579906"/>
            </a:xfrm>
            <a:prstGeom prst="bentConnector3">
              <a:avLst>
                <a:gd name="adj1" fmla="val 28337"/>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58C2B824-4E5E-CDD8-996B-577D4AB7214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69342" y="3144912"/>
              <a:ext cx="469900" cy="469900"/>
            </a:xfrm>
            <a:prstGeom prst="rect">
              <a:avLst/>
            </a:prstGeom>
          </p:spPr>
        </p:pic>
        <p:cxnSp>
          <p:nvCxnSpPr>
            <p:cNvPr id="21" name="Straight Arrow Connector 13">
              <a:extLst>
                <a:ext uri="{FF2B5EF4-FFF2-40B4-BE49-F238E27FC236}">
                  <a16:creationId xmlns:a16="http://schemas.microsoft.com/office/drawing/2014/main" id="{0C7B1792-045F-729E-B723-A572291257DB}"/>
                </a:ext>
              </a:extLst>
            </p:cNvPr>
            <p:cNvCxnSpPr>
              <a:cxnSpLocks/>
              <a:stCxn id="18" idx="3"/>
            </p:cNvCxnSpPr>
            <p:nvPr/>
          </p:nvCxnSpPr>
          <p:spPr>
            <a:xfrm flipV="1">
              <a:off x="6201875" y="3381618"/>
              <a:ext cx="2367467"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F065437-0CFE-D6F5-B1DF-8B7505B93CF1}"/>
                </a:ext>
              </a:extLst>
            </p:cNvPr>
            <p:cNvSpPr txBox="1"/>
            <p:nvPr/>
          </p:nvSpPr>
          <p:spPr>
            <a:xfrm>
              <a:off x="6203603" y="1841087"/>
              <a:ext cx="2377440" cy="1815882"/>
            </a:xfrm>
            <a:prstGeom prst="rect">
              <a:avLst/>
            </a:prstGeom>
            <a:noFill/>
          </p:spPr>
          <p:txBody>
            <a:bodyPr wrap="square" rtlCol="0">
              <a:spAutoFit/>
            </a:bodyPr>
            <a:lstStyle/>
            <a:p>
              <a:pPr algn="ct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Connect to the instance and manually modify it </a:t>
              </a:r>
              <a:r>
                <a:rPr lang="en-US" sz="1600" u="sng"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or</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run a script that modifies the instance (for example, upgrade installed software)</a:t>
              </a:r>
            </a:p>
          </p:txBody>
        </p:sp>
        <p:sp>
          <p:nvSpPr>
            <p:cNvPr id="23" name="TextBox 22">
              <a:extLst>
                <a:ext uri="{FF2B5EF4-FFF2-40B4-BE49-F238E27FC236}">
                  <a16:creationId xmlns:a16="http://schemas.microsoft.com/office/drawing/2014/main" id="{877328B9-BC45-FDCC-E5C3-5091C1383A9C}"/>
                </a:ext>
              </a:extLst>
            </p:cNvPr>
            <p:cNvSpPr txBox="1"/>
            <p:nvPr/>
          </p:nvSpPr>
          <p:spPr>
            <a:xfrm>
              <a:off x="5358314" y="3612838"/>
              <a:ext cx="128016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Unmodified</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Instance</a:t>
              </a:r>
            </a:p>
          </p:txBody>
        </p:sp>
        <p:sp>
          <p:nvSpPr>
            <p:cNvPr id="24" name="TextBox 23">
              <a:extLst>
                <a:ext uri="{FF2B5EF4-FFF2-40B4-BE49-F238E27FC236}">
                  <a16:creationId xmlns:a16="http://schemas.microsoft.com/office/drawing/2014/main" id="{7FC64603-BBFE-28DA-5FB8-149CCA4F1D13}"/>
                </a:ext>
              </a:extLst>
            </p:cNvPr>
            <p:cNvSpPr txBox="1"/>
            <p:nvPr/>
          </p:nvSpPr>
          <p:spPr>
            <a:xfrm>
              <a:off x="8309985" y="3577741"/>
              <a:ext cx="100584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Modified</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Instance</a:t>
              </a:r>
            </a:p>
          </p:txBody>
        </p:sp>
        <p:pic>
          <p:nvPicPr>
            <p:cNvPr id="25" name="Graphic 24">
              <a:extLst>
                <a:ext uri="{FF2B5EF4-FFF2-40B4-BE49-F238E27FC236}">
                  <a16:creationId xmlns:a16="http://schemas.microsoft.com/office/drawing/2014/main" id="{A1A9A096-2FCE-CF2F-0685-E915A34E834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3648" y="3144912"/>
              <a:ext cx="469900" cy="469900"/>
            </a:xfrm>
            <a:prstGeom prst="rect">
              <a:avLst/>
            </a:prstGeom>
          </p:spPr>
        </p:pic>
        <p:sp>
          <p:nvSpPr>
            <p:cNvPr id="26" name="TextBox 25">
              <a:extLst>
                <a:ext uri="{FF2B5EF4-FFF2-40B4-BE49-F238E27FC236}">
                  <a16:creationId xmlns:a16="http://schemas.microsoft.com/office/drawing/2014/main" id="{8478562E-D762-30C1-80E5-7A516A2D5C76}"/>
                </a:ext>
              </a:extLst>
            </p:cNvPr>
            <p:cNvSpPr txBox="1"/>
            <p:nvPr/>
          </p:nvSpPr>
          <p:spPr>
            <a:xfrm>
              <a:off x="10214291" y="3639399"/>
              <a:ext cx="98861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New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cxnSp>
          <p:nvCxnSpPr>
            <p:cNvPr id="27" name="Straight Arrow Connector 13">
              <a:extLst>
                <a:ext uri="{FF2B5EF4-FFF2-40B4-BE49-F238E27FC236}">
                  <a16:creationId xmlns:a16="http://schemas.microsoft.com/office/drawing/2014/main" id="{7007F3BC-EDA3-65AE-9ABC-6992D48DE020}"/>
                </a:ext>
              </a:extLst>
            </p:cNvPr>
            <p:cNvCxnSpPr>
              <a:cxnSpLocks/>
              <a:endCxn id="25" idx="1"/>
            </p:cNvCxnSpPr>
            <p:nvPr/>
          </p:nvCxnSpPr>
          <p:spPr>
            <a:xfrm flipV="1">
              <a:off x="9023815" y="3379862"/>
              <a:ext cx="1449833"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A6DA173-0A65-27A7-0B77-757E32AE2EA2}"/>
                </a:ext>
              </a:extLst>
            </p:cNvPr>
            <p:cNvSpPr txBox="1"/>
            <p:nvPr/>
          </p:nvSpPr>
          <p:spPr>
            <a:xfrm>
              <a:off x="9130312" y="2776551"/>
              <a:ext cx="1252267" cy="584775"/>
            </a:xfrm>
            <a:prstGeom prst="rect">
              <a:avLst/>
            </a:prstGeom>
            <a:noFill/>
          </p:spPr>
          <p:txBody>
            <a:bodyPr wrap="non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Capture</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as </a:t>
              </a:r>
              <a:b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a new AMI</a:t>
              </a:r>
            </a:p>
          </p:txBody>
        </p:sp>
        <p:sp>
          <p:nvSpPr>
            <p:cNvPr id="29" name="Rectangle 28">
              <a:extLst>
                <a:ext uri="{FF2B5EF4-FFF2-40B4-BE49-F238E27FC236}">
                  <a16:creationId xmlns:a16="http://schemas.microsoft.com/office/drawing/2014/main" id="{6464B239-0BFB-C4DD-CB86-6695B78B6604}"/>
                </a:ext>
              </a:extLst>
            </p:cNvPr>
            <p:cNvSpPr/>
            <p:nvPr/>
          </p:nvSpPr>
          <p:spPr>
            <a:xfrm>
              <a:off x="3202431" y="1691308"/>
              <a:ext cx="8365605" cy="2930136"/>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rgbClr val="36C2B4"/>
                  </a:solidFill>
                  <a:latin typeface="Amazon Ember" panose="020B0603020204020204" pitchFamily="34" charset="0"/>
                  <a:ea typeface="Amazon Ember" panose="020B0603020204020204" pitchFamily="34" charset="0"/>
                  <a:cs typeface="Amazon Ember" panose="020B0603020204020204" pitchFamily="34" charset="0"/>
                </a:rPr>
                <a:t>Region A</a:t>
              </a:r>
            </a:p>
          </p:txBody>
        </p:sp>
        <p:pic>
          <p:nvPicPr>
            <p:cNvPr id="30" name="Graphic 29">
              <a:extLst>
                <a:ext uri="{FF2B5EF4-FFF2-40B4-BE49-F238E27FC236}">
                  <a16:creationId xmlns:a16="http://schemas.microsoft.com/office/drawing/2014/main" id="{5475660D-5110-DBB1-A6EE-23266D3057B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02432" y="1691307"/>
              <a:ext cx="330200" cy="330200"/>
            </a:xfrm>
            <a:prstGeom prst="rect">
              <a:avLst/>
            </a:prstGeom>
          </p:spPr>
        </p:pic>
        <p:sp>
          <p:nvSpPr>
            <p:cNvPr id="31" name="Rectangle 30">
              <a:extLst>
                <a:ext uri="{FF2B5EF4-FFF2-40B4-BE49-F238E27FC236}">
                  <a16:creationId xmlns:a16="http://schemas.microsoft.com/office/drawing/2014/main" id="{583F15D9-EF9B-4BB8-274E-E21544602963}"/>
                </a:ext>
              </a:extLst>
            </p:cNvPr>
            <p:cNvSpPr/>
            <p:nvPr/>
          </p:nvSpPr>
          <p:spPr>
            <a:xfrm>
              <a:off x="3202431" y="4819322"/>
              <a:ext cx="3511217" cy="1273911"/>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rgbClr val="36C2B4"/>
                  </a:solidFill>
                  <a:latin typeface="Amazon Ember" panose="020B0603020204020204" pitchFamily="34" charset="0"/>
                  <a:ea typeface="Amazon Ember" panose="020B0603020204020204" pitchFamily="34" charset="0"/>
                  <a:cs typeface="Amazon Ember" panose="020B0603020204020204" pitchFamily="34" charset="0"/>
                </a:rPr>
                <a:t>Region B</a:t>
              </a:r>
            </a:p>
          </p:txBody>
        </p:sp>
        <p:pic>
          <p:nvPicPr>
            <p:cNvPr id="32" name="Graphic 31">
              <a:extLst>
                <a:ext uri="{FF2B5EF4-FFF2-40B4-BE49-F238E27FC236}">
                  <a16:creationId xmlns:a16="http://schemas.microsoft.com/office/drawing/2014/main" id="{77AC8543-7E17-4883-7DA0-BBF2F8C97FE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02432" y="4819322"/>
              <a:ext cx="330200" cy="330200"/>
            </a:xfrm>
            <a:prstGeom prst="rect">
              <a:avLst/>
            </a:prstGeom>
          </p:spPr>
        </p:pic>
        <p:pic>
          <p:nvPicPr>
            <p:cNvPr id="33" name="Graphic 32">
              <a:extLst>
                <a:ext uri="{FF2B5EF4-FFF2-40B4-BE49-F238E27FC236}">
                  <a16:creationId xmlns:a16="http://schemas.microsoft.com/office/drawing/2014/main" id="{AEF3C33A-6637-6B10-9E07-7116F27E6E8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7174" y="5024449"/>
              <a:ext cx="469900" cy="469900"/>
            </a:xfrm>
            <a:prstGeom prst="rect">
              <a:avLst/>
            </a:prstGeom>
          </p:spPr>
        </p:pic>
        <p:sp>
          <p:nvSpPr>
            <p:cNvPr id="34" name="TextBox 33">
              <a:extLst>
                <a:ext uri="{FF2B5EF4-FFF2-40B4-BE49-F238E27FC236}">
                  <a16:creationId xmlns:a16="http://schemas.microsoft.com/office/drawing/2014/main" id="{3D08024A-5CFF-DDCD-4240-B22A212E54A0}"/>
                </a:ext>
              </a:extLst>
            </p:cNvPr>
            <p:cNvSpPr txBox="1"/>
            <p:nvPr/>
          </p:nvSpPr>
          <p:spPr>
            <a:xfrm>
              <a:off x="4757817" y="5508458"/>
              <a:ext cx="974158"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New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cxnSp>
          <p:nvCxnSpPr>
            <p:cNvPr id="35" name="Straight Arrow Connector 13">
              <a:extLst>
                <a:ext uri="{FF2B5EF4-FFF2-40B4-BE49-F238E27FC236}">
                  <a16:creationId xmlns:a16="http://schemas.microsoft.com/office/drawing/2014/main" id="{C0512FF8-D43D-0286-C188-CDDDBC80ADF6}"/>
                </a:ext>
              </a:extLst>
            </p:cNvPr>
            <p:cNvCxnSpPr>
              <a:cxnSpLocks/>
              <a:stCxn id="25" idx="3"/>
              <a:endCxn id="33" idx="3"/>
            </p:cNvCxnSpPr>
            <p:nvPr/>
          </p:nvCxnSpPr>
          <p:spPr>
            <a:xfrm flipH="1">
              <a:off x="5487074" y="3379862"/>
              <a:ext cx="5456474" cy="1879537"/>
            </a:xfrm>
            <a:prstGeom prst="bentConnector3">
              <a:avLst>
                <a:gd name="adj1" fmla="val -419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1939277-DBB2-BC60-2AB5-E8256473DA32}"/>
                </a:ext>
              </a:extLst>
            </p:cNvPr>
            <p:cNvSpPr txBox="1"/>
            <p:nvPr/>
          </p:nvSpPr>
          <p:spPr>
            <a:xfrm>
              <a:off x="7213464" y="4934405"/>
              <a:ext cx="3486852" cy="584775"/>
            </a:xfrm>
            <a:prstGeom prst="rect">
              <a:avLst/>
            </a:prstGeom>
            <a:noFill/>
          </p:spPr>
          <p:txBody>
            <a:bodyPr wrap="non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Copy</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the AMI to any other Regions </a:t>
              </a:r>
              <a:b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where you want to use it</a:t>
              </a:r>
            </a:p>
          </p:txBody>
        </p:sp>
        <p:sp>
          <p:nvSpPr>
            <p:cNvPr id="37" name="Oval 36">
              <a:extLst>
                <a:ext uri="{FF2B5EF4-FFF2-40B4-BE49-F238E27FC236}">
                  <a16:creationId xmlns:a16="http://schemas.microsoft.com/office/drawing/2014/main" id="{5B33C59E-1854-EA50-75F4-5268B546D4E5}"/>
                </a:ext>
              </a:extLst>
            </p:cNvPr>
            <p:cNvSpPr/>
            <p:nvPr/>
          </p:nvSpPr>
          <p:spPr>
            <a:xfrm>
              <a:off x="4919247"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38" name="Oval 37">
              <a:extLst>
                <a:ext uri="{FF2B5EF4-FFF2-40B4-BE49-F238E27FC236}">
                  <a16:creationId xmlns:a16="http://schemas.microsoft.com/office/drawing/2014/main" id="{F2D92613-4FB5-F4D7-BCE1-AA1D016DE391}"/>
                </a:ext>
              </a:extLst>
            </p:cNvPr>
            <p:cNvSpPr/>
            <p:nvPr/>
          </p:nvSpPr>
          <p:spPr>
            <a:xfrm>
              <a:off x="7210183"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39" name="Oval 38">
              <a:extLst>
                <a:ext uri="{FF2B5EF4-FFF2-40B4-BE49-F238E27FC236}">
                  <a16:creationId xmlns:a16="http://schemas.microsoft.com/office/drawing/2014/main" id="{E9927BB4-DEC1-C518-EEDA-A49AA1202E8C}"/>
                </a:ext>
              </a:extLst>
            </p:cNvPr>
            <p:cNvSpPr/>
            <p:nvPr/>
          </p:nvSpPr>
          <p:spPr>
            <a:xfrm>
              <a:off x="9645456"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0" name="Oval 39">
              <a:extLst>
                <a:ext uri="{FF2B5EF4-FFF2-40B4-BE49-F238E27FC236}">
                  <a16:creationId xmlns:a16="http://schemas.microsoft.com/office/drawing/2014/main" id="{7144038A-EB97-FDC5-65CA-1BC3E5C4E8BC}"/>
                </a:ext>
              </a:extLst>
            </p:cNvPr>
            <p:cNvSpPr/>
            <p:nvPr/>
          </p:nvSpPr>
          <p:spPr>
            <a:xfrm>
              <a:off x="8665164" y="5443049"/>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1" name="Content Placeholder 8">
              <a:extLst>
                <a:ext uri="{FF2B5EF4-FFF2-40B4-BE49-F238E27FC236}">
                  <a16:creationId xmlns:a16="http://schemas.microsoft.com/office/drawing/2014/main" id="{0A11E6CC-20B9-C03C-8CBC-326C1D6F5B7D}"/>
                </a:ext>
              </a:extLst>
            </p:cNvPr>
            <p:cNvSpPr txBox="1">
              <a:spLocks/>
            </p:cNvSpPr>
            <p:nvPr/>
          </p:nvSpPr>
          <p:spPr>
            <a:xfrm>
              <a:off x="462600" y="1531079"/>
              <a:ext cx="1527048" cy="432397"/>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AMI</a:t>
              </a:r>
              <a:r>
                <a:rPr lang="en-US" sz="20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 </a:t>
              </a: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details</a:t>
              </a:r>
              <a:endParaRPr lang="en-US" sz="18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p:txBody>
        </p:sp>
      </p:grpSp>
    </p:spTree>
    <p:extLst>
      <p:ext uri="{BB962C8B-B14F-4D97-AF65-F5344CB8AC3E}">
        <p14:creationId xmlns:p14="http://schemas.microsoft.com/office/powerpoint/2010/main" val="2996921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1F56F-FA9A-0F70-06E5-0573A1367A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C82BCD-B349-A35F-41C3-0E5FCF0CF05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2. Select an instance type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F548ADDA-CAF1-A9A7-FCAE-FCC370DBC5B7}"/>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7193EE1-CC89-633C-9675-9F8FA253F94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FAC379A-451C-059E-E4EB-B35B44A8BEBA}"/>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15039C48-B036-589C-5723-C7696BEE8EA5}"/>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6FFD8D66-558A-3450-3F71-182253E5A9D7}"/>
              </a:ext>
            </a:extLst>
          </p:cNvPr>
          <p:cNvSpPr txBox="1">
            <a:spLocks/>
          </p:cNvSpPr>
          <p:nvPr/>
        </p:nvSpPr>
        <p:spPr>
          <a:xfrm>
            <a:off x="3918856" y="1331795"/>
            <a:ext cx="8034793" cy="529175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Consider your use case</a:t>
            </a:r>
          </a:p>
          <a:p>
            <a:pPr lvl="1"/>
            <a:r>
              <a:rPr lang="en-US" sz="1600"/>
              <a:t>How will the EC2 instance you create be used?</a:t>
            </a:r>
          </a:p>
          <a:p>
            <a:r>
              <a:rPr lang="en-US" sz="2000"/>
              <a:t>The </a:t>
            </a:r>
            <a:r>
              <a:rPr lang="en-US" sz="2000" b="1">
                <a:solidFill>
                  <a:srgbClr val="504BAB"/>
                </a:solidFill>
              </a:rPr>
              <a:t>instance type </a:t>
            </a:r>
            <a:r>
              <a:rPr lang="en-US" sz="2000"/>
              <a:t>that you choose determines – </a:t>
            </a:r>
          </a:p>
          <a:p>
            <a:pPr lvl="1"/>
            <a:r>
              <a:rPr lang="en-US" sz="1600">
                <a:solidFill>
                  <a:schemeClr val="accent6"/>
                </a:solidFill>
              </a:rPr>
              <a:t>Memory</a:t>
            </a:r>
            <a:r>
              <a:rPr lang="en-US" sz="1600"/>
              <a:t> (RAM)</a:t>
            </a:r>
          </a:p>
          <a:p>
            <a:pPr lvl="1"/>
            <a:r>
              <a:rPr lang="en-US" sz="1600">
                <a:solidFill>
                  <a:schemeClr val="accent6"/>
                </a:solidFill>
              </a:rPr>
              <a:t>Processing power</a:t>
            </a:r>
            <a:r>
              <a:rPr lang="en-US" sz="1600"/>
              <a:t> (CPU)</a:t>
            </a:r>
          </a:p>
          <a:p>
            <a:pPr lvl="1"/>
            <a:r>
              <a:rPr lang="en-US" sz="1600">
                <a:solidFill>
                  <a:schemeClr val="accent6"/>
                </a:solidFill>
              </a:rPr>
              <a:t>Disk space and disk type</a:t>
            </a:r>
            <a:r>
              <a:rPr lang="en-US" sz="1600"/>
              <a:t> (Storage)</a:t>
            </a:r>
          </a:p>
          <a:p>
            <a:pPr lvl="1"/>
            <a:r>
              <a:rPr lang="en-US" sz="1600">
                <a:solidFill>
                  <a:schemeClr val="accent6"/>
                </a:solidFill>
              </a:rPr>
              <a:t>Network performance</a:t>
            </a:r>
          </a:p>
          <a:p>
            <a:r>
              <a:rPr lang="en-US" sz="2000"/>
              <a:t>Instance type categories – </a:t>
            </a:r>
          </a:p>
          <a:p>
            <a:pPr lvl="1"/>
            <a:r>
              <a:rPr lang="en-US" sz="1600"/>
              <a:t>General purpose</a:t>
            </a:r>
          </a:p>
          <a:p>
            <a:pPr lvl="1"/>
            <a:r>
              <a:rPr lang="en-US" sz="1600"/>
              <a:t>Compute optimized</a:t>
            </a:r>
          </a:p>
          <a:p>
            <a:pPr lvl="1"/>
            <a:r>
              <a:rPr lang="en-US" sz="1600"/>
              <a:t>Memory optimized</a:t>
            </a:r>
          </a:p>
          <a:p>
            <a:pPr lvl="1"/>
            <a:r>
              <a:rPr lang="en-US" sz="1600"/>
              <a:t>Storage optimized</a:t>
            </a:r>
          </a:p>
          <a:p>
            <a:pPr lvl="1"/>
            <a:r>
              <a:rPr lang="en-US" sz="1600"/>
              <a:t>Accelerated computing</a:t>
            </a:r>
          </a:p>
          <a:p>
            <a:r>
              <a:rPr lang="en-US" sz="2000"/>
              <a:t>Instance types offer </a:t>
            </a:r>
            <a:r>
              <a:rPr lang="en-US" sz="2000" i="1"/>
              <a:t>family</a:t>
            </a:r>
            <a:r>
              <a:rPr lang="en-US" sz="2000"/>
              <a:t>, </a:t>
            </a:r>
            <a:r>
              <a:rPr lang="en-US" sz="2000" i="1"/>
              <a:t>generation</a:t>
            </a:r>
            <a:r>
              <a:rPr lang="en-US" sz="2000"/>
              <a:t>, and </a:t>
            </a:r>
            <a:r>
              <a:rPr lang="en-US" sz="2000" i="1"/>
              <a:t>size</a:t>
            </a:r>
            <a:endParaRPr lang="en-US" sz="2000" i="1" dirty="0"/>
          </a:p>
        </p:txBody>
      </p:sp>
      <p:sp>
        <p:nvSpPr>
          <p:cNvPr id="8" name="Content Placeholder 8">
            <a:extLst>
              <a:ext uri="{FF2B5EF4-FFF2-40B4-BE49-F238E27FC236}">
                <a16:creationId xmlns:a16="http://schemas.microsoft.com/office/drawing/2014/main" id="{1F28D86E-695C-A4FC-6615-66B75175E517}"/>
              </a:ext>
              <a:ext uri="{C183D7F6-B498-43B3-948B-1728B52AA6E4}">
                <adec:decorative xmlns:adec="http://schemas.microsoft.com/office/drawing/2017/decorative" val="1"/>
              </a:ext>
            </a:extLst>
          </p:cNvPr>
          <p:cNvSpPr txBox="1">
            <a:spLocks/>
          </p:cNvSpPr>
          <p:nvPr/>
        </p:nvSpPr>
        <p:spPr>
          <a:xfrm>
            <a:off x="419100" y="1716971"/>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rPr>
              <a:t>Choices made using the</a:t>
            </a:r>
            <a:br>
              <a:rPr lang="en-US" sz="2000" b="1" dirty="0">
                <a:solidFill>
                  <a:srgbClr val="504BAB"/>
                </a:solidFill>
              </a:rPr>
            </a:br>
            <a:r>
              <a:rPr lang="en-US" sz="2000" b="1" dirty="0">
                <a:solidFill>
                  <a:srgbClr val="504BAB"/>
                </a:solidFill>
              </a:rPr>
              <a:t>Launch Instance Wizard:</a:t>
            </a:r>
            <a:br>
              <a:rPr lang="en-US" sz="2400" b="1" dirty="0">
                <a:solidFill>
                  <a:srgbClr val="504BAB"/>
                </a:solidFill>
              </a:rPr>
            </a:br>
            <a:endParaRPr lang="en-US" sz="2000" dirty="0">
              <a:solidFill>
                <a:srgbClr val="504BAB"/>
              </a:solidFill>
            </a:endParaRPr>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solidFill>
                  <a:srgbClr val="C9208A"/>
                </a:solidFill>
              </a:rPr>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pic>
        <p:nvPicPr>
          <p:cNvPr id="9" name="Graphic 8">
            <a:extLst>
              <a:ext uri="{FF2B5EF4-FFF2-40B4-BE49-F238E27FC236}">
                <a16:creationId xmlns:a16="http://schemas.microsoft.com/office/drawing/2014/main" id="{FF558EE1-8A34-C9A9-8295-6ACF80F59E4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49655" y="2603810"/>
            <a:ext cx="914400" cy="914400"/>
          </a:xfrm>
          <a:prstGeom prst="rect">
            <a:avLst/>
          </a:prstGeom>
        </p:spPr>
      </p:pic>
      <p:pic>
        <p:nvPicPr>
          <p:cNvPr id="10" name="Graphic 9">
            <a:extLst>
              <a:ext uri="{FF2B5EF4-FFF2-40B4-BE49-F238E27FC236}">
                <a16:creationId xmlns:a16="http://schemas.microsoft.com/office/drawing/2014/main" id="{93158327-57C3-C7F2-76F4-86D2BA2BC6D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58660" y="2603810"/>
            <a:ext cx="914400" cy="914400"/>
          </a:xfrm>
          <a:prstGeom prst="rect">
            <a:avLst/>
          </a:prstGeom>
        </p:spPr>
      </p:pic>
    </p:spTree>
    <p:extLst>
      <p:ext uri="{BB962C8B-B14F-4D97-AF65-F5344CB8AC3E}">
        <p14:creationId xmlns:p14="http://schemas.microsoft.com/office/powerpoint/2010/main" val="3250583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391C2-AE24-34F0-F522-C84B84C690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0DE268-3CC2-FA58-7A13-4E2A38C32FF1}"/>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EC2 instance type naming and sizes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1D5B69F7-BC81-33DB-1150-B63F35F46E49}"/>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AB5F2F0-DB58-2AA2-40E4-A6CA7B43568C}"/>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670410F-EE42-97E3-EAC7-ECC50BD5E10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92DAC63D-3002-3B68-944B-898073C54CE4}"/>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9" name="Content Placeholder 2">
            <a:extLst>
              <a:ext uri="{FF2B5EF4-FFF2-40B4-BE49-F238E27FC236}">
                <a16:creationId xmlns:a16="http://schemas.microsoft.com/office/drawing/2014/main" id="{14158195-256C-DDB6-8D0B-45193A729EE7}"/>
              </a:ext>
            </a:extLst>
          </p:cNvPr>
          <p:cNvSpPr txBox="1">
            <a:spLocks/>
          </p:cNvSpPr>
          <p:nvPr/>
        </p:nvSpPr>
        <p:spPr>
          <a:xfrm>
            <a:off x="365760" y="1742557"/>
            <a:ext cx="11587890" cy="438046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a:t>Instance type naming</a:t>
            </a:r>
          </a:p>
          <a:p>
            <a:r>
              <a:rPr lang="en-US" sz="2400"/>
              <a:t>Example: </a:t>
            </a:r>
            <a:r>
              <a:rPr lang="en-US" sz="2400" b="1">
                <a:solidFill>
                  <a:srgbClr val="504BAB"/>
                </a:solidFill>
              </a:rPr>
              <a:t>t3.large</a:t>
            </a:r>
          </a:p>
          <a:p>
            <a:pPr lvl="1"/>
            <a:r>
              <a:rPr lang="en-US" sz="2000">
                <a:solidFill>
                  <a:schemeClr val="accent6"/>
                </a:solidFill>
              </a:rPr>
              <a:t>T</a:t>
            </a:r>
            <a:r>
              <a:rPr lang="en-US" sz="2000"/>
              <a:t> is the family name</a:t>
            </a:r>
          </a:p>
          <a:p>
            <a:pPr lvl="1"/>
            <a:r>
              <a:rPr lang="en-US" sz="2000">
                <a:solidFill>
                  <a:schemeClr val="accent6"/>
                </a:solidFill>
              </a:rPr>
              <a:t>3</a:t>
            </a:r>
            <a:r>
              <a:rPr lang="en-US" sz="2000"/>
              <a:t> is the generation number</a:t>
            </a:r>
          </a:p>
          <a:p>
            <a:pPr lvl="1"/>
            <a:r>
              <a:rPr lang="en-US" sz="2000">
                <a:solidFill>
                  <a:schemeClr val="accent6"/>
                </a:solidFill>
              </a:rPr>
              <a:t>Large</a:t>
            </a:r>
            <a:r>
              <a:rPr lang="en-US" sz="2000"/>
              <a:t> is the size</a:t>
            </a:r>
          </a:p>
          <a:p>
            <a:endParaRPr lang="en-US" dirty="0"/>
          </a:p>
        </p:txBody>
      </p:sp>
      <p:sp>
        <p:nvSpPr>
          <p:cNvPr id="10" name="TextBox 9">
            <a:extLst>
              <a:ext uri="{FF2B5EF4-FFF2-40B4-BE49-F238E27FC236}">
                <a16:creationId xmlns:a16="http://schemas.microsoft.com/office/drawing/2014/main" id="{6FD04776-0A92-B86C-4C9F-6340C0A82333}"/>
              </a:ext>
            </a:extLst>
          </p:cNvPr>
          <p:cNvSpPr txBox="1"/>
          <p:nvPr/>
        </p:nvSpPr>
        <p:spPr>
          <a:xfrm>
            <a:off x="5900736" y="1199737"/>
            <a:ext cx="3472425"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Example instance sizes</a:t>
            </a:r>
          </a:p>
        </p:txBody>
      </p:sp>
      <p:graphicFrame>
        <p:nvGraphicFramePr>
          <p:cNvPr id="11" name="Table 10" descr="Table showing vCPU, memory, and storage details for the t3 family of instance types. t3.nano is the smallest, with 2 vCPU, 0.5GB memory. t3.2xlarge is the largest, with 8 vCPU and 32GB memory. All instance types shown are EBS-only storage type.">
            <a:extLst>
              <a:ext uri="{FF2B5EF4-FFF2-40B4-BE49-F238E27FC236}">
                <a16:creationId xmlns:a16="http://schemas.microsoft.com/office/drawing/2014/main" id="{B6C21243-2AE8-0963-656A-EB6A325FD12E}"/>
              </a:ext>
            </a:extLst>
          </p:cNvPr>
          <p:cNvGraphicFramePr>
            <a:graphicFrameLocks noGrp="1"/>
          </p:cNvGraphicFramePr>
          <p:nvPr>
            <p:extLst>
              <p:ext uri="{D42A27DB-BD31-4B8C-83A1-F6EECF244321}">
                <p14:modId xmlns:p14="http://schemas.microsoft.com/office/powerpoint/2010/main" val="74476495"/>
              </p:ext>
            </p:extLst>
          </p:nvPr>
        </p:nvGraphicFramePr>
        <p:xfrm>
          <a:off x="6007100" y="1694867"/>
          <a:ext cx="5172940" cy="4380466"/>
        </p:xfrm>
        <a:graphic>
          <a:graphicData uri="http://schemas.openxmlformats.org/drawingml/2006/table">
            <a:tbl>
              <a:tblPr firstRow="1"/>
              <a:tblGrid>
                <a:gridCol w="1261790">
                  <a:extLst>
                    <a:ext uri="{9D8B030D-6E8A-4147-A177-3AD203B41FA5}">
                      <a16:colId xmlns:a16="http://schemas.microsoft.com/office/drawing/2014/main" val="128153120"/>
                    </a:ext>
                  </a:extLst>
                </a:gridCol>
                <a:gridCol w="630861">
                  <a:extLst>
                    <a:ext uri="{9D8B030D-6E8A-4147-A177-3AD203B41FA5}">
                      <a16:colId xmlns:a16="http://schemas.microsoft.com/office/drawing/2014/main" val="1961907996"/>
                    </a:ext>
                  </a:extLst>
                </a:gridCol>
                <a:gridCol w="1345436">
                  <a:extLst>
                    <a:ext uri="{9D8B030D-6E8A-4147-A177-3AD203B41FA5}">
                      <a16:colId xmlns:a16="http://schemas.microsoft.com/office/drawing/2014/main" val="2912205042"/>
                    </a:ext>
                  </a:extLst>
                </a:gridCol>
                <a:gridCol w="1934853">
                  <a:extLst>
                    <a:ext uri="{9D8B030D-6E8A-4147-A177-3AD203B41FA5}">
                      <a16:colId xmlns:a16="http://schemas.microsoft.com/office/drawing/2014/main" val="1790498054"/>
                    </a:ext>
                  </a:extLst>
                </a:gridCol>
              </a:tblGrid>
              <a:tr h="509526">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Instance Name</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vCPU</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Memory (GB)</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 Storage</a:t>
                      </a:r>
                    </a:p>
                  </a:txBody>
                  <a:tcPr marL="25487" marR="25487" marT="25487" marB="25487" anchor="ctr">
                    <a:lnL>
                      <a:noFill/>
                    </a:lnL>
                    <a:lnR>
                      <a:noFill/>
                    </a:lnR>
                    <a:lnT>
                      <a:noFill/>
                    </a:lnT>
                    <a:lnB>
                      <a:noFill/>
                    </a:lnB>
                  </a:tcPr>
                </a:tc>
                <a:extLst>
                  <a:ext uri="{0D108BD9-81ED-4DB2-BD59-A6C34878D82A}">
                    <a16:rowId xmlns:a16="http://schemas.microsoft.com/office/drawing/2014/main" val="1364619955"/>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t3.nano</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0.5</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83531971"/>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t3.micro</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142843272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t3.small</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152070516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t3.medium</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745104067"/>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38598996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t3.xlarge</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16</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tcPr>
                </a:tc>
                <a:extLst>
                  <a:ext uri="{0D108BD9-81ED-4DB2-BD59-A6C34878D82A}">
                    <a16:rowId xmlns:a16="http://schemas.microsoft.com/office/drawing/2014/main" val="156383251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t3.2xlarge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32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3730849886"/>
                  </a:ext>
                </a:extLst>
              </a:tr>
            </a:tbl>
          </a:graphicData>
        </a:graphic>
      </p:graphicFrame>
    </p:spTree>
    <p:extLst>
      <p:ext uri="{BB962C8B-B14F-4D97-AF65-F5344CB8AC3E}">
        <p14:creationId xmlns:p14="http://schemas.microsoft.com/office/powerpoint/2010/main" val="3677697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FCAD-63C0-FE5E-F00D-E2EFA56E83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1C4B27-0EEB-0457-731F-1F4D311548B4}"/>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Select instance type: Based on use case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FB3C0570-44BB-0733-B6DC-CF462B6477ED}"/>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1A27027-F10F-4905-055F-734CB224C5A2}"/>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81904D3-F56B-F075-B8BF-4D3A5AC88180}"/>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98BC7BAD-8F7D-7811-86ED-C84C077A668A}"/>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graphicFrame>
        <p:nvGraphicFramePr>
          <p:cNvPr id="4" name="Table 3" descr="Chart showing instance types and use cases for each fo the Five main instance type categories.">
            <a:extLst>
              <a:ext uri="{FF2B5EF4-FFF2-40B4-BE49-F238E27FC236}">
                <a16:creationId xmlns:a16="http://schemas.microsoft.com/office/drawing/2014/main" id="{D6DE4B02-EC3B-F72E-C2FB-6F942E067812}"/>
              </a:ext>
            </a:extLst>
          </p:cNvPr>
          <p:cNvGraphicFramePr>
            <a:graphicFrameLocks noGrp="1"/>
          </p:cNvGraphicFramePr>
          <p:nvPr>
            <p:extLst>
              <p:ext uri="{D42A27DB-BD31-4B8C-83A1-F6EECF244321}">
                <p14:modId xmlns:p14="http://schemas.microsoft.com/office/powerpoint/2010/main" val="2628749439"/>
              </p:ext>
            </p:extLst>
          </p:nvPr>
        </p:nvGraphicFramePr>
        <p:xfrm>
          <a:off x="623614" y="1715063"/>
          <a:ext cx="10955994" cy="3961836"/>
        </p:xfrm>
        <a:graphic>
          <a:graphicData uri="http://schemas.openxmlformats.org/drawingml/2006/table">
            <a:tbl>
              <a:tblPr firstRow="1" bandRow="1">
                <a:effectLst/>
                <a:tableStyleId>{5C22544A-7EE6-4342-B048-85BDC9FD1C3A}</a:tableStyleId>
              </a:tblPr>
              <a:tblGrid>
                <a:gridCol w="1825999">
                  <a:extLst>
                    <a:ext uri="{9D8B030D-6E8A-4147-A177-3AD203B41FA5}">
                      <a16:colId xmlns:a16="http://schemas.microsoft.com/office/drawing/2014/main" val="23915117"/>
                    </a:ext>
                  </a:extLst>
                </a:gridCol>
                <a:gridCol w="1825999">
                  <a:extLst>
                    <a:ext uri="{9D8B030D-6E8A-4147-A177-3AD203B41FA5}">
                      <a16:colId xmlns:a16="http://schemas.microsoft.com/office/drawing/2014/main" val="311262121"/>
                    </a:ext>
                  </a:extLst>
                </a:gridCol>
                <a:gridCol w="1825999">
                  <a:extLst>
                    <a:ext uri="{9D8B030D-6E8A-4147-A177-3AD203B41FA5}">
                      <a16:colId xmlns:a16="http://schemas.microsoft.com/office/drawing/2014/main" val="1971920450"/>
                    </a:ext>
                  </a:extLst>
                </a:gridCol>
                <a:gridCol w="1825999">
                  <a:extLst>
                    <a:ext uri="{9D8B030D-6E8A-4147-A177-3AD203B41FA5}">
                      <a16:colId xmlns:a16="http://schemas.microsoft.com/office/drawing/2014/main" val="1206149541"/>
                    </a:ext>
                  </a:extLst>
                </a:gridCol>
                <a:gridCol w="1825999">
                  <a:extLst>
                    <a:ext uri="{9D8B030D-6E8A-4147-A177-3AD203B41FA5}">
                      <a16:colId xmlns:a16="http://schemas.microsoft.com/office/drawing/2014/main" val="1595182195"/>
                    </a:ext>
                  </a:extLst>
                </a:gridCol>
                <a:gridCol w="1825999">
                  <a:extLst>
                    <a:ext uri="{9D8B030D-6E8A-4147-A177-3AD203B41FA5}">
                      <a16:colId xmlns:a16="http://schemas.microsoft.com/office/drawing/2014/main" val="1279303239"/>
                    </a:ext>
                  </a:extLst>
                </a:gridCol>
              </a:tblGrid>
              <a:tr h="1575507">
                <a:tc>
                  <a:txBody>
                    <a:bodyPr/>
                    <a:lstStyle/>
                    <a:p>
                      <a:endParaRPr lang="en-US" dirty="0">
                        <a:solidFill>
                          <a:schemeClr val="tx1"/>
                        </a:solidFill>
                        <a:latin typeface="+mn-lt"/>
                        <a:ea typeface="Amazon Ember Light" panose="020B0403020204020204" pitchFamily="34" charset="0"/>
                        <a:cs typeface="Amazon Ember Light" panose="020B0403020204020204" pitchFamily="34" charset="0"/>
                      </a:endParaRPr>
                    </a:p>
                  </a:txBody>
                  <a:tcPr anchor="ctr">
                    <a:lnL w="381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General</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Purpose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rgbClr val="005276"/>
                          </a:solidFill>
                          <a:latin typeface="+mn-lt"/>
                          <a:ea typeface="Amazon Ember Light" panose="020B0403020204020204" pitchFamily="34" charset="0"/>
                          <a:cs typeface="Amazon Ember Light" panose="020B0403020204020204" pitchFamily="34" charset="0"/>
                        </a:rPr>
                      </a:br>
                      <a:br>
                        <a:rPr lang="en-US" dirty="0">
                          <a:solidFill>
                            <a:srgbClr val="005276"/>
                          </a:solidFill>
                          <a:latin typeface="+mn-lt"/>
                          <a:ea typeface="Amazon Ember Light" panose="020B0403020204020204" pitchFamily="34" charset="0"/>
                          <a:cs typeface="Amazon Ember Light" panose="020B0403020204020204" pitchFamily="34" charset="0"/>
                        </a:rPr>
                      </a:br>
                      <a:br>
                        <a:rPr lang="en-US" dirty="0">
                          <a:solidFill>
                            <a:srgbClr val="005276"/>
                          </a:solidFill>
                          <a:latin typeface="+mn-lt"/>
                          <a:ea typeface="Amazon Ember Light" panose="020B0403020204020204" pitchFamily="34" charset="0"/>
                          <a:cs typeface="Amazon Ember Light" panose="020B0403020204020204" pitchFamily="34" charset="0"/>
                        </a:rPr>
                      </a:br>
                      <a:r>
                        <a:rPr lang="en-US" dirty="0">
                          <a:solidFill>
                            <a:srgbClr val="005276"/>
                          </a:solidFill>
                          <a:latin typeface="+mn-lt"/>
                          <a:ea typeface="Amazon Ember Light" panose="020B0403020204020204" pitchFamily="34" charset="0"/>
                          <a:cs typeface="Amazon Ember Light" panose="020B0403020204020204" pitchFamily="34" charset="0"/>
                        </a:rPr>
                        <a:t>Compute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6"/>
                          </a:solidFill>
                          <a:latin typeface="+mn-lt"/>
                          <a:ea typeface="Amazon Ember Light" panose="020B0403020204020204" pitchFamily="34" charset="0"/>
                          <a:cs typeface="Amazon Ember Light" panose="020B0403020204020204" pitchFamily="34" charset="0"/>
                        </a:rPr>
                        <a:t>Memory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rgbClr val="18AB4B"/>
                          </a:solidFill>
                          <a:latin typeface="+mn-lt"/>
                          <a:ea typeface="Amazon Ember Light" panose="020B0403020204020204" pitchFamily="34" charset="0"/>
                          <a:cs typeface="Amazon Ember Light" panose="020B0403020204020204" pitchFamily="34" charset="0"/>
                        </a:rPr>
                      </a:br>
                      <a:br>
                        <a:rPr lang="en-US" dirty="0">
                          <a:solidFill>
                            <a:srgbClr val="18AB4B"/>
                          </a:solidFill>
                          <a:latin typeface="+mn-lt"/>
                          <a:ea typeface="Amazon Ember Light" panose="020B0403020204020204" pitchFamily="34" charset="0"/>
                          <a:cs typeface="Amazon Ember Light" panose="020B0403020204020204" pitchFamily="34" charset="0"/>
                        </a:rPr>
                      </a:br>
                      <a:br>
                        <a:rPr lang="en-US" dirty="0">
                          <a:solidFill>
                            <a:srgbClr val="18AB4B"/>
                          </a:solidFill>
                          <a:latin typeface="+mn-lt"/>
                          <a:ea typeface="Amazon Ember Light" panose="020B0403020204020204" pitchFamily="34" charset="0"/>
                          <a:cs typeface="Amazon Ember Light" panose="020B0403020204020204" pitchFamily="34" charset="0"/>
                        </a:rPr>
                      </a:br>
                      <a:r>
                        <a:rPr lang="en-US" dirty="0">
                          <a:solidFill>
                            <a:srgbClr val="18AB4B"/>
                          </a:solidFill>
                          <a:latin typeface="+mn-lt"/>
                          <a:ea typeface="Amazon Ember Light" panose="020B0403020204020204" pitchFamily="34" charset="0"/>
                          <a:cs typeface="Amazon Ember Light" panose="020B0403020204020204" pitchFamily="34" charset="0"/>
                        </a:rPr>
                        <a:t>Accelerated Computing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5"/>
                          </a:solidFill>
                          <a:latin typeface="+mn-lt"/>
                          <a:ea typeface="Amazon Ember Light" panose="020B0403020204020204" pitchFamily="34" charset="0"/>
                          <a:cs typeface="Amazon Ember Light" panose="020B0403020204020204" pitchFamily="34" charset="0"/>
                        </a:rPr>
                        <a:t>Storage Optimized</a:t>
                      </a:r>
                    </a:p>
                  </a:txBody>
                  <a:tcPr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955339"/>
                  </a:ext>
                </a:extLst>
              </a:tr>
              <a:tr h="1280100">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Instance</a:t>
                      </a:r>
                      <a:r>
                        <a:rPr lang="en-US" b="1" baseline="0" dirty="0">
                          <a:solidFill>
                            <a:schemeClr val="bg1"/>
                          </a:solidFill>
                          <a:latin typeface="+mn-lt"/>
                          <a:ea typeface="Amazon Ember Light" panose="020B0403020204020204" pitchFamily="34" charset="0"/>
                          <a:cs typeface="Amazon Ember Light" panose="020B0403020204020204" pitchFamily="34" charset="0"/>
                        </a:rPr>
                        <a:t> T</a:t>
                      </a:r>
                      <a:r>
                        <a:rPr lang="en-US" b="1" dirty="0">
                          <a:solidFill>
                            <a:schemeClr val="bg1"/>
                          </a:solidFill>
                          <a:latin typeface="+mn-lt"/>
                          <a:ea typeface="Amazon Ember Light" panose="020B0403020204020204" pitchFamily="34" charset="0"/>
                          <a:cs typeface="Amazon Ember Light" panose="020B0403020204020204" pitchFamily="34" charset="0"/>
                        </a:rPr>
                        <a:t>ypes</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a1, m4, m5,</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t2, 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005276"/>
                          </a:solidFill>
                          <a:latin typeface="+mn-lt"/>
                          <a:ea typeface="Amazon Ember Light" panose="020B0403020204020204" pitchFamily="34" charset="0"/>
                          <a:cs typeface="Amazon Ember Light" panose="020B0403020204020204" pitchFamily="34" charset="0"/>
                        </a:rPr>
                        <a:t>c4, c5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r4, r5,</a:t>
                      </a:r>
                      <a:br>
                        <a:rPr lang="en-US" sz="1800" b="1" kern="1200" dirty="0">
                          <a:solidFill>
                            <a:schemeClr val="accent6"/>
                          </a:solidFill>
                          <a:latin typeface="+mn-lt"/>
                          <a:ea typeface="Amazon Ember Light" panose="020B0403020204020204" pitchFamily="34" charset="0"/>
                          <a:cs typeface="Amazon Ember Light" panose="020B0403020204020204" pitchFamily="34" charset="0"/>
                        </a:rPr>
                      </a:br>
                      <a:r>
                        <a:rPr lang="en-US" sz="1800" b="1" kern="1200" dirty="0">
                          <a:solidFill>
                            <a:schemeClr val="accent6"/>
                          </a:solidFill>
                          <a:latin typeface="+mn-lt"/>
                          <a:ea typeface="Amazon Ember Light" panose="020B0403020204020204" pitchFamily="34" charset="0"/>
                          <a:cs typeface="Amazon Ember Light" panose="020B0403020204020204" pitchFamily="34" charset="0"/>
                        </a:rPr>
                        <a:t>x1, z1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18AB4B"/>
                          </a:solidFill>
                          <a:latin typeface="+mn-lt"/>
                          <a:ea typeface="Amazon Ember Light" panose="020B0403020204020204" pitchFamily="34" charset="0"/>
                          <a:cs typeface="Amazon Ember Light" panose="020B0403020204020204" pitchFamily="34" charset="0"/>
                        </a:rPr>
                        <a:t>f1, g3, g4, </a:t>
                      </a:r>
                      <a:br>
                        <a:rPr lang="en-US" sz="1800" b="1" kern="1200" dirty="0">
                          <a:solidFill>
                            <a:srgbClr val="18AB4B"/>
                          </a:solidFill>
                          <a:latin typeface="+mn-lt"/>
                          <a:ea typeface="Amazon Ember Light" panose="020B0403020204020204" pitchFamily="34" charset="0"/>
                          <a:cs typeface="Amazon Ember Light" panose="020B0403020204020204" pitchFamily="34" charset="0"/>
                        </a:rPr>
                      </a:br>
                      <a:r>
                        <a:rPr lang="en-US" sz="1800" b="1" kern="1200" dirty="0">
                          <a:solidFill>
                            <a:srgbClr val="18AB4B"/>
                          </a:solidFill>
                          <a:latin typeface="+mn-lt"/>
                          <a:ea typeface="Amazon Ember Light" panose="020B0403020204020204" pitchFamily="34" charset="0"/>
                          <a:cs typeface="Amazon Ember Light" panose="020B0403020204020204" pitchFamily="34" charset="0"/>
                        </a:rPr>
                        <a:t>p2, 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d2, h1, i3</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675248"/>
                  </a:ext>
                </a:extLst>
              </a:tr>
              <a:tr h="1106229">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Use Case</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Broad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005276"/>
                          </a:solidFill>
                          <a:latin typeface="+mn-lt"/>
                          <a:ea typeface="Amazon Ember Light" panose="020B0403020204020204" pitchFamily="34" charset="0"/>
                          <a:cs typeface="Amazon Ember Light" panose="020B0403020204020204" pitchFamily="34" charset="0"/>
                        </a:rPr>
                        <a:t>High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In-memory 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18AB4B"/>
                          </a:solidFill>
                          <a:latin typeface="+mn-lt"/>
                          <a:ea typeface="Amazon Ember Light" panose="020B0403020204020204" pitchFamily="34" charset="0"/>
                          <a:cs typeface="Amazon Ember Light" panose="020B0403020204020204" pitchFamily="34" charset="0"/>
                        </a:rPr>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Distributed file systems</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3801933"/>
                  </a:ext>
                </a:extLst>
              </a:tr>
            </a:tbl>
          </a:graphicData>
        </a:graphic>
      </p:graphicFrame>
      <p:pic>
        <p:nvPicPr>
          <p:cNvPr id="8" name="Picture 7">
            <a:extLst>
              <a:ext uri="{FF2B5EF4-FFF2-40B4-BE49-F238E27FC236}">
                <a16:creationId xmlns:a16="http://schemas.microsoft.com/office/drawing/2014/main" id="{D14B6E61-3CC1-40B3-F1F7-6F395B5BE96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0788" y="1770706"/>
            <a:ext cx="788684" cy="784929"/>
          </a:xfrm>
          <a:prstGeom prst="rect">
            <a:avLst/>
          </a:prstGeom>
        </p:spPr>
      </p:pic>
      <p:pic>
        <p:nvPicPr>
          <p:cNvPr id="9" name="Picture 8">
            <a:extLst>
              <a:ext uri="{FF2B5EF4-FFF2-40B4-BE49-F238E27FC236}">
                <a16:creationId xmlns:a16="http://schemas.microsoft.com/office/drawing/2014/main" id="{94D93973-8AAD-E2A8-15C8-9EC808CFA00F}"/>
              </a:ext>
              <a:ext uri="{C183D7F6-B498-43B3-948B-1728B52AA6E4}">
                <adec:decorative xmlns:adec="http://schemas.microsoft.com/office/drawing/2017/decorative" val="1"/>
              </a:ext>
            </a:extLst>
          </p:cNvPr>
          <p:cNvPicPr>
            <a:picLocks noChangeAspect="1"/>
          </p:cNvPicPr>
          <p:nvPr/>
        </p:nvPicPr>
        <p:blipFill>
          <a:blip r:embed="rId4">
            <a:duotone>
              <a:schemeClr val="accent2">
                <a:shade val="45000"/>
                <a:satMod val="135000"/>
              </a:schemeClr>
              <a:prstClr val="white"/>
            </a:duotone>
          </a:blip>
          <a:stretch>
            <a:fillRect/>
          </a:stretch>
        </p:blipFill>
        <p:spPr>
          <a:xfrm>
            <a:off x="4900318" y="1829915"/>
            <a:ext cx="676866" cy="666511"/>
          </a:xfrm>
          <a:prstGeom prst="rect">
            <a:avLst/>
          </a:prstGeom>
          <a:ln>
            <a:solidFill>
              <a:srgbClr val="7E93EE"/>
            </a:solidFill>
          </a:ln>
        </p:spPr>
      </p:pic>
      <p:pic>
        <p:nvPicPr>
          <p:cNvPr id="10" name="Picture 9">
            <a:extLst>
              <a:ext uri="{FF2B5EF4-FFF2-40B4-BE49-F238E27FC236}">
                <a16:creationId xmlns:a16="http://schemas.microsoft.com/office/drawing/2014/main" id="{1FAD511C-97C6-6DF0-9BA7-8A04D275EB27}"/>
              </a:ext>
              <a:ext uri="{C183D7F6-B498-43B3-948B-1728B52AA6E4}">
                <adec:decorative xmlns:adec="http://schemas.microsoft.com/office/drawing/2017/decorative" val="1"/>
              </a:ext>
            </a:extLst>
          </p:cNvPr>
          <p:cNvPicPr>
            <a:picLocks noChangeAspect="1"/>
          </p:cNvPicPr>
          <p:nvPr/>
        </p:nvPicPr>
        <p:blipFill>
          <a:blip r:embed="rId5">
            <a:duotone>
              <a:schemeClr val="accent6">
                <a:shade val="45000"/>
                <a:satMod val="135000"/>
              </a:schemeClr>
              <a:prstClr val="white"/>
            </a:duotone>
          </a:blip>
          <a:stretch>
            <a:fillRect/>
          </a:stretch>
        </p:blipFill>
        <p:spPr>
          <a:xfrm rot="1800000">
            <a:off x="6615916" y="2011899"/>
            <a:ext cx="914400" cy="302542"/>
          </a:xfrm>
          <a:prstGeom prst="rect">
            <a:avLst/>
          </a:prstGeom>
        </p:spPr>
      </p:pic>
      <p:pic>
        <p:nvPicPr>
          <p:cNvPr id="11" name="Picture 10">
            <a:extLst>
              <a:ext uri="{FF2B5EF4-FFF2-40B4-BE49-F238E27FC236}">
                <a16:creationId xmlns:a16="http://schemas.microsoft.com/office/drawing/2014/main" id="{80500FA3-7E5D-B2B2-79DF-78BBA1931738}"/>
              </a:ext>
              <a:ext uri="{C183D7F6-B498-43B3-948B-1728B52AA6E4}">
                <adec:decorative xmlns:adec="http://schemas.microsoft.com/office/drawing/2017/decorative" val="1"/>
              </a:ext>
            </a:extLst>
          </p:cNvPr>
          <p:cNvPicPr>
            <a:picLocks noChangeAspect="1"/>
          </p:cNvPicPr>
          <p:nvPr/>
        </p:nvPicPr>
        <p:blipFill>
          <a:blip r:embed="rId6">
            <a:duotone>
              <a:srgbClr val="ADE422">
                <a:shade val="45000"/>
                <a:satMod val="135000"/>
              </a:srgbClr>
              <a:prstClr val="white"/>
            </a:duotone>
            <a:extLst>
              <a:ext uri="{BEBA8EAE-BF5A-486C-A8C5-ECC9F3942E4B}">
                <a14:imgProps xmlns:a14="http://schemas.microsoft.com/office/drawing/2010/main">
                  <a14:imgLayer r:embed="rId7">
                    <a14:imgEffect>
                      <a14:colorTemperature colorTemp="655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525560" y="1826900"/>
            <a:ext cx="646612" cy="672541"/>
          </a:xfrm>
          <a:prstGeom prst="rect">
            <a:avLst/>
          </a:prstGeom>
          <a:ln>
            <a:solidFill>
              <a:srgbClr val="18AB4B"/>
            </a:solidFill>
          </a:ln>
          <a:effectLst>
            <a:outerShdw blurRad="25400" sx="109000" sy="109000" algn="ctr" rotWithShape="0">
              <a:schemeClr val="accent4"/>
            </a:outerShdw>
          </a:effectLst>
        </p:spPr>
      </p:pic>
      <p:sp>
        <p:nvSpPr>
          <p:cNvPr id="12" name="Flowchart: Magnetic Disk 11">
            <a:extLst>
              <a:ext uri="{FF2B5EF4-FFF2-40B4-BE49-F238E27FC236}">
                <a16:creationId xmlns:a16="http://schemas.microsoft.com/office/drawing/2014/main" id="{62A27D50-F31D-780C-74BF-8778DC0FD500}"/>
              </a:ext>
              <a:ext uri="{C183D7F6-B498-43B3-948B-1728B52AA6E4}">
                <adec:decorative xmlns:adec="http://schemas.microsoft.com/office/drawing/2017/decorative" val="1"/>
              </a:ext>
            </a:extLst>
          </p:cNvPr>
          <p:cNvSpPr/>
          <p:nvPr/>
        </p:nvSpPr>
        <p:spPr bwMode="auto">
          <a:xfrm>
            <a:off x="10392472" y="1941641"/>
            <a:ext cx="583762" cy="502990"/>
          </a:xfrm>
          <a:prstGeom prst="flowChartMagneticDisk">
            <a:avLst/>
          </a:prstGeom>
          <a:solidFill>
            <a:schemeClr val="bg1"/>
          </a:solidFill>
          <a:ln w="28575">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99925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7B517-31FE-3246-8A41-2F12D1E3FD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53EAC0-0E5E-9764-977C-2AE88FB8E42E}"/>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Instance types: Network features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1CC8367-C6B1-0224-E8B4-A0F063B282ED}"/>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173FB44-88A6-6B38-EE9E-464930D8531D}"/>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CD1D23D-872F-AC1D-218D-22644393CB83}"/>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4DA10D15-DB6E-11B3-6C7B-45AA3CC0517C}"/>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4">
            <a:extLst>
              <a:ext uri="{FF2B5EF4-FFF2-40B4-BE49-F238E27FC236}">
                <a16:creationId xmlns:a16="http://schemas.microsoft.com/office/drawing/2014/main" id="{85E506B0-DE16-ACDD-2256-92D2155571DE}"/>
              </a:ext>
            </a:extLst>
          </p:cNvPr>
          <p:cNvSpPr txBox="1">
            <a:spLocks/>
          </p:cNvSpPr>
          <p:nvPr/>
        </p:nvSpPr>
        <p:spPr>
          <a:xfrm>
            <a:off x="502920" y="1463040"/>
            <a:ext cx="11587890" cy="41669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atin typeface="Roboto" panose="02000000000000000000" pitchFamily="2" charset="0"/>
                <a:ea typeface="Roboto" panose="02000000000000000000" pitchFamily="2" charset="0"/>
                <a:cs typeface="Roboto" panose="02000000000000000000" pitchFamily="2" charset="0"/>
              </a:rPr>
              <a:t>The network bandwidth (Gbps) varies by instance type.</a:t>
            </a:r>
          </a:p>
          <a:p>
            <a:pPr lvl="1"/>
            <a:r>
              <a:rPr lang="en-US" sz="2000" dirty="0">
                <a:latin typeface="Roboto" panose="02000000000000000000" pitchFamily="2" charset="0"/>
                <a:ea typeface="Roboto" panose="02000000000000000000" pitchFamily="2" charset="0"/>
                <a:cs typeface="Roboto" panose="02000000000000000000" pitchFamily="2" charset="0"/>
              </a:rPr>
              <a:t>See </a:t>
            </a:r>
            <a:r>
              <a:rPr lang="en-US" sz="2000" dirty="0">
                <a:latin typeface="Roboto" panose="02000000000000000000" pitchFamily="2" charset="0"/>
                <a:ea typeface="Roboto" panose="02000000000000000000" pitchFamily="2" charset="0"/>
                <a:cs typeface="Roboto" panose="02000000000000000000" pitchFamily="2" charset="0"/>
                <a:hlinkClick r:id="rId3"/>
              </a:rPr>
              <a:t>Amazon EC2 Instance Types </a:t>
            </a:r>
            <a:r>
              <a:rPr lang="en-US" sz="2000" dirty="0">
                <a:latin typeface="Roboto" panose="02000000000000000000" pitchFamily="2" charset="0"/>
                <a:ea typeface="Roboto" panose="02000000000000000000" pitchFamily="2" charset="0"/>
                <a:cs typeface="Roboto" panose="02000000000000000000" pitchFamily="2" charset="0"/>
              </a:rPr>
              <a:t>to compare.</a:t>
            </a:r>
          </a:p>
          <a:p>
            <a:r>
              <a:rPr lang="en-US" sz="2400" dirty="0">
                <a:latin typeface="Roboto" panose="02000000000000000000" pitchFamily="2" charset="0"/>
                <a:ea typeface="Roboto" panose="02000000000000000000" pitchFamily="2" charset="0"/>
                <a:cs typeface="Roboto" panose="02000000000000000000" pitchFamily="2" charset="0"/>
              </a:rPr>
              <a:t>To maximize networking and bandwidth performance of your instance type:</a:t>
            </a:r>
          </a:p>
          <a:p>
            <a:pPr lvl="1"/>
            <a:r>
              <a:rPr lang="en-US" sz="2000" dirty="0">
                <a:latin typeface="Roboto" panose="02000000000000000000" pitchFamily="2" charset="0"/>
                <a:ea typeface="Roboto" panose="02000000000000000000" pitchFamily="2" charset="0"/>
                <a:cs typeface="Roboto" panose="02000000000000000000" pitchFamily="2" charset="0"/>
              </a:rPr>
              <a:t>If you have interdependent instances, launch them into a </a:t>
            </a:r>
            <a:r>
              <a:rPr lang="en-US" sz="2000" b="1" dirty="0">
                <a:solidFill>
                  <a:srgbClr val="504BAB"/>
                </a:solidFill>
                <a:latin typeface="Roboto" panose="02000000000000000000" pitchFamily="2" charset="0"/>
                <a:ea typeface="Roboto" panose="02000000000000000000" pitchFamily="2" charset="0"/>
                <a:cs typeface="Roboto" panose="02000000000000000000" pitchFamily="2" charset="0"/>
              </a:rPr>
              <a:t>cluster placement group</a:t>
            </a:r>
            <a:r>
              <a:rPr lang="en-US" sz="2000" dirty="0">
                <a:latin typeface="Roboto" panose="02000000000000000000" pitchFamily="2" charset="0"/>
                <a:ea typeface="Roboto" panose="02000000000000000000" pitchFamily="2" charset="0"/>
                <a:cs typeface="Roboto" panose="02000000000000000000" pitchFamily="2" charset="0"/>
              </a:rPr>
              <a:t>.</a:t>
            </a:r>
          </a:p>
          <a:p>
            <a:pPr lvl="1"/>
            <a:r>
              <a:rPr lang="en-US" sz="2000" dirty="0">
                <a:latin typeface="Roboto" panose="02000000000000000000" pitchFamily="2" charset="0"/>
                <a:ea typeface="Roboto" panose="02000000000000000000" pitchFamily="2" charset="0"/>
                <a:cs typeface="Roboto" panose="02000000000000000000" pitchFamily="2" charset="0"/>
              </a:rPr>
              <a:t>Enable enhanced networking. </a:t>
            </a:r>
          </a:p>
          <a:p>
            <a:r>
              <a:rPr lang="en-US" sz="2400" dirty="0">
                <a:latin typeface="Roboto" panose="02000000000000000000" pitchFamily="2" charset="0"/>
                <a:ea typeface="Roboto" panose="02000000000000000000" pitchFamily="2" charset="0"/>
                <a:cs typeface="Roboto" panose="02000000000000000000" pitchFamily="2" charset="0"/>
              </a:rPr>
              <a:t>Enhanced networking types are supported on most instance types.</a:t>
            </a:r>
          </a:p>
          <a:p>
            <a:pPr lvl="1"/>
            <a:r>
              <a:rPr lang="en-US" sz="2000" dirty="0">
                <a:latin typeface="Roboto" panose="02000000000000000000" pitchFamily="2" charset="0"/>
                <a:ea typeface="Roboto" panose="02000000000000000000" pitchFamily="2" charset="0"/>
                <a:cs typeface="Roboto" panose="02000000000000000000" pitchFamily="2" charset="0"/>
              </a:rPr>
              <a:t>See the </a:t>
            </a:r>
            <a:r>
              <a:rPr lang="en-US" sz="2000" dirty="0">
                <a:latin typeface="Roboto" panose="02000000000000000000" pitchFamily="2" charset="0"/>
                <a:ea typeface="Roboto" panose="02000000000000000000" pitchFamily="2" charset="0"/>
                <a:cs typeface="Roboto" panose="02000000000000000000" pitchFamily="2" charset="0"/>
                <a:hlinkClick r:id="rId4"/>
              </a:rPr>
              <a:t>Networking and Storage Features</a:t>
            </a:r>
            <a:r>
              <a:rPr lang="en-US" sz="2000" dirty="0">
                <a:latin typeface="Roboto" panose="02000000000000000000" pitchFamily="2" charset="0"/>
                <a:ea typeface="Roboto" panose="02000000000000000000" pitchFamily="2" charset="0"/>
                <a:cs typeface="Roboto" panose="02000000000000000000" pitchFamily="2" charset="0"/>
              </a:rPr>
              <a:t> documentation for details.</a:t>
            </a:r>
          </a:p>
          <a:p>
            <a:r>
              <a:rPr lang="en-US" sz="2400" dirty="0">
                <a:latin typeface="Roboto" panose="02000000000000000000" pitchFamily="2" charset="0"/>
                <a:ea typeface="Roboto" panose="02000000000000000000" pitchFamily="2" charset="0"/>
                <a:cs typeface="Roboto" panose="02000000000000000000" pitchFamily="2" charset="0"/>
              </a:rPr>
              <a:t>Enhanced networking types – </a:t>
            </a:r>
          </a:p>
          <a:p>
            <a:pPr lvl="1"/>
            <a:r>
              <a:rPr lang="en-US" sz="2000" b="1" dirty="0">
                <a:solidFill>
                  <a:srgbClr val="504BAB"/>
                </a:solidFill>
                <a:latin typeface="Roboto" panose="02000000000000000000" pitchFamily="2" charset="0"/>
                <a:ea typeface="Roboto" panose="02000000000000000000" pitchFamily="2" charset="0"/>
                <a:cs typeface="Roboto" panose="02000000000000000000" pitchFamily="2" charset="0"/>
              </a:rPr>
              <a:t>Elastic Network Adapter (ENA): </a:t>
            </a:r>
            <a:r>
              <a:rPr lang="en-US" sz="2000" dirty="0">
                <a:latin typeface="Roboto" panose="02000000000000000000" pitchFamily="2" charset="0"/>
                <a:ea typeface="Roboto" panose="02000000000000000000" pitchFamily="2" charset="0"/>
                <a:cs typeface="Roboto" panose="02000000000000000000" pitchFamily="2" charset="0"/>
              </a:rPr>
              <a:t>Supports network speeds of up to 100 Gbps.</a:t>
            </a:r>
          </a:p>
          <a:p>
            <a:pPr lvl="1"/>
            <a:r>
              <a:rPr lang="en-US" sz="2000" b="1" dirty="0">
                <a:solidFill>
                  <a:srgbClr val="504BAB"/>
                </a:solidFill>
                <a:latin typeface="Roboto" panose="02000000000000000000" pitchFamily="2" charset="0"/>
                <a:ea typeface="Roboto" panose="02000000000000000000" pitchFamily="2" charset="0"/>
                <a:cs typeface="Roboto" panose="02000000000000000000" pitchFamily="2" charset="0"/>
              </a:rPr>
              <a:t>Intel 82599 Virtual Function interface: </a:t>
            </a:r>
            <a:r>
              <a:rPr lang="en-US" sz="2000" dirty="0">
                <a:latin typeface="Roboto" panose="02000000000000000000" pitchFamily="2" charset="0"/>
                <a:ea typeface="Roboto" panose="02000000000000000000" pitchFamily="2" charset="0"/>
                <a:cs typeface="Roboto" panose="02000000000000000000" pitchFamily="2" charset="0"/>
              </a:rPr>
              <a:t>Supports network speeds of up to 10 Gbps.</a:t>
            </a:r>
          </a:p>
          <a:p>
            <a:endParaRPr lang="en-US" sz="2400" dirty="0"/>
          </a:p>
          <a:p>
            <a:endParaRPr lang="en-US" sz="2400" dirty="0"/>
          </a:p>
        </p:txBody>
      </p:sp>
    </p:spTree>
    <p:extLst>
      <p:ext uri="{BB962C8B-B14F-4D97-AF65-F5344CB8AC3E}">
        <p14:creationId xmlns:p14="http://schemas.microsoft.com/office/powerpoint/2010/main" val="1711049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A9992-E993-CF1A-DD67-A9F2563D53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BFCFDC-56B7-29EA-B6E4-F1AEA4D1D691}"/>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3. Specific </a:t>
            </a:r>
            <a:r>
              <a:rPr lang="en-US" sz="2800" b="1" dirty="0">
                <a:solidFill>
                  <a:srgbClr val="2A2929"/>
                </a:solidFill>
                <a:latin typeface="Roboto"/>
              </a:rPr>
              <a:t>n</a:t>
            </a:r>
            <a:r>
              <a:rPr lang="en-US" sz="2800" b="1" i="0" dirty="0">
                <a:solidFill>
                  <a:srgbClr val="2A2929"/>
                </a:solidFill>
                <a:latin typeface="Roboto"/>
              </a:rPr>
              <a:t>etwork settings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6BF14F8-009B-C31F-9C14-34F5F55EF6A9}"/>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440EF72-61C2-B8FA-B954-43DC9ECDC8F0}"/>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8C6A5A0-2472-9B96-79F3-5EDD62783438}"/>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591BB4C0-10AA-9A00-7B4D-C2955921EE6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31A99F8F-D01C-EA78-6195-9E1EBD94A084}"/>
              </a:ext>
            </a:extLst>
          </p:cNvPr>
          <p:cNvSpPr txBox="1">
            <a:spLocks/>
          </p:cNvSpPr>
          <p:nvPr/>
        </p:nvSpPr>
        <p:spPr>
          <a:xfrm>
            <a:off x="3958882" y="1039231"/>
            <a:ext cx="7994768"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Where should the instance be deployed? </a:t>
            </a:r>
          </a:p>
          <a:p>
            <a:pPr lvl="1"/>
            <a:r>
              <a:rPr lang="en-US" sz="1800"/>
              <a:t>Identify the </a:t>
            </a:r>
            <a:r>
              <a:rPr lang="en-US" sz="1800" b="1">
                <a:solidFill>
                  <a:srgbClr val="504BAB"/>
                </a:solidFill>
              </a:rPr>
              <a:t>VPC</a:t>
            </a:r>
            <a:r>
              <a:rPr lang="en-US" sz="1800"/>
              <a:t> and optionally the </a:t>
            </a:r>
            <a:r>
              <a:rPr lang="en-US" sz="1800" b="1">
                <a:solidFill>
                  <a:srgbClr val="504BAB"/>
                </a:solidFill>
              </a:rPr>
              <a:t>subnet</a:t>
            </a:r>
            <a:endParaRPr lang="en-US" sz="1600" b="1">
              <a:solidFill>
                <a:srgbClr val="504BAB"/>
              </a:solidFill>
            </a:endParaRPr>
          </a:p>
          <a:p>
            <a:r>
              <a:rPr lang="en-US" sz="2000"/>
              <a:t>Should a </a:t>
            </a:r>
            <a:r>
              <a:rPr lang="en-US" sz="2000" b="1">
                <a:solidFill>
                  <a:srgbClr val="504BAB"/>
                </a:solidFill>
              </a:rPr>
              <a:t>public IP address</a:t>
            </a:r>
            <a:r>
              <a:rPr lang="en-US" sz="2000">
                <a:solidFill>
                  <a:srgbClr val="504BAB"/>
                </a:solidFill>
              </a:rPr>
              <a:t> </a:t>
            </a:r>
            <a:r>
              <a:rPr lang="en-US" sz="2000"/>
              <a:t>be automatically assigned?</a:t>
            </a:r>
          </a:p>
          <a:p>
            <a:pPr lvl="1"/>
            <a:r>
              <a:rPr lang="en-US" sz="1800"/>
              <a:t>To make it internet-accessible</a:t>
            </a:r>
            <a:endParaRPr lang="en-US" sz="1800" dirty="0"/>
          </a:p>
        </p:txBody>
      </p:sp>
      <p:grpSp>
        <p:nvGrpSpPr>
          <p:cNvPr id="8" name="Group 7" descr="Architectural diagram showing that an instance was deployed in a public subnet in a VPC in AZ1 in a particular region.">
            <a:extLst>
              <a:ext uri="{FF2B5EF4-FFF2-40B4-BE49-F238E27FC236}">
                <a16:creationId xmlns:a16="http://schemas.microsoft.com/office/drawing/2014/main" id="{CB3AFD90-5F3D-0E55-5C00-36AC6262DF9A}"/>
              </a:ext>
            </a:extLst>
          </p:cNvPr>
          <p:cNvGrpSpPr/>
          <p:nvPr/>
        </p:nvGrpSpPr>
        <p:grpSpPr>
          <a:xfrm>
            <a:off x="3958882" y="3037943"/>
            <a:ext cx="6509465" cy="3321233"/>
            <a:chOff x="3958882" y="3141712"/>
            <a:chExt cx="6509465" cy="3321233"/>
          </a:xfrm>
        </p:grpSpPr>
        <p:grpSp>
          <p:nvGrpSpPr>
            <p:cNvPr id="9" name="Group 8">
              <a:extLst>
                <a:ext uri="{FF2B5EF4-FFF2-40B4-BE49-F238E27FC236}">
                  <a16:creationId xmlns:a16="http://schemas.microsoft.com/office/drawing/2014/main" id="{3D0BC0E2-40AA-6E01-5D05-1BBD874E9C26}"/>
                </a:ext>
              </a:extLst>
            </p:cNvPr>
            <p:cNvGrpSpPr/>
            <p:nvPr/>
          </p:nvGrpSpPr>
          <p:grpSpPr>
            <a:xfrm>
              <a:off x="6071552" y="3141712"/>
              <a:ext cx="4396795" cy="3321233"/>
              <a:chOff x="1814433" y="1837766"/>
              <a:chExt cx="4396795" cy="3321233"/>
            </a:xfrm>
          </p:grpSpPr>
          <p:sp>
            <p:nvSpPr>
              <p:cNvPr id="12" name="Rectangle 11">
                <a:extLst>
                  <a:ext uri="{FF2B5EF4-FFF2-40B4-BE49-F238E27FC236}">
                    <a16:creationId xmlns:a16="http://schemas.microsoft.com/office/drawing/2014/main" id="{83EF028F-DA00-CED4-A895-327FFE866CB1}"/>
                  </a:ext>
                </a:extLst>
              </p:cNvPr>
              <p:cNvSpPr/>
              <p:nvPr/>
            </p:nvSpPr>
            <p:spPr>
              <a:xfrm>
                <a:off x="2348313" y="2783673"/>
                <a:ext cx="3617589" cy="1955593"/>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ln w="0"/>
                    <a:solidFill>
                      <a:schemeClr val="accent5"/>
                    </a:solidFill>
                  </a:rPr>
                  <a:t>VPC</a:t>
                </a:r>
              </a:p>
            </p:txBody>
          </p:sp>
          <p:sp>
            <p:nvSpPr>
              <p:cNvPr id="13" name="Rectangle 12">
                <a:extLst>
                  <a:ext uri="{FF2B5EF4-FFF2-40B4-BE49-F238E27FC236}">
                    <a16:creationId xmlns:a16="http://schemas.microsoft.com/office/drawing/2014/main" id="{257884AB-5EB3-621D-DCDA-AF8EFBC419D7}"/>
                  </a:ext>
                </a:extLst>
              </p:cNvPr>
              <p:cNvSpPr/>
              <p:nvPr/>
            </p:nvSpPr>
            <p:spPr>
              <a:xfrm>
                <a:off x="1814433" y="1837766"/>
                <a:ext cx="4396795" cy="33212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AWS Cloud</a:t>
                </a:r>
              </a:p>
            </p:txBody>
          </p:sp>
          <p:sp>
            <p:nvSpPr>
              <p:cNvPr id="14" name="Rectangle 13">
                <a:extLst>
                  <a:ext uri="{FF2B5EF4-FFF2-40B4-BE49-F238E27FC236}">
                    <a16:creationId xmlns:a16="http://schemas.microsoft.com/office/drawing/2014/main" id="{8B7F53B7-D3A8-CB84-E4F4-BED3A87938D6}"/>
                  </a:ext>
                </a:extLst>
              </p:cNvPr>
              <p:cNvSpPr/>
              <p:nvPr/>
            </p:nvSpPr>
            <p:spPr>
              <a:xfrm>
                <a:off x="2663964" y="2461490"/>
                <a:ext cx="1602882" cy="2378138"/>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rgbClr val="36C2B4"/>
                    </a:solidFill>
                  </a:rPr>
                  <a:t>Availability Zone 1</a:t>
                </a:r>
              </a:p>
            </p:txBody>
          </p:sp>
          <p:pic>
            <p:nvPicPr>
              <p:cNvPr id="15" name="Graphic 14">
                <a:extLst>
                  <a:ext uri="{FF2B5EF4-FFF2-40B4-BE49-F238E27FC236}">
                    <a16:creationId xmlns:a16="http://schemas.microsoft.com/office/drawing/2014/main" id="{2152A0E6-EB29-D72E-7031-BEAED7CFE2D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4433" y="1837766"/>
                <a:ext cx="277535" cy="277535"/>
              </a:xfrm>
              <a:prstGeom prst="rect">
                <a:avLst/>
              </a:prstGeom>
            </p:spPr>
          </p:pic>
          <p:pic>
            <p:nvPicPr>
              <p:cNvPr id="16" name="Graphic 15">
                <a:extLst>
                  <a:ext uri="{FF2B5EF4-FFF2-40B4-BE49-F238E27FC236}">
                    <a16:creationId xmlns:a16="http://schemas.microsoft.com/office/drawing/2014/main" id="{06BE05A2-482C-615E-4C0B-4854FF13A1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48313" y="2783673"/>
                <a:ext cx="277535" cy="277535"/>
              </a:xfrm>
              <a:prstGeom prst="rect">
                <a:avLst/>
              </a:prstGeom>
            </p:spPr>
          </p:pic>
          <p:sp>
            <p:nvSpPr>
              <p:cNvPr id="17" name="Rectangle 16">
                <a:extLst>
                  <a:ext uri="{FF2B5EF4-FFF2-40B4-BE49-F238E27FC236}">
                    <a16:creationId xmlns:a16="http://schemas.microsoft.com/office/drawing/2014/main" id="{925F8B65-BA69-174D-DF15-823A2019B691}"/>
                  </a:ext>
                </a:extLst>
              </p:cNvPr>
              <p:cNvSpPr/>
              <p:nvPr/>
            </p:nvSpPr>
            <p:spPr>
              <a:xfrm>
                <a:off x="4384628" y="2461489"/>
                <a:ext cx="1485100" cy="237813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rgbClr val="36C2B4"/>
                    </a:solidFill>
                  </a:rPr>
                  <a:t>Availability Zone 2</a:t>
                </a:r>
              </a:p>
            </p:txBody>
          </p:sp>
          <p:pic>
            <p:nvPicPr>
              <p:cNvPr id="18" name="Graphic 17">
                <a:extLst>
                  <a:ext uri="{FF2B5EF4-FFF2-40B4-BE49-F238E27FC236}">
                    <a16:creationId xmlns:a16="http://schemas.microsoft.com/office/drawing/2014/main" id="{88A023EB-CCAA-4285-7974-2E83083F19AE}"/>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26820" y="3371310"/>
                <a:ext cx="394953" cy="394953"/>
              </a:xfrm>
              <a:prstGeom prst="rect">
                <a:avLst/>
              </a:prstGeom>
            </p:spPr>
          </p:pic>
          <p:sp>
            <p:nvSpPr>
              <p:cNvPr id="19" name="TextBox 18">
                <a:extLst>
                  <a:ext uri="{FF2B5EF4-FFF2-40B4-BE49-F238E27FC236}">
                    <a16:creationId xmlns:a16="http://schemas.microsoft.com/office/drawing/2014/main" id="{AFD40A6F-E191-A6F6-60FC-D10AE2FFD590}"/>
                  </a:ext>
                </a:extLst>
              </p:cNvPr>
              <p:cNvSpPr txBox="1"/>
              <p:nvPr/>
            </p:nvSpPr>
            <p:spPr>
              <a:xfrm>
                <a:off x="2781746" y="3790403"/>
                <a:ext cx="1485100" cy="276999"/>
              </a:xfrm>
              <a:prstGeom prst="rect">
                <a:avLst/>
              </a:prstGeom>
              <a:noFill/>
            </p:spPr>
            <p:txBody>
              <a:bodyPr wrap="square" rtlCol="0">
                <a:spAutoFit/>
              </a:bodyPr>
              <a:lstStyle/>
              <a:p>
                <a:pPr algn="ctr"/>
                <a:r>
                  <a:rPr lang="en-US" sz="1200" dirty="0">
                    <a:solidFill>
                      <a:srgbClr val="232F3E"/>
                    </a:solidFill>
                  </a:rPr>
                  <a:t>Instance</a:t>
                </a:r>
              </a:p>
            </p:txBody>
          </p:sp>
          <p:sp>
            <p:nvSpPr>
              <p:cNvPr id="20" name="Rectangle 19">
                <a:extLst>
                  <a:ext uri="{FF2B5EF4-FFF2-40B4-BE49-F238E27FC236}">
                    <a16:creationId xmlns:a16="http://schemas.microsoft.com/office/drawing/2014/main" id="{41D7DD12-53FC-2442-49D4-99F535E1BC06}"/>
                  </a:ext>
                  <a:ext uri="{C183D7F6-B498-43B3-948B-1728B52AA6E4}">
                    <adec:decorative xmlns:adec="http://schemas.microsoft.com/office/drawing/2017/decorative" val="1"/>
                  </a:ext>
                </a:extLst>
              </p:cNvPr>
              <p:cNvSpPr/>
              <p:nvPr/>
            </p:nvSpPr>
            <p:spPr>
              <a:xfrm>
                <a:off x="2748294" y="3109633"/>
                <a:ext cx="1406263" cy="942380"/>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5"/>
                    </a:solidFill>
                  </a:rPr>
                  <a:t>Public subnet</a:t>
                </a:r>
              </a:p>
            </p:txBody>
          </p:sp>
          <p:sp>
            <p:nvSpPr>
              <p:cNvPr id="21" name="Rectangle 20">
                <a:extLst>
                  <a:ext uri="{FF2B5EF4-FFF2-40B4-BE49-F238E27FC236}">
                    <a16:creationId xmlns:a16="http://schemas.microsoft.com/office/drawing/2014/main" id="{44E3FD6C-BD4A-B5C7-AFA6-4554DA630301}"/>
                  </a:ext>
                </a:extLst>
              </p:cNvPr>
              <p:cNvSpPr/>
              <p:nvPr/>
            </p:nvSpPr>
            <p:spPr>
              <a:xfrm>
                <a:off x="2768305" y="4088447"/>
                <a:ext cx="1406263" cy="561106"/>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pic>
            <p:nvPicPr>
              <p:cNvPr id="22" name="Graphic 21">
                <a:extLst>
                  <a:ext uri="{FF2B5EF4-FFF2-40B4-BE49-F238E27FC236}">
                    <a16:creationId xmlns:a16="http://schemas.microsoft.com/office/drawing/2014/main" id="{2A177BF0-2961-112D-E58D-F6FE4E8A2AF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68305" y="3107275"/>
                <a:ext cx="274320" cy="274320"/>
              </a:xfrm>
              <a:prstGeom prst="rect">
                <a:avLst/>
              </a:prstGeom>
            </p:spPr>
          </p:pic>
          <p:pic>
            <p:nvPicPr>
              <p:cNvPr id="23" name="Graphic 22">
                <a:extLst>
                  <a:ext uri="{FF2B5EF4-FFF2-40B4-BE49-F238E27FC236}">
                    <a16:creationId xmlns:a16="http://schemas.microsoft.com/office/drawing/2014/main" id="{7E40BF57-C857-D756-9EF5-324373D25BB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68305" y="4114005"/>
                <a:ext cx="274320" cy="274320"/>
              </a:xfrm>
              <a:prstGeom prst="rect">
                <a:avLst/>
              </a:prstGeom>
            </p:spPr>
          </p:pic>
          <p:sp>
            <p:nvSpPr>
              <p:cNvPr id="24" name="Rectangle 23">
                <a:extLst>
                  <a:ext uri="{FF2B5EF4-FFF2-40B4-BE49-F238E27FC236}">
                    <a16:creationId xmlns:a16="http://schemas.microsoft.com/office/drawing/2014/main" id="{602FCAA8-FB7F-3B30-A5C9-9E43497713DA}"/>
                  </a:ext>
                </a:extLst>
              </p:cNvPr>
              <p:cNvSpPr/>
              <p:nvPr/>
            </p:nvSpPr>
            <p:spPr>
              <a:xfrm>
                <a:off x="2091969" y="2152185"/>
                <a:ext cx="4004031" cy="2843561"/>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rgbClr val="36C2B4"/>
                    </a:solidFill>
                  </a:rPr>
                  <a:t>Region</a:t>
                </a:r>
              </a:p>
            </p:txBody>
          </p:sp>
          <p:pic>
            <p:nvPicPr>
              <p:cNvPr id="25" name="Graphic 24">
                <a:extLst>
                  <a:ext uri="{FF2B5EF4-FFF2-40B4-BE49-F238E27FC236}">
                    <a16:creationId xmlns:a16="http://schemas.microsoft.com/office/drawing/2014/main" id="{356144E7-BA4F-ADA3-1700-B8902B87DAE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91968" y="2152185"/>
                <a:ext cx="274320" cy="274320"/>
              </a:xfrm>
              <a:prstGeom prst="rect">
                <a:avLst/>
              </a:prstGeom>
            </p:spPr>
          </p:pic>
        </p:grpSp>
        <p:cxnSp>
          <p:nvCxnSpPr>
            <p:cNvPr id="10" name="Straight Arrow Connector 9">
              <a:extLst>
                <a:ext uri="{FF2B5EF4-FFF2-40B4-BE49-F238E27FC236}">
                  <a16:creationId xmlns:a16="http://schemas.microsoft.com/office/drawing/2014/main" id="{FBCBBB06-7387-184C-897A-493E25BCF76D}"/>
                </a:ext>
              </a:extLst>
            </p:cNvPr>
            <p:cNvCxnSpPr>
              <a:cxnSpLocks/>
            </p:cNvCxnSpPr>
            <p:nvPr/>
          </p:nvCxnSpPr>
          <p:spPr>
            <a:xfrm>
              <a:off x="5694561" y="4898748"/>
              <a:ext cx="184477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D22AE39-A43E-7D46-7AB7-BCB44CD9FC3D}"/>
                </a:ext>
              </a:extLst>
            </p:cNvPr>
            <p:cNvSpPr txBox="1"/>
            <p:nvPr/>
          </p:nvSpPr>
          <p:spPr>
            <a:xfrm>
              <a:off x="3958882" y="4483250"/>
              <a:ext cx="1665721" cy="830997"/>
            </a:xfrm>
            <a:prstGeom prst="rect">
              <a:avLst/>
            </a:prstGeom>
            <a:noFill/>
          </p:spPr>
          <p:txBody>
            <a:bodyPr wrap="square" rtlCol="0">
              <a:spAutoFit/>
            </a:bodyPr>
            <a:lstStyle/>
            <a:p>
              <a:pPr algn="r"/>
              <a:r>
                <a:rPr lang="en-US" sz="1600" i="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Example</a:t>
              </a:r>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 specify to deploy the instance here</a:t>
              </a:r>
            </a:p>
          </p:txBody>
        </p:sp>
      </p:grpSp>
      <p:sp>
        <p:nvSpPr>
          <p:cNvPr id="26" name="Content Placeholder 8">
            <a:extLst>
              <a:ext uri="{FF2B5EF4-FFF2-40B4-BE49-F238E27FC236}">
                <a16:creationId xmlns:a16="http://schemas.microsoft.com/office/drawing/2014/main" id="{77AB78D8-0C46-BFD8-30E9-39AEB6F591DF}"/>
              </a:ext>
              <a:ext uri="{C183D7F6-B498-43B3-948B-1728B52AA6E4}">
                <adec:decorative xmlns:adec="http://schemas.microsoft.com/office/drawing/2017/decorative" val="1"/>
              </a:ext>
            </a:extLst>
          </p:cNvPr>
          <p:cNvSpPr txBox="1">
            <a:spLocks/>
          </p:cNvSpPr>
          <p:nvPr/>
        </p:nvSpPr>
        <p:spPr>
          <a:xfrm>
            <a:off x="419100" y="1424407"/>
            <a:ext cx="3469824" cy="3566174"/>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712073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D7847-0C2E-C79E-FD14-2EE2392279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A23D0B-A6F1-EC87-587C-226474092B59}"/>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4. Attach IAM role (</a:t>
            </a:r>
            <a:r>
              <a:rPr lang="en-US" sz="2800" b="1" i="0" dirty="0" err="1">
                <a:solidFill>
                  <a:srgbClr val="2A2929"/>
                </a:solidFill>
                <a:latin typeface="Roboto"/>
              </a:rPr>
              <a:t>optiotnal</a:t>
            </a:r>
            <a:r>
              <a:rPr lang="en-US" sz="2800" b="1" i="0" dirty="0">
                <a:solidFill>
                  <a:srgbClr val="2A2929"/>
                </a:solidFill>
                <a:latin typeface="Roboto"/>
              </a:rPr>
              <a:t>)</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AA622DE8-7DB0-75DE-3979-F6E7C552FA51}"/>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C5AC2ED-01A9-B32F-68E1-573B1164E98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2A5F2DB-18B1-093E-0141-8C59AC47A51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F8267B3-34F8-10E3-6CA0-DEA5B1418A2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10" name="Content Placeholder 9">
            <a:extLst>
              <a:ext uri="{FF2B5EF4-FFF2-40B4-BE49-F238E27FC236}">
                <a16:creationId xmlns:a16="http://schemas.microsoft.com/office/drawing/2014/main" id="{D781B192-A991-8A99-3450-62BFBEEA2D9A}"/>
              </a:ext>
            </a:extLst>
          </p:cNvPr>
          <p:cNvSpPr txBox="1">
            <a:spLocks/>
          </p:cNvSpPr>
          <p:nvPr/>
        </p:nvSpPr>
        <p:spPr>
          <a:xfrm>
            <a:off x="4217178" y="1059979"/>
            <a:ext cx="7736472"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Will software on the EC2 instance need to interact with other AWS services?</a:t>
            </a:r>
          </a:p>
          <a:p>
            <a:pPr lvl="1"/>
            <a:r>
              <a:rPr lang="en-US" sz="2000"/>
              <a:t>If yes, attach an appropriate </a:t>
            </a:r>
            <a:r>
              <a:rPr lang="en-US" sz="2000" b="1">
                <a:solidFill>
                  <a:srgbClr val="504BAB"/>
                </a:solidFill>
              </a:rPr>
              <a:t>IAM Role</a:t>
            </a:r>
            <a:r>
              <a:rPr lang="en-US" sz="2000"/>
              <a:t>.</a:t>
            </a:r>
            <a:endParaRPr lang="en-US" sz="1600"/>
          </a:p>
          <a:p>
            <a:r>
              <a:rPr lang="en-US" sz="2000"/>
              <a:t>An AWS Identity and Access Management (IAM) role that is attached to an EC2 instance is kept in an </a:t>
            </a:r>
            <a:r>
              <a:rPr lang="en-US" sz="2000" b="1">
                <a:solidFill>
                  <a:srgbClr val="504BAB"/>
                </a:solidFill>
              </a:rPr>
              <a:t>instance profile</a:t>
            </a:r>
            <a:r>
              <a:rPr lang="en-US" sz="2000"/>
              <a:t>.</a:t>
            </a:r>
            <a:endParaRPr lang="en-US"/>
          </a:p>
          <a:p>
            <a:r>
              <a:rPr lang="en-US" sz="2000"/>
              <a:t>You are </a:t>
            </a:r>
            <a:r>
              <a:rPr lang="en-US" sz="2000" i="1"/>
              <a:t>not</a:t>
            </a:r>
            <a:r>
              <a:rPr lang="en-US" sz="2000"/>
              <a:t> restricted to attaching a role only at instance launch.</a:t>
            </a:r>
          </a:p>
          <a:p>
            <a:pPr lvl="1"/>
            <a:r>
              <a:rPr lang="en-US" sz="2000"/>
              <a:t>You can also attach a role to an instance that already exists.</a:t>
            </a:r>
            <a:endParaRPr lang="en-US" sz="2000" dirty="0"/>
          </a:p>
        </p:txBody>
      </p:sp>
      <p:grpSp>
        <p:nvGrpSpPr>
          <p:cNvPr id="11" name="Group 10" descr="Diagram showing that a role granting S3 bucket access is attached to an instance and that as a result,an application on that instance can access an S3 bucket with objects in it.">
            <a:extLst>
              <a:ext uri="{FF2B5EF4-FFF2-40B4-BE49-F238E27FC236}">
                <a16:creationId xmlns:a16="http://schemas.microsoft.com/office/drawing/2014/main" id="{51A91A64-E510-E28D-1091-ABB536286C8B}"/>
              </a:ext>
            </a:extLst>
          </p:cNvPr>
          <p:cNvGrpSpPr/>
          <p:nvPr/>
        </p:nvGrpSpPr>
        <p:grpSpPr>
          <a:xfrm>
            <a:off x="4347805" y="4463752"/>
            <a:ext cx="5983824" cy="1758140"/>
            <a:chOff x="4324283" y="1904556"/>
            <a:chExt cx="5983824" cy="1758140"/>
          </a:xfrm>
        </p:grpSpPr>
        <p:pic>
          <p:nvPicPr>
            <p:cNvPr id="12" name="Graphic 11">
              <a:extLst>
                <a:ext uri="{FF2B5EF4-FFF2-40B4-BE49-F238E27FC236}">
                  <a16:creationId xmlns:a16="http://schemas.microsoft.com/office/drawing/2014/main" id="{513A5BC0-FA29-C7B8-9CAD-D69AC456F0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0397" y="2228705"/>
              <a:ext cx="469900" cy="469900"/>
            </a:xfrm>
            <a:prstGeom prst="rect">
              <a:avLst/>
            </a:prstGeom>
          </p:spPr>
        </p:pic>
        <p:pic>
          <p:nvPicPr>
            <p:cNvPr id="13" name="Graphic 12">
              <a:extLst>
                <a:ext uri="{FF2B5EF4-FFF2-40B4-BE49-F238E27FC236}">
                  <a16:creationId xmlns:a16="http://schemas.microsoft.com/office/drawing/2014/main" id="{DBFF415E-BFE6-B48A-F8D8-D4E10363CBC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77101" y="2164472"/>
              <a:ext cx="606130" cy="606130"/>
            </a:xfrm>
            <a:prstGeom prst="rect">
              <a:avLst/>
            </a:prstGeom>
          </p:spPr>
        </p:pic>
        <p:sp>
          <p:nvSpPr>
            <p:cNvPr id="14" name="TextBox 13">
              <a:extLst>
                <a:ext uri="{FF2B5EF4-FFF2-40B4-BE49-F238E27FC236}">
                  <a16:creationId xmlns:a16="http://schemas.microsoft.com/office/drawing/2014/main" id="{36A52F28-0A31-93BA-A0AA-1635684A6412}"/>
                </a:ext>
              </a:extLst>
            </p:cNvPr>
            <p:cNvSpPr txBox="1"/>
            <p:nvPr/>
          </p:nvSpPr>
          <p:spPr>
            <a:xfrm>
              <a:off x="6902315" y="2800777"/>
              <a:ext cx="1513305" cy="338554"/>
            </a:xfrm>
            <a:prstGeom prst="rect">
              <a:avLst/>
            </a:prstGeom>
            <a:noFill/>
          </p:spPr>
          <p:txBody>
            <a:bodyPr wrap="square" rtlCol="0">
              <a:spAutoFit/>
            </a:bodyPr>
            <a:lstStyle/>
            <a:p>
              <a:pPr algn="ctr"/>
              <a:r>
                <a:rPr lang="en-US" sz="1600" dirty="0"/>
                <a:t>Instance</a:t>
              </a:r>
            </a:p>
          </p:txBody>
        </p:sp>
        <p:sp>
          <p:nvSpPr>
            <p:cNvPr id="15" name="TextBox 14">
              <a:extLst>
                <a:ext uri="{FF2B5EF4-FFF2-40B4-BE49-F238E27FC236}">
                  <a16:creationId xmlns:a16="http://schemas.microsoft.com/office/drawing/2014/main" id="{F31930F3-F5E2-8F63-736E-D3A54D8ADB12}"/>
                </a:ext>
              </a:extLst>
            </p:cNvPr>
            <p:cNvSpPr txBox="1"/>
            <p:nvPr/>
          </p:nvSpPr>
          <p:spPr>
            <a:xfrm>
              <a:off x="4324283" y="2585478"/>
              <a:ext cx="2507360" cy="1077218"/>
            </a:xfrm>
            <a:prstGeom prst="rect">
              <a:avLst/>
            </a:prstGeom>
            <a:noFill/>
          </p:spPr>
          <p:txBody>
            <a:bodyPr wrap="square" rtlCol="0">
              <a:spAutoFit/>
            </a:bodyPr>
            <a:lstStyle/>
            <a:p>
              <a:pPr algn="ctr"/>
              <a:r>
                <a:rPr lang="en-US" sz="1600" dirty="0"/>
                <a:t>Role that grants Amazon Simple Storage Service (Amazon S3) bucket access permissions</a:t>
              </a:r>
            </a:p>
          </p:txBody>
        </p:sp>
        <p:sp>
          <p:nvSpPr>
            <p:cNvPr id="16" name="TextBox 15">
              <a:extLst>
                <a:ext uri="{FF2B5EF4-FFF2-40B4-BE49-F238E27FC236}">
                  <a16:creationId xmlns:a16="http://schemas.microsoft.com/office/drawing/2014/main" id="{DDB248DD-9F9B-1671-0991-0506055C4A84}"/>
                </a:ext>
              </a:extLst>
            </p:cNvPr>
            <p:cNvSpPr txBox="1"/>
            <p:nvPr/>
          </p:nvSpPr>
          <p:spPr>
            <a:xfrm>
              <a:off x="5920292" y="2145400"/>
              <a:ext cx="1357643" cy="338554"/>
            </a:xfrm>
            <a:prstGeom prst="rect">
              <a:avLst/>
            </a:prstGeom>
            <a:noFill/>
          </p:spPr>
          <p:txBody>
            <a:bodyPr wrap="square" rtlCol="0">
              <a:spAutoFit/>
            </a:bodyPr>
            <a:lstStyle/>
            <a:p>
              <a:pPr algn="ctr"/>
              <a:r>
                <a:rPr lang="en-US" sz="1600" dirty="0"/>
                <a:t>attached to</a:t>
              </a:r>
            </a:p>
          </p:txBody>
        </p:sp>
        <p:pic>
          <p:nvPicPr>
            <p:cNvPr id="17" name="Graphic 16">
              <a:extLst>
                <a:ext uri="{FF2B5EF4-FFF2-40B4-BE49-F238E27FC236}">
                  <a16:creationId xmlns:a16="http://schemas.microsoft.com/office/drawing/2014/main" id="{F665ED92-8EAB-8EBE-6B96-51EB0FD8238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09581" y="2183069"/>
              <a:ext cx="469900" cy="469900"/>
            </a:xfrm>
            <a:prstGeom prst="rect">
              <a:avLst/>
            </a:prstGeom>
          </p:spPr>
        </p:pic>
        <p:sp>
          <p:nvSpPr>
            <p:cNvPr id="18" name="TextBox 17">
              <a:extLst>
                <a:ext uri="{FF2B5EF4-FFF2-40B4-BE49-F238E27FC236}">
                  <a16:creationId xmlns:a16="http://schemas.microsoft.com/office/drawing/2014/main" id="{78195857-C2D9-2179-2119-79A6D1504D5A}"/>
                </a:ext>
              </a:extLst>
            </p:cNvPr>
            <p:cNvSpPr txBox="1"/>
            <p:nvPr/>
          </p:nvSpPr>
          <p:spPr>
            <a:xfrm>
              <a:off x="8976241" y="2692886"/>
              <a:ext cx="1331866" cy="584775"/>
            </a:xfrm>
            <a:prstGeom prst="rect">
              <a:avLst/>
            </a:prstGeom>
            <a:noFill/>
          </p:spPr>
          <p:txBody>
            <a:bodyPr wrap="square" rtlCol="0">
              <a:spAutoFit/>
            </a:bodyPr>
            <a:lstStyle/>
            <a:p>
              <a:pPr algn="ctr"/>
              <a:r>
                <a:rPr lang="en-US" sz="1600" dirty="0"/>
                <a:t>S3 bucket with objects</a:t>
              </a:r>
            </a:p>
          </p:txBody>
        </p:sp>
        <p:sp>
          <p:nvSpPr>
            <p:cNvPr id="19" name="TextBox 18">
              <a:extLst>
                <a:ext uri="{FF2B5EF4-FFF2-40B4-BE49-F238E27FC236}">
                  <a16:creationId xmlns:a16="http://schemas.microsoft.com/office/drawing/2014/main" id="{59FA0AE7-3EE8-FA16-C547-DEDC06782338}"/>
                </a:ext>
              </a:extLst>
            </p:cNvPr>
            <p:cNvSpPr txBox="1"/>
            <p:nvPr/>
          </p:nvSpPr>
          <p:spPr>
            <a:xfrm>
              <a:off x="7838556" y="1904556"/>
              <a:ext cx="1571025" cy="830997"/>
            </a:xfrm>
            <a:prstGeom prst="rect">
              <a:avLst/>
            </a:prstGeom>
            <a:noFill/>
          </p:spPr>
          <p:txBody>
            <a:bodyPr wrap="square" rtlCol="0">
              <a:spAutoFit/>
            </a:bodyPr>
            <a:lstStyle/>
            <a:p>
              <a:pPr algn="ctr"/>
              <a:r>
                <a:rPr lang="en-US" sz="1600" dirty="0"/>
                <a:t>Application on instance can access</a:t>
              </a:r>
            </a:p>
          </p:txBody>
        </p:sp>
        <p:cxnSp>
          <p:nvCxnSpPr>
            <p:cNvPr id="20" name="Straight Arrow Connector 19">
              <a:extLst>
                <a:ext uri="{FF2B5EF4-FFF2-40B4-BE49-F238E27FC236}">
                  <a16:creationId xmlns:a16="http://schemas.microsoft.com/office/drawing/2014/main" id="{2D7B100A-F115-C8F1-C8E7-335C04A60913}"/>
                </a:ext>
              </a:extLst>
            </p:cNvPr>
            <p:cNvCxnSpPr/>
            <p:nvPr/>
          </p:nvCxnSpPr>
          <p:spPr>
            <a:xfrm>
              <a:off x="8065666" y="2457344"/>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E6BF98B-658B-56B7-AF6A-347A3FC435CD}"/>
                </a:ext>
              </a:extLst>
            </p:cNvPr>
            <p:cNvCxnSpPr/>
            <p:nvPr/>
          </p:nvCxnSpPr>
          <p:spPr>
            <a:xfrm>
              <a:off x="6019391" y="2463655"/>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Content Placeholder 8">
            <a:extLst>
              <a:ext uri="{FF2B5EF4-FFF2-40B4-BE49-F238E27FC236}">
                <a16:creationId xmlns:a16="http://schemas.microsoft.com/office/drawing/2014/main" id="{FCC83025-D935-2348-259A-7B7AF39A7EA6}"/>
              </a:ext>
              <a:ext uri="{C183D7F6-B498-43B3-948B-1728B52AA6E4}">
                <adec:decorative xmlns:adec="http://schemas.microsoft.com/office/drawing/2017/decorative" val="1"/>
              </a:ext>
            </a:extLst>
          </p:cNvPr>
          <p:cNvSpPr txBox="1">
            <a:spLocks/>
          </p:cNvSpPr>
          <p:nvPr/>
        </p:nvSpPr>
        <p:spPr>
          <a:xfrm>
            <a:off x="419100" y="1445155"/>
            <a:ext cx="3407842"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282227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F1E2C-4F39-DCB4-57B9-42DC5712D5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417210-5BE0-5986-4851-465775B5B0E9}"/>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5. User data script (optional)</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2718FA8A-B10E-833B-82C9-8F86DA4594E0}"/>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79795E86-A549-17F6-0606-1BD21CA77E77}"/>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FF11D30-A14B-3441-7243-897E5D6A75D5}"/>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75A1191D-9690-810F-44E7-DFF3F8040CF1}"/>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18" name="Content Placeholder 9">
            <a:extLst>
              <a:ext uri="{FF2B5EF4-FFF2-40B4-BE49-F238E27FC236}">
                <a16:creationId xmlns:a16="http://schemas.microsoft.com/office/drawing/2014/main" id="{86BB16C5-1A60-0CF0-80D4-AD2493060566}"/>
              </a:ext>
            </a:extLst>
          </p:cNvPr>
          <p:cNvSpPr txBox="1">
            <a:spLocks/>
          </p:cNvSpPr>
          <p:nvPr/>
        </p:nvSpPr>
        <p:spPr>
          <a:xfrm>
            <a:off x="4049486" y="3444600"/>
            <a:ext cx="7904164" cy="286978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a:t>Optionally specify a user data script at instance launch </a:t>
            </a:r>
          </a:p>
          <a:p>
            <a:r>
              <a:rPr lang="en-US" sz="2000"/>
              <a:t>Use </a:t>
            </a:r>
            <a:r>
              <a:rPr lang="en-US" sz="2000" b="1">
                <a:solidFill>
                  <a:srgbClr val="504BAB"/>
                </a:solidFill>
              </a:rPr>
              <a:t>user data </a:t>
            </a:r>
            <a:r>
              <a:rPr lang="en-US" sz="2000"/>
              <a:t>scripts</a:t>
            </a:r>
            <a:r>
              <a:rPr lang="en-US" sz="2000" b="1">
                <a:solidFill>
                  <a:schemeClr val="accent5"/>
                </a:solidFill>
              </a:rPr>
              <a:t> </a:t>
            </a:r>
            <a:r>
              <a:rPr lang="en-US" sz="2000"/>
              <a:t>to customize the runtime environment of your instance</a:t>
            </a:r>
          </a:p>
          <a:p>
            <a:pPr lvl="1"/>
            <a:r>
              <a:rPr lang="en-US" sz="1800">
                <a:solidFill>
                  <a:schemeClr val="accent6"/>
                </a:solidFill>
              </a:rPr>
              <a:t>Script runs the first time the instance starts</a:t>
            </a:r>
            <a:endParaRPr lang="en-US" sz="1600"/>
          </a:p>
          <a:p>
            <a:r>
              <a:rPr lang="en-US" sz="2000"/>
              <a:t>Can be used strategically</a:t>
            </a:r>
          </a:p>
          <a:p>
            <a:pPr lvl="1"/>
            <a:r>
              <a:rPr lang="en-US" sz="1800"/>
              <a:t>For example, reduce the number of custom AMIs that you build and maintain</a:t>
            </a:r>
          </a:p>
          <a:p>
            <a:pPr marL="457200" lvl="1" indent="0">
              <a:buFont typeface="Arial"/>
              <a:buNone/>
            </a:pPr>
            <a:endParaRPr lang="en-US" sz="1800" dirty="0"/>
          </a:p>
        </p:txBody>
      </p:sp>
      <p:grpSp>
        <p:nvGrpSpPr>
          <p:cNvPr id="19" name="Group 18" descr="Diagram showing an AMI on the left, with an arrow point to a running instance. The arrow shows a user data script on top of it with three lines of code (code discussed in the notes below this slide).">
            <a:extLst>
              <a:ext uri="{FF2B5EF4-FFF2-40B4-BE49-F238E27FC236}">
                <a16:creationId xmlns:a16="http://schemas.microsoft.com/office/drawing/2014/main" id="{DFF47325-154E-E545-925C-153B271715EA}"/>
              </a:ext>
            </a:extLst>
          </p:cNvPr>
          <p:cNvGrpSpPr/>
          <p:nvPr/>
        </p:nvGrpSpPr>
        <p:grpSpPr>
          <a:xfrm>
            <a:off x="4547317" y="1322825"/>
            <a:ext cx="6099091" cy="2106175"/>
            <a:chOff x="4547317" y="1443189"/>
            <a:chExt cx="6099091" cy="2106175"/>
          </a:xfrm>
        </p:grpSpPr>
        <p:cxnSp>
          <p:nvCxnSpPr>
            <p:cNvPr id="20" name="Straight Arrow Connector 19">
              <a:extLst>
                <a:ext uri="{FF2B5EF4-FFF2-40B4-BE49-F238E27FC236}">
                  <a16:creationId xmlns:a16="http://schemas.microsoft.com/office/drawing/2014/main" id="{283FB08E-C0F4-A38D-6A16-7BF68A5C86D8}"/>
                </a:ext>
              </a:extLst>
            </p:cNvPr>
            <p:cNvCxnSpPr>
              <a:cxnSpLocks/>
            </p:cNvCxnSpPr>
            <p:nvPr/>
          </p:nvCxnSpPr>
          <p:spPr>
            <a:xfrm flipV="1">
              <a:off x="5646970" y="2393518"/>
              <a:ext cx="3660924" cy="3583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DF89B10-669B-BFBC-A3F3-A559A68C170C}"/>
                </a:ext>
              </a:extLst>
            </p:cNvPr>
            <p:cNvSpPr txBox="1"/>
            <p:nvPr/>
          </p:nvSpPr>
          <p:spPr>
            <a:xfrm>
              <a:off x="4547317" y="2892927"/>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AMI</a:t>
              </a:r>
            </a:p>
          </p:txBody>
        </p:sp>
        <p:sp>
          <p:nvSpPr>
            <p:cNvPr id="22" name="TextBox 21">
              <a:extLst>
                <a:ext uri="{FF2B5EF4-FFF2-40B4-BE49-F238E27FC236}">
                  <a16:creationId xmlns:a16="http://schemas.microsoft.com/office/drawing/2014/main" id="{A4091E77-5B69-3F1D-B1CE-C8B63EFF067C}"/>
                </a:ext>
              </a:extLst>
            </p:cNvPr>
            <p:cNvSpPr txBox="1"/>
            <p:nvPr/>
          </p:nvSpPr>
          <p:spPr>
            <a:xfrm>
              <a:off x="8914201" y="2841478"/>
              <a:ext cx="1732207" cy="707886"/>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Running </a:t>
              </a:r>
              <a:br>
                <a:rPr lang="en-US" sz="2000" dirty="0">
                  <a:latin typeface="Amazon Ember" panose="020B0603020204020204" pitchFamily="34" charset="0"/>
                  <a:ea typeface="Amazon Ember" panose="020B0603020204020204" pitchFamily="34" charset="0"/>
                  <a:cs typeface="Amazon Ember" panose="020B0603020204020204" pitchFamily="34" charset="0"/>
                </a:rPr>
              </a:br>
              <a:r>
                <a:rPr lang="en-US" sz="2000" dirty="0">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23" name="Rectangle 22">
              <a:extLst>
                <a:ext uri="{FF2B5EF4-FFF2-40B4-BE49-F238E27FC236}">
                  <a16:creationId xmlns:a16="http://schemas.microsoft.com/office/drawing/2014/main" id="{37126C44-79C5-27E7-5E92-1BA6E8FAD23B}"/>
                </a:ext>
              </a:extLst>
            </p:cNvPr>
            <p:cNvSpPr/>
            <p:nvPr/>
          </p:nvSpPr>
          <p:spPr>
            <a:xfrm>
              <a:off x="5948320" y="1855014"/>
              <a:ext cx="2920568" cy="1402165"/>
            </a:xfrm>
            <a:prstGeom prst="rect">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4" name="TextBox 23">
              <a:extLst>
                <a:ext uri="{FF2B5EF4-FFF2-40B4-BE49-F238E27FC236}">
                  <a16:creationId xmlns:a16="http://schemas.microsoft.com/office/drawing/2014/main" id="{C5F7B8CB-FECC-1337-1FF6-E97CEF803BE3}"/>
                </a:ext>
              </a:extLst>
            </p:cNvPr>
            <p:cNvSpPr txBox="1"/>
            <p:nvPr/>
          </p:nvSpPr>
          <p:spPr>
            <a:xfrm>
              <a:off x="6641138" y="1443189"/>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User data</a:t>
              </a:r>
            </a:p>
          </p:txBody>
        </p:sp>
        <p:sp>
          <p:nvSpPr>
            <p:cNvPr id="25" name="Rectangle 24">
              <a:extLst>
                <a:ext uri="{FF2B5EF4-FFF2-40B4-BE49-F238E27FC236}">
                  <a16:creationId xmlns:a16="http://schemas.microsoft.com/office/drawing/2014/main" id="{10932614-B755-33F5-22D9-1DF966DD2C0C}"/>
                </a:ext>
              </a:extLst>
            </p:cNvPr>
            <p:cNvSpPr/>
            <p:nvPr/>
          </p:nvSpPr>
          <p:spPr>
            <a:xfrm>
              <a:off x="6127833" y="1913362"/>
              <a:ext cx="2600309" cy="1159933"/>
            </a:xfrm>
            <a:prstGeom prst="rect">
              <a:avLst/>
            </a:prstGeom>
          </p:spPr>
          <p:txBody>
            <a:bodyPr wrap="square">
              <a:spAutoFit/>
            </a:bodyPr>
            <a:lstStyle/>
            <a:p>
              <a:pPr>
                <a:lnSpc>
                  <a:spcPct val="150000"/>
                </a:lnSpc>
              </a:pPr>
              <a:r>
                <a:rPr lang="en-US" sz="1600" dirty="0">
                  <a:latin typeface="Lucida Console" panose="020B0609040504020204" pitchFamily="49" charset="0"/>
                  <a:cs typeface="Courier New" panose="02070309020205020404" pitchFamily="49" charset="0"/>
                </a:rPr>
                <a:t>#!/bin/bash</a:t>
              </a:r>
            </a:p>
            <a:p>
              <a:pPr>
                <a:lnSpc>
                  <a:spcPct val="150000"/>
                </a:lnSpc>
              </a:pPr>
              <a:r>
                <a:rPr lang="en-US" sz="1600" dirty="0">
                  <a:latin typeface="Lucida Console" panose="020B0609040504020204" pitchFamily="49" charset="0"/>
                  <a:cs typeface="Courier New" panose="02070309020205020404" pitchFamily="49" charset="0"/>
                </a:rPr>
                <a:t>yum update –y</a:t>
              </a:r>
            </a:p>
            <a:p>
              <a:pPr>
                <a:lnSpc>
                  <a:spcPct val="150000"/>
                </a:lnSpc>
              </a:pPr>
              <a:r>
                <a:rPr lang="en-US" sz="1600" dirty="0">
                  <a:latin typeface="Lucida Console" panose="020B0609040504020204" pitchFamily="49" charset="0"/>
                  <a:cs typeface="Courier New" panose="02070309020205020404" pitchFamily="49" charset="0"/>
                </a:rPr>
                <a:t>yum install -y wget</a:t>
              </a:r>
            </a:p>
          </p:txBody>
        </p:sp>
        <p:pic>
          <p:nvPicPr>
            <p:cNvPr id="26" name="Graphic 25">
              <a:extLst>
                <a:ext uri="{FF2B5EF4-FFF2-40B4-BE49-F238E27FC236}">
                  <a16:creationId xmlns:a16="http://schemas.microsoft.com/office/drawing/2014/main" id="{601A226F-3FAA-222B-11E6-9BABD97D7C1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4732" y="2008229"/>
              <a:ext cx="842238" cy="842238"/>
            </a:xfrm>
            <a:prstGeom prst="rect">
              <a:avLst/>
            </a:prstGeom>
          </p:spPr>
        </p:pic>
        <p:pic>
          <p:nvPicPr>
            <p:cNvPr id="27" name="Graphic 26">
              <a:extLst>
                <a:ext uri="{FF2B5EF4-FFF2-40B4-BE49-F238E27FC236}">
                  <a16:creationId xmlns:a16="http://schemas.microsoft.com/office/drawing/2014/main" id="{173515BE-B748-C2A9-524D-5594C1C38B9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07894" y="1967853"/>
              <a:ext cx="851329" cy="851329"/>
            </a:xfrm>
            <a:prstGeom prst="rect">
              <a:avLst/>
            </a:prstGeom>
          </p:spPr>
        </p:pic>
      </p:grpSp>
      <p:sp>
        <p:nvSpPr>
          <p:cNvPr id="28" name="Content Placeholder 8">
            <a:extLst>
              <a:ext uri="{FF2B5EF4-FFF2-40B4-BE49-F238E27FC236}">
                <a16:creationId xmlns:a16="http://schemas.microsoft.com/office/drawing/2014/main" id="{4808C2F4-FAE1-B00F-DE0F-2751FC6DE613}"/>
              </a:ext>
              <a:ext uri="{C183D7F6-B498-43B3-948B-1728B52AA6E4}">
                <adec:decorative xmlns:adec="http://schemas.microsoft.com/office/drawing/2017/decorative" val="1"/>
              </a:ext>
            </a:extLst>
          </p:cNvPr>
          <p:cNvSpPr txBox="1">
            <a:spLocks/>
          </p:cNvSpPr>
          <p:nvPr/>
        </p:nvSpPr>
        <p:spPr>
          <a:xfrm>
            <a:off x="419100" y="1407812"/>
            <a:ext cx="348964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63900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E47D-4EBA-EFF5-7296-6821D04346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3CE4B0-2841-05B8-E45F-9B974F7BDC2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6. Specify storage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ED5492E8-A83B-C4F1-D87B-F3523FE23706}"/>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4144F94-90B5-D948-F0C3-18EB3A1E9C94}"/>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1DB8B48-B333-B255-5508-8341F05E8750}"/>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06575488-B9AA-DAF3-A1C2-85035E8501A8}"/>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04A69AD9-FF05-B996-5471-963A21CC2A82}"/>
              </a:ext>
            </a:extLst>
          </p:cNvPr>
          <p:cNvSpPr txBox="1">
            <a:spLocks/>
          </p:cNvSpPr>
          <p:nvPr/>
        </p:nvSpPr>
        <p:spPr>
          <a:xfrm>
            <a:off x="4012163" y="1069978"/>
            <a:ext cx="6741185"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7338" indent="-268288"/>
            <a:r>
              <a:rPr lang="en-US" sz="2400"/>
              <a:t>Configure the </a:t>
            </a:r>
            <a:r>
              <a:rPr lang="en-US" sz="2400">
                <a:solidFill>
                  <a:schemeClr val="accent6"/>
                </a:solidFill>
              </a:rPr>
              <a:t>root volume</a:t>
            </a:r>
          </a:p>
          <a:p>
            <a:pPr marL="744538" lvl="1" indent="-268288"/>
            <a:r>
              <a:rPr lang="en-US" sz="2000"/>
              <a:t> Where the guest operating system is installed</a:t>
            </a:r>
          </a:p>
          <a:p>
            <a:pPr marL="287338" indent="-268288"/>
            <a:r>
              <a:rPr lang="en-US" sz="2400"/>
              <a:t>Attach </a:t>
            </a:r>
            <a:r>
              <a:rPr lang="en-US" sz="2400">
                <a:solidFill>
                  <a:schemeClr val="accent6"/>
                </a:solidFill>
              </a:rPr>
              <a:t>additional storage volumes</a:t>
            </a:r>
            <a:r>
              <a:rPr lang="en-US" sz="2400"/>
              <a:t> (optional)</a:t>
            </a:r>
          </a:p>
          <a:p>
            <a:pPr marL="744538" lvl="1" indent="-268288"/>
            <a:r>
              <a:rPr lang="en-US" sz="2000"/>
              <a:t>AMI might already include more than one volume</a:t>
            </a:r>
          </a:p>
          <a:p>
            <a:pPr marL="287338" indent="-268288"/>
            <a:r>
              <a:rPr lang="en-US" sz="2400"/>
              <a:t>For each volume, specify:</a:t>
            </a:r>
          </a:p>
          <a:p>
            <a:pPr marL="744538" lvl="1" indent="-268288"/>
            <a:r>
              <a:rPr lang="en-US" sz="2000"/>
              <a:t>The </a:t>
            </a:r>
            <a:r>
              <a:rPr lang="en-US" sz="2000" b="1">
                <a:solidFill>
                  <a:srgbClr val="504BAB"/>
                </a:solidFill>
              </a:rPr>
              <a:t>size</a:t>
            </a:r>
            <a:r>
              <a:rPr lang="en-US" sz="2000"/>
              <a:t> of the disk (in GB)</a:t>
            </a:r>
          </a:p>
          <a:p>
            <a:pPr marL="744538" lvl="1" indent="-268288"/>
            <a:r>
              <a:rPr lang="en-US" sz="2000"/>
              <a:t>The </a:t>
            </a:r>
            <a:r>
              <a:rPr lang="en-US" sz="2000" b="1">
                <a:solidFill>
                  <a:srgbClr val="504BAB"/>
                </a:solidFill>
              </a:rPr>
              <a:t>volume type</a:t>
            </a:r>
          </a:p>
          <a:p>
            <a:pPr marL="1201738" lvl="2" indent="-268288"/>
            <a:r>
              <a:rPr lang="en-US" sz="1800"/>
              <a:t>Different types of solid state drives (SSDs) and hard disk drives (HDDs) are available</a:t>
            </a:r>
          </a:p>
          <a:p>
            <a:pPr marL="744538" lvl="1" indent="-268288"/>
            <a:r>
              <a:rPr lang="en-US" sz="2000"/>
              <a:t>If the volume will be deleted when the instance is terminated</a:t>
            </a:r>
          </a:p>
          <a:p>
            <a:pPr marL="744538" lvl="1" indent="-268288"/>
            <a:r>
              <a:rPr lang="en-US" sz="2000"/>
              <a:t>If </a:t>
            </a:r>
            <a:r>
              <a:rPr lang="en-US" sz="2000" b="1">
                <a:solidFill>
                  <a:srgbClr val="504BAB"/>
                </a:solidFill>
              </a:rPr>
              <a:t>encryption</a:t>
            </a:r>
            <a:r>
              <a:rPr lang="en-US" sz="2000"/>
              <a:t> should be used</a:t>
            </a:r>
            <a:endParaRPr lang="en-US" sz="2000" dirty="0"/>
          </a:p>
        </p:txBody>
      </p:sp>
      <p:pic>
        <p:nvPicPr>
          <p:cNvPr id="8" name="Graphic 7">
            <a:extLst>
              <a:ext uri="{FF2B5EF4-FFF2-40B4-BE49-F238E27FC236}">
                <a16:creationId xmlns:a16="http://schemas.microsoft.com/office/drawing/2014/main" id="{E6782859-BA37-1B97-D89B-98641196F0D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9668" y="1451206"/>
            <a:ext cx="914400" cy="914400"/>
          </a:xfrm>
          <a:prstGeom prst="rect">
            <a:avLst/>
          </a:prstGeom>
        </p:spPr>
      </p:pic>
      <p:pic>
        <p:nvPicPr>
          <p:cNvPr id="9" name="Graphic 8">
            <a:extLst>
              <a:ext uri="{FF2B5EF4-FFF2-40B4-BE49-F238E27FC236}">
                <a16:creationId xmlns:a16="http://schemas.microsoft.com/office/drawing/2014/main" id="{E30100F2-D307-B421-631A-8EA4760EC30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53348" y="2627226"/>
            <a:ext cx="807039" cy="807039"/>
          </a:xfrm>
          <a:prstGeom prst="rect">
            <a:avLst/>
          </a:prstGeom>
        </p:spPr>
      </p:pic>
      <p:sp>
        <p:nvSpPr>
          <p:cNvPr id="10" name="Content Placeholder 8">
            <a:extLst>
              <a:ext uri="{FF2B5EF4-FFF2-40B4-BE49-F238E27FC236}">
                <a16:creationId xmlns:a16="http://schemas.microsoft.com/office/drawing/2014/main" id="{55D034B2-07D0-1E9B-FA9C-14A041CE3C8F}"/>
              </a:ext>
              <a:ext uri="{C183D7F6-B498-43B3-948B-1728B52AA6E4}">
                <adec:decorative xmlns:adec="http://schemas.microsoft.com/office/drawing/2017/decorative" val="1"/>
              </a:ext>
            </a:extLst>
          </p:cNvPr>
          <p:cNvSpPr txBox="1">
            <a:spLocks/>
          </p:cNvSpPr>
          <p:nvPr/>
        </p:nvSpPr>
        <p:spPr>
          <a:xfrm>
            <a:off x="419099" y="1382554"/>
            <a:ext cx="3443773" cy="37365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194504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0458-0A96-429E-D4DD-1F72A82A6B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ED5452-0CB1-2383-013F-3BB6E0E8C84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EC2 storage options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D3129792-E544-0433-5908-AEEBF455DEC0}"/>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64D01741-E57F-10EE-5DE5-E7FDB23DDB30}"/>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D6ECC99-3DF7-8E46-4EFB-57CC26CACFF9}"/>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CF2FE959-5F57-A0A8-48C6-294DBB29E67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11">
            <a:extLst>
              <a:ext uri="{FF2B5EF4-FFF2-40B4-BE49-F238E27FC236}">
                <a16:creationId xmlns:a16="http://schemas.microsoft.com/office/drawing/2014/main" id="{65946D6A-1966-8B6A-1680-2B8D926E9842}"/>
              </a:ext>
            </a:extLst>
          </p:cNvPr>
          <p:cNvSpPr txBox="1">
            <a:spLocks/>
          </p:cNvSpPr>
          <p:nvPr/>
        </p:nvSpPr>
        <p:spPr>
          <a:xfrm>
            <a:off x="365760" y="1143000"/>
            <a:ext cx="11587890"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a:solidFill>
                  <a:srgbClr val="504BAB"/>
                </a:solidFill>
              </a:rPr>
              <a:t>Amazon Elastic Block Store (Amazon EBS) – </a:t>
            </a:r>
          </a:p>
          <a:p>
            <a:pPr lvl="1"/>
            <a:r>
              <a:rPr lang="en-US" sz="2000">
                <a:solidFill>
                  <a:schemeClr val="accent6"/>
                </a:solidFill>
              </a:rPr>
              <a:t>Durable</a:t>
            </a:r>
            <a:r>
              <a:rPr lang="en-US" sz="2000"/>
              <a:t>, block-level storage volumes.</a:t>
            </a:r>
          </a:p>
          <a:p>
            <a:pPr lvl="1"/>
            <a:r>
              <a:rPr lang="en-US" sz="2000"/>
              <a:t>You can stop the instance and start it again, and the data will still be there.</a:t>
            </a:r>
          </a:p>
          <a:p>
            <a:r>
              <a:rPr lang="en-US" sz="2400" b="1">
                <a:solidFill>
                  <a:srgbClr val="504BAB"/>
                </a:solidFill>
              </a:rPr>
              <a:t>Amazon EC2 Instance Store – </a:t>
            </a:r>
          </a:p>
          <a:p>
            <a:pPr lvl="1"/>
            <a:r>
              <a:rPr lang="en-US" sz="2000">
                <a:solidFill>
                  <a:schemeClr val="accent6"/>
                </a:solidFill>
              </a:rPr>
              <a:t>Ephemeral</a:t>
            </a:r>
            <a:r>
              <a:rPr lang="en-US" sz="2000"/>
              <a:t> storage is provided on disks that are attached to the host computer where the EC2 instance is running.</a:t>
            </a:r>
          </a:p>
          <a:p>
            <a:pPr lvl="1"/>
            <a:r>
              <a:rPr lang="en-US" sz="2000">
                <a:solidFill>
                  <a:schemeClr val="accent6"/>
                </a:solidFill>
              </a:rPr>
              <a:t>If the instance stops, data stored here is deleted.</a:t>
            </a:r>
          </a:p>
          <a:p>
            <a:r>
              <a:rPr lang="en-US" sz="2400"/>
              <a:t>Other options for storage (not for the root volume) – </a:t>
            </a:r>
          </a:p>
          <a:p>
            <a:pPr lvl="1"/>
            <a:r>
              <a:rPr lang="en-US" sz="2000"/>
              <a:t>Mount an </a:t>
            </a:r>
            <a:r>
              <a:rPr lang="en-US" sz="2000" b="1">
                <a:solidFill>
                  <a:srgbClr val="504BAB"/>
                </a:solidFill>
              </a:rPr>
              <a:t>Amazon Elastic File System (Amazon EFS) </a:t>
            </a:r>
            <a:r>
              <a:rPr lang="en-US" sz="2000"/>
              <a:t>file system.</a:t>
            </a:r>
          </a:p>
          <a:p>
            <a:pPr lvl="1"/>
            <a:r>
              <a:rPr lang="en-US" sz="2000"/>
              <a:t>Connect to </a:t>
            </a:r>
            <a:r>
              <a:rPr lang="en-US" sz="2000" b="1">
                <a:solidFill>
                  <a:srgbClr val="504BAB"/>
                </a:solidFill>
              </a:rPr>
              <a:t>Amazon Simple Storage Service (Amazon S3)</a:t>
            </a:r>
            <a:r>
              <a:rPr lang="en-US" sz="2000"/>
              <a:t>.</a:t>
            </a:r>
            <a:r>
              <a:rPr lang="en-US" sz="2000" b="1">
                <a:solidFill>
                  <a:schemeClr val="accent5"/>
                </a:solidFill>
              </a:rPr>
              <a:t> </a:t>
            </a:r>
            <a:endParaRPr lang="en-US" sz="2000" b="1" dirty="0">
              <a:solidFill>
                <a:schemeClr val="accent5"/>
              </a:solidFill>
            </a:endParaRPr>
          </a:p>
        </p:txBody>
      </p:sp>
    </p:spTree>
    <p:extLst>
      <p:ext uri="{BB962C8B-B14F-4D97-AF65-F5344CB8AC3E}">
        <p14:creationId xmlns:p14="http://schemas.microsoft.com/office/powerpoint/2010/main" val="3117710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7D25D-B30A-A24F-2879-D53071879B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C66FD1-C3FE-E591-9B04-515FE7EBFBCE}"/>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Example storage options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F7A2333A-C8C9-85ED-25CA-6C8317B10244}"/>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62B9B93-1DA8-FDC1-CBD4-48BE8A01B62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A32387D-8ABF-525D-FA0A-C605BEA393BD}"/>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A6A8D78-91DC-0ED3-C704-5226522EAA69}"/>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8" name="Content Placeholder 49">
            <a:extLst>
              <a:ext uri="{FF2B5EF4-FFF2-40B4-BE49-F238E27FC236}">
                <a16:creationId xmlns:a16="http://schemas.microsoft.com/office/drawing/2014/main" id="{3768A437-B1AA-B50F-9A92-68BF29682E5E}"/>
              </a:ext>
            </a:extLst>
          </p:cNvPr>
          <p:cNvSpPr txBox="1">
            <a:spLocks/>
          </p:cNvSpPr>
          <p:nvPr/>
        </p:nvSpPr>
        <p:spPr>
          <a:xfrm>
            <a:off x="271417" y="1405409"/>
            <a:ext cx="4220637"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a:solidFill>
                  <a:srgbClr val="504BAB"/>
                </a:solidFill>
              </a:rPr>
              <a:t>Instance 1</a:t>
            </a:r>
            <a:r>
              <a:rPr lang="en-US" sz="2400">
                <a:solidFill>
                  <a:srgbClr val="504BAB"/>
                </a:solidFill>
              </a:rPr>
              <a:t> </a:t>
            </a:r>
            <a:r>
              <a:rPr lang="en-US" sz="2400"/>
              <a:t>characteristics – </a:t>
            </a:r>
          </a:p>
          <a:p>
            <a:pPr lvl="1"/>
            <a:r>
              <a:rPr lang="en-US" sz="1800"/>
              <a:t>It has an </a:t>
            </a:r>
            <a:r>
              <a:rPr lang="en-US" sz="1800" b="1"/>
              <a:t>Amazon EBS</a:t>
            </a:r>
            <a:r>
              <a:rPr lang="en-US" sz="1800"/>
              <a:t> </a:t>
            </a:r>
            <a:r>
              <a:rPr lang="en-US" sz="1800" i="1"/>
              <a:t>root volume</a:t>
            </a:r>
            <a:r>
              <a:rPr lang="en-US" sz="1800"/>
              <a:t> type for the operating system.</a:t>
            </a:r>
          </a:p>
          <a:p>
            <a:pPr lvl="1"/>
            <a:r>
              <a:rPr lang="en-US" sz="1800">
                <a:solidFill>
                  <a:schemeClr val="accent6"/>
                </a:solidFill>
              </a:rPr>
              <a:t>What will happen if the instance is stopped and then started again?</a:t>
            </a:r>
          </a:p>
          <a:p>
            <a:pPr marL="457200" lvl="1" indent="0">
              <a:buFont typeface="Arial"/>
              <a:buNone/>
            </a:pPr>
            <a:endParaRPr lang="en-US" sz="1800"/>
          </a:p>
          <a:p>
            <a:r>
              <a:rPr lang="en-US" sz="2400" b="1">
                <a:solidFill>
                  <a:srgbClr val="504BAB"/>
                </a:solidFill>
              </a:rPr>
              <a:t>Instance 2</a:t>
            </a:r>
            <a:r>
              <a:rPr lang="en-US" sz="2400"/>
              <a:t> characteristics – </a:t>
            </a:r>
          </a:p>
          <a:p>
            <a:pPr lvl="1"/>
            <a:r>
              <a:rPr lang="en-US" sz="1800"/>
              <a:t>It has an </a:t>
            </a:r>
            <a:r>
              <a:rPr lang="en-US" sz="1800" b="1"/>
              <a:t>Instance Store</a:t>
            </a:r>
            <a:r>
              <a:rPr lang="en-US" sz="1800"/>
              <a:t> </a:t>
            </a:r>
            <a:r>
              <a:rPr lang="en-US" sz="1800" i="1"/>
              <a:t>root volume</a:t>
            </a:r>
            <a:r>
              <a:rPr lang="en-US" sz="1800"/>
              <a:t> type for the operating system.</a:t>
            </a:r>
          </a:p>
          <a:p>
            <a:pPr lvl="1"/>
            <a:r>
              <a:rPr lang="en-US" sz="1800">
                <a:solidFill>
                  <a:schemeClr val="accent6"/>
                </a:solidFill>
              </a:rPr>
              <a:t>What will happen if the instance stops (because of user error or a system malfunction)?</a:t>
            </a:r>
          </a:p>
          <a:p>
            <a:pPr lvl="1"/>
            <a:endParaRPr lang="en-US" sz="1800">
              <a:solidFill>
                <a:schemeClr val="accent6"/>
              </a:solidFill>
            </a:endParaRPr>
          </a:p>
          <a:p>
            <a:pPr marL="457200" lvl="1" indent="0">
              <a:buFont typeface="Arial"/>
              <a:buNone/>
            </a:pPr>
            <a:endParaRPr lang="en-US" sz="1800">
              <a:solidFill>
                <a:schemeClr val="accent6"/>
              </a:solidFill>
            </a:endParaRPr>
          </a:p>
          <a:p>
            <a:pPr marL="457200" lvl="1" indent="0">
              <a:buFont typeface="Arial"/>
              <a:buNone/>
            </a:pPr>
            <a:endParaRPr lang="en-US" sz="1800">
              <a:solidFill>
                <a:schemeClr val="accent6"/>
              </a:solidFill>
            </a:endParaRPr>
          </a:p>
          <a:p>
            <a:pPr marL="457200" lvl="1" indent="0">
              <a:buFont typeface="Arial"/>
              <a:buNone/>
            </a:pPr>
            <a:endParaRPr lang="en-US" sz="1600">
              <a:solidFill>
                <a:schemeClr val="accent6"/>
              </a:solidFill>
            </a:endParaRPr>
          </a:p>
          <a:p>
            <a:pPr lvl="1"/>
            <a:endParaRPr lang="en-US" sz="1800" dirty="0"/>
          </a:p>
        </p:txBody>
      </p:sp>
      <p:grpSp>
        <p:nvGrpSpPr>
          <p:cNvPr id="9" name="Group 8" descr="Diagram showing two EC2 instances and the storage types attached. Details of the diagram explained in notes below the slide.">
            <a:extLst>
              <a:ext uri="{FF2B5EF4-FFF2-40B4-BE49-F238E27FC236}">
                <a16:creationId xmlns:a16="http://schemas.microsoft.com/office/drawing/2014/main" id="{1E529954-070B-4D70-B0EA-EBCD764ED974}"/>
              </a:ext>
            </a:extLst>
          </p:cNvPr>
          <p:cNvGrpSpPr/>
          <p:nvPr/>
        </p:nvGrpSpPr>
        <p:grpSpPr>
          <a:xfrm>
            <a:off x="4551746" y="1688037"/>
            <a:ext cx="7398740" cy="3913738"/>
            <a:chOff x="4646089" y="1425628"/>
            <a:chExt cx="7398740" cy="3913738"/>
          </a:xfrm>
        </p:grpSpPr>
        <p:pic>
          <p:nvPicPr>
            <p:cNvPr id="10" name="Graphic 9">
              <a:extLst>
                <a:ext uri="{FF2B5EF4-FFF2-40B4-BE49-F238E27FC236}">
                  <a16:creationId xmlns:a16="http://schemas.microsoft.com/office/drawing/2014/main" id="{06EFCC0D-F28A-18AF-000B-C465679AB7F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4953" y="2471497"/>
              <a:ext cx="672352" cy="672352"/>
            </a:xfrm>
            <a:prstGeom prst="rect">
              <a:avLst/>
            </a:prstGeom>
          </p:spPr>
        </p:pic>
        <p:sp>
          <p:nvSpPr>
            <p:cNvPr id="11" name="TextBox 10">
              <a:extLst>
                <a:ext uri="{FF2B5EF4-FFF2-40B4-BE49-F238E27FC236}">
                  <a16:creationId xmlns:a16="http://schemas.microsoft.com/office/drawing/2014/main" id="{8B2749F1-B314-53F1-2D2E-E99474A7FC68}"/>
                </a:ext>
              </a:extLst>
            </p:cNvPr>
            <p:cNvSpPr txBox="1"/>
            <p:nvPr/>
          </p:nvSpPr>
          <p:spPr>
            <a:xfrm>
              <a:off x="7945939" y="3135183"/>
              <a:ext cx="1513305" cy="338554"/>
            </a:xfrm>
            <a:prstGeom prst="rect">
              <a:avLst/>
            </a:prstGeom>
            <a:noFill/>
          </p:spPr>
          <p:txBody>
            <a:bodyPr wrap="square" rtlCol="0">
              <a:spAutoFit/>
            </a:bodyPr>
            <a:lstStyle/>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Instance 1</a:t>
              </a:r>
            </a:p>
          </p:txBody>
        </p:sp>
        <p:sp>
          <p:nvSpPr>
            <p:cNvPr id="12" name="Rectangle 11">
              <a:extLst>
                <a:ext uri="{FF2B5EF4-FFF2-40B4-BE49-F238E27FC236}">
                  <a16:creationId xmlns:a16="http://schemas.microsoft.com/office/drawing/2014/main" id="{8968C5E4-89F3-7824-A455-5E2024060BA1}"/>
                </a:ext>
              </a:extLst>
            </p:cNvPr>
            <p:cNvSpPr/>
            <p:nvPr/>
          </p:nvSpPr>
          <p:spPr>
            <a:xfrm>
              <a:off x="8130432" y="1430736"/>
              <a:ext cx="3914397" cy="3908630"/>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5A6B86"/>
                  </a:solidFill>
                </a:rPr>
                <a:t>Host computer</a:t>
              </a:r>
              <a:endParaRPr lang="en-US" sz="1200" dirty="0">
                <a:solidFill>
                  <a:srgbClr val="5A6B86"/>
                </a:solidFill>
              </a:endParaRPr>
            </a:p>
          </p:txBody>
        </p:sp>
        <p:pic>
          <p:nvPicPr>
            <p:cNvPr id="13" name="Graphic 12">
              <a:extLst>
                <a:ext uri="{FF2B5EF4-FFF2-40B4-BE49-F238E27FC236}">
                  <a16:creationId xmlns:a16="http://schemas.microsoft.com/office/drawing/2014/main" id="{F8D6FE26-ED55-2BFB-1535-F81C512C0F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0432" y="1425628"/>
              <a:ext cx="330200" cy="330200"/>
            </a:xfrm>
            <a:prstGeom prst="rect">
              <a:avLst/>
            </a:prstGeom>
          </p:spPr>
        </p:pic>
        <p:pic>
          <p:nvPicPr>
            <p:cNvPr id="14" name="Graphic 13">
              <a:extLst>
                <a:ext uri="{FF2B5EF4-FFF2-40B4-BE49-F238E27FC236}">
                  <a16:creationId xmlns:a16="http://schemas.microsoft.com/office/drawing/2014/main" id="{7CC1C9A7-5D5A-28B4-EFD8-FF9D9E3BE0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47381" y="4003138"/>
              <a:ext cx="469900" cy="469900"/>
            </a:xfrm>
            <a:prstGeom prst="rect">
              <a:avLst/>
            </a:prstGeom>
          </p:spPr>
        </p:pic>
        <p:sp>
          <p:nvSpPr>
            <p:cNvPr id="15" name="TextBox 14">
              <a:extLst>
                <a:ext uri="{FF2B5EF4-FFF2-40B4-BE49-F238E27FC236}">
                  <a16:creationId xmlns:a16="http://schemas.microsoft.com/office/drawing/2014/main" id="{94D47F61-6D7F-8CD6-F216-810AE9FB835D}"/>
                </a:ext>
              </a:extLst>
            </p:cNvPr>
            <p:cNvSpPr txBox="1"/>
            <p:nvPr/>
          </p:nvSpPr>
          <p:spPr>
            <a:xfrm>
              <a:off x="10325678" y="4485724"/>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 volume 2</a:t>
              </a:r>
            </a:p>
          </p:txBody>
        </p:sp>
        <p:pic>
          <p:nvPicPr>
            <p:cNvPr id="16" name="Graphic 15">
              <a:extLst>
                <a:ext uri="{FF2B5EF4-FFF2-40B4-BE49-F238E27FC236}">
                  <a16:creationId xmlns:a16="http://schemas.microsoft.com/office/drawing/2014/main" id="{94B526D8-CB33-54BD-1C43-5528D1EE415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36665" y="2576573"/>
              <a:ext cx="469900" cy="469900"/>
            </a:xfrm>
            <a:prstGeom prst="rect">
              <a:avLst/>
            </a:prstGeom>
          </p:spPr>
        </p:pic>
        <p:sp>
          <p:nvSpPr>
            <p:cNvPr id="17" name="TextBox 16">
              <a:extLst>
                <a:ext uri="{FF2B5EF4-FFF2-40B4-BE49-F238E27FC236}">
                  <a16:creationId xmlns:a16="http://schemas.microsoft.com/office/drawing/2014/main" id="{47B2E90C-1BE7-7EF1-DC2C-7D57764936AC}"/>
                </a:ext>
              </a:extLst>
            </p:cNvPr>
            <p:cNvSpPr txBox="1"/>
            <p:nvPr/>
          </p:nvSpPr>
          <p:spPr>
            <a:xfrm>
              <a:off x="10292433" y="3060131"/>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 1</a:t>
              </a:r>
            </a:p>
          </p:txBody>
        </p:sp>
        <p:pic>
          <p:nvPicPr>
            <p:cNvPr id="18" name="Graphic 17">
              <a:extLst>
                <a:ext uri="{FF2B5EF4-FFF2-40B4-BE49-F238E27FC236}">
                  <a16:creationId xmlns:a16="http://schemas.microsoft.com/office/drawing/2014/main" id="{E54CDA2F-0389-CB6B-DFA0-9447A4CF8C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4953" y="3904896"/>
              <a:ext cx="672352" cy="672352"/>
            </a:xfrm>
            <a:prstGeom prst="rect">
              <a:avLst/>
            </a:prstGeom>
          </p:spPr>
        </p:pic>
        <p:sp>
          <p:nvSpPr>
            <p:cNvPr id="19" name="TextBox 18">
              <a:extLst>
                <a:ext uri="{FF2B5EF4-FFF2-40B4-BE49-F238E27FC236}">
                  <a16:creationId xmlns:a16="http://schemas.microsoft.com/office/drawing/2014/main" id="{E093E7E4-C7E7-D2C3-60D2-BF6384933083}"/>
                </a:ext>
              </a:extLst>
            </p:cNvPr>
            <p:cNvSpPr txBox="1"/>
            <p:nvPr/>
          </p:nvSpPr>
          <p:spPr>
            <a:xfrm>
              <a:off x="7957279" y="4574264"/>
              <a:ext cx="1513305" cy="338554"/>
            </a:xfrm>
            <a:prstGeom prst="rect">
              <a:avLst/>
            </a:prstGeom>
            <a:noFill/>
          </p:spPr>
          <p:txBody>
            <a:bodyPr wrap="square" rtlCol="0">
              <a:spAutoFit/>
            </a:bodyPr>
            <a:lstStyle/>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Instance 2</a:t>
              </a:r>
            </a:p>
          </p:txBody>
        </p:sp>
        <p:sp>
          <p:nvSpPr>
            <p:cNvPr id="20" name="TextBox 19">
              <a:extLst>
                <a:ext uri="{FF2B5EF4-FFF2-40B4-BE49-F238E27FC236}">
                  <a16:creationId xmlns:a16="http://schemas.microsoft.com/office/drawing/2014/main" id="{E2D83976-9F13-3162-FC72-0D351D18804E}"/>
                </a:ext>
              </a:extLst>
            </p:cNvPr>
            <p:cNvSpPr txBox="1"/>
            <p:nvPr/>
          </p:nvSpPr>
          <p:spPr>
            <a:xfrm>
              <a:off x="4749012" y="1576873"/>
              <a:ext cx="1985781" cy="830997"/>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Amazon Elastic Block Store (Amazon EBS)</a:t>
              </a:r>
            </a:p>
          </p:txBody>
        </p:sp>
        <p:pic>
          <p:nvPicPr>
            <p:cNvPr id="21" name="Graphic 20">
              <a:extLst>
                <a:ext uri="{FF2B5EF4-FFF2-40B4-BE49-F238E27FC236}">
                  <a16:creationId xmlns:a16="http://schemas.microsoft.com/office/drawing/2014/main" id="{85352210-3BB6-95BC-2673-26F0B817A55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6089" y="1563714"/>
              <a:ext cx="351800" cy="351800"/>
            </a:xfrm>
            <a:prstGeom prst="rect">
              <a:avLst/>
            </a:prstGeom>
          </p:spPr>
        </p:pic>
        <p:sp>
          <p:nvSpPr>
            <p:cNvPr id="22" name="TextBox 21">
              <a:extLst>
                <a:ext uri="{FF2B5EF4-FFF2-40B4-BE49-F238E27FC236}">
                  <a16:creationId xmlns:a16="http://schemas.microsoft.com/office/drawing/2014/main" id="{F5E0E956-A808-2271-F1A2-71B9F1D8DAE7}"/>
                </a:ext>
              </a:extLst>
            </p:cNvPr>
            <p:cNvSpPr txBox="1"/>
            <p:nvPr/>
          </p:nvSpPr>
          <p:spPr>
            <a:xfrm>
              <a:off x="4874485" y="3108945"/>
              <a:ext cx="1569242"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20-GB volume</a:t>
              </a:r>
            </a:p>
          </p:txBody>
        </p:sp>
        <p:pic>
          <p:nvPicPr>
            <p:cNvPr id="23" name="Graphic 22">
              <a:extLst>
                <a:ext uri="{FF2B5EF4-FFF2-40B4-BE49-F238E27FC236}">
                  <a16:creationId xmlns:a16="http://schemas.microsoft.com/office/drawing/2014/main" id="{DADBBB52-5B7F-2575-4928-47C676CE53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279" y="2509186"/>
              <a:ext cx="584775" cy="584775"/>
            </a:xfrm>
            <a:prstGeom prst="rect">
              <a:avLst/>
            </a:prstGeom>
          </p:spPr>
        </p:pic>
        <p:sp>
          <p:nvSpPr>
            <p:cNvPr id="24" name="Rectangle 23">
              <a:extLst>
                <a:ext uri="{FF2B5EF4-FFF2-40B4-BE49-F238E27FC236}">
                  <a16:creationId xmlns:a16="http://schemas.microsoft.com/office/drawing/2014/main" id="{5C00025C-88A4-8D41-EED7-B1F77624C78C}"/>
                </a:ext>
              </a:extLst>
            </p:cNvPr>
            <p:cNvSpPr/>
            <p:nvPr/>
          </p:nvSpPr>
          <p:spPr>
            <a:xfrm>
              <a:off x="4646089" y="1563714"/>
              <a:ext cx="1985781" cy="2993640"/>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cxnSp>
          <p:nvCxnSpPr>
            <p:cNvPr id="25" name="Straight Arrow Connector 24">
              <a:extLst>
                <a:ext uri="{FF2B5EF4-FFF2-40B4-BE49-F238E27FC236}">
                  <a16:creationId xmlns:a16="http://schemas.microsoft.com/office/drawing/2014/main" id="{5012570B-66BF-87F5-6FA9-9B756CD7B7FA}"/>
                </a:ext>
              </a:extLst>
            </p:cNvPr>
            <p:cNvCxnSpPr>
              <a:cxnSpLocks/>
              <a:stCxn id="23" idx="3"/>
              <a:endCxn id="10" idx="1"/>
            </p:cNvCxnSpPr>
            <p:nvPr/>
          </p:nvCxnSpPr>
          <p:spPr>
            <a:xfrm>
              <a:off x="5961054" y="2801574"/>
              <a:ext cx="2403899" cy="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8CF0776-E3D0-A9BC-0831-CDBC29E5F297}"/>
                </a:ext>
              </a:extLst>
            </p:cNvPr>
            <p:cNvSpPr txBox="1"/>
            <p:nvPr/>
          </p:nvSpPr>
          <p:spPr>
            <a:xfrm>
              <a:off x="6552726" y="2522477"/>
              <a:ext cx="1335623"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27" name="TextBox 26">
              <a:extLst>
                <a:ext uri="{FF2B5EF4-FFF2-40B4-BE49-F238E27FC236}">
                  <a16:creationId xmlns:a16="http://schemas.microsoft.com/office/drawing/2014/main" id="{F6424D96-5823-9C8C-0F81-FBFD08A86FA5}"/>
                </a:ext>
              </a:extLst>
            </p:cNvPr>
            <p:cNvSpPr txBox="1"/>
            <p:nvPr/>
          </p:nvSpPr>
          <p:spPr>
            <a:xfrm>
              <a:off x="4834314" y="4188029"/>
              <a:ext cx="1604021"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500-GB volume</a:t>
              </a:r>
            </a:p>
          </p:txBody>
        </p:sp>
        <p:pic>
          <p:nvPicPr>
            <p:cNvPr id="28" name="Graphic 27">
              <a:extLst>
                <a:ext uri="{FF2B5EF4-FFF2-40B4-BE49-F238E27FC236}">
                  <a16:creationId xmlns:a16="http://schemas.microsoft.com/office/drawing/2014/main" id="{80DF16A6-8486-AD3E-20DE-D706D4CDEDF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278" y="3603254"/>
              <a:ext cx="584775" cy="584775"/>
            </a:xfrm>
            <a:prstGeom prst="rect">
              <a:avLst/>
            </a:prstGeom>
          </p:spPr>
        </p:pic>
        <p:cxnSp>
          <p:nvCxnSpPr>
            <p:cNvPr id="29" name="Straight Arrow Connector 28">
              <a:extLst>
                <a:ext uri="{FF2B5EF4-FFF2-40B4-BE49-F238E27FC236}">
                  <a16:creationId xmlns:a16="http://schemas.microsoft.com/office/drawing/2014/main" id="{4F24CFE7-AB3D-B0E7-5DF0-71AE27EFF454}"/>
                </a:ext>
              </a:extLst>
            </p:cNvPr>
            <p:cNvCxnSpPr>
              <a:cxnSpLocks/>
              <a:stCxn id="28" idx="3"/>
            </p:cNvCxnSpPr>
            <p:nvPr/>
          </p:nvCxnSpPr>
          <p:spPr>
            <a:xfrm flipV="1">
              <a:off x="5961053" y="2961387"/>
              <a:ext cx="2383412" cy="934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425F388-6CF4-E390-F0E9-49B83087B29E}"/>
                </a:ext>
              </a:extLst>
            </p:cNvPr>
            <p:cNvSpPr txBox="1"/>
            <p:nvPr/>
          </p:nvSpPr>
          <p:spPr>
            <a:xfrm>
              <a:off x="6599050" y="3468219"/>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31" name="TextBox 30">
              <a:extLst>
                <a:ext uri="{FF2B5EF4-FFF2-40B4-BE49-F238E27FC236}">
                  <a16:creationId xmlns:a16="http://schemas.microsoft.com/office/drawing/2014/main" id="{EFB42136-7221-57E9-7236-DA379F8222D1}"/>
                </a:ext>
              </a:extLst>
            </p:cNvPr>
            <p:cNvSpPr txBox="1"/>
            <p:nvPr/>
          </p:nvSpPr>
          <p:spPr>
            <a:xfrm>
              <a:off x="9096997" y="3972578"/>
              <a:ext cx="1335622"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cxnSp>
          <p:nvCxnSpPr>
            <p:cNvPr id="32" name="Straight Arrow Connector 31">
              <a:extLst>
                <a:ext uri="{FF2B5EF4-FFF2-40B4-BE49-F238E27FC236}">
                  <a16:creationId xmlns:a16="http://schemas.microsoft.com/office/drawing/2014/main" id="{DF13DAC8-3BE0-C0C4-639D-78A407214B18}"/>
                </a:ext>
              </a:extLst>
            </p:cNvPr>
            <p:cNvCxnSpPr>
              <a:cxnSpLocks/>
              <a:stCxn id="16" idx="1"/>
              <a:endCxn id="10" idx="3"/>
            </p:cNvCxnSpPr>
            <p:nvPr/>
          </p:nvCxnSpPr>
          <p:spPr>
            <a:xfrm flipH="1" flipV="1">
              <a:off x="9037305" y="2807673"/>
              <a:ext cx="1799360" cy="3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AAB5A2-93EB-8582-CBB0-37C4AA7B63E3}"/>
                </a:ext>
              </a:extLst>
            </p:cNvPr>
            <p:cNvCxnSpPr>
              <a:cxnSpLocks/>
              <a:stCxn id="14" idx="1"/>
              <a:endCxn id="18" idx="3"/>
            </p:cNvCxnSpPr>
            <p:nvPr/>
          </p:nvCxnSpPr>
          <p:spPr>
            <a:xfrm flipH="1">
              <a:off x="9037305" y="4238088"/>
              <a:ext cx="1810076" cy="2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DF4DA52-79AD-312D-9DC3-BD069216D0B9}"/>
                </a:ext>
              </a:extLst>
            </p:cNvPr>
            <p:cNvSpPr/>
            <p:nvPr/>
          </p:nvSpPr>
          <p:spPr>
            <a:xfrm>
              <a:off x="10406971" y="2442102"/>
              <a:ext cx="1398767" cy="2620697"/>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sp>
          <p:nvSpPr>
            <p:cNvPr id="35" name="TextBox 34">
              <a:extLst>
                <a:ext uri="{FF2B5EF4-FFF2-40B4-BE49-F238E27FC236}">
                  <a16:creationId xmlns:a16="http://schemas.microsoft.com/office/drawing/2014/main" id="{5EC697CD-5C07-7A1F-83AF-2C4A29DA6DF3}"/>
                </a:ext>
              </a:extLst>
            </p:cNvPr>
            <p:cNvSpPr txBox="1"/>
            <p:nvPr/>
          </p:nvSpPr>
          <p:spPr>
            <a:xfrm>
              <a:off x="10325678" y="2079624"/>
              <a:ext cx="1513305" cy="338554"/>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Instance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Store</a:t>
              </a:r>
            </a:p>
          </p:txBody>
        </p:sp>
        <p:sp>
          <p:nvSpPr>
            <p:cNvPr id="36" name="TextBox 35">
              <a:extLst>
                <a:ext uri="{FF2B5EF4-FFF2-40B4-BE49-F238E27FC236}">
                  <a16:creationId xmlns:a16="http://schemas.microsoft.com/office/drawing/2014/main" id="{27A966EA-323C-668E-DAC9-BD318F147233}"/>
                </a:ext>
              </a:extLst>
            </p:cNvPr>
            <p:cNvSpPr txBox="1"/>
            <p:nvPr/>
          </p:nvSpPr>
          <p:spPr>
            <a:xfrm>
              <a:off x="8955373" y="2543013"/>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grpSp>
    </p:spTree>
    <p:extLst>
      <p:ext uri="{BB962C8B-B14F-4D97-AF65-F5344CB8AC3E}">
        <p14:creationId xmlns:p14="http://schemas.microsoft.com/office/powerpoint/2010/main" val="2835500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61BF7-1C1F-7C17-EF95-2B145E0623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8BF746-3365-B0E1-32F7-BD5B7939E89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7. Add tags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CD422F03-6CB3-C5E5-E5FF-B281219D1A3E}"/>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FC810D5-0D32-6D49-ECAC-187EB9D10F6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D78852C-2847-28DA-7224-A7A579B3EEFD}"/>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92DCA9C2-B0F8-9E79-E998-497DA8B4004E}"/>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16D5F8E3-25CE-F112-AB57-F4ADFAA27F2F}"/>
              </a:ext>
            </a:extLst>
          </p:cNvPr>
          <p:cNvSpPr txBox="1">
            <a:spLocks/>
          </p:cNvSpPr>
          <p:nvPr/>
        </p:nvSpPr>
        <p:spPr>
          <a:xfrm>
            <a:off x="3881534" y="1049093"/>
            <a:ext cx="8072115"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7338" indent="-268288"/>
            <a:r>
              <a:rPr lang="en-US" sz="2400"/>
              <a:t>A </a:t>
            </a:r>
            <a:r>
              <a:rPr lang="en-US" sz="2400">
                <a:solidFill>
                  <a:schemeClr val="accent6"/>
                </a:solidFill>
              </a:rPr>
              <a:t>tag</a:t>
            </a:r>
            <a:r>
              <a:rPr lang="en-US" sz="2400"/>
              <a:t> is a label that you can assign to an AWS resource. </a:t>
            </a:r>
          </a:p>
          <a:p>
            <a:pPr marL="744538" lvl="1" indent="-268288"/>
            <a:r>
              <a:rPr lang="en-US" sz="2000"/>
              <a:t>Consists of a </a:t>
            </a:r>
            <a:r>
              <a:rPr lang="en-US" sz="2000" i="1"/>
              <a:t>key</a:t>
            </a:r>
            <a:r>
              <a:rPr lang="en-US" sz="2000"/>
              <a:t> and an optional </a:t>
            </a:r>
            <a:r>
              <a:rPr lang="en-US" sz="2000" i="1"/>
              <a:t>value.</a:t>
            </a:r>
            <a:endParaRPr lang="en-US" sz="2000"/>
          </a:p>
          <a:p>
            <a:pPr marL="287338" indent="-268288"/>
            <a:r>
              <a:rPr lang="en-US" sz="2400"/>
              <a:t>Tagging is how you can attach </a:t>
            </a:r>
            <a:r>
              <a:rPr lang="en-US" sz="2400" b="1">
                <a:solidFill>
                  <a:srgbClr val="504BAB"/>
                </a:solidFill>
              </a:rPr>
              <a:t>metadata</a:t>
            </a:r>
            <a:r>
              <a:rPr lang="en-US" sz="2400"/>
              <a:t> to an EC2 instance.</a:t>
            </a:r>
            <a:r>
              <a:rPr lang="en-US"/>
              <a:t> </a:t>
            </a:r>
          </a:p>
          <a:p>
            <a:pPr marL="287338" indent="-268288"/>
            <a:r>
              <a:rPr lang="en-US" sz="2400"/>
              <a:t>Potential benefits of tagging—Filtering, automation, cost allocation, and access control.</a:t>
            </a:r>
          </a:p>
          <a:p>
            <a:pPr marL="744538" lvl="1" indent="-268288"/>
            <a:endParaRPr lang="en-US" sz="1600"/>
          </a:p>
          <a:p>
            <a:pPr marL="19050" indent="0">
              <a:buFont typeface="Arial"/>
              <a:buNone/>
            </a:pPr>
            <a:r>
              <a:rPr lang="en-US" sz="2400"/>
              <a:t>Example: </a:t>
            </a:r>
            <a:endParaRPr lang="en-US" sz="2400" dirty="0"/>
          </a:p>
        </p:txBody>
      </p:sp>
      <p:pic>
        <p:nvPicPr>
          <p:cNvPr id="8" name="Picture 7" descr="Screenshot of the tags UI in the EC2 console instance details view.">
            <a:extLst>
              <a:ext uri="{FF2B5EF4-FFF2-40B4-BE49-F238E27FC236}">
                <a16:creationId xmlns:a16="http://schemas.microsoft.com/office/drawing/2014/main" id="{2D0A6A07-2782-9128-72A1-7B703F5D8541}"/>
              </a:ext>
            </a:extLst>
          </p:cNvPr>
          <p:cNvPicPr>
            <a:picLocks noChangeAspect="1"/>
          </p:cNvPicPr>
          <p:nvPr/>
        </p:nvPicPr>
        <p:blipFill>
          <a:blip r:embed="rId3"/>
          <a:stretch>
            <a:fillRect/>
          </a:stretch>
        </p:blipFill>
        <p:spPr>
          <a:xfrm>
            <a:off x="5364154" y="4300293"/>
            <a:ext cx="6065846" cy="1962150"/>
          </a:xfrm>
          <a:prstGeom prst="rect">
            <a:avLst/>
          </a:prstGeom>
          <a:ln>
            <a:solidFill>
              <a:schemeClr val="tx1"/>
            </a:solidFill>
          </a:ln>
        </p:spPr>
      </p:pic>
      <p:sp>
        <p:nvSpPr>
          <p:cNvPr id="9" name="Content Placeholder 8">
            <a:extLst>
              <a:ext uri="{FF2B5EF4-FFF2-40B4-BE49-F238E27FC236}">
                <a16:creationId xmlns:a16="http://schemas.microsoft.com/office/drawing/2014/main" id="{8F846AB8-DACE-3156-9098-E21BD6AA5649}"/>
              </a:ext>
              <a:ext uri="{C183D7F6-B498-43B3-948B-1728B52AA6E4}">
                <adec:decorative xmlns:adec="http://schemas.microsoft.com/office/drawing/2017/decorative" val="1"/>
              </a:ext>
            </a:extLst>
          </p:cNvPr>
          <p:cNvSpPr txBox="1">
            <a:spLocks/>
          </p:cNvSpPr>
          <p:nvPr/>
        </p:nvSpPr>
        <p:spPr>
          <a:xfrm>
            <a:off x="419100" y="1434269"/>
            <a:ext cx="3462434"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181595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1E0D-1347-7BDB-38A3-4708ADDC4F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0E14E1-28FF-8105-B6EE-4D64A7419D4E}"/>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8. Security group settings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F8DB9151-7B65-0059-FF95-8F25632EA09D}"/>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6D54651D-B01C-4D8E-EF66-4429AE77D998}"/>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73B65FF-85E0-1742-B7B9-1D9554657A9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FB9EDB42-75D5-12D6-4341-F87384832DE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9F179C7A-2F1B-14DD-2DC5-417231467772}"/>
              </a:ext>
            </a:extLst>
          </p:cNvPr>
          <p:cNvSpPr txBox="1">
            <a:spLocks/>
          </p:cNvSpPr>
          <p:nvPr/>
        </p:nvSpPr>
        <p:spPr>
          <a:xfrm>
            <a:off x="3913239" y="884269"/>
            <a:ext cx="8021730"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7338" indent="-268288"/>
            <a:r>
              <a:rPr lang="en-US" sz="2400"/>
              <a:t>A </a:t>
            </a:r>
            <a:r>
              <a:rPr lang="en-US" sz="2400">
                <a:solidFill>
                  <a:schemeClr val="accent6"/>
                </a:solidFill>
              </a:rPr>
              <a:t>security group </a:t>
            </a:r>
            <a:r>
              <a:rPr lang="en-US" sz="2400"/>
              <a:t>is a</a:t>
            </a:r>
            <a:r>
              <a:rPr lang="en-US" sz="2400" b="1">
                <a:solidFill>
                  <a:schemeClr val="accent5"/>
                </a:solidFill>
              </a:rPr>
              <a:t> </a:t>
            </a:r>
            <a:r>
              <a:rPr lang="en-US" sz="2400" b="1">
                <a:solidFill>
                  <a:srgbClr val="504BAB"/>
                </a:solidFill>
              </a:rPr>
              <a:t>set of firewall rules</a:t>
            </a:r>
            <a:r>
              <a:rPr lang="en-US" sz="2400">
                <a:solidFill>
                  <a:srgbClr val="504BAB"/>
                </a:solidFill>
              </a:rPr>
              <a:t> </a:t>
            </a:r>
            <a:r>
              <a:rPr lang="en-US" sz="2400"/>
              <a:t>that control traffic to the instance. </a:t>
            </a:r>
          </a:p>
          <a:p>
            <a:pPr marL="744538" lvl="1" indent="-268288"/>
            <a:r>
              <a:rPr lang="en-US" sz="2000"/>
              <a:t>It exists </a:t>
            </a:r>
            <a:r>
              <a:rPr lang="en-US" sz="2000" i="1"/>
              <a:t>outside</a:t>
            </a:r>
            <a:r>
              <a:rPr lang="en-US" sz="2000"/>
              <a:t> of the instance's guest OS.</a:t>
            </a:r>
          </a:p>
          <a:p>
            <a:pPr marL="287338" indent="-268288"/>
            <a:r>
              <a:rPr lang="en-US" sz="2400"/>
              <a:t>Create </a:t>
            </a:r>
            <a:r>
              <a:rPr lang="en-US" sz="2400" b="1">
                <a:solidFill>
                  <a:srgbClr val="504BAB"/>
                </a:solidFill>
              </a:rPr>
              <a:t>rules</a:t>
            </a:r>
            <a:r>
              <a:rPr lang="en-US" sz="2400"/>
              <a:t> that specify the </a:t>
            </a:r>
            <a:r>
              <a:rPr lang="en-US" sz="2400" b="1">
                <a:solidFill>
                  <a:srgbClr val="504BAB"/>
                </a:solidFill>
              </a:rPr>
              <a:t>source</a:t>
            </a:r>
            <a:r>
              <a:rPr lang="en-US" sz="2400"/>
              <a:t> and which </a:t>
            </a:r>
            <a:r>
              <a:rPr lang="en-US" sz="2400" b="1">
                <a:solidFill>
                  <a:srgbClr val="504BAB"/>
                </a:solidFill>
              </a:rPr>
              <a:t>ports</a:t>
            </a:r>
            <a:r>
              <a:rPr lang="en-US" sz="2400"/>
              <a:t> that network communications can use.</a:t>
            </a:r>
          </a:p>
          <a:p>
            <a:pPr marL="744538" lvl="1" indent="-268288"/>
            <a:r>
              <a:rPr lang="en-US" sz="2000"/>
              <a:t>Specify the </a:t>
            </a:r>
            <a:r>
              <a:rPr lang="en-US" sz="2000" b="1">
                <a:solidFill>
                  <a:srgbClr val="504BAB"/>
                </a:solidFill>
              </a:rPr>
              <a:t>port</a:t>
            </a:r>
            <a:r>
              <a:rPr lang="en-US" sz="2000"/>
              <a:t> number and the </a:t>
            </a:r>
            <a:r>
              <a:rPr lang="en-US" sz="2000" b="1">
                <a:solidFill>
                  <a:srgbClr val="504BAB"/>
                </a:solidFill>
              </a:rPr>
              <a:t>protocol</a:t>
            </a:r>
            <a:r>
              <a:rPr lang="en-US" sz="2000"/>
              <a:t>, such as Transmission Control Protocol (TCP), User Datagram Protocol (UDP), or Internet Control Message Protocol (ICMP).</a:t>
            </a:r>
          </a:p>
          <a:p>
            <a:pPr marL="744538" lvl="1" indent="-268288"/>
            <a:r>
              <a:rPr lang="en-US" sz="2000"/>
              <a:t>Specify the </a:t>
            </a:r>
            <a:r>
              <a:rPr lang="en-US" sz="2000" b="1">
                <a:solidFill>
                  <a:srgbClr val="504BAB"/>
                </a:solidFill>
              </a:rPr>
              <a:t>source</a:t>
            </a:r>
            <a:r>
              <a:rPr lang="en-US" sz="2000" b="1">
                <a:solidFill>
                  <a:schemeClr val="accent5"/>
                </a:solidFill>
              </a:rPr>
              <a:t> </a:t>
            </a:r>
            <a:r>
              <a:rPr lang="en-US" sz="2000"/>
              <a:t>(for example, an IP address or another security group) that is allowed to use the rule.</a:t>
            </a:r>
            <a:endParaRPr lang="en-US" sz="1400"/>
          </a:p>
          <a:p>
            <a:pPr marL="19050" indent="0">
              <a:buFont typeface="Arial"/>
              <a:buNone/>
            </a:pPr>
            <a:r>
              <a:rPr lang="en-US" sz="2400"/>
              <a:t>Example rule:</a:t>
            </a:r>
          </a:p>
          <a:p>
            <a:pPr marL="744538" lvl="1" indent="-268288"/>
            <a:endParaRPr lang="en-US" sz="1600" dirty="0"/>
          </a:p>
        </p:txBody>
      </p:sp>
      <p:pic>
        <p:nvPicPr>
          <p:cNvPr id="8" name="Picture 7" descr="Screenshot of the EC2 console screen. See description in slide notes.">
            <a:extLst>
              <a:ext uri="{FF2B5EF4-FFF2-40B4-BE49-F238E27FC236}">
                <a16:creationId xmlns:a16="http://schemas.microsoft.com/office/drawing/2014/main" id="{1620FE6D-63D2-01FC-9DF8-8AE705C340B9}"/>
              </a:ext>
            </a:extLst>
          </p:cNvPr>
          <p:cNvPicPr>
            <a:picLocks noChangeAspect="1"/>
          </p:cNvPicPr>
          <p:nvPr/>
        </p:nvPicPr>
        <p:blipFill>
          <a:blip r:embed="rId3"/>
          <a:stretch>
            <a:fillRect/>
          </a:stretch>
        </p:blipFill>
        <p:spPr>
          <a:xfrm>
            <a:off x="4020262" y="5307846"/>
            <a:ext cx="7807683" cy="1022578"/>
          </a:xfrm>
          <a:prstGeom prst="rect">
            <a:avLst/>
          </a:prstGeom>
          <a:ln>
            <a:solidFill>
              <a:schemeClr val="tx1"/>
            </a:solidFill>
          </a:ln>
        </p:spPr>
      </p:pic>
      <p:sp>
        <p:nvSpPr>
          <p:cNvPr id="9" name="Content Placeholder 8">
            <a:extLst>
              <a:ext uri="{FF2B5EF4-FFF2-40B4-BE49-F238E27FC236}">
                <a16:creationId xmlns:a16="http://schemas.microsoft.com/office/drawing/2014/main" id="{DA3A8E95-496F-0D42-77E1-F87276B43185}"/>
              </a:ext>
              <a:ext uri="{C183D7F6-B498-43B3-948B-1728B52AA6E4}">
                <adec:decorative xmlns:adec="http://schemas.microsoft.com/office/drawing/2017/decorative" val="1"/>
              </a:ext>
            </a:extLst>
          </p:cNvPr>
          <p:cNvSpPr txBox="1">
            <a:spLocks/>
          </p:cNvSpPr>
          <p:nvPr/>
        </p:nvSpPr>
        <p:spPr>
          <a:xfrm>
            <a:off x="419099" y="1357484"/>
            <a:ext cx="3494139"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170015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AC95-0285-3778-7990-968406E139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AB04DE-0B22-93DC-6459-794436AB874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9. Identify or create the key pair</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D5DD748A-C161-0004-0394-5CD02B06EA59}"/>
              </a:ext>
            </a:extLst>
          </p:cNvPr>
          <p:cNvSpPr/>
          <p:nvPr/>
        </p:nvSpPr>
        <p:spPr>
          <a:xfrm>
            <a:off x="658368" y="101917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72E575D-3BDC-7630-0081-01DFE5C5736A}"/>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D62F6CC-36E7-3B41-E28B-A5819E724A81}"/>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35A12634-4B40-28A0-ED6D-53D07C59A8EA}"/>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
        <p:nvSpPr>
          <p:cNvPr id="4" name="Content Placeholder 9">
            <a:extLst>
              <a:ext uri="{FF2B5EF4-FFF2-40B4-BE49-F238E27FC236}">
                <a16:creationId xmlns:a16="http://schemas.microsoft.com/office/drawing/2014/main" id="{16E34B62-3B81-B13D-4698-5FA5F571F7D6}"/>
              </a:ext>
            </a:extLst>
          </p:cNvPr>
          <p:cNvSpPr txBox="1">
            <a:spLocks/>
          </p:cNvSpPr>
          <p:nvPr/>
        </p:nvSpPr>
        <p:spPr>
          <a:xfrm>
            <a:off x="3782124" y="1080864"/>
            <a:ext cx="6922226" cy="52917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7338" indent="-268288"/>
            <a:r>
              <a:rPr lang="en-US" sz="2400"/>
              <a:t>At instance launch, you specify an existing key pair </a:t>
            </a:r>
            <a:r>
              <a:rPr lang="en-US" sz="2400" i="1"/>
              <a:t>or </a:t>
            </a:r>
            <a:r>
              <a:rPr lang="en-US" sz="2400"/>
              <a:t>create a new key pair.</a:t>
            </a:r>
          </a:p>
          <a:p>
            <a:pPr marL="287338" indent="-268288"/>
            <a:r>
              <a:rPr lang="en-US" sz="2400"/>
              <a:t>A</a:t>
            </a:r>
            <a:r>
              <a:rPr lang="en-US" sz="2400">
                <a:solidFill>
                  <a:schemeClr val="accent6"/>
                </a:solidFill>
              </a:rPr>
              <a:t> key pair</a:t>
            </a:r>
            <a:r>
              <a:rPr lang="en-US" sz="2400"/>
              <a:t> consists of – </a:t>
            </a:r>
          </a:p>
          <a:p>
            <a:pPr marL="744538" lvl="1" indent="-268288"/>
            <a:r>
              <a:rPr lang="en-US" sz="2000"/>
              <a:t>A </a:t>
            </a:r>
            <a:r>
              <a:rPr lang="en-US" sz="2000" b="1">
                <a:solidFill>
                  <a:schemeClr val="accent5"/>
                </a:solidFill>
              </a:rPr>
              <a:t>public key</a:t>
            </a:r>
            <a:r>
              <a:rPr lang="en-US" sz="2000"/>
              <a:t> that AWS stores.</a:t>
            </a:r>
          </a:p>
          <a:p>
            <a:pPr marL="744538" lvl="1" indent="-268288"/>
            <a:r>
              <a:rPr lang="en-US" sz="2000"/>
              <a:t>A </a:t>
            </a:r>
            <a:r>
              <a:rPr lang="en-US" sz="2000" b="1">
                <a:solidFill>
                  <a:schemeClr val="accent5"/>
                </a:solidFill>
              </a:rPr>
              <a:t>private key</a:t>
            </a:r>
            <a:r>
              <a:rPr lang="en-US" sz="2000"/>
              <a:t> file that you store. </a:t>
            </a:r>
          </a:p>
          <a:p>
            <a:pPr marL="287338" indent="-268288"/>
            <a:r>
              <a:rPr lang="en-US" sz="2400"/>
              <a:t>It enables secure connections to the instance. </a:t>
            </a:r>
          </a:p>
          <a:p>
            <a:pPr marL="287338" indent="-268288"/>
            <a:r>
              <a:rPr lang="en-US" sz="2400"/>
              <a:t>For </a:t>
            </a:r>
            <a:r>
              <a:rPr lang="en-US" sz="2400" b="1"/>
              <a:t>Windows AMIs – </a:t>
            </a:r>
          </a:p>
          <a:p>
            <a:pPr marL="744538" lvl="1" indent="-268288"/>
            <a:r>
              <a:rPr lang="en-US" sz="2000"/>
              <a:t>Use the private key to obtain the administrator password that you need to log in to your instance. </a:t>
            </a:r>
          </a:p>
          <a:p>
            <a:pPr marL="287338" indent="-268288"/>
            <a:r>
              <a:rPr lang="en-US" sz="2400"/>
              <a:t>For </a:t>
            </a:r>
            <a:r>
              <a:rPr lang="en-US" sz="2400" b="1"/>
              <a:t>Linux AMIs – </a:t>
            </a:r>
          </a:p>
          <a:p>
            <a:pPr marL="744538" lvl="1" indent="-268288"/>
            <a:r>
              <a:rPr lang="en-US" sz="2000"/>
              <a:t>Use the private key to use SSH to securely connect to your instance.</a:t>
            </a:r>
            <a:endParaRPr lang="en-US" sz="2000" dirty="0"/>
          </a:p>
        </p:txBody>
      </p:sp>
      <p:pic>
        <p:nvPicPr>
          <p:cNvPr id="8" name="Graphic 7">
            <a:extLst>
              <a:ext uri="{FF2B5EF4-FFF2-40B4-BE49-F238E27FC236}">
                <a16:creationId xmlns:a16="http://schemas.microsoft.com/office/drawing/2014/main" id="{3801C6EB-3211-EDFE-66B3-F06167FCF92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4349" y="3413371"/>
            <a:ext cx="914400" cy="914400"/>
          </a:xfrm>
          <a:prstGeom prst="rect">
            <a:avLst/>
          </a:prstGeom>
        </p:spPr>
      </p:pic>
      <p:pic>
        <p:nvPicPr>
          <p:cNvPr id="9" name="Graphic 8">
            <a:extLst>
              <a:ext uri="{FF2B5EF4-FFF2-40B4-BE49-F238E27FC236}">
                <a16:creationId xmlns:a16="http://schemas.microsoft.com/office/drawing/2014/main" id="{4F3EAC9F-1331-4C08-C817-3DE196E9CFD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03760" y="1775910"/>
            <a:ext cx="719353" cy="719353"/>
          </a:xfrm>
          <a:prstGeom prst="rect">
            <a:avLst/>
          </a:prstGeom>
        </p:spPr>
      </p:pic>
      <p:sp>
        <p:nvSpPr>
          <p:cNvPr id="10" name="Content Placeholder 8">
            <a:extLst>
              <a:ext uri="{FF2B5EF4-FFF2-40B4-BE49-F238E27FC236}">
                <a16:creationId xmlns:a16="http://schemas.microsoft.com/office/drawing/2014/main" id="{EEAECA87-66F2-E3F5-0789-8A5C1633BDC6}"/>
              </a:ext>
              <a:ext uri="{C183D7F6-B498-43B3-948B-1728B52AA6E4}">
                <adec:decorative xmlns:adec="http://schemas.microsoft.com/office/drawing/2017/decorative" val="1"/>
              </a:ext>
            </a:extLst>
          </p:cNvPr>
          <p:cNvSpPr txBox="1">
            <a:spLocks/>
          </p:cNvSpPr>
          <p:nvPr/>
        </p:nvSpPr>
        <p:spPr>
          <a:xfrm>
            <a:off x="319688" y="1466040"/>
            <a:ext cx="3363025"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74049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Storage on the instance — EBS (block)</a:t>
            </a:r>
          </a:p>
          <a:p>
            <a:pPr>
              <a:spcBef>
                <a:spcPts val="200"/>
              </a:spcBef>
            </a:pPr>
            <a:r>
              <a:rPr sz="1800" b="0" i="1">
                <a:solidFill>
                  <a:srgbClr val="D68E10"/>
                </a:solidFill>
                <a:latin typeface="Roboto Light"/>
              </a:rPr>
              <a:t>primer + AWS · ACF M06 S22</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Block storage = a virtual disk attached to one instance (like a drive in a PC).</a:t>
            </a:r>
          </a:p>
          <a:p>
            <a:pPr marL="0" indent="0">
              <a:lnSpc>
                <a:spcPct val="105000"/>
              </a:lnSpc>
              <a:spcBef>
                <a:spcPts val="0"/>
              </a:spcBef>
              <a:spcAft>
                <a:spcPts val="1000"/>
              </a:spcAft>
            </a:pPr>
            <a:r>
              <a:rPr sz="1800" b="1" i="0">
                <a:solidFill>
                  <a:srgbClr val="92268F"/>
                </a:solidFill>
                <a:latin typeface="Roboto"/>
              </a:rPr>
              <a:t>■  Amazon EBS is durable block storage — stop and start the instance and the data is still there.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(Instance store is ephemeral — it's lost when the instance stops.)</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gp3 SSD volumes; you can resize or change type without downtime.</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compute you'll build</a:t>
            </a:r>
          </a:p>
          <a:p>
            <a:pPr>
              <a:spcBef>
                <a:spcPts val="200"/>
              </a:spcBef>
            </a:pPr>
            <a:r>
              <a:rPr sz="1800" b="0" i="1">
                <a:solidFill>
                  <a:srgbClr val="D68E10"/>
                </a:solidFill>
                <a:latin typeface="Roboto Light"/>
              </a:rPr>
              <a:t>the supplied design</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EC2 Windows Server 2016 (m6i.large*, a C1 implementer decision), in private-app-a, no public IP.</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An instance role grants it access to RDS, S3 and CloudWatch — no stored keys.</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EBS: gp3 root 80 GB + a gp3 data volume (footprint + 12-month growth + headroom).</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Attach sg-app; tag per the naming standard. (*= implementer decision.)</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331720" cy="457200"/>
          </a:xfrm>
          <a:prstGeom prst="round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RECORDED DEMO</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Launch an EC2 instance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Use the Launch Instance Wizard: choose the AMI and instance type.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Set the network (VPC/subnet), IAM role, storage volumes, tags and security group.</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Launch, then view the instance, its volumes and monitoring.</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Resize the instance type / root volume to see how it changes.</a:t>
            </a:r>
          </a:p>
        </p:txBody>
      </p:sp>
      <p:sp>
        <p:nvSpPr>
          <p:cNvPr id="6" name="Rounded Rectangle 5"/>
          <p:cNvSpPr/>
          <p:nvPr/>
        </p:nvSpPr>
        <p:spPr>
          <a:xfrm>
            <a:off x="640080" y="5897880"/>
            <a:ext cx="786384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7498080" cy="365760"/>
          </a:xfrm>
          <a:prstGeom prst="rect">
            <a:avLst/>
          </a:prstGeom>
          <a:noFill/>
        </p:spPr>
        <p:txBody>
          <a:bodyPr wrap="square" lIns="0" tIns="0" rIns="0" bIns="0" anchor="ctr">
            <a:spAutoFit/>
          </a:bodyPr>
          <a:lstStyle/>
          <a:p>
            <a:r>
              <a:rPr sz="1400" b="1" i="0">
                <a:solidFill>
                  <a:srgbClr val="2A2929"/>
                </a:solidFill>
                <a:latin typeface="Roboto"/>
              </a:rPr>
              <a:t>▶  Play the AWS recorded demo (ACF M06 · EC2 (S35)) — you do this next</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Launch the Ledgerline server</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lab, per the supplied design, launch the application server:</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AMI Windows Server 2016; instance type per the design; into private-app-a (no public IP)</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attach the instance role + sg-app; add the gp3 data volume; tag it</a:t>
            </a:r>
          </a:p>
          <a:p>
            <a:pPr marL="0" indent="0">
              <a:lnSpc>
                <a:spcPct val="105000"/>
              </a:lnSpc>
              <a:spcBef>
                <a:spcPts val="0"/>
              </a:spcBef>
              <a:spcAft>
                <a:spcPts val="1000"/>
              </a:spcAft>
            </a:pPr>
            <a:r>
              <a:rPr sz="1700" b="1" i="0">
                <a:solidFill>
                  <a:srgbClr val="92268F"/>
                </a:solidFill>
                <a:latin typeface="Roboto"/>
              </a:rPr>
              <a:t>■  Capture named evidence — the instance, its volumes, the Region.</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~25 min</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92268F"/>
                </a:solidFill>
                <a:latin typeface="Roboto"/>
              </a:rPr>
              <a:t>Section 1 · Compute</a:t>
            </a:r>
          </a:p>
        </p:txBody>
      </p:sp>
      <p:sp>
        <p:nvSpPr>
          <p:cNvPr id="3" name="Rectangle 2"/>
          <p:cNvSpPr/>
          <p:nvPr/>
        </p:nvSpPr>
        <p:spPr>
          <a:xfrm>
            <a:off x="658368" y="16002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EC2 = a resizable virtual machine, launched from an AMI into your subnet.</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instance type sets CPU / RAM / storage / network — size it to the workload.</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EBS = durable block storage attached to the instance (survives stop/start).</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Build to the supplied design; no public IP; capture evidence as you go.</a:t>
            </a:r>
          </a:p>
        </p:txBody>
      </p:sp>
      <p:sp>
        <p:nvSpPr>
          <p:cNvPr id="16" name="Rectangle 15"/>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02</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7B5CE"/>
                </a:solidFill>
                <a:latin typeface="Roboto"/>
              </a:rPr>
              <a:t>SECTION</a:t>
            </a:r>
          </a:p>
          <a:p>
            <a:pPr>
              <a:spcBef>
                <a:spcPts val="600"/>
              </a:spcBef>
            </a:pPr>
            <a:r>
              <a:rPr sz="3800" b="1" i="0">
                <a:solidFill>
                  <a:srgbClr val="2A2929"/>
                </a:solidFill>
                <a:latin typeface="Roboto"/>
              </a:rPr>
              <a:t>Elasticity — load balancing &amp; scaling</a:t>
            </a:r>
          </a:p>
          <a:p>
            <a:pPr>
              <a:spcBef>
                <a:spcPts val="1000"/>
              </a:spcBef>
            </a:pPr>
            <a:r>
              <a:rPr sz="2000" b="0" i="1">
                <a:solidFill>
                  <a:srgbClr val="484848"/>
                </a:solidFill>
                <a:latin typeface="Roboto Light"/>
              </a:rPr>
              <a:t>ALB + Auto Scaling</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24B1-DEA6-80BA-A223-279C053062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AD7666-1AFD-C4FE-7C1A-BFA0A3FF6D84}"/>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The need for reactive architectures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33E3A82A-8342-2D5F-7F18-B0F3422D7753}"/>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215BD13-41E9-EDAF-DB94-3E6E8FD2D32C}"/>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D6365F2-79A3-4826-9598-7EAD0F231CD3}"/>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A783E7EF-5CFF-0C31-A934-B74C7766050D}"/>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sp>
        <p:nvSpPr>
          <p:cNvPr id="4" name="Text Placeholder 3">
            <a:extLst>
              <a:ext uri="{FF2B5EF4-FFF2-40B4-BE49-F238E27FC236}">
                <a16:creationId xmlns:a16="http://schemas.microsoft.com/office/drawing/2014/main" id="{CF87F806-7EFC-541B-D092-2E511161B298}"/>
              </a:ext>
            </a:extLst>
          </p:cNvPr>
          <p:cNvSpPr txBox="1">
            <a:spLocks/>
          </p:cNvSpPr>
          <p:nvPr/>
        </p:nvSpPr>
        <p:spPr>
          <a:xfrm>
            <a:off x="365760" y="1516606"/>
            <a:ext cx="11466576" cy="1099688"/>
          </a:xfrm>
          <a:prstGeom prst="rect">
            <a:avLst/>
          </a:prstGeom>
        </p:spPr>
        <p:txBody>
          <a:bodyPr>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Roboto" panose="02000000000000000000" pitchFamily="2" charset="0"/>
                <a:ea typeface="Roboto" panose="02000000000000000000" pitchFamily="2" charset="0"/>
                <a:cs typeface="Roboto" panose="02000000000000000000" pitchFamily="2" charset="0"/>
              </a:rPr>
              <a:t>Applications need to handle large amounts of data with sub-second response times while having close to 100 percent uptime.</a:t>
            </a:r>
          </a:p>
        </p:txBody>
      </p:sp>
      <p:pic>
        <p:nvPicPr>
          <p:cNvPr id="8" name="Picture Placeholder 12">
            <a:extLst>
              <a:ext uri="{FF2B5EF4-FFF2-40B4-BE49-F238E27FC236}">
                <a16:creationId xmlns:a16="http://schemas.microsoft.com/office/drawing/2014/main" id="{E397F396-9F2A-A1B7-4E8E-DC2886439F35}"/>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38175" y="2646363"/>
            <a:ext cx="2286000" cy="2286000"/>
          </a:xfrm>
          <a:prstGeom prst="rect">
            <a:avLst/>
          </a:prstGeom>
        </p:spPr>
      </p:pic>
      <p:sp>
        <p:nvSpPr>
          <p:cNvPr id="9" name="Text Placeholder 5">
            <a:extLst>
              <a:ext uri="{FF2B5EF4-FFF2-40B4-BE49-F238E27FC236}">
                <a16:creationId xmlns:a16="http://schemas.microsoft.com/office/drawing/2014/main" id="{01F018B9-4801-64D7-B3A8-AE6D7ED6C02E}"/>
              </a:ext>
            </a:extLst>
          </p:cNvPr>
          <p:cNvSpPr txBox="1">
            <a:spLocks/>
          </p:cNvSpPr>
          <p:nvPr/>
        </p:nvSpPr>
        <p:spPr>
          <a:xfrm>
            <a:off x="365760" y="5015626"/>
            <a:ext cx="2788920" cy="462386"/>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n>
                  <a:solidFill>
                    <a:schemeClr val="bg1"/>
                  </a:solidFill>
                </a:ln>
                <a:solidFill>
                  <a:schemeClr val="bg1"/>
                </a:solidFill>
                <a:latin typeface="Roboto" panose="02000000000000000000" pitchFamily="2" charset="0"/>
                <a:ea typeface="Roboto" panose="02000000000000000000" pitchFamily="2" charset="0"/>
                <a:cs typeface="Roboto" panose="02000000000000000000" pitchFamily="2" charset="0"/>
              </a:rPr>
              <a:t>Elastic </a:t>
            </a:r>
          </a:p>
        </p:txBody>
      </p:sp>
      <p:pic>
        <p:nvPicPr>
          <p:cNvPr id="10" name="Picture Placeholder 13">
            <a:extLst>
              <a:ext uri="{FF2B5EF4-FFF2-40B4-BE49-F238E27FC236}">
                <a16:creationId xmlns:a16="http://schemas.microsoft.com/office/drawing/2014/main" id="{17A9F8EA-D47F-F876-A6E4-DECBB115C014}"/>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3536950" y="2646363"/>
            <a:ext cx="2286000" cy="2286000"/>
          </a:xfrm>
          <a:prstGeom prst="rect">
            <a:avLst/>
          </a:prstGeom>
        </p:spPr>
      </p:pic>
      <p:sp>
        <p:nvSpPr>
          <p:cNvPr id="11" name="Text Placeholder 7">
            <a:extLst>
              <a:ext uri="{FF2B5EF4-FFF2-40B4-BE49-F238E27FC236}">
                <a16:creationId xmlns:a16="http://schemas.microsoft.com/office/drawing/2014/main" id="{876CD8DD-93BC-804C-9EEE-747EDCBE4CAD}"/>
              </a:ext>
            </a:extLst>
          </p:cNvPr>
          <p:cNvSpPr txBox="1">
            <a:spLocks/>
          </p:cNvSpPr>
          <p:nvPr/>
        </p:nvSpPr>
        <p:spPr>
          <a:xfrm>
            <a:off x="3264408" y="5015625"/>
            <a:ext cx="2788920" cy="462386"/>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n>
                  <a:solidFill>
                    <a:schemeClr val="bg1"/>
                  </a:solidFill>
                </a:ln>
                <a:solidFill>
                  <a:schemeClr val="bg1"/>
                </a:solidFill>
                <a:latin typeface="Roboto" panose="02000000000000000000" pitchFamily="2" charset="0"/>
                <a:ea typeface="Roboto" panose="02000000000000000000" pitchFamily="2" charset="0"/>
                <a:cs typeface="Roboto" panose="02000000000000000000" pitchFamily="2" charset="0"/>
              </a:rPr>
              <a:t>Responsive</a:t>
            </a:r>
          </a:p>
        </p:txBody>
      </p:sp>
      <p:pic>
        <p:nvPicPr>
          <p:cNvPr id="12" name="Picture Placeholder 14">
            <a:extLst>
              <a:ext uri="{FF2B5EF4-FFF2-40B4-BE49-F238E27FC236}">
                <a16:creationId xmlns:a16="http://schemas.microsoft.com/office/drawing/2014/main" id="{2E984386-C25D-87B6-8E2E-BF7CEA893495}"/>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6435725" y="2646363"/>
            <a:ext cx="2286000" cy="2286000"/>
          </a:xfrm>
          <a:prstGeom prst="rect">
            <a:avLst/>
          </a:prstGeom>
        </p:spPr>
      </p:pic>
      <p:sp>
        <p:nvSpPr>
          <p:cNvPr id="13" name="Text Placeholder 9">
            <a:extLst>
              <a:ext uri="{FF2B5EF4-FFF2-40B4-BE49-F238E27FC236}">
                <a16:creationId xmlns:a16="http://schemas.microsoft.com/office/drawing/2014/main" id="{47956BF5-7793-4F9C-3680-BC356CD8132E}"/>
              </a:ext>
            </a:extLst>
          </p:cNvPr>
          <p:cNvSpPr txBox="1">
            <a:spLocks/>
          </p:cNvSpPr>
          <p:nvPr/>
        </p:nvSpPr>
        <p:spPr>
          <a:xfrm>
            <a:off x="6163056" y="5015625"/>
            <a:ext cx="2788920" cy="462386"/>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n>
                  <a:solidFill>
                    <a:schemeClr val="bg1"/>
                  </a:solidFill>
                </a:ln>
                <a:solidFill>
                  <a:schemeClr val="bg1"/>
                </a:solidFill>
                <a:latin typeface="Roboto" panose="02000000000000000000" pitchFamily="2" charset="0"/>
                <a:ea typeface="Roboto" panose="02000000000000000000" pitchFamily="2" charset="0"/>
                <a:cs typeface="Roboto" panose="02000000000000000000" pitchFamily="2" charset="0"/>
              </a:rPr>
              <a:t>Resilient</a:t>
            </a:r>
          </a:p>
        </p:txBody>
      </p:sp>
      <p:pic>
        <p:nvPicPr>
          <p:cNvPr id="14" name="Picture Placeholder 15">
            <a:extLst>
              <a:ext uri="{FF2B5EF4-FFF2-40B4-BE49-F238E27FC236}">
                <a16:creationId xmlns:a16="http://schemas.microsoft.com/office/drawing/2014/main" id="{E3E92997-5758-F885-7A57-0B6C3F6FE96A}"/>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334500" y="2646363"/>
            <a:ext cx="2286000" cy="2286000"/>
          </a:xfrm>
          <a:prstGeom prst="rect">
            <a:avLst/>
          </a:prstGeom>
        </p:spPr>
      </p:pic>
      <p:sp>
        <p:nvSpPr>
          <p:cNvPr id="15" name="Text Placeholder 11">
            <a:extLst>
              <a:ext uri="{FF2B5EF4-FFF2-40B4-BE49-F238E27FC236}">
                <a16:creationId xmlns:a16="http://schemas.microsoft.com/office/drawing/2014/main" id="{1C07A766-42EE-BC48-056D-09268FA99FD8}"/>
              </a:ext>
            </a:extLst>
          </p:cNvPr>
          <p:cNvSpPr txBox="1">
            <a:spLocks/>
          </p:cNvSpPr>
          <p:nvPr/>
        </p:nvSpPr>
        <p:spPr>
          <a:xfrm>
            <a:off x="9043416" y="5015625"/>
            <a:ext cx="2788920" cy="462386"/>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n>
                  <a:solidFill>
                    <a:schemeClr val="bg1"/>
                  </a:solidFill>
                </a:ln>
                <a:solidFill>
                  <a:schemeClr val="bg1"/>
                </a:solidFill>
                <a:latin typeface="Roboto" panose="02000000000000000000" pitchFamily="2" charset="0"/>
                <a:ea typeface="Roboto" panose="02000000000000000000" pitchFamily="2" charset="0"/>
                <a:cs typeface="Roboto" panose="02000000000000000000" pitchFamily="2" charset="0"/>
              </a:rPr>
              <a:t>Message-</a:t>
            </a:r>
            <a:r>
              <a:rPr lang="en-US" sz="2400" dirty="0">
                <a:ln>
                  <a:solidFill>
                    <a:schemeClr val="bg1"/>
                  </a:solidFill>
                </a:ln>
                <a:solidFill>
                  <a:schemeClr val="bg1"/>
                </a:solidFill>
              </a:rPr>
              <a:t>driven</a:t>
            </a:r>
          </a:p>
        </p:txBody>
      </p:sp>
    </p:spTree>
    <p:extLst>
      <p:ext uri="{BB962C8B-B14F-4D97-AF65-F5344CB8AC3E}">
        <p14:creationId xmlns:p14="http://schemas.microsoft.com/office/powerpoint/2010/main" val="1550981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Load balancing &amp; scaling</a:t>
            </a:r>
          </a:p>
          <a:p>
            <a:pPr>
              <a:spcBef>
                <a:spcPts val="200"/>
              </a:spcBef>
            </a:pPr>
            <a:r>
              <a:rPr sz="1800" b="0" i="1">
                <a:solidFill>
                  <a:srgbClr val="D68E10"/>
                </a:solidFill>
                <a:latin typeface="Roboto Light"/>
              </a:rPr>
              <a:t>primer + AWS · ACA M10 S19</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38139" y="2273744"/>
            <a:ext cx="6271821" cy="2696507"/>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 load balancer spreads incoming traffic across several instances and checks their health.</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Elasticity = the infrastructure grows and shrinks as demand changes.</a:t>
            </a:r>
          </a:p>
          <a:p>
            <a:pPr marL="0" indent="0">
              <a:lnSpc>
                <a:spcPct val="105000"/>
              </a:lnSpc>
              <a:spcBef>
                <a:spcPts val="0"/>
              </a:spcBef>
              <a:spcAft>
                <a:spcPts val="1000"/>
              </a:spcAft>
            </a:pPr>
            <a:r>
              <a:rPr sz="1800" b="1" i="0" dirty="0">
                <a:solidFill>
                  <a:srgbClr val="27B5CE"/>
                </a:solidFill>
                <a:latin typeface="Roboto"/>
              </a:rPr>
              <a:t>■  Vertical scaling = replace with a bigger instance; horizontal scaling = add more instances.</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Horizontal scaling is the cloud way — and the basis of high availability later.</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pic>
        <p:nvPicPr>
          <p:cNvPr id="8" name="Picture Placeholder 12">
            <a:extLst>
              <a:ext uri="{FF2B5EF4-FFF2-40B4-BE49-F238E27FC236}">
                <a16:creationId xmlns:a16="http://schemas.microsoft.com/office/drawing/2014/main" id="{92AEC7A6-759E-E739-4DAB-D4989CB2D57A}"/>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89888" y="2363377"/>
            <a:ext cx="2286000" cy="228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FD76-C53E-35AA-15E6-59CAFD4EF0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C0E017-65B9-5984-CB8C-00875FF7B790}"/>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Types of AWS load balancers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83DA003E-BBB1-B20A-63CE-93A61999BAA0}"/>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2EF46860-CD3E-581E-216D-D8D03F7675FA}"/>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A1FB012-62B4-0FBB-5CA5-2198742B8091}"/>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7F58A706-AA8B-DCD4-7B1F-6152F420EDD1}"/>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pic>
        <p:nvPicPr>
          <p:cNvPr id="4" name="Picture Placeholder 16">
            <a:extLst>
              <a:ext uri="{FF2B5EF4-FFF2-40B4-BE49-F238E27FC236}">
                <a16:creationId xmlns:a16="http://schemas.microsoft.com/office/drawing/2014/main" id="{C13532FD-DC18-8967-4099-DE9651FE2A4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1047284" y="1251999"/>
            <a:ext cx="1433379" cy="1433379"/>
          </a:xfrm>
          <a:prstGeom prst="rect">
            <a:avLst/>
          </a:prstGeom>
        </p:spPr>
      </p:pic>
      <p:sp>
        <p:nvSpPr>
          <p:cNvPr id="8" name="Text Placeholder 8">
            <a:extLst>
              <a:ext uri="{FF2B5EF4-FFF2-40B4-BE49-F238E27FC236}">
                <a16:creationId xmlns:a16="http://schemas.microsoft.com/office/drawing/2014/main" id="{8C36D106-B6B2-9DE5-7399-5D3995758801}"/>
              </a:ext>
            </a:extLst>
          </p:cNvPr>
          <p:cNvSpPr txBox="1">
            <a:spLocks/>
          </p:cNvSpPr>
          <p:nvPr/>
        </p:nvSpPr>
        <p:spPr>
          <a:xfrm>
            <a:off x="365760" y="2738005"/>
            <a:ext cx="2788920" cy="638369"/>
          </a:xfrm>
          <a:prstGeom prst="rect">
            <a:avLst/>
          </a:prstGeom>
          <a:solidFill>
            <a:schemeClr val="accent1"/>
          </a:solidFill>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ctr">
              <a:spcBef>
                <a:spcPct val="20000"/>
              </a:spcBef>
              <a:buFont typeface="Arial"/>
              <a:buChar cha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Application Load Balancer </a:t>
            </a:r>
          </a:p>
        </p:txBody>
      </p:sp>
      <p:sp>
        <p:nvSpPr>
          <p:cNvPr id="9" name="Text Placeholder 4">
            <a:extLst>
              <a:ext uri="{FF2B5EF4-FFF2-40B4-BE49-F238E27FC236}">
                <a16:creationId xmlns:a16="http://schemas.microsoft.com/office/drawing/2014/main" id="{B074B111-CF36-8A91-11A6-0C017DA61EDC}"/>
              </a:ext>
            </a:extLst>
          </p:cNvPr>
          <p:cNvSpPr txBox="1">
            <a:spLocks/>
          </p:cNvSpPr>
          <p:nvPr/>
        </p:nvSpPr>
        <p:spPr>
          <a:xfrm>
            <a:off x="365760" y="3429000"/>
            <a:ext cx="2788920" cy="300574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a:t>Is used for HTTP and HTTPS traffic</a:t>
            </a:r>
          </a:p>
          <a:p>
            <a:pPr>
              <a:buFont typeface="Arial" panose="020B0604020202020204" pitchFamily="34" charset="0"/>
              <a:buChar char="•"/>
            </a:pPr>
            <a:r>
              <a:rPr lang="en-US" sz="1800" dirty="0"/>
              <a:t>Operates at OSI layer 7, the application layer</a:t>
            </a:r>
          </a:p>
          <a:p>
            <a:pPr>
              <a:buFont typeface="Arial" panose="020B0604020202020204" pitchFamily="34" charset="0"/>
              <a:buChar char="•"/>
            </a:pPr>
            <a:r>
              <a:rPr lang="en-US" sz="1800" dirty="0"/>
              <a:t>Is used for application architectures</a:t>
            </a:r>
          </a:p>
          <a:p>
            <a:pPr lvl="1" indent="0">
              <a:buFont typeface="Arial"/>
              <a:buNone/>
            </a:pPr>
            <a:endParaRPr lang="en-US" dirty="0"/>
          </a:p>
          <a:p>
            <a:pPr marL="0" indent="0">
              <a:buFont typeface="Arial"/>
              <a:buNone/>
            </a:pPr>
            <a:endParaRPr lang="en-US" sz="1800" dirty="0"/>
          </a:p>
        </p:txBody>
      </p:sp>
      <p:pic>
        <p:nvPicPr>
          <p:cNvPr id="10" name="Graphic 9">
            <a:extLst>
              <a:ext uri="{FF2B5EF4-FFF2-40B4-BE49-F238E27FC236}">
                <a16:creationId xmlns:a16="http://schemas.microsoft.com/office/drawing/2014/main" id="{EC6B4C62-C2D6-4FC1-48A5-780756C292F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9987" y="1251999"/>
            <a:ext cx="1433379" cy="1433379"/>
          </a:xfrm>
          <a:prstGeom prst="rect">
            <a:avLst/>
          </a:prstGeom>
        </p:spPr>
      </p:pic>
      <p:sp>
        <p:nvSpPr>
          <p:cNvPr id="11" name="Text Placeholder 9">
            <a:extLst>
              <a:ext uri="{FF2B5EF4-FFF2-40B4-BE49-F238E27FC236}">
                <a16:creationId xmlns:a16="http://schemas.microsoft.com/office/drawing/2014/main" id="{C14977C7-9F32-C1E5-60CC-07AE9652256F}"/>
              </a:ext>
            </a:extLst>
          </p:cNvPr>
          <p:cNvSpPr txBox="1">
            <a:spLocks/>
          </p:cNvSpPr>
          <p:nvPr/>
        </p:nvSpPr>
        <p:spPr>
          <a:xfrm>
            <a:off x="3258312" y="2738005"/>
            <a:ext cx="2821686" cy="638369"/>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800" dirty="0">
                <a:latin typeface="Roboto" panose="02000000000000000000" pitchFamily="2" charset="0"/>
                <a:ea typeface="Roboto" panose="02000000000000000000" pitchFamily="2" charset="0"/>
                <a:cs typeface="Roboto" panose="02000000000000000000" pitchFamily="2" charset="0"/>
              </a:rPr>
              <a:t>Network Load Balancer </a:t>
            </a:r>
          </a:p>
        </p:txBody>
      </p:sp>
      <p:sp>
        <p:nvSpPr>
          <p:cNvPr id="12" name="Text Placeholder 5">
            <a:extLst>
              <a:ext uri="{FF2B5EF4-FFF2-40B4-BE49-F238E27FC236}">
                <a16:creationId xmlns:a16="http://schemas.microsoft.com/office/drawing/2014/main" id="{0048EF1E-EC49-E76E-49C4-EBFAE4231AAF}"/>
              </a:ext>
            </a:extLst>
          </p:cNvPr>
          <p:cNvSpPr txBox="1">
            <a:spLocks/>
          </p:cNvSpPr>
          <p:nvPr/>
        </p:nvSpPr>
        <p:spPr>
          <a:xfrm>
            <a:off x="3258312" y="3429000"/>
            <a:ext cx="2788920" cy="300574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a:t>Is used for TLS offloading, UDP, and static IP addresses</a:t>
            </a:r>
          </a:p>
          <a:p>
            <a:pPr>
              <a:buFont typeface="Arial" panose="020B0604020202020204" pitchFamily="34" charset="0"/>
              <a:buChar char="•"/>
            </a:pPr>
            <a:r>
              <a:rPr lang="en-US" sz="1800" dirty="0"/>
              <a:t>Operates at OSI layer 4, the transport layer</a:t>
            </a:r>
          </a:p>
          <a:p>
            <a:pPr>
              <a:buFont typeface="Arial" panose="020B0604020202020204" pitchFamily="34" charset="0"/>
              <a:buChar char="•"/>
            </a:pPr>
            <a:r>
              <a:rPr lang="en-US" sz="1800" dirty="0"/>
              <a:t>Is used for millions of requests per second at ultra-low latency</a:t>
            </a:r>
          </a:p>
        </p:txBody>
      </p:sp>
      <p:pic>
        <p:nvPicPr>
          <p:cNvPr id="13" name="Graphic 12">
            <a:extLst>
              <a:ext uri="{FF2B5EF4-FFF2-40B4-BE49-F238E27FC236}">
                <a16:creationId xmlns:a16="http://schemas.microsoft.com/office/drawing/2014/main" id="{51CE7CA9-A83E-921E-1F17-18B6D259958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28635" y="1251999"/>
            <a:ext cx="1433378" cy="1433378"/>
          </a:xfrm>
          <a:prstGeom prst="rect">
            <a:avLst/>
          </a:prstGeom>
        </p:spPr>
      </p:pic>
      <p:sp>
        <p:nvSpPr>
          <p:cNvPr id="14" name="Text Placeholder 18">
            <a:extLst>
              <a:ext uri="{FF2B5EF4-FFF2-40B4-BE49-F238E27FC236}">
                <a16:creationId xmlns:a16="http://schemas.microsoft.com/office/drawing/2014/main" id="{A0F1A523-4134-AF0C-D179-2FD451901B70}"/>
              </a:ext>
            </a:extLst>
          </p:cNvPr>
          <p:cNvSpPr txBox="1">
            <a:spLocks/>
          </p:cNvSpPr>
          <p:nvPr/>
        </p:nvSpPr>
        <p:spPr>
          <a:xfrm>
            <a:off x="6150864" y="2738005"/>
            <a:ext cx="2821686" cy="638369"/>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800" dirty="0">
                <a:latin typeface="Roboto" panose="02000000000000000000" pitchFamily="2" charset="0"/>
                <a:ea typeface="Roboto" panose="02000000000000000000" pitchFamily="2" charset="0"/>
                <a:cs typeface="Roboto" panose="02000000000000000000" pitchFamily="2" charset="0"/>
              </a:rPr>
              <a:t>Gateway Load Balancer </a:t>
            </a:r>
          </a:p>
        </p:txBody>
      </p:sp>
      <p:sp>
        <p:nvSpPr>
          <p:cNvPr id="15" name="Text Placeholder 6">
            <a:extLst>
              <a:ext uri="{FF2B5EF4-FFF2-40B4-BE49-F238E27FC236}">
                <a16:creationId xmlns:a16="http://schemas.microsoft.com/office/drawing/2014/main" id="{BDF31B96-5A64-933B-3D51-014A9AD49668}"/>
              </a:ext>
            </a:extLst>
          </p:cNvPr>
          <p:cNvSpPr txBox="1">
            <a:spLocks/>
          </p:cNvSpPr>
          <p:nvPr/>
        </p:nvSpPr>
        <p:spPr>
          <a:xfrm>
            <a:off x="6150864" y="3429000"/>
            <a:ext cx="2788920" cy="300574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a:t>Is used for third-party virtual appliance fleet using GENEVE protocol</a:t>
            </a:r>
          </a:p>
          <a:p>
            <a:pPr>
              <a:buFont typeface="Arial" panose="020B0604020202020204" pitchFamily="34" charset="0"/>
              <a:buChar char="•"/>
            </a:pPr>
            <a:r>
              <a:rPr lang="en-US" sz="1800"/>
              <a:t>Operates at OSI layer 3, the network layer</a:t>
            </a:r>
          </a:p>
          <a:p>
            <a:pPr>
              <a:buFont typeface="Arial" panose="020B0604020202020204" pitchFamily="34" charset="0"/>
              <a:buChar char="•"/>
            </a:pPr>
            <a:r>
              <a:rPr lang="en-US" sz="1800"/>
              <a:t>Is used to improve security, compliance, and policy controls</a:t>
            </a:r>
            <a:endParaRPr lang="en-US" sz="1800" dirty="0"/>
          </a:p>
        </p:txBody>
      </p:sp>
      <p:pic>
        <p:nvPicPr>
          <p:cNvPr id="16" name="Graphic 15">
            <a:extLst>
              <a:ext uri="{FF2B5EF4-FFF2-40B4-BE49-F238E27FC236}">
                <a16:creationId xmlns:a16="http://schemas.microsoft.com/office/drawing/2014/main" id="{7111656E-AC5D-CADB-F3E9-2922E44F9E5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7570" y="1251999"/>
            <a:ext cx="1433378" cy="1433378"/>
          </a:xfrm>
          <a:prstGeom prst="rect">
            <a:avLst/>
          </a:prstGeom>
        </p:spPr>
      </p:pic>
      <p:sp>
        <p:nvSpPr>
          <p:cNvPr id="17" name="Text Placeholder 19">
            <a:extLst>
              <a:ext uri="{FF2B5EF4-FFF2-40B4-BE49-F238E27FC236}">
                <a16:creationId xmlns:a16="http://schemas.microsoft.com/office/drawing/2014/main" id="{7B28A091-928A-DCF8-F601-63A011EAD0C0}"/>
              </a:ext>
            </a:extLst>
          </p:cNvPr>
          <p:cNvSpPr txBox="1">
            <a:spLocks/>
          </p:cNvSpPr>
          <p:nvPr/>
        </p:nvSpPr>
        <p:spPr>
          <a:xfrm>
            <a:off x="9043416" y="2738005"/>
            <a:ext cx="2821686" cy="638369"/>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800" dirty="0">
                <a:latin typeface="Roboto" panose="02000000000000000000" pitchFamily="2" charset="0"/>
                <a:ea typeface="Roboto" panose="02000000000000000000" pitchFamily="2" charset="0"/>
                <a:cs typeface="Roboto" panose="02000000000000000000" pitchFamily="2" charset="0"/>
              </a:rPr>
              <a:t>Classic Load</a:t>
            </a:r>
            <a:br>
              <a:rPr lang="en-US" sz="1800" dirty="0">
                <a:latin typeface="Roboto" panose="02000000000000000000" pitchFamily="2" charset="0"/>
                <a:ea typeface="Roboto" panose="02000000000000000000" pitchFamily="2" charset="0"/>
                <a:cs typeface="Roboto" panose="02000000000000000000" pitchFamily="2" charset="0"/>
              </a:rPr>
            </a:br>
            <a:r>
              <a:rPr lang="en-US" sz="1800" dirty="0">
                <a:latin typeface="Roboto" panose="02000000000000000000" pitchFamily="2" charset="0"/>
                <a:ea typeface="Roboto" panose="02000000000000000000" pitchFamily="2" charset="0"/>
                <a:cs typeface="Roboto" panose="02000000000000000000" pitchFamily="2" charset="0"/>
              </a:rPr>
              <a:t>Balancer</a:t>
            </a:r>
          </a:p>
        </p:txBody>
      </p:sp>
      <p:sp>
        <p:nvSpPr>
          <p:cNvPr id="18" name="Text Placeholder 7">
            <a:extLst>
              <a:ext uri="{FF2B5EF4-FFF2-40B4-BE49-F238E27FC236}">
                <a16:creationId xmlns:a16="http://schemas.microsoft.com/office/drawing/2014/main" id="{3C96F69F-51AF-7423-593F-7CD3ED0CEED4}"/>
              </a:ext>
            </a:extLst>
          </p:cNvPr>
          <p:cNvSpPr txBox="1">
            <a:spLocks/>
          </p:cNvSpPr>
          <p:nvPr/>
        </p:nvSpPr>
        <p:spPr>
          <a:xfrm>
            <a:off x="9043416" y="3429000"/>
            <a:ext cx="2788920" cy="3005742"/>
          </a:xfrm>
          <a:prstGeom prst="rect">
            <a:avLst/>
          </a:prstGeom>
          <a:no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a:t>Is used for previous generation EC2-Classic networks</a:t>
            </a:r>
          </a:p>
          <a:p>
            <a:pPr>
              <a:buFont typeface="Arial" panose="020B0604020202020204" pitchFamily="34" charset="0"/>
              <a:buChar char="•"/>
            </a:pPr>
            <a:r>
              <a:rPr lang="en-US" sz="1800"/>
              <a:t>Operates at OSI layers 3 and 7, the transport and application layers </a:t>
            </a:r>
          </a:p>
          <a:p>
            <a:pPr>
              <a:buFont typeface="Arial" panose="020B0604020202020204" pitchFamily="34" charset="0"/>
              <a:buChar char="•"/>
            </a:pPr>
            <a:r>
              <a:rPr lang="en-US" sz="1800"/>
              <a:t>Is used if upgrading to other load balancers is not feasible</a:t>
            </a:r>
          </a:p>
          <a:p>
            <a:pPr algn="ctr"/>
            <a:endParaRPr lang="en-US" sz="1800"/>
          </a:p>
          <a:p>
            <a:pPr algn="ctr"/>
            <a:endParaRPr lang="en-US" sz="1800" dirty="0"/>
          </a:p>
        </p:txBody>
      </p:sp>
    </p:spTree>
    <p:extLst>
      <p:ext uri="{BB962C8B-B14F-4D97-AF65-F5344CB8AC3E}">
        <p14:creationId xmlns:p14="http://schemas.microsoft.com/office/powerpoint/2010/main" val="3523482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733534"/>
          </a:xfrm>
          <a:prstGeom prst="rect">
            <a:avLst/>
          </a:prstGeom>
          <a:noFill/>
        </p:spPr>
        <p:txBody>
          <a:bodyPr wrap="square" lIns="0" tIns="0" rIns="0" bIns="0" anchor="t">
            <a:spAutoFit/>
          </a:bodyPr>
          <a:lstStyle/>
          <a:p>
            <a:r>
              <a:rPr lang="en-US" sz="2800" b="1" i="0" dirty="0">
                <a:solidFill>
                  <a:srgbClr val="2A2929"/>
                </a:solidFill>
                <a:latin typeface="Roboto"/>
              </a:rPr>
              <a:t>Amazon EC2 </a:t>
            </a:r>
            <a:r>
              <a:rPr sz="2800" b="1" i="0" dirty="0">
                <a:solidFill>
                  <a:srgbClr val="2A2929"/>
                </a:solidFill>
                <a:latin typeface="Roboto"/>
              </a:rPr>
              <a:t>Auto Scaling groups</a:t>
            </a:r>
          </a:p>
          <a:p>
            <a:pPr>
              <a:spcBef>
                <a:spcPts val="200"/>
              </a:spcBef>
            </a:pPr>
            <a:r>
              <a:rPr sz="1800" b="0" i="1" dirty="0">
                <a:solidFill>
                  <a:srgbClr val="D68E10"/>
                </a:solidFill>
                <a:latin typeface="Roboto Light"/>
              </a:rPr>
              <a:t>AWS · ACA M10 S20–S24</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575763"/>
            <a:ext cx="6592664" cy="3952236"/>
          </a:xfrm>
          <a:prstGeom prst="rect">
            <a:avLst/>
          </a:prstGeom>
          <a:noFill/>
        </p:spPr>
        <p:txBody>
          <a:bodyPr wrap="square" lIns="0" tIns="0" rIns="0" bIns="0" anchor="t">
            <a:spAutoFit/>
          </a:bodyPr>
          <a:lstStyle/>
          <a:p>
            <a:r>
              <a:rPr b="1" i="0" dirty="0">
                <a:solidFill>
                  <a:srgbClr val="EDAB0C"/>
                </a:solidFill>
                <a:latin typeface="Roboto"/>
              </a:rPr>
              <a:t>■  </a:t>
            </a:r>
            <a:r>
              <a:rPr lang="en-US" sz="2000" dirty="0"/>
              <a:t>Manages a logical collection of Amazon Elastic Compute Cloud (Amazon EC2) instances called an Amazon EC2 Auto Scaling group across Availability Zones</a:t>
            </a:r>
          </a:p>
          <a:p>
            <a:r>
              <a:rPr lang="en-AU" sz="2000" b="1" dirty="0">
                <a:solidFill>
                  <a:srgbClr val="EDAB0C"/>
                </a:solidFill>
                <a:latin typeface="Roboto"/>
              </a:rPr>
              <a:t>■ </a:t>
            </a:r>
            <a:r>
              <a:rPr lang="en-US" sz="2000" dirty="0"/>
              <a:t>Launches or retires EC2 instances configured by launch templates</a:t>
            </a:r>
          </a:p>
          <a:p>
            <a:r>
              <a:rPr lang="en-AU" sz="2000" b="1" dirty="0">
                <a:solidFill>
                  <a:srgbClr val="EDAB0C"/>
                </a:solidFill>
                <a:latin typeface="Roboto"/>
              </a:rPr>
              <a:t>■ </a:t>
            </a:r>
            <a:r>
              <a:rPr lang="en-US" sz="2000" dirty="0"/>
              <a:t>Resizes based on events from scaling policies, load balancer health check notifications, or schedule actions</a:t>
            </a:r>
          </a:p>
          <a:p>
            <a:r>
              <a:rPr lang="en-AU" sz="2000" b="1" dirty="0">
                <a:solidFill>
                  <a:srgbClr val="EDAB0C"/>
                </a:solidFill>
                <a:latin typeface="Roboto"/>
              </a:rPr>
              <a:t>■ </a:t>
            </a:r>
            <a:r>
              <a:rPr lang="en-US" sz="2000" dirty="0"/>
              <a:t>Integrates with Elastic Load Balancing (ELB) to send new instances registrations and receive health notifications</a:t>
            </a:r>
          </a:p>
          <a:p>
            <a:r>
              <a:rPr lang="en-AU" sz="2000" b="1" dirty="0">
                <a:solidFill>
                  <a:srgbClr val="EDAB0C"/>
                </a:solidFill>
                <a:latin typeface="Roboto"/>
              </a:rPr>
              <a:t>■ </a:t>
            </a:r>
            <a:r>
              <a:rPr lang="en-US" sz="2000" dirty="0"/>
              <a:t>Balances the number of instances across Availability Zones</a:t>
            </a:r>
          </a:p>
          <a:p>
            <a:r>
              <a:rPr lang="en-AU" sz="2000" b="1" dirty="0">
                <a:solidFill>
                  <a:srgbClr val="EDAB0C"/>
                </a:solidFill>
                <a:latin typeface="Roboto"/>
              </a:rPr>
              <a:t>■ </a:t>
            </a:r>
            <a:r>
              <a:rPr lang="en-US" sz="2000" dirty="0"/>
              <a:t>Is available free of charge</a:t>
            </a:r>
          </a:p>
          <a:p>
            <a:pPr marL="0" indent="0">
              <a:lnSpc>
                <a:spcPct val="105000"/>
              </a:lnSpc>
              <a:spcBef>
                <a:spcPts val="0"/>
              </a:spcBef>
              <a:spcAft>
                <a:spcPts val="1000"/>
              </a:spcAft>
            </a:pPr>
            <a:r>
              <a:rPr b="1" i="0" dirty="0">
                <a:solidFill>
                  <a:srgbClr val="27B5CE"/>
                </a:solidFill>
                <a:latin typeface="Roboto"/>
              </a:rPr>
              <a:t>■  It integrates with the ALB's health checks across Availability Zones.</a:t>
            </a:r>
          </a:p>
        </p:txBody>
      </p:sp>
      <p:sp>
        <p:nvSpPr>
          <p:cNvPr id="7" name="Rectangle 6"/>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pic>
        <p:nvPicPr>
          <p:cNvPr id="10" name="Graphic 27">
            <a:extLst>
              <a:ext uri="{FF2B5EF4-FFF2-40B4-BE49-F238E27FC236}">
                <a16:creationId xmlns:a16="http://schemas.microsoft.com/office/drawing/2014/main" id="{73358994-D852-9F1C-EE73-1503AE6D68E2}"/>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229600" y="1857624"/>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E245828B-3B2E-AF9C-3BBF-51C2CDB49882}"/>
              </a:ext>
            </a:extLst>
          </p:cNvPr>
          <p:cNvSpPr txBox="1"/>
          <p:nvPr/>
        </p:nvSpPr>
        <p:spPr>
          <a:xfrm>
            <a:off x="8229600" y="4234111"/>
            <a:ext cx="2286000" cy="707886"/>
          </a:xfrm>
          <a:prstGeom prst="rect">
            <a:avLst/>
          </a:prstGeom>
          <a:noFill/>
        </p:spPr>
        <p:txBody>
          <a:bodyPr wrap="square" rtlCol="0">
            <a:spAutoFit/>
          </a:bodyPr>
          <a:lstStyle/>
          <a:p>
            <a:pPr algn="ctr"/>
            <a:r>
              <a:rPr lang="en-US" sz="2000" dirty="0"/>
              <a:t>Amazon EC2 Auto Scaling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4475-2E6D-D4ED-22BB-3DA4A4AC29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077B75-7C59-4EF4-1951-E8A9EFEE095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EC2 Auto Scaling group components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D922BA25-2C6D-8507-8166-D7BA6A91BB5B}"/>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445F850-55EE-CA1F-A761-837AF222B985}"/>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4F065A2-C224-3C73-F99D-2A553EA1F2E8}"/>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399AF1A4-EB98-2432-BBCB-B8D7DA283F3E}"/>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grpSp>
        <p:nvGrpSpPr>
          <p:cNvPr id="4" name="Flatten EC2AutoScaling" descr="Amazon EC2 Auto Scaling components. See notes for details.">
            <a:extLst>
              <a:ext uri="{FF2B5EF4-FFF2-40B4-BE49-F238E27FC236}">
                <a16:creationId xmlns:a16="http://schemas.microsoft.com/office/drawing/2014/main" id="{77BC9033-9011-EBC6-0DE5-035767DD152C}"/>
              </a:ext>
            </a:extLst>
          </p:cNvPr>
          <p:cNvGrpSpPr/>
          <p:nvPr/>
        </p:nvGrpSpPr>
        <p:grpSpPr>
          <a:xfrm>
            <a:off x="877431" y="2128089"/>
            <a:ext cx="10437137" cy="3023043"/>
            <a:chOff x="877431" y="2185239"/>
            <a:chExt cx="10437137" cy="3023043"/>
          </a:xfrm>
        </p:grpSpPr>
        <p:sp>
          <p:nvSpPr>
            <p:cNvPr id="8" name="Rectangle 7">
              <a:extLst>
                <a:ext uri="{FF2B5EF4-FFF2-40B4-BE49-F238E27FC236}">
                  <a16:creationId xmlns:a16="http://schemas.microsoft.com/office/drawing/2014/main" id="{4CA93082-6881-F936-AFF2-98CB8BA35229}"/>
                </a:ext>
                <a:ext uri="{C183D7F6-B498-43B3-948B-1728B52AA6E4}">
                  <adec:decorative xmlns:adec="http://schemas.microsoft.com/office/drawing/2017/decorative" val="1"/>
                </a:ext>
              </a:extLst>
            </p:cNvPr>
            <p:cNvSpPr/>
            <p:nvPr/>
          </p:nvSpPr>
          <p:spPr>
            <a:xfrm>
              <a:off x="877431" y="2185239"/>
              <a:ext cx="10437137" cy="3023043"/>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tIns="0" bIns="0" anchor="t" anchorCtr="0">
              <a:normAutofit/>
            </a:bodyPr>
            <a:lstStyle/>
            <a:p>
              <a:pPr algn="ctr" eaLnBrk="1" fontAlgn="auto" hangingPunct="1">
                <a:spcBef>
                  <a:spcPts val="0"/>
                </a:spcBef>
                <a:spcAft>
                  <a:spcPts val="0"/>
                </a:spcAft>
                <a:defRPr/>
              </a:pPr>
              <a:r>
                <a:rPr lang="en-US" sz="20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Amazon EC2 Auto Scaling group</a:t>
              </a:r>
            </a:p>
          </p:txBody>
        </p:sp>
        <p:pic>
          <p:nvPicPr>
            <p:cNvPr id="9" name="Graphic 8">
              <a:extLst>
                <a:ext uri="{FF2B5EF4-FFF2-40B4-BE49-F238E27FC236}">
                  <a16:creationId xmlns:a16="http://schemas.microsoft.com/office/drawing/2014/main" id="{BB0FC306-A80F-869E-438C-34FAF60AED4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7431" y="2185240"/>
              <a:ext cx="381000" cy="381000"/>
            </a:xfrm>
            <a:prstGeom prst="rect">
              <a:avLst/>
            </a:prstGeom>
          </p:spPr>
        </p:pic>
        <p:sp>
          <p:nvSpPr>
            <p:cNvPr id="10" name="Rectangle 9">
              <a:extLst>
                <a:ext uri="{FF2B5EF4-FFF2-40B4-BE49-F238E27FC236}">
                  <a16:creationId xmlns:a16="http://schemas.microsoft.com/office/drawing/2014/main" id="{85752404-4D24-266E-1BEC-58BA4A7EF2E3}"/>
                </a:ext>
                <a:ext uri="{C183D7F6-B498-43B3-948B-1728B52AA6E4}">
                  <adec:decorative xmlns:adec="http://schemas.microsoft.com/office/drawing/2017/decorative" val="1"/>
                </a:ext>
              </a:extLst>
            </p:cNvPr>
            <p:cNvSpPr/>
            <p:nvPr/>
          </p:nvSpPr>
          <p:spPr>
            <a:xfrm>
              <a:off x="1194310" y="2780947"/>
              <a:ext cx="2286000" cy="2194560"/>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a:lstStyle/>
            <a:p>
              <a:pPr eaLnBrk="1" fontAlgn="auto" hangingPunct="1">
                <a:spcBef>
                  <a:spcPts val="0"/>
                </a:spcBef>
                <a:spcAft>
                  <a:spcPts val="0"/>
                </a:spcAft>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Capacity</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Minimum instances</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Maximum instances</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Desired instances </a:t>
              </a:r>
            </a:p>
          </p:txBody>
        </p:sp>
        <p:sp>
          <p:nvSpPr>
            <p:cNvPr id="11" name="Rectangle 10">
              <a:extLst>
                <a:ext uri="{FF2B5EF4-FFF2-40B4-BE49-F238E27FC236}">
                  <a16:creationId xmlns:a16="http://schemas.microsoft.com/office/drawing/2014/main" id="{BC90D7AC-E1C8-8CB8-F8AA-4AF9D2FA00E5}"/>
                </a:ext>
                <a:ext uri="{C183D7F6-B498-43B3-948B-1728B52AA6E4}">
                  <adec:decorative xmlns:adec="http://schemas.microsoft.com/office/drawing/2017/decorative" val="1"/>
                </a:ext>
              </a:extLst>
            </p:cNvPr>
            <p:cNvSpPr/>
            <p:nvPr/>
          </p:nvSpPr>
          <p:spPr>
            <a:xfrm>
              <a:off x="3633489" y="2780946"/>
              <a:ext cx="2286000" cy="2194560"/>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a:lstStyle/>
            <a:p>
              <a:pPr eaLnBrk="1" fontAlgn="auto" hangingPunct="1">
                <a:spcBef>
                  <a:spcPts val="0"/>
                </a:spcBef>
                <a:spcAft>
                  <a:spcPts val="0"/>
                </a:spcAft>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Launch template</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EC2 instance configuration</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Amazon Machine Image (AMI) ID</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Version</a:t>
              </a:r>
            </a:p>
          </p:txBody>
        </p:sp>
        <p:sp>
          <p:nvSpPr>
            <p:cNvPr id="12" name="Rectangle 11">
              <a:extLst>
                <a:ext uri="{FF2B5EF4-FFF2-40B4-BE49-F238E27FC236}">
                  <a16:creationId xmlns:a16="http://schemas.microsoft.com/office/drawing/2014/main" id="{F5F0579E-CD0F-63D0-047E-7E69257B12BC}"/>
                </a:ext>
                <a:ext uri="{C183D7F6-B498-43B3-948B-1728B52AA6E4}">
                  <adec:decorative xmlns:adec="http://schemas.microsoft.com/office/drawing/2017/decorative" val="1"/>
                </a:ext>
              </a:extLst>
            </p:cNvPr>
            <p:cNvSpPr/>
            <p:nvPr/>
          </p:nvSpPr>
          <p:spPr>
            <a:xfrm>
              <a:off x="6182829" y="2775582"/>
              <a:ext cx="2286000" cy="2194560"/>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a:lstStyle/>
            <a:p>
              <a:pPr eaLnBrk="1" fontAlgn="auto" hangingPunct="1">
                <a:spcBef>
                  <a:spcPts val="0"/>
                </a:spcBef>
                <a:spcAft>
                  <a:spcPts val="0"/>
                </a:spcAft>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Load balancer</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Receives load balancer health checks</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Registers new instances with load balancer</a:t>
              </a:r>
            </a:p>
          </p:txBody>
        </p:sp>
        <p:sp>
          <p:nvSpPr>
            <p:cNvPr id="13" name="Rectangle 12">
              <a:extLst>
                <a:ext uri="{FF2B5EF4-FFF2-40B4-BE49-F238E27FC236}">
                  <a16:creationId xmlns:a16="http://schemas.microsoft.com/office/drawing/2014/main" id="{FA52AF14-46D6-A9DA-E405-E4DD7E259ECC}"/>
                </a:ext>
                <a:ext uri="{C183D7F6-B498-43B3-948B-1728B52AA6E4}">
                  <adec:decorative xmlns:adec="http://schemas.microsoft.com/office/drawing/2017/decorative" val="1"/>
                </a:ext>
              </a:extLst>
            </p:cNvPr>
            <p:cNvSpPr/>
            <p:nvPr/>
          </p:nvSpPr>
          <p:spPr>
            <a:xfrm>
              <a:off x="8767996" y="2793848"/>
              <a:ext cx="2286000" cy="2194560"/>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a:lstStyle/>
            <a:p>
              <a:pPr eaLnBrk="1" fontAlgn="auto" hangingPunct="1">
                <a:spcBef>
                  <a:spcPts val="0"/>
                </a:spcBef>
                <a:spcAft>
                  <a:spcPts val="0"/>
                </a:spcAft>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Scaling mechanisms</a:t>
              </a:r>
            </a:p>
            <a:p>
              <a:pPr marL="285750" indent="-285750" eaLnBrk="1" fontAlgn="auto" hangingPunct="1">
                <a:spcBef>
                  <a:spcPts val="0"/>
                </a:spcBef>
                <a:spcAft>
                  <a:spcPts val="0"/>
                </a:spcAft>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Schedule action </a:t>
              </a:r>
            </a:p>
            <a:p>
              <a:pPr marL="285750" indent="-285750">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Dynamic scaling policies</a:t>
              </a:r>
            </a:p>
            <a:p>
              <a:pPr marL="285750" indent="-285750">
                <a:buFont typeface="Arial" panose="020B0604020202020204" pitchFamily="34" charset="0"/>
                <a:buChar char="•"/>
                <a:defRPr/>
              </a:pPr>
              <a:r>
                <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Predictive scaling policy</a:t>
              </a:r>
            </a:p>
            <a:p>
              <a:pPr>
                <a:defRPr/>
              </a:pPr>
              <a:endPar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eaLnBrk="1" fontAlgn="auto" hangingPunct="1">
                <a:spcBef>
                  <a:spcPts val="0"/>
                </a:spcBef>
                <a:spcAft>
                  <a:spcPts val="0"/>
                </a:spcAft>
                <a:defRPr/>
              </a:pPr>
              <a:endParaRPr lang="en-US" dirty="0">
                <a:ln w="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spTree>
    <p:extLst>
      <p:ext uri="{BB962C8B-B14F-4D97-AF65-F5344CB8AC3E}">
        <p14:creationId xmlns:p14="http://schemas.microsoft.com/office/powerpoint/2010/main" val="1476044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1BA2F-21B4-8742-260B-3B2801D905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E2A93D-17E9-229B-E7D2-5A19F891169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Horizontal scaling with Amazon EC2 Auto Scaling groups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AEA0CF9-D761-5762-18A0-4EF0D7FD7EA5}"/>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2CD554AC-AD28-593D-DD0B-C0195C65AE35}"/>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7D2952E-AF61-6C01-7C76-9A2327AA5BDA}"/>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448D2E50-5DE8-ECBB-02F9-80EE62A7AC5C}"/>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sp>
        <p:nvSpPr>
          <p:cNvPr id="42" name="Text Placeholder 3">
            <a:extLst>
              <a:ext uri="{FF2B5EF4-FFF2-40B4-BE49-F238E27FC236}">
                <a16:creationId xmlns:a16="http://schemas.microsoft.com/office/drawing/2014/main" id="{A7616B5D-B2FF-47A2-CC00-182BA463A6B0}"/>
              </a:ext>
            </a:extLst>
          </p:cNvPr>
          <p:cNvSpPr txBox="1">
            <a:spLocks/>
          </p:cNvSpPr>
          <p:nvPr/>
        </p:nvSpPr>
        <p:spPr>
          <a:xfrm>
            <a:off x="978398" y="1218181"/>
            <a:ext cx="11314554" cy="474604"/>
          </a:xfrm>
          <a:prstGeom prst="rect">
            <a:avLst/>
          </a:prstGeom>
        </p:spPr>
        <p:txBody>
          <a:bodyPr>
            <a:normAutofit/>
          </a:bodyPr>
          <a:lst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buNone/>
            </a:pPr>
            <a:r>
              <a:rPr lang="en-US" sz="2400" dirty="0"/>
              <a:t>Group desired capacity = 2, maximum capacity = 3, minimum capacity = 1</a:t>
            </a:r>
          </a:p>
        </p:txBody>
      </p:sp>
      <p:grpSp>
        <p:nvGrpSpPr>
          <p:cNvPr id="43" name="Flatten Horizontal Scaling" descr="Scaling an Amazon EC2 Auto Scaling group in and out by using horizontal scaling. See student notes for details.">
            <a:extLst>
              <a:ext uri="{FF2B5EF4-FFF2-40B4-BE49-F238E27FC236}">
                <a16:creationId xmlns:a16="http://schemas.microsoft.com/office/drawing/2014/main" id="{C9D47920-A7BA-785E-9F5F-37082CD255DF}"/>
              </a:ext>
            </a:extLst>
          </p:cNvPr>
          <p:cNvGrpSpPr/>
          <p:nvPr/>
        </p:nvGrpSpPr>
        <p:grpSpPr>
          <a:xfrm>
            <a:off x="963581" y="1886181"/>
            <a:ext cx="10064634" cy="3237682"/>
            <a:chOff x="813316" y="1387281"/>
            <a:chExt cx="10214900" cy="3736582"/>
          </a:xfrm>
        </p:grpSpPr>
        <p:pic>
          <p:nvPicPr>
            <p:cNvPr id="44" name="Graphic 6">
              <a:extLst>
                <a:ext uri="{FF2B5EF4-FFF2-40B4-BE49-F238E27FC236}">
                  <a16:creationId xmlns:a16="http://schemas.microsoft.com/office/drawing/2014/main" id="{1B7FD5A4-4FDA-27E9-37C2-BFD4CFD83EDD}"/>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1750310" y="1387281"/>
              <a:ext cx="624942" cy="624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12">
              <a:extLst>
                <a:ext uri="{FF2B5EF4-FFF2-40B4-BE49-F238E27FC236}">
                  <a16:creationId xmlns:a16="http://schemas.microsoft.com/office/drawing/2014/main" id="{E5C9DD4E-0A8C-E809-F436-1ABDF83C35CA}"/>
                </a:ext>
              </a:extLst>
            </p:cNvPr>
            <p:cNvSpPr txBox="1">
              <a:spLocks noChangeArrowheads="1"/>
            </p:cNvSpPr>
            <p:nvPr/>
          </p:nvSpPr>
          <p:spPr bwMode="auto">
            <a:xfrm>
              <a:off x="914215" y="1996062"/>
              <a:ext cx="2279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ELB</a:t>
              </a:r>
            </a:p>
          </p:txBody>
        </p:sp>
        <p:cxnSp>
          <p:nvCxnSpPr>
            <p:cNvPr id="46" name="Straight Arrow Connector 51">
              <a:extLst>
                <a:ext uri="{FF2B5EF4-FFF2-40B4-BE49-F238E27FC236}">
                  <a16:creationId xmlns:a16="http://schemas.microsoft.com/office/drawing/2014/main" id="{29BE925E-6244-9E7C-3338-C2A39417C482}"/>
                </a:ext>
              </a:extLst>
            </p:cNvPr>
            <p:cNvCxnSpPr>
              <a:cxnSpLocks/>
              <a:stCxn id="45" idx="2"/>
              <a:endCxn id="49" idx="0"/>
            </p:cNvCxnSpPr>
            <p:nvPr/>
          </p:nvCxnSpPr>
          <p:spPr>
            <a:xfrm rot="5400000">
              <a:off x="1006277" y="2706971"/>
              <a:ext cx="1420119" cy="675409"/>
            </a:xfrm>
            <a:prstGeom prst="bentConnector3">
              <a:avLst>
                <a:gd name="adj1" fmla="val 50000"/>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256C0546-6BE2-FD00-C0CC-DA3719AF7A99}"/>
                </a:ext>
              </a:extLst>
            </p:cNvPr>
            <p:cNvSpPr/>
            <p:nvPr/>
          </p:nvSpPr>
          <p:spPr>
            <a:xfrm>
              <a:off x="813316" y="2536476"/>
              <a:ext cx="2490422" cy="2576501"/>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nchor="b" anchorCtr="0"/>
            <a:lstStyle/>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Auto Scaling group</a:t>
              </a:r>
            </a:p>
          </p:txBody>
        </p:sp>
        <p:pic>
          <p:nvPicPr>
            <p:cNvPr id="48" name="Graphic 47">
              <a:extLst>
                <a:ext uri="{FF2B5EF4-FFF2-40B4-BE49-F238E27FC236}">
                  <a16:creationId xmlns:a16="http://schemas.microsoft.com/office/drawing/2014/main" id="{BB0227CC-E828-4EF0-9138-83D5B81BAD9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28354" y="2549013"/>
              <a:ext cx="381000" cy="381000"/>
            </a:xfrm>
            <a:prstGeom prst="rect">
              <a:avLst/>
            </a:prstGeom>
          </p:spPr>
        </p:pic>
        <p:pic>
          <p:nvPicPr>
            <p:cNvPr id="49" name="Graphic 48">
              <a:extLst>
                <a:ext uri="{FF2B5EF4-FFF2-40B4-BE49-F238E27FC236}">
                  <a16:creationId xmlns:a16="http://schemas.microsoft.com/office/drawing/2014/main" id="{3253CBB9-E7FA-3E1D-4A11-FC7BC22875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190" y="3754735"/>
              <a:ext cx="618882" cy="618882"/>
            </a:xfrm>
            <a:prstGeom prst="rect">
              <a:avLst/>
            </a:prstGeom>
          </p:spPr>
        </p:pic>
        <p:sp>
          <p:nvSpPr>
            <p:cNvPr id="50" name="TextBox 16">
              <a:extLst>
                <a:ext uri="{FF2B5EF4-FFF2-40B4-BE49-F238E27FC236}">
                  <a16:creationId xmlns:a16="http://schemas.microsoft.com/office/drawing/2014/main" id="{6838E2EB-6300-BD29-804C-5339EEF4CEC5}"/>
                </a:ext>
              </a:extLst>
            </p:cNvPr>
            <p:cNvSpPr txBox="1">
              <a:spLocks noChangeArrowheads="1"/>
            </p:cNvSpPr>
            <p:nvPr/>
          </p:nvSpPr>
          <p:spPr bwMode="auto">
            <a:xfrm>
              <a:off x="813317" y="4341078"/>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1</a:t>
              </a:r>
            </a:p>
          </p:txBody>
        </p:sp>
        <p:cxnSp>
          <p:nvCxnSpPr>
            <p:cNvPr id="51" name="Straight Arrow Connector 51">
              <a:extLst>
                <a:ext uri="{FF2B5EF4-FFF2-40B4-BE49-F238E27FC236}">
                  <a16:creationId xmlns:a16="http://schemas.microsoft.com/office/drawing/2014/main" id="{0894DD70-9137-3218-26E6-2817EDFB00DD}"/>
                </a:ext>
              </a:extLst>
            </p:cNvPr>
            <p:cNvCxnSpPr>
              <a:cxnSpLocks/>
              <a:stCxn id="45" idx="2"/>
              <a:endCxn id="52" idx="0"/>
            </p:cNvCxnSpPr>
            <p:nvPr/>
          </p:nvCxnSpPr>
          <p:spPr>
            <a:xfrm rot="16200000" flipH="1">
              <a:off x="1665193" y="2723462"/>
              <a:ext cx="1420119" cy="642425"/>
            </a:xfrm>
            <a:prstGeom prst="bentConnector3">
              <a:avLst>
                <a:gd name="adj1" fmla="val 50000"/>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52" name="Graphic 51">
              <a:extLst>
                <a:ext uri="{FF2B5EF4-FFF2-40B4-BE49-F238E27FC236}">
                  <a16:creationId xmlns:a16="http://schemas.microsoft.com/office/drawing/2014/main" id="{0B96B067-4AF3-298D-7839-33BF9DEFFA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87024" y="3754735"/>
              <a:ext cx="618882" cy="618882"/>
            </a:xfrm>
            <a:prstGeom prst="rect">
              <a:avLst/>
            </a:prstGeom>
          </p:spPr>
        </p:pic>
        <p:sp>
          <p:nvSpPr>
            <p:cNvPr id="53" name="TextBox 16">
              <a:extLst>
                <a:ext uri="{FF2B5EF4-FFF2-40B4-BE49-F238E27FC236}">
                  <a16:creationId xmlns:a16="http://schemas.microsoft.com/office/drawing/2014/main" id="{1191037E-2097-8EBF-0F09-A48EFD6CE7FD}"/>
                </a:ext>
              </a:extLst>
            </p:cNvPr>
            <p:cNvSpPr txBox="1">
              <a:spLocks noChangeArrowheads="1"/>
            </p:cNvSpPr>
            <p:nvPr/>
          </p:nvSpPr>
          <p:spPr bwMode="auto">
            <a:xfrm>
              <a:off x="2131151" y="4341078"/>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2</a:t>
              </a:r>
            </a:p>
          </p:txBody>
        </p:sp>
        <p:pic>
          <p:nvPicPr>
            <p:cNvPr id="54" name="Graphic 6">
              <a:extLst>
                <a:ext uri="{FF2B5EF4-FFF2-40B4-BE49-F238E27FC236}">
                  <a16:creationId xmlns:a16="http://schemas.microsoft.com/office/drawing/2014/main" id="{DD2906A7-E21C-8F38-A071-AC4DA98DC4DE}"/>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5395752" y="1387281"/>
              <a:ext cx="624942" cy="624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12">
              <a:extLst>
                <a:ext uri="{FF2B5EF4-FFF2-40B4-BE49-F238E27FC236}">
                  <a16:creationId xmlns:a16="http://schemas.microsoft.com/office/drawing/2014/main" id="{14484446-1313-6627-BCF1-105210D89441}"/>
                </a:ext>
              </a:extLst>
            </p:cNvPr>
            <p:cNvSpPr txBox="1">
              <a:spLocks noChangeArrowheads="1"/>
            </p:cNvSpPr>
            <p:nvPr/>
          </p:nvSpPr>
          <p:spPr bwMode="auto">
            <a:xfrm>
              <a:off x="4568565" y="1994474"/>
              <a:ext cx="2279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ELB</a:t>
              </a:r>
            </a:p>
          </p:txBody>
        </p:sp>
        <p:cxnSp>
          <p:nvCxnSpPr>
            <p:cNvPr id="56" name="Straight Arrow Connector 51">
              <a:extLst>
                <a:ext uri="{FF2B5EF4-FFF2-40B4-BE49-F238E27FC236}">
                  <a16:creationId xmlns:a16="http://schemas.microsoft.com/office/drawing/2014/main" id="{F2E564CD-A5CB-E311-18F0-648E253132AF}"/>
                </a:ext>
              </a:extLst>
            </p:cNvPr>
            <p:cNvCxnSpPr>
              <a:cxnSpLocks/>
              <a:stCxn id="55" idx="2"/>
              <a:endCxn id="59" idx="0"/>
            </p:cNvCxnSpPr>
            <p:nvPr/>
          </p:nvCxnSpPr>
          <p:spPr>
            <a:xfrm rot="5400000">
              <a:off x="4429273" y="2457759"/>
              <a:ext cx="1403849" cy="1154386"/>
            </a:xfrm>
            <a:prstGeom prst="bentConnector3">
              <a:avLst>
                <a:gd name="adj1" fmla="val 50000"/>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7E1C972-FF40-ECE9-BD63-099D890A2FF9}"/>
                </a:ext>
              </a:extLst>
            </p:cNvPr>
            <p:cNvSpPr/>
            <p:nvPr/>
          </p:nvSpPr>
          <p:spPr>
            <a:xfrm>
              <a:off x="4002691" y="2534888"/>
              <a:ext cx="3429000" cy="2576501"/>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nchor="b" anchorCtr="0"/>
            <a:lstStyle/>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Auto Scaling group</a:t>
              </a:r>
            </a:p>
          </p:txBody>
        </p:sp>
        <p:pic>
          <p:nvPicPr>
            <p:cNvPr id="58" name="Graphic 57">
              <a:extLst>
                <a:ext uri="{FF2B5EF4-FFF2-40B4-BE49-F238E27FC236}">
                  <a16:creationId xmlns:a16="http://schemas.microsoft.com/office/drawing/2014/main" id="{F5342090-F4B9-165F-9B8F-A47CB4E31C6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984756" y="2547362"/>
              <a:ext cx="381000" cy="381000"/>
            </a:xfrm>
            <a:prstGeom prst="rect">
              <a:avLst/>
            </a:prstGeom>
          </p:spPr>
        </p:pic>
        <p:pic>
          <p:nvPicPr>
            <p:cNvPr id="59" name="Graphic 58">
              <a:extLst>
                <a:ext uri="{FF2B5EF4-FFF2-40B4-BE49-F238E27FC236}">
                  <a16:creationId xmlns:a16="http://schemas.microsoft.com/office/drawing/2014/main" id="{B9734FCB-D2F5-2006-6AFE-2D6E1EB5D4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44563" y="3736877"/>
              <a:ext cx="618882" cy="618882"/>
            </a:xfrm>
            <a:prstGeom prst="rect">
              <a:avLst/>
            </a:prstGeom>
          </p:spPr>
        </p:pic>
        <p:sp>
          <p:nvSpPr>
            <p:cNvPr id="60" name="TextBox 16">
              <a:extLst>
                <a:ext uri="{FF2B5EF4-FFF2-40B4-BE49-F238E27FC236}">
                  <a16:creationId xmlns:a16="http://schemas.microsoft.com/office/drawing/2014/main" id="{77A298DD-AD05-4A69-0778-ACD377EB8757}"/>
                </a:ext>
              </a:extLst>
            </p:cNvPr>
            <p:cNvSpPr txBox="1">
              <a:spLocks noChangeArrowheads="1"/>
            </p:cNvSpPr>
            <p:nvPr/>
          </p:nvSpPr>
          <p:spPr bwMode="auto">
            <a:xfrm>
              <a:off x="3988690" y="4339490"/>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1</a:t>
              </a:r>
            </a:p>
          </p:txBody>
        </p:sp>
        <p:cxnSp>
          <p:nvCxnSpPr>
            <p:cNvPr id="61" name="Straight Arrow Connector 51">
              <a:extLst>
                <a:ext uri="{FF2B5EF4-FFF2-40B4-BE49-F238E27FC236}">
                  <a16:creationId xmlns:a16="http://schemas.microsoft.com/office/drawing/2014/main" id="{4BFCEF71-3FCB-C817-1FC3-895138FEA88D}"/>
                </a:ext>
              </a:extLst>
            </p:cNvPr>
            <p:cNvCxnSpPr>
              <a:cxnSpLocks/>
              <a:stCxn id="55" idx="2"/>
              <a:endCxn id="62" idx="0"/>
            </p:cNvCxnSpPr>
            <p:nvPr/>
          </p:nvCxnSpPr>
          <p:spPr>
            <a:xfrm rot="5400000">
              <a:off x="5006383" y="3034869"/>
              <a:ext cx="1403849" cy="167"/>
            </a:xfrm>
            <a:prstGeom prst="bentConnector3">
              <a:avLst>
                <a:gd name="adj1" fmla="val 50000"/>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62" name="Graphic 61">
              <a:extLst>
                <a:ext uri="{FF2B5EF4-FFF2-40B4-BE49-F238E27FC236}">
                  <a16:creationId xmlns:a16="http://schemas.microsoft.com/office/drawing/2014/main" id="{670F11C5-524C-8CC8-D64C-55C1957C08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82" y="3736877"/>
              <a:ext cx="618882" cy="618882"/>
            </a:xfrm>
            <a:prstGeom prst="rect">
              <a:avLst/>
            </a:prstGeom>
          </p:spPr>
        </p:pic>
        <p:sp>
          <p:nvSpPr>
            <p:cNvPr id="63" name="TextBox 16">
              <a:extLst>
                <a:ext uri="{FF2B5EF4-FFF2-40B4-BE49-F238E27FC236}">
                  <a16:creationId xmlns:a16="http://schemas.microsoft.com/office/drawing/2014/main" id="{99B3D5AF-5A0E-89D6-730E-667DA7934BAD}"/>
                </a:ext>
              </a:extLst>
            </p:cNvPr>
            <p:cNvSpPr txBox="1">
              <a:spLocks noChangeArrowheads="1"/>
            </p:cNvSpPr>
            <p:nvPr/>
          </p:nvSpPr>
          <p:spPr bwMode="auto">
            <a:xfrm>
              <a:off x="5157128" y="4339490"/>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3</a:t>
              </a:r>
            </a:p>
          </p:txBody>
        </p:sp>
        <p:cxnSp>
          <p:nvCxnSpPr>
            <p:cNvPr id="64" name="Straight Arrow Connector 51">
              <a:extLst>
                <a:ext uri="{FF2B5EF4-FFF2-40B4-BE49-F238E27FC236}">
                  <a16:creationId xmlns:a16="http://schemas.microsoft.com/office/drawing/2014/main" id="{DB88B78D-C1E3-53FA-C109-5819ECA6AE77}"/>
                </a:ext>
              </a:extLst>
            </p:cNvPr>
            <p:cNvCxnSpPr>
              <a:cxnSpLocks/>
              <a:stCxn id="55" idx="2"/>
              <a:endCxn id="65" idx="0"/>
            </p:cNvCxnSpPr>
            <p:nvPr/>
          </p:nvCxnSpPr>
          <p:spPr>
            <a:xfrm rot="16200000" flipH="1">
              <a:off x="5583492" y="2457926"/>
              <a:ext cx="1403849" cy="1154052"/>
            </a:xfrm>
            <a:prstGeom prst="bentConnector3">
              <a:avLst>
                <a:gd name="adj1" fmla="val 50000"/>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65" name="Graphic 64">
              <a:extLst>
                <a:ext uri="{FF2B5EF4-FFF2-40B4-BE49-F238E27FC236}">
                  <a16:creationId xmlns:a16="http://schemas.microsoft.com/office/drawing/2014/main" id="{DCBA7707-C9BE-8B25-723D-7A8BB658D8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001" y="3736877"/>
              <a:ext cx="618882" cy="618882"/>
            </a:xfrm>
            <a:prstGeom prst="rect">
              <a:avLst/>
            </a:prstGeom>
          </p:spPr>
        </p:pic>
        <p:sp>
          <p:nvSpPr>
            <p:cNvPr id="66" name="TextBox 16">
              <a:extLst>
                <a:ext uri="{FF2B5EF4-FFF2-40B4-BE49-F238E27FC236}">
                  <a16:creationId xmlns:a16="http://schemas.microsoft.com/office/drawing/2014/main" id="{74EFB726-4FB3-8E21-6473-1E3B813BF51C}"/>
                </a:ext>
              </a:extLst>
            </p:cNvPr>
            <p:cNvSpPr txBox="1">
              <a:spLocks noChangeArrowheads="1"/>
            </p:cNvSpPr>
            <p:nvPr/>
          </p:nvSpPr>
          <p:spPr bwMode="auto">
            <a:xfrm>
              <a:off x="6297128" y="4339490"/>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2</a:t>
              </a:r>
            </a:p>
          </p:txBody>
        </p:sp>
        <p:pic>
          <p:nvPicPr>
            <p:cNvPr id="67" name="Graphic 6">
              <a:extLst>
                <a:ext uri="{FF2B5EF4-FFF2-40B4-BE49-F238E27FC236}">
                  <a16:creationId xmlns:a16="http://schemas.microsoft.com/office/drawing/2014/main" id="{15422972-256C-8E4E-AD02-AB262FCE6ED9}"/>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9474788" y="1398167"/>
              <a:ext cx="624942" cy="624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Box 12">
              <a:extLst>
                <a:ext uri="{FF2B5EF4-FFF2-40B4-BE49-F238E27FC236}">
                  <a16:creationId xmlns:a16="http://schemas.microsoft.com/office/drawing/2014/main" id="{52A2B0F0-8D86-4F34-0EC7-81FE65002859}"/>
                </a:ext>
              </a:extLst>
            </p:cNvPr>
            <p:cNvSpPr txBox="1">
              <a:spLocks noChangeArrowheads="1"/>
            </p:cNvSpPr>
            <p:nvPr/>
          </p:nvSpPr>
          <p:spPr bwMode="auto">
            <a:xfrm>
              <a:off x="8638693" y="2006948"/>
              <a:ext cx="2279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ELB</a:t>
              </a:r>
            </a:p>
          </p:txBody>
        </p:sp>
        <p:cxnSp>
          <p:nvCxnSpPr>
            <p:cNvPr id="69" name="Straight Arrow Connector 51">
              <a:extLst>
                <a:ext uri="{FF2B5EF4-FFF2-40B4-BE49-F238E27FC236}">
                  <a16:creationId xmlns:a16="http://schemas.microsoft.com/office/drawing/2014/main" id="{FE645CB4-78BA-4EE9-4F11-CD188FB7CDA2}"/>
                </a:ext>
              </a:extLst>
            </p:cNvPr>
            <p:cNvCxnSpPr>
              <a:cxnSpLocks/>
              <a:stCxn id="68" idx="2"/>
              <a:endCxn id="72" idx="0"/>
            </p:cNvCxnSpPr>
            <p:nvPr/>
          </p:nvCxnSpPr>
          <p:spPr>
            <a:xfrm>
              <a:off x="9778518" y="2345502"/>
              <a:ext cx="268" cy="1426675"/>
            </a:xfrm>
            <a:prstGeom prst="straightConnector1">
              <a:avLst/>
            </a:prstGeom>
            <a:ln w="19050">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662519E8-35FD-4A57-1950-659692C672E5}"/>
                </a:ext>
              </a:extLst>
            </p:cNvPr>
            <p:cNvSpPr/>
            <p:nvPr/>
          </p:nvSpPr>
          <p:spPr>
            <a:xfrm>
              <a:off x="8537794" y="2547362"/>
              <a:ext cx="2490422" cy="2576501"/>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nchor="b" anchorCtr="0"/>
            <a:lstStyle/>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endPar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p>
              <a:pPr algn="ct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Auto Scaling group</a:t>
              </a:r>
            </a:p>
          </p:txBody>
        </p:sp>
        <p:pic>
          <p:nvPicPr>
            <p:cNvPr id="71" name="Graphic 70">
              <a:extLst>
                <a:ext uri="{FF2B5EF4-FFF2-40B4-BE49-F238E27FC236}">
                  <a16:creationId xmlns:a16="http://schemas.microsoft.com/office/drawing/2014/main" id="{4E05787B-F7FE-79E5-8650-8B7620C1556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529088" y="2540381"/>
              <a:ext cx="381000" cy="381000"/>
            </a:xfrm>
            <a:prstGeom prst="rect">
              <a:avLst/>
            </a:prstGeom>
          </p:spPr>
        </p:pic>
        <p:pic>
          <p:nvPicPr>
            <p:cNvPr id="72" name="Graphic 71">
              <a:extLst>
                <a:ext uri="{FF2B5EF4-FFF2-40B4-BE49-F238E27FC236}">
                  <a16:creationId xmlns:a16="http://schemas.microsoft.com/office/drawing/2014/main" id="{9EB18F07-BB79-C65E-0A63-075BDF775A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69345" y="3772177"/>
              <a:ext cx="618882" cy="618882"/>
            </a:xfrm>
            <a:prstGeom prst="rect">
              <a:avLst/>
            </a:prstGeom>
          </p:spPr>
        </p:pic>
        <p:sp>
          <p:nvSpPr>
            <p:cNvPr id="73" name="TextBox 16">
              <a:extLst>
                <a:ext uri="{FF2B5EF4-FFF2-40B4-BE49-F238E27FC236}">
                  <a16:creationId xmlns:a16="http://schemas.microsoft.com/office/drawing/2014/main" id="{279FF5F1-10C6-9244-7148-98353BEE4568}"/>
                </a:ext>
              </a:extLst>
            </p:cNvPr>
            <p:cNvSpPr txBox="1">
              <a:spLocks noChangeArrowheads="1"/>
            </p:cNvSpPr>
            <p:nvPr/>
          </p:nvSpPr>
          <p:spPr bwMode="auto">
            <a:xfrm>
              <a:off x="9205458" y="4340959"/>
              <a:ext cx="11155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Instance 3</a:t>
              </a:r>
            </a:p>
          </p:txBody>
        </p:sp>
      </p:grpSp>
      <p:sp>
        <p:nvSpPr>
          <p:cNvPr id="74" name="Callout: Colors menu">
            <a:extLst>
              <a:ext uri="{FF2B5EF4-FFF2-40B4-BE49-F238E27FC236}">
                <a16:creationId xmlns:a16="http://schemas.microsoft.com/office/drawing/2014/main" id="{406E2F39-5CE3-B05B-B015-3EDB1BC7B4EC}"/>
              </a:ext>
              <a:ext uri="{C183D7F6-B498-43B3-948B-1728B52AA6E4}">
                <adec:decorative xmlns:adec="http://schemas.microsoft.com/office/drawing/2017/decorative" val="0"/>
              </a:ext>
            </a:extLst>
          </p:cNvPr>
          <p:cNvSpPr/>
          <p:nvPr/>
        </p:nvSpPr>
        <p:spPr>
          <a:xfrm>
            <a:off x="1063416" y="5555093"/>
            <a:ext cx="2000562" cy="584775"/>
          </a:xfrm>
          <a:prstGeom prst="borderCallout1">
            <a:avLst>
              <a:gd name="adj1" fmla="val 1452"/>
              <a:gd name="adj2" fmla="val 51232"/>
              <a:gd name="adj3" fmla="val -74739"/>
              <a:gd name="adj4" fmla="val 51662"/>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The desired capacity is two instances.</a:t>
            </a:r>
          </a:p>
        </p:txBody>
      </p:sp>
      <p:sp>
        <p:nvSpPr>
          <p:cNvPr id="75" name="Callout: Colors menu">
            <a:extLst>
              <a:ext uri="{FF2B5EF4-FFF2-40B4-BE49-F238E27FC236}">
                <a16:creationId xmlns:a16="http://schemas.microsoft.com/office/drawing/2014/main" id="{B43D9B99-8F5E-5B8B-7789-16A0B63543FD}"/>
              </a:ext>
              <a:ext uri="{C183D7F6-B498-43B3-948B-1728B52AA6E4}">
                <adec:decorative xmlns:adec="http://schemas.microsoft.com/office/drawing/2017/decorative" val="0"/>
              </a:ext>
            </a:extLst>
          </p:cNvPr>
          <p:cNvSpPr/>
          <p:nvPr/>
        </p:nvSpPr>
        <p:spPr>
          <a:xfrm>
            <a:off x="4048153" y="5555093"/>
            <a:ext cx="3383538" cy="584775"/>
          </a:xfrm>
          <a:prstGeom prst="borderCallout1">
            <a:avLst>
              <a:gd name="adj1" fmla="val 1452"/>
              <a:gd name="adj2" fmla="val 51232"/>
              <a:gd name="adj3" fmla="val -74739"/>
              <a:gd name="adj4" fmla="val 51662"/>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Scale out to reach a maximum capacity of three instances.</a:t>
            </a:r>
          </a:p>
        </p:txBody>
      </p:sp>
      <p:sp>
        <p:nvSpPr>
          <p:cNvPr id="76" name="Callout: Colors menu">
            <a:extLst>
              <a:ext uri="{FF2B5EF4-FFF2-40B4-BE49-F238E27FC236}">
                <a16:creationId xmlns:a16="http://schemas.microsoft.com/office/drawing/2014/main" id="{315CDA65-AC13-2841-D027-7AAEFAEABEFD}"/>
              </a:ext>
              <a:ext uri="{C183D7F6-B498-43B3-948B-1728B52AA6E4}">
                <adec:decorative xmlns:adec="http://schemas.microsoft.com/office/drawing/2017/decorative" val="0"/>
              </a:ext>
            </a:extLst>
          </p:cNvPr>
          <p:cNvSpPr/>
          <p:nvPr/>
        </p:nvSpPr>
        <p:spPr>
          <a:xfrm>
            <a:off x="8328128" y="5555093"/>
            <a:ext cx="2877108" cy="584775"/>
          </a:xfrm>
          <a:prstGeom prst="borderCallout1">
            <a:avLst>
              <a:gd name="adj1" fmla="val 1452"/>
              <a:gd name="adj2" fmla="val 51232"/>
              <a:gd name="adj3" fmla="val -74739"/>
              <a:gd name="adj4" fmla="val 51662"/>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Scale in to reach a minimum capacity of one instance.</a:t>
            </a:r>
          </a:p>
        </p:txBody>
      </p:sp>
    </p:spTree>
    <p:extLst>
      <p:ext uri="{BB962C8B-B14F-4D97-AF65-F5344CB8AC3E}">
        <p14:creationId xmlns:p14="http://schemas.microsoft.com/office/powerpoint/2010/main" val="4252067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C0083-0224-7F23-C82D-8A85493784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F7353E-44DB-4D93-1B06-13418F03721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EC2 Auto Scaling mechanisms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C10C339-1D19-7932-6D02-FD18AA3E4442}"/>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77F4578C-85E5-595D-5483-7D60B7C5BAD3}"/>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71C82EA-9280-0DC5-F239-F23479998763}"/>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97520BE4-7A0C-D223-C7D4-DC7C17D1F30D}"/>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pic>
        <p:nvPicPr>
          <p:cNvPr id="4" name="Picture Placeholder 14">
            <a:extLst>
              <a:ext uri="{FF2B5EF4-FFF2-40B4-BE49-F238E27FC236}">
                <a16:creationId xmlns:a16="http://schemas.microsoft.com/office/drawing/2014/main" id="{820AB20C-B937-47FB-23DC-B2A9DCE86798}"/>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96963" y="1096963"/>
            <a:ext cx="2286000" cy="2286000"/>
          </a:xfrm>
          <a:prstGeom prst="rect">
            <a:avLst/>
          </a:prstGeom>
        </p:spPr>
      </p:pic>
      <p:sp>
        <p:nvSpPr>
          <p:cNvPr id="8" name="Text Placeholder 7">
            <a:extLst>
              <a:ext uri="{FF2B5EF4-FFF2-40B4-BE49-F238E27FC236}">
                <a16:creationId xmlns:a16="http://schemas.microsoft.com/office/drawing/2014/main" id="{4808F506-EF8F-3C93-74A1-BFE9D31FDF3C}"/>
              </a:ext>
            </a:extLst>
          </p:cNvPr>
          <p:cNvSpPr txBox="1">
            <a:spLocks/>
          </p:cNvSpPr>
          <p:nvPr/>
        </p:nvSpPr>
        <p:spPr>
          <a:xfrm>
            <a:off x="365760" y="3429000"/>
            <a:ext cx="3749040" cy="440329"/>
          </a:xfrm>
          <a:prstGeom prst="rect">
            <a:avLst/>
          </a:prstGeom>
          <a:solidFill>
            <a:schemeClr val="accent1"/>
          </a:solidFill>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dirty="0">
                <a:solidFill>
                  <a:schemeClr val="tx1"/>
                </a:solidFill>
                <a:latin typeface="Roboto" panose="02000000000000000000" pitchFamily="2" charset="0"/>
                <a:ea typeface="Roboto" panose="02000000000000000000" pitchFamily="2" charset="0"/>
                <a:cs typeface="Roboto" panose="02000000000000000000" pitchFamily="2" charset="0"/>
              </a:rPr>
              <a:t>Scheduled actions</a:t>
            </a:r>
          </a:p>
        </p:txBody>
      </p:sp>
      <p:sp>
        <p:nvSpPr>
          <p:cNvPr id="9" name="Text Placeholder 4">
            <a:extLst>
              <a:ext uri="{FF2B5EF4-FFF2-40B4-BE49-F238E27FC236}">
                <a16:creationId xmlns:a16="http://schemas.microsoft.com/office/drawing/2014/main" id="{47995CB5-34F9-FB24-84F0-6C5723BB3552}"/>
              </a:ext>
            </a:extLst>
          </p:cNvPr>
          <p:cNvSpPr txBox="1">
            <a:spLocks/>
          </p:cNvSpPr>
          <p:nvPr/>
        </p:nvSpPr>
        <p:spPr>
          <a:xfrm>
            <a:off x="365760" y="3981048"/>
            <a:ext cx="3749040" cy="25393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Roboto" panose="02000000000000000000" pitchFamily="2" charset="0"/>
                <a:ea typeface="Roboto" panose="02000000000000000000" pitchFamily="2" charset="0"/>
                <a:cs typeface="Roboto" panose="02000000000000000000" pitchFamily="2" charset="0"/>
              </a:rPr>
              <a:t>Scale based on a date and time</a:t>
            </a:r>
          </a:p>
          <a:p>
            <a:r>
              <a:rPr lang="en-US" sz="2000" dirty="0">
                <a:latin typeface="Roboto" panose="02000000000000000000" pitchFamily="2" charset="0"/>
                <a:ea typeface="Roboto" panose="02000000000000000000" pitchFamily="2" charset="0"/>
                <a:cs typeface="Roboto" panose="02000000000000000000" pitchFamily="2" charset="0"/>
              </a:rPr>
              <a:t>Are for predictable workloads</a:t>
            </a:r>
          </a:p>
          <a:p>
            <a:pPr marL="0" indent="0">
              <a:buFont typeface="Arial"/>
              <a:buNone/>
            </a:pPr>
            <a:endParaRPr lang="en-US" dirty="0"/>
          </a:p>
        </p:txBody>
      </p:sp>
      <p:pic>
        <p:nvPicPr>
          <p:cNvPr id="10" name="Picture Placeholder 16">
            <a:extLst>
              <a:ext uri="{FF2B5EF4-FFF2-40B4-BE49-F238E27FC236}">
                <a16:creationId xmlns:a16="http://schemas.microsoft.com/office/drawing/2014/main" id="{A865C422-3C14-E691-88CB-CA0D3F39932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4956175" y="1096963"/>
            <a:ext cx="2286000" cy="2286000"/>
          </a:xfrm>
          <a:prstGeom prst="rect">
            <a:avLst/>
          </a:prstGeom>
        </p:spPr>
      </p:pic>
      <p:sp>
        <p:nvSpPr>
          <p:cNvPr id="11" name="Text Placeholder 8">
            <a:extLst>
              <a:ext uri="{FF2B5EF4-FFF2-40B4-BE49-F238E27FC236}">
                <a16:creationId xmlns:a16="http://schemas.microsoft.com/office/drawing/2014/main" id="{5E0A92AF-F822-2FD0-0EC5-09E458423A47}"/>
              </a:ext>
            </a:extLst>
          </p:cNvPr>
          <p:cNvSpPr txBox="1">
            <a:spLocks/>
          </p:cNvSpPr>
          <p:nvPr/>
        </p:nvSpPr>
        <p:spPr>
          <a:xfrm>
            <a:off x="4224528" y="3429000"/>
            <a:ext cx="3749040" cy="440329"/>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a:latin typeface="Roboto" panose="02000000000000000000" pitchFamily="2" charset="0"/>
                <a:ea typeface="Roboto" panose="02000000000000000000" pitchFamily="2" charset="0"/>
                <a:cs typeface="Roboto" panose="02000000000000000000" pitchFamily="2" charset="0"/>
              </a:rPr>
              <a:t>Dynamic policies</a:t>
            </a:r>
          </a:p>
        </p:txBody>
      </p:sp>
      <p:sp>
        <p:nvSpPr>
          <p:cNvPr id="12" name="Text Placeholder 5">
            <a:extLst>
              <a:ext uri="{FF2B5EF4-FFF2-40B4-BE49-F238E27FC236}">
                <a16:creationId xmlns:a16="http://schemas.microsoft.com/office/drawing/2014/main" id="{DC4DEC9A-0276-4326-A44E-5719983792C1}"/>
              </a:ext>
            </a:extLst>
          </p:cNvPr>
          <p:cNvSpPr txBox="1">
            <a:spLocks/>
          </p:cNvSpPr>
          <p:nvPr/>
        </p:nvSpPr>
        <p:spPr>
          <a:xfrm>
            <a:off x="4206240" y="3981047"/>
            <a:ext cx="3749040" cy="25393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Roboto" panose="02000000000000000000" pitchFamily="2" charset="0"/>
                <a:ea typeface="Roboto" panose="02000000000000000000" pitchFamily="2" charset="0"/>
                <a:cs typeface="Roboto" panose="02000000000000000000" pitchFamily="2" charset="0"/>
              </a:rPr>
              <a:t>Scale based on tracked metrics </a:t>
            </a:r>
          </a:p>
          <a:p>
            <a:r>
              <a:rPr lang="en-US" sz="2000" dirty="0">
                <a:latin typeface="Roboto" panose="02000000000000000000" pitchFamily="2" charset="0"/>
                <a:ea typeface="Roboto" panose="02000000000000000000" pitchFamily="2" charset="0"/>
                <a:cs typeface="Roboto" panose="02000000000000000000" pitchFamily="2" charset="0"/>
              </a:rPr>
              <a:t>Are for moderately spiky workloads</a:t>
            </a:r>
          </a:p>
        </p:txBody>
      </p:sp>
      <p:pic>
        <p:nvPicPr>
          <p:cNvPr id="13" name="Picture Placeholder 15">
            <a:extLst>
              <a:ext uri="{FF2B5EF4-FFF2-40B4-BE49-F238E27FC236}">
                <a16:creationId xmlns:a16="http://schemas.microsoft.com/office/drawing/2014/main" id="{411683D9-5835-ACA3-EF12-310A20553D1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8815388" y="1096963"/>
            <a:ext cx="2286000" cy="2286000"/>
          </a:xfrm>
          <a:prstGeom prst="rect">
            <a:avLst/>
          </a:prstGeom>
        </p:spPr>
      </p:pic>
      <p:sp>
        <p:nvSpPr>
          <p:cNvPr id="14" name="Text Placeholder 9">
            <a:extLst>
              <a:ext uri="{FF2B5EF4-FFF2-40B4-BE49-F238E27FC236}">
                <a16:creationId xmlns:a16="http://schemas.microsoft.com/office/drawing/2014/main" id="{AD9BB8E0-8A04-9BA1-1022-D0A4B59776F1}"/>
              </a:ext>
            </a:extLst>
          </p:cNvPr>
          <p:cNvSpPr txBox="1">
            <a:spLocks/>
          </p:cNvSpPr>
          <p:nvPr/>
        </p:nvSpPr>
        <p:spPr>
          <a:xfrm>
            <a:off x="8101583" y="3429000"/>
            <a:ext cx="3749040" cy="440329"/>
          </a:xfrm>
          <a:prstGeom prst="rect">
            <a:avLst/>
          </a:prstGeom>
          <a:solidFill>
            <a:schemeClr val="accent1"/>
          </a:solidFill>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a:latin typeface="Roboto" panose="02000000000000000000" pitchFamily="2" charset="0"/>
                <a:ea typeface="Roboto" panose="02000000000000000000" pitchFamily="2" charset="0"/>
                <a:cs typeface="Roboto" panose="02000000000000000000" pitchFamily="2" charset="0"/>
              </a:rPr>
              <a:t>Predictive policy</a:t>
            </a:r>
          </a:p>
        </p:txBody>
      </p:sp>
      <p:sp>
        <p:nvSpPr>
          <p:cNvPr id="15" name="Text Placeholder 6">
            <a:extLst>
              <a:ext uri="{FF2B5EF4-FFF2-40B4-BE49-F238E27FC236}">
                <a16:creationId xmlns:a16="http://schemas.microsoft.com/office/drawing/2014/main" id="{EE3D45F5-AEFE-EDFA-BAF3-700EE855B158}"/>
              </a:ext>
            </a:extLst>
          </p:cNvPr>
          <p:cNvSpPr txBox="1">
            <a:spLocks/>
          </p:cNvSpPr>
          <p:nvPr/>
        </p:nvSpPr>
        <p:spPr>
          <a:xfrm>
            <a:off x="8083296" y="3981048"/>
            <a:ext cx="3749040" cy="25393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Roboto" panose="02000000000000000000" pitchFamily="2" charset="0"/>
                <a:ea typeface="Roboto" panose="02000000000000000000" pitchFamily="2" charset="0"/>
                <a:cs typeface="Roboto" panose="02000000000000000000" pitchFamily="2" charset="0"/>
              </a:rPr>
              <a:t>Scales based on previous traffic patterns with machine learning </a:t>
            </a:r>
          </a:p>
          <a:p>
            <a:r>
              <a:rPr lang="en-US" sz="2000" dirty="0">
                <a:latin typeface="Roboto" panose="02000000000000000000" pitchFamily="2" charset="0"/>
                <a:ea typeface="Roboto" panose="02000000000000000000" pitchFamily="2" charset="0"/>
                <a:cs typeface="Roboto" panose="02000000000000000000" pitchFamily="2" charset="0"/>
              </a:rPr>
              <a:t>Is for workload traffic that can be predicted with a pattern</a:t>
            </a:r>
          </a:p>
        </p:txBody>
      </p:sp>
    </p:spTree>
    <p:extLst>
      <p:ext uri="{BB962C8B-B14F-4D97-AF65-F5344CB8AC3E}">
        <p14:creationId xmlns:p14="http://schemas.microsoft.com/office/powerpoint/2010/main" val="3929533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F658A-ECFA-42B4-9992-63ABB7B06A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F67114-E1FE-12B7-295B-B58FE557F79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Scaling with step scaling policy</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501DBD2-25DB-2107-4641-B38D2A774BFD}"/>
              </a:ext>
            </a:extLst>
          </p:cNvPr>
          <p:cNvSpPr/>
          <p:nvPr/>
        </p:nvSpPr>
        <p:spPr>
          <a:xfrm>
            <a:off x="658368" y="976987"/>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C838BB9-7C33-A25C-A786-D95D1FF2F920}"/>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0BED55B-D5C5-0DD0-A617-9EB96AE9C26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15D2AA6E-E154-488B-D260-206713B8ED10}"/>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graphicFrame>
        <p:nvGraphicFramePr>
          <p:cNvPr id="4" name="Table 2">
            <a:extLst>
              <a:ext uri="{FF2B5EF4-FFF2-40B4-BE49-F238E27FC236}">
                <a16:creationId xmlns:a16="http://schemas.microsoft.com/office/drawing/2014/main" id="{1BCE1C96-E42A-AAB7-012C-FCB131F05FF8}"/>
              </a:ext>
            </a:extLst>
          </p:cNvPr>
          <p:cNvGraphicFramePr>
            <a:graphicFrameLocks noGrp="1"/>
          </p:cNvGraphicFramePr>
          <p:nvPr>
            <p:extLst>
              <p:ext uri="{D42A27DB-BD31-4B8C-83A1-F6EECF244321}">
                <p14:modId xmlns:p14="http://schemas.microsoft.com/office/powerpoint/2010/main" val="341768375"/>
              </p:ext>
            </p:extLst>
          </p:nvPr>
        </p:nvGraphicFramePr>
        <p:xfrm>
          <a:off x="545502" y="1869860"/>
          <a:ext cx="11100996" cy="1286076"/>
        </p:xfrm>
        <a:graphic>
          <a:graphicData uri="http://schemas.openxmlformats.org/drawingml/2006/table">
            <a:tbl>
              <a:tblPr firstRow="1" firstCol="1" bandRow="1">
                <a:tableStyleId>{5C22544A-7EE6-4342-B048-85BDC9FD1C3A}</a:tableStyleId>
              </a:tblPr>
              <a:tblGrid>
                <a:gridCol w="1850166">
                  <a:extLst>
                    <a:ext uri="{9D8B030D-6E8A-4147-A177-3AD203B41FA5}">
                      <a16:colId xmlns:a16="http://schemas.microsoft.com/office/drawing/2014/main" val="20000"/>
                    </a:ext>
                  </a:extLst>
                </a:gridCol>
                <a:gridCol w="1850166">
                  <a:extLst>
                    <a:ext uri="{9D8B030D-6E8A-4147-A177-3AD203B41FA5}">
                      <a16:colId xmlns:a16="http://schemas.microsoft.com/office/drawing/2014/main" val="20001"/>
                    </a:ext>
                  </a:extLst>
                </a:gridCol>
                <a:gridCol w="1850166">
                  <a:extLst>
                    <a:ext uri="{9D8B030D-6E8A-4147-A177-3AD203B41FA5}">
                      <a16:colId xmlns:a16="http://schemas.microsoft.com/office/drawing/2014/main" val="1788544894"/>
                    </a:ext>
                  </a:extLst>
                </a:gridCol>
                <a:gridCol w="1850166">
                  <a:extLst>
                    <a:ext uri="{9D8B030D-6E8A-4147-A177-3AD203B41FA5}">
                      <a16:colId xmlns:a16="http://schemas.microsoft.com/office/drawing/2014/main" val="4206087555"/>
                    </a:ext>
                  </a:extLst>
                </a:gridCol>
                <a:gridCol w="1850166">
                  <a:extLst>
                    <a:ext uri="{9D8B030D-6E8A-4147-A177-3AD203B41FA5}">
                      <a16:colId xmlns:a16="http://schemas.microsoft.com/office/drawing/2014/main" val="1205671616"/>
                    </a:ext>
                  </a:extLst>
                </a:gridCol>
                <a:gridCol w="1850166">
                  <a:extLst>
                    <a:ext uri="{9D8B030D-6E8A-4147-A177-3AD203B41FA5}">
                      <a16:colId xmlns:a16="http://schemas.microsoft.com/office/drawing/2014/main" val="3420503673"/>
                    </a:ext>
                  </a:extLst>
                </a:gridCol>
              </a:tblGrid>
              <a:tr h="452247">
                <a:tc>
                  <a:txBody>
                    <a:bodyPr/>
                    <a:lstStyle/>
                    <a:p>
                      <a:pPr algn="ctr" fontAlgn="t" latinLnBrk="0"/>
                      <a:r>
                        <a:rPr lang="en-US" b="1" dirty="0">
                          <a:effectLst/>
                        </a:rPr>
                        <a:t>Metric value</a:t>
                      </a:r>
                    </a:p>
                  </a:txBody>
                  <a:tcPr marL="127000" marR="127000" marT="25400" marB="25400" anchor="ctr">
                    <a:solidFill>
                      <a:schemeClr val="accent1"/>
                    </a:solidFill>
                  </a:tcPr>
                </a:tc>
                <a:tc>
                  <a:txBody>
                    <a:bodyPr/>
                    <a:lstStyle/>
                    <a:p>
                      <a:pPr algn="ctr" fontAlgn="t" latinLnBrk="0"/>
                      <a:r>
                        <a:rPr lang="en-US" b="0" dirty="0">
                          <a:effectLst/>
                        </a:rPr>
                        <a:t>Less than 30%</a:t>
                      </a:r>
                    </a:p>
                  </a:txBody>
                  <a:tcPr marL="127000" marR="127000" marT="25400" marB="25400" anchor="ctr"/>
                </a:tc>
                <a:tc>
                  <a:txBody>
                    <a:bodyPr/>
                    <a:lstStyle/>
                    <a:p>
                      <a:pPr algn="ctr" fontAlgn="t" latinLnBrk="0"/>
                      <a:r>
                        <a:rPr lang="en-US" b="0" dirty="0">
                          <a:solidFill>
                            <a:schemeClr val="bg1"/>
                          </a:solidFill>
                          <a:effectLst/>
                        </a:rPr>
                        <a:t>30</a:t>
                      </a:r>
                      <a:r>
                        <a:rPr lang="en-US" sz="1800" kern="1200" dirty="0">
                          <a:solidFill>
                            <a:schemeClr val="bg1"/>
                          </a:solidFill>
                          <a:effectLst/>
                          <a:latin typeface="+mn-lt"/>
                          <a:ea typeface="+mn-ea"/>
                          <a:cs typeface="+mn-cs"/>
                        </a:rPr>
                        <a:t>–</a:t>
                      </a:r>
                      <a:r>
                        <a:rPr lang="en-US" b="0" dirty="0">
                          <a:solidFill>
                            <a:schemeClr val="bg1"/>
                          </a:solidFill>
                          <a:effectLst/>
                        </a:rPr>
                        <a:t>39%</a:t>
                      </a:r>
                    </a:p>
                  </a:txBody>
                  <a:tcPr marL="127000" marR="127000" marT="25400" marB="25400" anchor="ctr"/>
                </a:tc>
                <a:tc>
                  <a:txBody>
                    <a:bodyPr/>
                    <a:lstStyle/>
                    <a:p>
                      <a:pPr algn="ctr" fontAlgn="t" latinLnBrk="0"/>
                      <a:r>
                        <a:rPr lang="en-US" b="0" dirty="0">
                          <a:solidFill>
                            <a:schemeClr val="bg1"/>
                          </a:solidFill>
                          <a:effectLst/>
                        </a:rPr>
                        <a:t>40</a:t>
                      </a:r>
                      <a:r>
                        <a:rPr lang="en-US" sz="1800" kern="1200" dirty="0">
                          <a:solidFill>
                            <a:schemeClr val="bg1"/>
                          </a:solidFill>
                          <a:effectLst/>
                          <a:latin typeface="+mn-lt"/>
                          <a:ea typeface="+mn-ea"/>
                          <a:cs typeface="+mn-cs"/>
                        </a:rPr>
                        <a:t>–</a:t>
                      </a:r>
                      <a:r>
                        <a:rPr lang="en-US" b="0" dirty="0">
                          <a:solidFill>
                            <a:schemeClr val="bg1"/>
                          </a:solidFill>
                          <a:effectLst/>
                        </a:rPr>
                        <a:t>60%</a:t>
                      </a:r>
                    </a:p>
                  </a:txBody>
                  <a:tcPr marL="127000" marR="127000" marT="25400" marB="25400" anchor="ctr"/>
                </a:tc>
                <a:tc>
                  <a:txBody>
                    <a:bodyPr/>
                    <a:lstStyle/>
                    <a:p>
                      <a:pPr algn="ctr" fontAlgn="t" latinLnBrk="0"/>
                      <a:r>
                        <a:rPr lang="en-US" b="0" dirty="0">
                          <a:solidFill>
                            <a:schemeClr val="bg1"/>
                          </a:solidFill>
                          <a:effectLst/>
                        </a:rPr>
                        <a:t>61</a:t>
                      </a:r>
                      <a:r>
                        <a:rPr lang="en-US" sz="1800" kern="1200" dirty="0">
                          <a:solidFill>
                            <a:schemeClr val="bg1"/>
                          </a:solidFill>
                          <a:effectLst/>
                          <a:latin typeface="+mn-lt"/>
                          <a:ea typeface="+mn-ea"/>
                          <a:cs typeface="+mn-cs"/>
                        </a:rPr>
                        <a:t>–</a:t>
                      </a:r>
                      <a:r>
                        <a:rPr lang="en-US" b="0" dirty="0">
                          <a:solidFill>
                            <a:schemeClr val="bg1"/>
                          </a:solidFill>
                          <a:effectLst/>
                        </a:rPr>
                        <a:t>70%</a:t>
                      </a:r>
                    </a:p>
                  </a:txBody>
                  <a:tcPr marL="127000" marR="127000" marT="25400" marB="25400" anchor="ctr"/>
                </a:tc>
                <a:tc>
                  <a:txBody>
                    <a:bodyPr/>
                    <a:lstStyle/>
                    <a:p>
                      <a:pPr algn="ctr" fontAlgn="t" latinLnBrk="0"/>
                      <a:r>
                        <a:rPr lang="en-US" b="0" dirty="0">
                          <a:solidFill>
                            <a:schemeClr val="bg1"/>
                          </a:solidFill>
                          <a:effectLst/>
                        </a:rPr>
                        <a:t>71</a:t>
                      </a:r>
                      <a:r>
                        <a:rPr lang="en-US" sz="1800" kern="1200" dirty="0">
                          <a:solidFill>
                            <a:schemeClr val="bg1"/>
                          </a:solidFill>
                          <a:effectLst/>
                          <a:latin typeface="+mn-lt"/>
                          <a:ea typeface="+mn-ea"/>
                          <a:cs typeface="+mn-cs"/>
                        </a:rPr>
                        <a:t>–</a:t>
                      </a:r>
                      <a:r>
                        <a:rPr lang="en-US" b="0" dirty="0">
                          <a:solidFill>
                            <a:schemeClr val="bg1"/>
                          </a:solidFill>
                          <a:effectLst/>
                        </a:rPr>
                        <a:t>100%</a:t>
                      </a:r>
                    </a:p>
                  </a:txBody>
                  <a:tcPr marL="127000" marR="127000" marT="25400" marB="25400" anchor="ctr"/>
                </a:tc>
                <a:extLst>
                  <a:ext uri="{0D108BD9-81ED-4DB2-BD59-A6C34878D82A}">
                    <a16:rowId xmlns:a16="http://schemas.microsoft.com/office/drawing/2014/main" val="3866361475"/>
                  </a:ext>
                </a:extLst>
              </a:tr>
              <a:tr h="833829">
                <a:tc>
                  <a:txBody>
                    <a:bodyPr/>
                    <a:lstStyle/>
                    <a:p>
                      <a:pPr algn="ctr" fontAlgn="t" latinLnBrk="0"/>
                      <a:r>
                        <a:rPr lang="en-US" b="1" dirty="0">
                          <a:effectLst/>
                        </a:rPr>
                        <a:t>Percentage capacity change</a:t>
                      </a:r>
                    </a:p>
                  </a:txBody>
                  <a:tcPr marL="127000" marR="127000" marT="25400" marB="25400" anchor="ctr">
                    <a:solidFill>
                      <a:schemeClr val="accent1"/>
                    </a:solidFill>
                  </a:tcPr>
                </a:tc>
                <a:tc>
                  <a:txBody>
                    <a:bodyPr/>
                    <a:lstStyle/>
                    <a:p>
                      <a:pPr algn="ctr" fontAlgn="t" latinLnBrk="0"/>
                      <a:r>
                        <a:rPr lang="en-US" b="0" dirty="0">
                          <a:effectLst/>
                        </a:rPr>
                        <a:t>-30%</a:t>
                      </a:r>
                    </a:p>
                  </a:txBody>
                  <a:tcPr marL="127000" marR="127000" marT="25400" marB="25400" anchor="ctr"/>
                </a:tc>
                <a:tc>
                  <a:txBody>
                    <a:bodyPr/>
                    <a:lstStyle/>
                    <a:p>
                      <a:pPr algn="ctr" fontAlgn="t" latinLnBrk="0"/>
                      <a:r>
                        <a:rPr lang="en-US" b="0" dirty="0">
                          <a:effectLst/>
                        </a:rPr>
                        <a:t>-10%</a:t>
                      </a:r>
                    </a:p>
                  </a:txBody>
                  <a:tcPr marL="127000" marR="127000" marT="25400" marB="25400" anchor="ctr"/>
                </a:tc>
                <a:tc>
                  <a:txBody>
                    <a:bodyPr/>
                    <a:lstStyle/>
                    <a:p>
                      <a:pPr algn="ctr" fontAlgn="t" latinLnBrk="0"/>
                      <a:r>
                        <a:rPr lang="en-US" b="0" dirty="0">
                          <a:effectLst/>
                        </a:rPr>
                        <a:t>No change</a:t>
                      </a:r>
                    </a:p>
                  </a:txBody>
                  <a:tcPr marL="127000" marR="127000" marT="25400" marB="25400" anchor="ctr"/>
                </a:tc>
                <a:tc>
                  <a:txBody>
                    <a:bodyPr/>
                    <a:lstStyle/>
                    <a:p>
                      <a:pPr algn="ctr" fontAlgn="t" latinLnBrk="0"/>
                      <a:r>
                        <a:rPr lang="en-US" b="0" dirty="0">
                          <a:effectLst/>
                        </a:rPr>
                        <a:t>+10%</a:t>
                      </a:r>
                    </a:p>
                  </a:txBody>
                  <a:tcPr marL="127000" marR="127000" marT="25400" marB="25400" anchor="ctr"/>
                </a:tc>
                <a:tc>
                  <a:txBody>
                    <a:bodyPr/>
                    <a:lstStyle/>
                    <a:p>
                      <a:pPr algn="ctr" fontAlgn="t" latinLnBrk="0"/>
                      <a:r>
                        <a:rPr lang="en-US" b="0" dirty="0">
                          <a:effectLst/>
                        </a:rPr>
                        <a:t>+30%</a:t>
                      </a:r>
                    </a:p>
                  </a:txBody>
                  <a:tcPr marL="127000" marR="127000" marT="25400" marB="25400" anchor="ctr"/>
                </a:tc>
                <a:extLst>
                  <a:ext uri="{0D108BD9-81ED-4DB2-BD59-A6C34878D82A}">
                    <a16:rowId xmlns:a16="http://schemas.microsoft.com/office/drawing/2014/main" val="10001"/>
                  </a:ext>
                </a:extLst>
              </a:tr>
            </a:tbl>
          </a:graphicData>
        </a:graphic>
      </p:graphicFrame>
      <p:sp>
        <p:nvSpPr>
          <p:cNvPr id="8" name="Callout: Colors menu">
            <a:extLst>
              <a:ext uri="{FF2B5EF4-FFF2-40B4-BE49-F238E27FC236}">
                <a16:creationId xmlns:a16="http://schemas.microsoft.com/office/drawing/2014/main" id="{A89AE39F-A887-C104-E5C4-493436E7C219}"/>
              </a:ext>
              <a:ext uri="{C183D7F6-B498-43B3-948B-1728B52AA6E4}">
                <adec:decorative xmlns:adec="http://schemas.microsoft.com/office/drawing/2017/decorative" val="0"/>
              </a:ext>
            </a:extLst>
          </p:cNvPr>
          <p:cNvSpPr/>
          <p:nvPr/>
        </p:nvSpPr>
        <p:spPr>
          <a:xfrm>
            <a:off x="2605695" y="4001050"/>
            <a:ext cx="1536706" cy="830997"/>
          </a:xfrm>
          <a:prstGeom prst="borderCallout1">
            <a:avLst>
              <a:gd name="adj1" fmla="val -1615"/>
              <a:gd name="adj2" fmla="val 53152"/>
              <a:gd name="adj3" fmla="val -99489"/>
              <a:gd name="adj4" fmla="val 5343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Remove 30% of current capacity</a:t>
            </a:r>
          </a:p>
        </p:txBody>
      </p:sp>
      <p:sp>
        <p:nvSpPr>
          <p:cNvPr id="9" name="Callout: Colors menu">
            <a:extLst>
              <a:ext uri="{FF2B5EF4-FFF2-40B4-BE49-F238E27FC236}">
                <a16:creationId xmlns:a16="http://schemas.microsoft.com/office/drawing/2014/main" id="{3E9B9A5D-079B-9798-94BF-D6658591D879}"/>
              </a:ext>
              <a:ext uri="{C183D7F6-B498-43B3-948B-1728B52AA6E4}">
                <adec:decorative xmlns:adec="http://schemas.microsoft.com/office/drawing/2017/decorative" val="0"/>
              </a:ext>
            </a:extLst>
          </p:cNvPr>
          <p:cNvSpPr/>
          <p:nvPr/>
        </p:nvSpPr>
        <p:spPr>
          <a:xfrm>
            <a:off x="4393855" y="4001049"/>
            <a:ext cx="1536706" cy="830997"/>
          </a:xfrm>
          <a:prstGeom prst="borderCallout1">
            <a:avLst>
              <a:gd name="adj1" fmla="val -1615"/>
              <a:gd name="adj2" fmla="val 53152"/>
              <a:gd name="adj3" fmla="val -99489"/>
              <a:gd name="adj4" fmla="val 5343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Remove 10% of current capacity</a:t>
            </a:r>
          </a:p>
        </p:txBody>
      </p:sp>
      <p:sp>
        <p:nvSpPr>
          <p:cNvPr id="10" name="Callout: Colors menu">
            <a:extLst>
              <a:ext uri="{FF2B5EF4-FFF2-40B4-BE49-F238E27FC236}">
                <a16:creationId xmlns:a16="http://schemas.microsoft.com/office/drawing/2014/main" id="{559E8080-ECFF-3583-650E-677E54829524}"/>
              </a:ext>
              <a:ext uri="{C183D7F6-B498-43B3-948B-1728B52AA6E4}">
                <adec:decorative xmlns:adec="http://schemas.microsoft.com/office/drawing/2017/decorative" val="0"/>
              </a:ext>
            </a:extLst>
          </p:cNvPr>
          <p:cNvSpPr/>
          <p:nvPr/>
        </p:nvSpPr>
        <p:spPr>
          <a:xfrm>
            <a:off x="8142895" y="4001050"/>
            <a:ext cx="1536706" cy="830997"/>
          </a:xfrm>
          <a:prstGeom prst="borderCallout1">
            <a:avLst>
              <a:gd name="adj1" fmla="val -1615"/>
              <a:gd name="adj2" fmla="val 53152"/>
              <a:gd name="adj3" fmla="val -99489"/>
              <a:gd name="adj4" fmla="val 5343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Add 10% of current capacity</a:t>
            </a:r>
          </a:p>
        </p:txBody>
      </p:sp>
      <p:sp>
        <p:nvSpPr>
          <p:cNvPr id="11" name="Callout: Colors menu">
            <a:extLst>
              <a:ext uri="{FF2B5EF4-FFF2-40B4-BE49-F238E27FC236}">
                <a16:creationId xmlns:a16="http://schemas.microsoft.com/office/drawing/2014/main" id="{C2B5BA17-9EB9-A1FB-7BA6-E2B9B63FA7DC}"/>
              </a:ext>
              <a:ext uri="{C183D7F6-B498-43B3-948B-1728B52AA6E4}">
                <adec:decorative xmlns:adec="http://schemas.microsoft.com/office/drawing/2017/decorative" val="0"/>
              </a:ext>
            </a:extLst>
          </p:cNvPr>
          <p:cNvSpPr/>
          <p:nvPr/>
        </p:nvSpPr>
        <p:spPr>
          <a:xfrm>
            <a:off x="9931055" y="4001049"/>
            <a:ext cx="1536706" cy="830997"/>
          </a:xfrm>
          <a:prstGeom prst="borderCallout1">
            <a:avLst>
              <a:gd name="adj1" fmla="val -1615"/>
              <a:gd name="adj2" fmla="val 53152"/>
              <a:gd name="adj3" fmla="val -99489"/>
              <a:gd name="adj4" fmla="val 5343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Add 30% of current capacity</a:t>
            </a:r>
          </a:p>
        </p:txBody>
      </p:sp>
    </p:spTree>
    <p:extLst>
      <p:ext uri="{BB962C8B-B14F-4D97-AF65-F5344CB8AC3E}">
        <p14:creationId xmlns:p14="http://schemas.microsoft.com/office/powerpoint/2010/main" val="289202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elasticity you'll build</a:t>
            </a:r>
          </a:p>
          <a:p>
            <a:pPr>
              <a:spcBef>
                <a:spcPts val="200"/>
              </a:spcBef>
            </a:pPr>
            <a:r>
              <a:rPr sz="1800" b="0" i="1">
                <a:solidFill>
                  <a:srgbClr val="D68E10"/>
                </a:solidFill>
                <a:latin typeface="Roboto Light"/>
              </a:rPr>
              <a:t>the supplied design</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Internal ALB, HTTPS:443 listener → a target group of the Ledgerline instances.</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Auto Scaling Group: min 1 / desired 1 / max 2; target-tracking on CPU at 70%; 300 s cooldown.</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Health checks: ELB + EC2 — an unhealthy instance is replaced.</a:t>
            </a:r>
          </a:p>
          <a:p>
            <a:pPr marL="0" indent="0">
              <a:lnSpc>
                <a:spcPct val="105000"/>
              </a:lnSpc>
              <a:spcBef>
                <a:spcPts val="0"/>
              </a:spcBef>
              <a:spcAft>
                <a:spcPts val="1000"/>
              </a:spcAft>
            </a:pPr>
            <a:r>
              <a:rPr sz="1800" b="1" i="0">
                <a:solidFill>
                  <a:srgbClr val="27B5CE"/>
                </a:solidFill>
                <a:latin typeface="Roboto"/>
              </a:rPr>
              <a:t>■  This is baseline elasticity, single-AZ — cross-AZ resilience (HA) comes in AT3.</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331720" cy="457200"/>
          </a:xfrm>
          <a:prstGeom prst="round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RECORDED DEMO</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Create an Auto Scaling policy</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launch template and an Auto Scaling group with min / desired / max.</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Attach a target-tracking scaling policy (e.g. keep average CPU near a target).</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Watch the group launch and register instances with the load balancer.</a:t>
            </a:r>
          </a:p>
        </p:txBody>
      </p:sp>
      <p:sp>
        <p:nvSpPr>
          <p:cNvPr id="6" name="Rounded Rectangle 5"/>
          <p:cNvSpPr/>
          <p:nvPr/>
        </p:nvSpPr>
        <p:spPr>
          <a:xfrm>
            <a:off x="640080" y="5897880"/>
            <a:ext cx="786384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7498080" cy="365760"/>
          </a:xfrm>
          <a:prstGeom prst="rect">
            <a:avLst/>
          </a:prstGeom>
          <a:noFill/>
        </p:spPr>
        <p:txBody>
          <a:bodyPr wrap="square" lIns="0" tIns="0" rIns="0" bIns="0" anchor="ctr">
            <a:spAutoFit/>
          </a:bodyPr>
          <a:lstStyle/>
          <a:p>
            <a:r>
              <a:rPr sz="1400" b="1" i="0">
                <a:solidFill>
                  <a:srgbClr val="2A2929"/>
                </a:solidFill>
                <a:latin typeface="Roboto"/>
              </a:rPr>
              <a:t>▶  Play the AWS recorded demo (ACA M10 · Scaling policies (S26)) — you do this next</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Behind the ALB + ASG — then test scaling</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lab, per the design:</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create the internal ALB + target group + HTTPS:443 listener</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create the launch template + ASG (min 1 / max 2, target-tracking CPU 70%)</a:t>
            </a:r>
          </a:p>
          <a:p>
            <a:pPr marL="0" indent="0">
              <a:lnSpc>
                <a:spcPct val="105000"/>
              </a:lnSpc>
              <a:spcBef>
                <a:spcPts val="0"/>
              </a:spcBef>
              <a:spcAft>
                <a:spcPts val="1000"/>
              </a:spcAft>
            </a:pPr>
            <a:r>
              <a:rPr sz="1700" b="1" i="0">
                <a:solidFill>
                  <a:srgbClr val="27B5CE"/>
                </a:solidFill>
                <a:latin typeface="Roboto"/>
              </a:rPr>
              <a:t>■  Test scaling: drive the metric (or change desired capacity), watch it scale out then in; fix any errors.</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Capture evidence — the ALB, target health, the ASG, and the scaling event.</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~25 min</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27B5CE"/>
                </a:solidFill>
                <a:latin typeface="Roboto"/>
              </a:rPr>
              <a:t>Section 2 · Elasticity</a:t>
            </a:r>
          </a:p>
        </p:txBody>
      </p:sp>
      <p:sp>
        <p:nvSpPr>
          <p:cNvPr id="3" name="Rectangle 2"/>
          <p:cNvSpPr/>
          <p:nvPr/>
        </p:nvSpPr>
        <p:spPr>
          <a:xfrm>
            <a:off x="658368" y="16002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 load balancer spreads traffic and routes only to healthy targets.</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An Auto Scaling group scales horizontally between min and max on a policy.</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Test that it scales and self-heals — that's PC evidence, not an optional extra.</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Baseline here is single-AZ; cross-AZ high availability is AT3.</a:t>
            </a:r>
          </a:p>
        </p:txBody>
      </p:sp>
      <p:sp>
        <p:nvSpPr>
          <p:cNvPr id="16" name="Rectangle 1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EDAB0C"/>
                </a:solidFill>
                <a:latin typeface="Roboto"/>
              </a:rPr>
              <a:t>Topic 8a · Key takeaways</a:t>
            </a:r>
          </a:p>
        </p:txBody>
      </p:sp>
      <p:sp>
        <p:nvSpPr>
          <p:cNvPr id="3" name="Rectangle 2"/>
          <p:cNvSpPr/>
          <p:nvPr/>
        </p:nvSpPr>
        <p:spPr>
          <a:xfrm>
            <a:off x="658368" y="16002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EC2 is a virtual machine launched from an AMI; the instance type sizes it.</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EBS gives the instance durable block storage.</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An Application Load Balancer spreads load and health-checks the targets.</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An Auto Scaling group scales horizontally to a policy and replaces failures.</a:t>
            </a:r>
          </a:p>
        </p:txBody>
      </p:sp>
      <p:sp>
        <p:nvSpPr>
          <p:cNvPr id="16" name="Rectangle 15"/>
          <p:cNvSpPr/>
          <p:nvPr/>
        </p:nvSpPr>
        <p:spPr>
          <a:xfrm>
            <a:off x="640080" y="5769864"/>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5769864"/>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5769864"/>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Build to the supplied design, test the scaling, and evidence everything.</a:t>
            </a:r>
          </a:p>
        </p:txBody>
      </p:sp>
      <p:sp>
        <p:nvSpPr>
          <p:cNvPr id="19" name="Rectangle 18"/>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21" name="TextBox 20"/>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515600" cy="4023360"/>
          </a:xfrm>
          <a:prstGeom prst="rect">
            <a:avLst/>
          </a:prstGeom>
          <a:noFill/>
        </p:spPr>
        <p:txBody>
          <a:bodyPr wrap="square" lIns="0" tIns="0" rIns="0" bIns="0" anchor="t">
            <a:spAutoFit/>
          </a:bodyPr>
          <a:lstStyle/>
          <a:p>
            <a:r>
              <a:rPr sz="4000" b="1" i="0">
                <a:solidFill>
                  <a:srgbClr val="FFFFFF"/>
                </a:solidFill>
                <a:latin typeface="Roboto"/>
              </a:rPr>
              <a:t>Next: Topic 8b — the data tier</a:t>
            </a:r>
          </a:p>
          <a:p>
            <a:pPr>
              <a:lnSpc>
                <a:spcPct val="105000"/>
              </a:lnSpc>
              <a:spcBef>
                <a:spcPts val="1200"/>
              </a:spcBef>
            </a:pPr>
            <a:r>
              <a:rPr sz="1900" b="0" i="0">
                <a:solidFill>
                  <a:srgbClr val="E8E8E8"/>
                </a:solidFill>
                <a:latin typeface="Roboto Light"/>
              </a:rPr>
              <a:t>The managed database (Amazon RDS) and object / archive storage (Amazon S3 + Glacier) — the data the application relies on.</a:t>
            </a:r>
          </a:p>
          <a:p>
            <a:pPr>
              <a:lnSpc>
                <a:spcPct val="105000"/>
              </a:lnSpc>
              <a:spcBef>
                <a:spcPts val="1200"/>
              </a:spcBef>
            </a:pPr>
            <a:r>
              <a:rPr sz="1900" b="0" i="0">
                <a:solidFill>
                  <a:srgbClr val="E8E8E8"/>
                </a:solidFill>
                <a:latin typeface="Roboto Light"/>
              </a:rPr>
              <a:t>Bring your evidence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10252</Words>
  <Application>Microsoft Office PowerPoint</Application>
  <PresentationFormat>Widescreen</PresentationFormat>
  <Paragraphs>830</Paragraphs>
  <Slides>42</Slides>
  <Notes>25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42</vt:i4>
      </vt:variant>
    </vt:vector>
  </HeadingPairs>
  <TitlesOfParts>
    <vt:vector size="54" baseType="lpstr">
      <vt:lpstr>Amazon Ember</vt:lpstr>
      <vt:lpstr>Amazon Ember Display</vt:lpstr>
      <vt:lpstr>Amazon Ember Light</vt:lpstr>
      <vt:lpstr>Aptos</vt:lpstr>
      <vt:lpstr>Arial</vt:lpstr>
      <vt:lpstr>Calibri</vt:lpstr>
      <vt:lpstr>Lucida Console</vt:lpstr>
      <vt:lpstr>Roboto</vt:lpstr>
      <vt:lpstr>Roboto Light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Baird</cp:lastModifiedBy>
  <cp:revision>20</cp:revision>
  <dcterms:created xsi:type="dcterms:W3CDTF">2013-01-27T09:14:16Z</dcterms:created>
  <dcterms:modified xsi:type="dcterms:W3CDTF">2026-06-03T04:21:38Z</dcterms:modified>
  <cp:category/>
</cp:coreProperties>
</file>