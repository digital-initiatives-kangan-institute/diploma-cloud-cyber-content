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5"/>
  </p:notesMasterIdLst>
  <p:sldIdLst>
    <p:sldId id="256" r:id="rId2"/>
    <p:sldId id="257" r:id="rId3"/>
    <p:sldId id="258" r:id="rId4"/>
    <p:sldId id="259" r:id="rId5"/>
    <p:sldId id="281" r:id="rId6"/>
    <p:sldId id="282" r:id="rId7"/>
    <p:sldId id="283" r:id="rId8"/>
    <p:sldId id="284" r:id="rId9"/>
    <p:sldId id="260" r:id="rId10"/>
    <p:sldId id="285" r:id="rId11"/>
    <p:sldId id="261" r:id="rId12"/>
    <p:sldId id="287" r:id="rId13"/>
    <p:sldId id="288" r:id="rId14"/>
    <p:sldId id="289" r:id="rId15"/>
    <p:sldId id="290" r:id="rId16"/>
    <p:sldId id="291" r:id="rId17"/>
    <p:sldId id="262" r:id="rId18"/>
    <p:sldId id="263" r:id="rId19"/>
    <p:sldId id="264" r:id="rId20"/>
    <p:sldId id="265" r:id="rId21"/>
    <p:sldId id="266" r:id="rId22"/>
    <p:sldId id="296" r:id="rId23"/>
    <p:sldId id="267" r:id="rId24"/>
    <p:sldId id="299" r:id="rId25"/>
    <p:sldId id="298" r:id="rId26"/>
    <p:sldId id="297" r:id="rId27"/>
    <p:sldId id="292" r:id="rId28"/>
    <p:sldId id="295" r:id="rId29"/>
    <p:sldId id="268" r:id="rId30"/>
    <p:sldId id="269" r:id="rId31"/>
    <p:sldId id="270" r:id="rId32"/>
    <p:sldId id="271" r:id="rId33"/>
    <p:sldId id="272" r:id="rId34"/>
    <p:sldId id="300" r:id="rId35"/>
    <p:sldId id="273" r:id="rId36"/>
    <p:sldId id="274" r:id="rId37"/>
    <p:sldId id="303" r:id="rId38"/>
    <p:sldId id="301" r:id="rId39"/>
    <p:sldId id="275" r:id="rId40"/>
    <p:sldId id="276" r:id="rId41"/>
    <p:sldId id="277" r:id="rId42"/>
    <p:sldId id="278" r:id="rId43"/>
    <p:sldId id="279" r:id="rId4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0459" autoAdjust="0"/>
  </p:normalViewPr>
  <p:slideViewPr>
    <p:cSldViewPr snapToGrid="0" snapToObjects="1">
      <p:cViewPr varScale="1">
        <p:scale>
          <a:sx n="60" d="100"/>
          <a:sy n="60" d="100"/>
        </p:scale>
        <p:origin x="90" y="1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316702-F544-4855-9909-25450D152D65}" type="datetimeFigureOut">
              <a:rPr lang="en-AU" smtClean="0"/>
              <a:t>3/06/2026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587B50-9B83-4967-B6B1-0AE859023499}" type="slidenum">
              <a:rPr lang="en-AU" smtClean="0"/>
              <a:t>‹#›</a:t>
            </a:fld>
            <a:endParaRPr lang="en-AU"/>
          </a:p>
        </p:txBody>
      </p:sp>
    </p:spTree>
    <p:extLst>
      <p:ext uri="{BB962C8B-B14F-4D97-AF65-F5344CB8AC3E}">
        <p14:creationId xmlns:p14="http://schemas.microsoft.com/office/powerpoint/2010/main" val="19181573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computer </a:t>
            </a:r>
            <a:r>
              <a:rPr lang="en-US" i="1" dirty="0"/>
              <a:t>network</a:t>
            </a:r>
            <a:r>
              <a:rPr lang="en-US" dirty="0"/>
              <a:t> is two or more client machines that are connected together to share resources. A network can be logically partitioned into </a:t>
            </a:r>
            <a:r>
              <a:rPr lang="en-US" i="1" dirty="0"/>
              <a:t>subnets</a:t>
            </a:r>
            <a:r>
              <a:rPr lang="en-US" dirty="0"/>
              <a:t>. Networking requires a networking device (such as a router or switch) to connect all the clients together and enable communication between them.</a:t>
            </a: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5</a:t>
            </a:fld>
            <a:endParaRPr lang="en-AU"/>
          </a:p>
        </p:txBody>
      </p:sp>
    </p:spTree>
    <p:extLst>
      <p:ext uri="{BB962C8B-B14F-4D97-AF65-F5344CB8AC3E}">
        <p14:creationId xmlns:p14="http://schemas.microsoft.com/office/powerpoint/2010/main" val="3611332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client machine in a network has a unique Internet Protocol (IP) address that identifies it. An IP address is a numerical label in decimal format. Machines convert that decimal number to a binary format.</a:t>
            </a:r>
          </a:p>
          <a:p>
            <a:endParaRPr lang="en-US" dirty="0"/>
          </a:p>
          <a:p>
            <a:r>
              <a:rPr lang="en-US" dirty="0"/>
              <a:t>In this example, the IP address is 192.0.2.0. Each of the four dot (.)-separated numbers of the IP address represents 8 bits in octal number format. That means each of the four numbers can be anything from 0 to 255. The combined total of the four numbers for an IP address is 32 bits in binary format. </a:t>
            </a: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6</a:t>
            </a:fld>
            <a:endParaRPr lang="en-AU"/>
          </a:p>
        </p:txBody>
      </p:sp>
    </p:spTree>
    <p:extLst>
      <p:ext uri="{BB962C8B-B14F-4D97-AF65-F5344CB8AC3E}">
        <p14:creationId xmlns:p14="http://schemas.microsoft.com/office/powerpoint/2010/main" val="3940975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32-bit IP address is called an IPv4 address. </a:t>
            </a:r>
          </a:p>
          <a:p>
            <a:endParaRPr lang="en-US" dirty="0"/>
          </a:p>
          <a:p>
            <a:r>
              <a:rPr lang="en-US" dirty="0"/>
              <a:t>IPv6 addresses, which are 128 bits, are also available. IPv6 addresses can accommodate more user devices.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 IPv6 address is composed of eight groups of four letters and numbers that are separated by colons (:). In this example, the IPv6 address is </a:t>
            </a:r>
            <a:r>
              <a:rPr lang="en-US" dirty="0">
                <a:ea typeface="Amazon Ember" panose="020B0603020204020204" pitchFamily="34" charset="0"/>
                <a:cs typeface="Amazon Ember" panose="020B0603020204020204" pitchFamily="34" charset="0"/>
              </a:rPr>
              <a:t>2600:1f18:22ba:8c00:ba86:a05e:a5ba:00FF</a:t>
            </a:r>
            <a:r>
              <a:rPr lang="en-US" dirty="0"/>
              <a:t>. Each of the eight colon-separated groups of the IPv6 address represents 16 bits in hexadecimal number format. That means each of the eight groups can be anything from 0 to FFFF. The combined total of the eight groups for an IPv6 address is 128 bits in binary format. </a:t>
            </a: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7</a:t>
            </a:fld>
            <a:endParaRPr lang="en-AU"/>
          </a:p>
        </p:txBody>
      </p:sp>
    </p:spTree>
    <p:extLst>
      <p:ext uri="{BB962C8B-B14F-4D97-AF65-F5344CB8AC3E}">
        <p14:creationId xmlns:p14="http://schemas.microsoft.com/office/powerpoint/2010/main" val="23386716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common method to describe networks is Classless Inter-Domain Routing (CIDR). The CIDR address is expressed as follows: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An IP address (which is the first address of the network)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Next, a slash character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Finally, a number that tells you how many bits of the routing prefix must be fixed or allocated for the network identifier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The bits that are not fixed are allowed to change. CIDR is a way to express a group of IP addresses that are consecutive to each other.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example, the CIDR address is 192.0.2.0/24. The last number (24) tells you that the first 24 bits must be fixed. The last 8 bits are flexible, which means that 2</a:t>
            </a:r>
            <a:r>
              <a:rPr lang="en-US" baseline="30000" dirty="0"/>
              <a:t>8</a:t>
            </a:r>
            <a:r>
              <a:rPr lang="en-US" dirty="0"/>
              <a:t> (or 256) IP addresses are available for the network, which range</a:t>
            </a:r>
            <a:r>
              <a:rPr lang="en-US" baseline="0" dirty="0"/>
              <a:t> </a:t>
            </a:r>
            <a:r>
              <a:rPr lang="en-US" dirty="0"/>
              <a:t>from 192.0.2.0 to 192.0.2.255. The fourth decimal digit is allowed to change from 0 to 255.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If the CIDR was 192.0.2.0/16, the last number (16) tells you that the first 16 bits must be fixed. The last 16 bits are flexible, which means that 2</a:t>
            </a:r>
            <a:r>
              <a:rPr lang="en-US" baseline="30000" dirty="0"/>
              <a:t>16</a:t>
            </a:r>
            <a:r>
              <a:rPr lang="en-US" dirty="0"/>
              <a:t> (or 65,536) IP addresses are available for the network, ranging from 192.0.0.0 to 192.0.255.255. The third and fourth decimal digits can each change from 0 to 255.</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There are two special cases: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Fixed IP addresses, in which every bit is fixed, represent a single IP address (for example, </a:t>
            </a:r>
            <a:r>
              <a:rPr lang="en-US" i="1" dirty="0"/>
              <a:t>192.0.2.0/32</a:t>
            </a:r>
            <a:r>
              <a:rPr lang="en-US" dirty="0"/>
              <a:t>). This type of address is helpful when you want to set up a firewall rule and give access to a specific host.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The internet, in which every bit is flexible, is represented as 0.0.0.0/0</a:t>
            </a:r>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8</a:t>
            </a:fld>
            <a:endParaRPr lang="en-AU"/>
          </a:p>
        </p:txBody>
      </p:sp>
    </p:spTree>
    <p:extLst>
      <p:ext uri="{BB962C8B-B14F-4D97-AF65-F5344CB8AC3E}">
        <p14:creationId xmlns:p14="http://schemas.microsoft.com/office/powerpoint/2010/main" val="548433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9</a:t>
            </a:fld>
            <a:endParaRPr lang="en-AU"/>
          </a:p>
        </p:txBody>
      </p:sp>
    </p:spTree>
    <p:extLst>
      <p:ext uri="{BB962C8B-B14F-4D97-AF65-F5344CB8AC3E}">
        <p14:creationId xmlns:p14="http://schemas.microsoft.com/office/powerpoint/2010/main" val="2248382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To isolate resources that share the same routing requirements, you can place them in public or private subnets. For resources that should be reached from the internet, create a subnet and an internet gateway.  </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An internet gateway is a VPC component that allows communication between resources in your VPC and the internet. It’s horizontally scaled, redundant, and highly available. An internet gateway supports IPv4 and IPv6 traffic. An internet gateway serves two purposes. First, it provides a target in your VPC route tables for internet-routable traffic. Second, the internet gateway performs NAT for instances that were assigned public IPv4 addresses. </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To make your public subnet reachable from the internet, create an internet gateway and attach the internet gateway to the VPC. The internet gateway is a Regional resource and can only be attached to one VPC. Create an EC2 instance with a public IP address in the public subnet. </a:t>
            </a:r>
            <a:r>
              <a:rPr lang="en-US" kern="1200" dirty="0">
                <a:solidFill>
                  <a:schemeClr val="tx1"/>
                </a:solidFill>
                <a:effectLst/>
                <a:latin typeface="Calibri" panose="020F0502020204030204" pitchFamily="34" charset="0"/>
                <a:ea typeface="+mn-ea"/>
                <a:cs typeface="+mn-cs"/>
              </a:rPr>
              <a:t>To send traffic through the internet gateway to the internet from the subnet, create a public subnet route table. Add a route to the public subnet route table with destination </a:t>
            </a:r>
            <a:r>
              <a:rPr lang="en-US" b="0" kern="1200" dirty="0">
                <a:solidFill>
                  <a:schemeClr val="tx1"/>
                </a:solidFill>
                <a:effectLst/>
                <a:latin typeface="Calibri" panose="020F0502020204030204" pitchFamily="34" charset="0"/>
                <a:ea typeface="+mn-ea"/>
                <a:cs typeface="+mn-cs"/>
              </a:rPr>
              <a:t>0.0.0.0/0 to indicate all traffic and a target with the internet gateway ID. The main VPC route table is overridden with the routes of the public subnet route table.</a:t>
            </a:r>
          </a:p>
          <a:p>
            <a:pPr marL="0" marR="0" lvl="0" indent="0" defTabSz="914400" rtl="0" eaLnBrk="1" fontAlgn="auto" latinLnBrk="0" hangingPunct="1">
              <a:buClrTx/>
              <a:buSzTx/>
              <a:buFontTx/>
              <a:buNone/>
              <a:tabLst/>
              <a:defRPr/>
            </a:pPr>
            <a:endParaRPr lang="en-US" b="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kern="1200" dirty="0">
                <a:solidFill>
                  <a:schemeClr val="tx1"/>
                </a:solidFill>
                <a:effectLst/>
                <a:latin typeface="Calibri" panose="020F0502020204030204" pitchFamily="34" charset="0"/>
                <a:ea typeface="+mn-ea"/>
                <a:cs typeface="+mn-cs"/>
              </a:rPr>
              <a:t>In the diagram, note that the EC2 instance has to have a public IP address to allow reachability from the internet. Public IP addresses are not associated with an AWS account and are released back to AWS when not in use.</a:t>
            </a:r>
            <a:endParaRPr lang="en-US" kern="1200" dirty="0">
              <a:solidFill>
                <a:schemeClr val="tx1"/>
              </a:solidFill>
              <a:effectLst/>
              <a:latin typeface="Calibri" panose="020F0502020204030204" pitchFamily="34" charset="0"/>
              <a:ea typeface="+mn-ea"/>
              <a:cs typeface="+mn-cs"/>
            </a:endParaRP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12</a:t>
            </a:fld>
            <a:endParaRPr lang="en-AU"/>
          </a:p>
        </p:txBody>
      </p:sp>
    </p:spTree>
    <p:extLst>
      <p:ext uri="{BB962C8B-B14F-4D97-AF65-F5344CB8AC3E}">
        <p14:creationId xmlns:p14="http://schemas.microsoft.com/office/powerpoint/2010/main" val="25819832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dirty="0">
                <a:latin typeface="Calibri" panose="020F0502020204030204" pitchFamily="34" charset="0"/>
              </a:rPr>
              <a:t>An </a:t>
            </a:r>
            <a:r>
              <a:rPr lang="en-US" i="0" dirty="0">
                <a:latin typeface="Calibri" panose="020F0502020204030204" pitchFamily="34" charset="0"/>
              </a:rPr>
              <a:t>Elastic IP address </a:t>
            </a:r>
            <a:r>
              <a:rPr lang="en-US" dirty="0">
                <a:latin typeface="Calibri" panose="020F0502020204030204" pitchFamily="34" charset="0"/>
              </a:rPr>
              <a:t>is a static and public IPv4 address that you can associate with an EC2 instance. If the EC2 instance’s health deteriorates, you can transfer the Elastic IP address to a new, healthy EC2 instance. An EC2 instance private IP address is dynamic as it is released when the instance is terminated.</a:t>
            </a:r>
            <a:endParaRPr lang="en-US" kern="1200" dirty="0">
              <a:solidFill>
                <a:schemeClr val="tx1"/>
              </a:solidFill>
              <a:effectLst/>
              <a:latin typeface="Calibri" panose="020F0502020204030204" pitchFamily="34" charset="0"/>
              <a:ea typeface="+mn-ea"/>
              <a:cs typeface="+mn-cs"/>
            </a:endParaRPr>
          </a:p>
          <a:p>
            <a:endParaRPr lang="en-US" dirty="0">
              <a:latin typeface="Calibri" panose="020F0502020204030204" pitchFamily="34" charset="0"/>
            </a:endParaRPr>
          </a:p>
          <a:p>
            <a:r>
              <a:rPr lang="en-US" dirty="0">
                <a:latin typeface="Calibri" panose="020F0502020204030204" pitchFamily="34" charset="0"/>
              </a:rPr>
              <a:t>There’s no cost for the first Elastic IP address that’s associated with a running EC2 instance. You will incur cost for any additional Elastic IP addresses associated with the instance or the instance is stopped. If you detach the Elastic IP address from the instance and don’t associate it with another instance, you will incur an hourly cost.</a:t>
            </a:r>
          </a:p>
          <a:p>
            <a:endParaRPr lang="en-US" dirty="0">
              <a:latin typeface="Calibri" panose="020F0502020204030204" pitchFamily="34" charset="0"/>
            </a:endParaRPr>
          </a:p>
          <a:p>
            <a:r>
              <a:rPr lang="en-US" dirty="0">
                <a:latin typeface="Calibri" panose="020F0502020204030204" pitchFamily="34" charset="0"/>
              </a:rPr>
              <a:t>Elastic IP addresses can also be associated with a load balancer or a VPC network interface.</a:t>
            </a: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13</a:t>
            </a:fld>
            <a:endParaRPr lang="en-AU"/>
          </a:p>
        </p:txBody>
      </p:sp>
    </p:spTree>
    <p:extLst>
      <p:ext uri="{BB962C8B-B14F-4D97-AF65-F5344CB8AC3E}">
        <p14:creationId xmlns:p14="http://schemas.microsoft.com/office/powerpoint/2010/main" val="30828883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For resources that shouldn’t be accessible from the internet, you can define a VPC private subnet. </a:t>
            </a:r>
            <a:r>
              <a:rPr lang="en-US" b="0" i="0" kern="1200" dirty="0">
                <a:solidFill>
                  <a:schemeClr val="tx1"/>
                </a:solidFill>
                <a:effectLst/>
                <a:latin typeface="Calibri" panose="020F0502020204030204" pitchFamily="34" charset="0"/>
                <a:ea typeface="+mn-ea"/>
                <a:cs typeface="+mn-cs"/>
              </a:rPr>
              <a:t>All resources in the private subnet aren’t reachable from the internet and don’t have direct access to the internet.</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kern="1200" dirty="0">
                <a:solidFill>
                  <a:schemeClr val="tx1"/>
                </a:solidFill>
                <a:effectLst/>
                <a:latin typeface="Calibri" panose="020F0502020204030204" pitchFamily="34" charset="0"/>
                <a:ea typeface="+mn-ea"/>
                <a:cs typeface="+mn-cs"/>
              </a:rPr>
              <a:t>It’s a best practice to define a custom route table for every subnet containing its own routes. In the diagram, the private subnet route table is identical to the main VPC route table. The EC2 instance can reach any resource in the VPC. </a:t>
            </a:r>
          </a:p>
          <a:p>
            <a:pPr marL="0" marR="0" lvl="0" indent="0" defTabSz="914400" rtl="0" eaLnBrk="1" fontAlgn="auto" latinLnBrk="0" hangingPunct="1">
              <a:buClrTx/>
              <a:buSzTx/>
              <a:buFontTx/>
              <a:buNone/>
              <a:tabLst/>
              <a:defRPr/>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When a subnet doesn’t have an explicit routing table associated with it, the main VPC route table is used by default. A subnet can only be associated with one route table at a time, but you can associate multiple subnets in a subnet route table.</a:t>
            </a: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14</a:t>
            </a:fld>
            <a:endParaRPr lang="en-AU"/>
          </a:p>
        </p:txBody>
      </p:sp>
    </p:spTree>
    <p:extLst>
      <p:ext uri="{BB962C8B-B14F-4D97-AF65-F5344CB8AC3E}">
        <p14:creationId xmlns:p14="http://schemas.microsoft.com/office/powerpoint/2010/main" val="9342426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dirty="0">
                <a:solidFill>
                  <a:schemeClr val="tx1"/>
                </a:solidFill>
                <a:effectLst/>
                <a:latin typeface="Calibri" panose="020F0502020204030204" pitchFamily="34" charset="0"/>
                <a:ea typeface="+mn-ea"/>
                <a:cs typeface="+mn-cs"/>
              </a:rPr>
              <a:t>W</a:t>
            </a:r>
            <a:r>
              <a:rPr lang="en-US" dirty="0">
                <a:latin typeface="Calibri" panose="020F0502020204030204" pitchFamily="34" charset="0"/>
              </a:rPr>
              <a:t>hen you don’t want to expose a server IP address to other networks or the internet, it’s useful to use a NAT device. The NAT device replaces the private IP of the request initiator with it’s own public IP.</a:t>
            </a:r>
          </a:p>
          <a:p>
            <a:endParaRPr lang="en-US" dirty="0">
              <a:latin typeface="Calibri" panose="020F0502020204030204" pitchFamily="34" charset="0"/>
            </a:endParaRPr>
          </a:p>
          <a:p>
            <a:r>
              <a:rPr lang="en-US" dirty="0">
                <a:latin typeface="Calibri" panose="020F0502020204030204" pitchFamily="34" charset="0"/>
              </a:rPr>
              <a:t>In the example on the slide, the following sequence of events take place:</a:t>
            </a:r>
          </a:p>
          <a:p>
            <a:endParaRPr lang="en-US" dirty="0">
              <a:latin typeface="Calibri" panose="020F0502020204030204" pitchFamily="34" charset="0"/>
            </a:endParaRPr>
          </a:p>
          <a:p>
            <a:pPr marL="228600" indent="-228600">
              <a:buAutoNum type="arabicPeriod"/>
            </a:pPr>
            <a:r>
              <a:rPr lang="en-US" dirty="0">
                <a:latin typeface="Calibri" panose="020F0502020204030204" pitchFamily="34" charset="0"/>
              </a:rPr>
              <a:t>The source server initiates a request message to the NAT device with it’s own private IP of 10.0.0.17 as the message source IP.</a:t>
            </a:r>
          </a:p>
          <a:p>
            <a:pPr marL="228600" indent="-228600">
              <a:buAutoNum type="arabicPeriod"/>
            </a:pPr>
            <a:r>
              <a:rPr lang="en-US" dirty="0">
                <a:latin typeface="Calibri" panose="020F0502020204030204" pitchFamily="34" charset="0"/>
              </a:rPr>
              <a:t>The NAT device maps the message source IP to it’s own public IP of 89.89.0.100 and forwards the message to the destination server.</a:t>
            </a:r>
          </a:p>
          <a:p>
            <a:pPr marL="228600" indent="-228600">
              <a:buAutoNum type="arabicPeriod"/>
            </a:pPr>
            <a:r>
              <a:rPr lang="en-US" dirty="0">
                <a:latin typeface="Calibri" panose="020F0502020204030204" pitchFamily="34" charset="0"/>
              </a:rPr>
              <a:t>The destination server responds with the destination IP set as  89.89.0.100 to the NAT device.</a:t>
            </a:r>
          </a:p>
          <a:p>
            <a:pPr marL="228600" indent="-228600">
              <a:buAutoNum type="arabicPeriod"/>
            </a:pPr>
            <a:r>
              <a:rPr lang="en-US" dirty="0">
                <a:latin typeface="Calibri" panose="020F0502020204030204" pitchFamily="34" charset="0"/>
              </a:rPr>
              <a:t>The NAT device maps the response message destination IP to the source server’s private IP of 10.0.0.17 and forwards the message to the source server.</a:t>
            </a: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15</a:t>
            </a:fld>
            <a:endParaRPr lang="en-AU"/>
          </a:p>
        </p:txBody>
      </p:sp>
    </p:spTree>
    <p:extLst>
      <p:ext uri="{BB962C8B-B14F-4D97-AF65-F5344CB8AC3E}">
        <p14:creationId xmlns:p14="http://schemas.microsoft.com/office/powerpoint/2010/main" val="29628726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dirty="0">
                <a:solidFill>
                  <a:schemeClr val="tx1"/>
                </a:solidFill>
                <a:effectLst/>
                <a:latin typeface="Calibri" panose="020F0502020204030204" pitchFamily="34" charset="0"/>
                <a:ea typeface="+mn-ea"/>
                <a:cs typeface="+mn-cs"/>
              </a:rPr>
              <a:t>There are scenarios where there’s a requirement to have resources in a private subnet connect to the internet. The resources must stay private and not discoverable by the internet. For example, requesting patches from the internet to download on an EC2 instance. </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You can use a NAT device to allow resources in private subnets to connect to the internet, other VPCs, or on-premises networks. These instances can communicate with services outside the VPC, but they can’t receive unsolicited connection requests. </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AWS offers two types of NAT device solutions. You can use an AWS managed NAT device offered by AWS, called a NAT</a:t>
            </a:r>
            <a:r>
              <a:rPr lang="en-US" b="0" i="1" kern="1200" dirty="0">
                <a:solidFill>
                  <a:schemeClr val="tx1"/>
                </a:solidFill>
                <a:effectLst/>
                <a:latin typeface="Calibri" panose="020F0502020204030204" pitchFamily="34" charset="0"/>
                <a:ea typeface="+mn-ea"/>
                <a:cs typeface="+mn-cs"/>
              </a:rPr>
              <a:t> </a:t>
            </a:r>
            <a:r>
              <a:rPr lang="en-US" b="0" i="0" kern="1200" dirty="0">
                <a:solidFill>
                  <a:schemeClr val="tx1"/>
                </a:solidFill>
                <a:effectLst/>
                <a:latin typeface="Calibri" panose="020F0502020204030204" pitchFamily="34" charset="0"/>
                <a:ea typeface="+mn-ea"/>
                <a:cs typeface="+mn-cs"/>
              </a:rPr>
              <a:t>gateway, or you can create your own NAT device on an EC2 instance, called a NAT</a:t>
            </a:r>
            <a:r>
              <a:rPr lang="en-US" b="0" i="1" kern="1200" dirty="0">
                <a:solidFill>
                  <a:schemeClr val="tx1"/>
                </a:solidFill>
                <a:effectLst/>
                <a:latin typeface="Calibri" panose="020F0502020204030204" pitchFamily="34" charset="0"/>
                <a:ea typeface="+mn-ea"/>
                <a:cs typeface="+mn-cs"/>
              </a:rPr>
              <a:t> </a:t>
            </a:r>
            <a:r>
              <a:rPr lang="en-US" b="0" i="0" kern="1200" dirty="0">
                <a:solidFill>
                  <a:schemeClr val="tx1"/>
                </a:solidFill>
                <a:effectLst/>
                <a:latin typeface="Calibri" panose="020F0502020204030204" pitchFamily="34" charset="0"/>
                <a:ea typeface="+mn-ea"/>
                <a:cs typeface="+mn-cs"/>
              </a:rPr>
              <a:t>instance. Because a NAT gateway is a managed AWS service, it incurs an hourly cost. A NAT device instance incurs EC2 costs.</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1. In the image above, EC2 application instance 1 initiated a request to the NAT gateway using the private subnet route table. The NAT gateway replaces the source IPv4 address of the instance with the address of the NAT gateway. The NAT gateway sends the request to the internet gateway and receives the response. When sending the response back to the instance, the NAT gateway translates the IP address back to the private EC2 application instance 1 IPv4 address.</a:t>
            </a:r>
          </a:p>
          <a:p>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Tx/>
              <a:buNone/>
              <a:tabLst/>
              <a:defRPr/>
            </a:pPr>
            <a:r>
              <a:rPr lang="en-US" b="0" i="0" kern="1200" dirty="0">
                <a:solidFill>
                  <a:schemeClr val="tx1"/>
                </a:solidFill>
                <a:effectLst/>
                <a:latin typeface="Calibri" panose="020F0502020204030204" pitchFamily="34" charset="0"/>
                <a:ea typeface="+mn-ea"/>
                <a:cs typeface="+mn-cs"/>
              </a:rPr>
              <a:t>2. Similarly, EC2 application instance 2 initiated a request to the NAT instance using the private subnet route table. The NAT instance replaces the source IPv4 address of the instance with the address of the NAT instance. The NAT gateway sends the request to the internet gateway and receives the response. When sending response traffic to back the instance, the NAT instance translates the addresses back to the private EC2 application instance 2 IPv4 address.</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AWS recommends that you use NAT gateways over NAT instances because they provide better availability and bandwidth and require less effort on your part to administer. For resilience when using multiple AZs, deploy a NAT gateway in each AZ.</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For IPv6 private subnets, use an egress-only internet gateway to allow outbound communication over IPv6 to the internet and prevent the internet from initiating an IPv6 connection with your instances.</a:t>
            </a: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16</a:t>
            </a:fld>
            <a:endParaRPr lang="en-AU"/>
          </a:p>
        </p:txBody>
      </p:sp>
    </p:spTree>
    <p:extLst>
      <p:ext uri="{BB962C8B-B14F-4D97-AF65-F5344CB8AC3E}">
        <p14:creationId xmlns:p14="http://schemas.microsoft.com/office/powerpoint/2010/main" val="5910279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21</a:t>
            </a:fld>
            <a:endParaRPr lang="en-AU"/>
          </a:p>
        </p:txBody>
      </p:sp>
    </p:spTree>
    <p:extLst>
      <p:ext uri="{BB962C8B-B14F-4D97-AF65-F5344CB8AC3E}">
        <p14:creationId xmlns:p14="http://schemas.microsoft.com/office/powerpoint/2010/main" val="22873496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kern="1200" dirty="0">
                <a:solidFill>
                  <a:schemeClr val="tx1"/>
                </a:solidFill>
                <a:effectLst/>
                <a:latin typeface="Calibri" panose="020F0502020204030204" pitchFamily="34" charset="0"/>
                <a:ea typeface="+mn-ea"/>
                <a:cs typeface="+mn-cs"/>
              </a:rPr>
              <a:t>When organizations are dealing with sensitive data or have strict compliance requirements, AWS Network Firewall is available as another security layer to add to security groups and network ACLs. AWS Network firewall acts as a buffer to ensure traffic sent to VPC resources is not malicious.</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It’s a stateful, managed network firewall and intrusion detection and prevention service for a VPC. It’s deployed in a firewall subnet which inspects all incoming VPC traffic to protect VPC subnets. To implement an AWS Network Firewall endpoint, modify your Amazon VPC route tables to send your network traffic through the Network Firewall </a:t>
            </a:r>
            <a:r>
              <a:rPr lang="en-US" b="0" i="0" kern="1200" dirty="0" err="1">
                <a:solidFill>
                  <a:schemeClr val="tx1"/>
                </a:solidFill>
                <a:effectLst/>
                <a:latin typeface="Calibri" panose="020F0502020204030204" pitchFamily="34" charset="0"/>
                <a:ea typeface="+mn-ea"/>
                <a:cs typeface="+mn-cs"/>
              </a:rPr>
              <a:t>firewall</a:t>
            </a:r>
            <a:r>
              <a:rPr lang="en-US" b="0" i="0" kern="1200" dirty="0">
                <a:solidFill>
                  <a:schemeClr val="tx1"/>
                </a:solidFill>
                <a:effectLst/>
                <a:latin typeface="Calibri" panose="020F0502020204030204" pitchFamily="34" charset="0"/>
                <a:ea typeface="+mn-ea"/>
                <a:cs typeface="+mn-cs"/>
              </a:rPr>
              <a:t> endpoints. Route table 1 and route table 2 are modified to route traffic through the firewall endpoint. In the example, all traffic external to the VPC is then routed first through route table 1, to the AWS Network Firewall endpoint, and then through route table 2 to the EC2 application instance in the VPC private subnet.  </a:t>
            </a:r>
          </a:p>
          <a:p>
            <a:endParaRPr lang="en-US" b="0" i="0" kern="1200" dirty="0">
              <a:solidFill>
                <a:schemeClr val="tx1"/>
              </a:solidFill>
              <a:effectLst/>
              <a:latin typeface="Calibri" panose="020F0502020204030204" pitchFamily="34" charset="0"/>
              <a:ea typeface="+mn-ea"/>
              <a:cs typeface="+mn-cs"/>
            </a:endParaRPr>
          </a:p>
          <a:p>
            <a:r>
              <a:rPr lang="en-US" b="0" i="0" kern="1200" dirty="0">
                <a:solidFill>
                  <a:schemeClr val="tx1"/>
                </a:solidFill>
                <a:effectLst/>
                <a:latin typeface="Calibri" panose="020F0502020204030204" pitchFamily="34" charset="0"/>
                <a:ea typeface="+mn-ea"/>
                <a:cs typeface="+mn-cs"/>
              </a:rPr>
              <a:t>Route table 1 would be modified to have an all traffic destination from an external target like an internet gateway ID. Route table 2 would accept only traffic from firewall subnet with a destination of all traffic and a target of firewall subnet ID.</a:t>
            </a:r>
            <a:endParaRPr lang="en-US" b="1" dirty="0">
              <a:latin typeface="Calibri" panose="020F0502020204030204" pitchFamily="34" charset="0"/>
            </a:endParaRP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22</a:t>
            </a:fld>
            <a:endParaRPr lang="en-AU"/>
          </a:p>
        </p:txBody>
      </p:sp>
    </p:spTree>
    <p:extLst>
      <p:ext uri="{BB962C8B-B14F-4D97-AF65-F5344CB8AC3E}">
        <p14:creationId xmlns:p14="http://schemas.microsoft.com/office/powerpoint/2010/main" val="36546793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i="1" dirty="0"/>
              <a:t>security group</a:t>
            </a:r>
            <a:r>
              <a:rPr lang="en-US" dirty="0"/>
              <a:t> acts as a virtual firewall for your instance, and it controls inbound and outbound traffic. Security groups act at the instance level, not the subnet level. Therefore, each instance in a subnet in your VPC can be assigned to a different set of security groups. </a:t>
            </a:r>
          </a:p>
          <a:p>
            <a:r>
              <a:rPr lang="en-US" kern="1200" dirty="0">
                <a:solidFill>
                  <a:schemeClr val="tx1"/>
                </a:solidFill>
                <a:effectLst/>
                <a:latin typeface="+mn-lt"/>
                <a:ea typeface="+mn-ea"/>
                <a:cs typeface="+mn-cs"/>
              </a:rPr>
              <a:t> </a:t>
            </a:r>
          </a:p>
          <a:p>
            <a:r>
              <a:rPr lang="en-US" kern="1200" dirty="0">
                <a:solidFill>
                  <a:schemeClr val="tx1"/>
                </a:solidFill>
                <a:effectLst/>
                <a:latin typeface="+mn-lt"/>
                <a:ea typeface="+mn-ea"/>
                <a:cs typeface="+mn-cs"/>
              </a:rPr>
              <a:t>At the most basic level, a security group is a way for you to filter traffic to your instances.</a:t>
            </a: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24</a:t>
            </a:fld>
            <a:endParaRPr lang="en-AU"/>
          </a:p>
        </p:txBody>
      </p:sp>
    </p:spTree>
    <p:extLst>
      <p:ext uri="{BB962C8B-B14F-4D97-AF65-F5344CB8AC3E}">
        <p14:creationId xmlns:p14="http://schemas.microsoft.com/office/powerpoint/2010/main" val="20790999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groups have </a:t>
            </a:r>
            <a:r>
              <a:rPr lang="en-US" i="1" dirty="0"/>
              <a:t>rules</a:t>
            </a:r>
            <a:r>
              <a:rPr lang="en-US" dirty="0"/>
              <a:t> that control the inbound and outbound traffic. When you create a security group, it has no inbound rules. Therefore, </a:t>
            </a:r>
            <a:r>
              <a:rPr lang="en-US" i="1" dirty="0"/>
              <a:t>no inbound traffic that originates from another host to your instance is allowed </a:t>
            </a:r>
            <a:r>
              <a:rPr lang="en-US" dirty="0"/>
              <a:t>until you add inbound rules to the security group. By default, a security group includes an outbound rule that </a:t>
            </a:r>
            <a:r>
              <a:rPr lang="en-US" i="1" dirty="0"/>
              <a:t>allows all outbound traffic</a:t>
            </a:r>
            <a:r>
              <a:rPr lang="en-US" dirty="0"/>
              <a:t>. You can remove the rule and add outbound rules that allow specific outbound traffic only. If your security group has no outbound rules, no outbound traffic that originates from your instance is allowed.</a:t>
            </a:r>
          </a:p>
          <a:p>
            <a:endParaRPr lang="en-US" dirty="0"/>
          </a:p>
          <a:p>
            <a:r>
              <a:rPr lang="en-US" dirty="0"/>
              <a:t>Security groups are </a:t>
            </a:r>
            <a:r>
              <a:rPr lang="en-US" i="1" dirty="0"/>
              <a:t>stateful</a:t>
            </a:r>
            <a:r>
              <a:rPr lang="en-US" dirty="0"/>
              <a:t>, which means that state information is kept even after a request is processed. Thus,</a:t>
            </a:r>
            <a:r>
              <a:rPr lang="en-US" baseline="0" dirty="0"/>
              <a:t> if</a:t>
            </a:r>
            <a:r>
              <a:rPr lang="en-US" dirty="0"/>
              <a:t> you send a request from your instance, the response traffic for that request is allowed to flow in regardless of inbound security group rules. Responses to allowed inbound traffic are allowed to flow out, regardless of outbound rules. </a:t>
            </a: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25</a:t>
            </a:fld>
            <a:endParaRPr lang="en-AU"/>
          </a:p>
        </p:txBody>
      </p:sp>
    </p:spTree>
    <p:extLst>
      <p:ext uri="{BB962C8B-B14F-4D97-AF65-F5344CB8AC3E}">
        <p14:creationId xmlns:p14="http://schemas.microsoft.com/office/powerpoint/2010/main" val="18231791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you create a custom security group, you can specify allow rules, but not deny rules. All rules are evaluated before the decision to allow traffic.</a:t>
            </a: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26</a:t>
            </a:fld>
            <a:endParaRPr lang="en-AU"/>
          </a:p>
        </p:txBody>
      </p:sp>
    </p:spTree>
    <p:extLst>
      <p:ext uri="{BB962C8B-B14F-4D97-AF65-F5344CB8AC3E}">
        <p14:creationId xmlns:p14="http://schemas.microsoft.com/office/powerpoint/2010/main" val="17574018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latin typeface="Calibri" panose="020F0502020204030204" pitchFamily="34" charset="0"/>
              </a:rPr>
              <a:t>Security groups and network ACLs both are mechanisms that allow you to define network traffic filters called rules. Both can be used simultaneously, or only one can be used. Think of it as a person that lives in a high rise apartment in a big city.  </a:t>
            </a:r>
          </a:p>
          <a:p>
            <a:endParaRPr lang="en-US" b="0" dirty="0">
              <a:latin typeface="Calibri" panose="020F0502020204030204" pitchFamily="34" charset="0"/>
            </a:endParaRPr>
          </a:p>
          <a:p>
            <a:r>
              <a:rPr lang="en-US" b="0" dirty="0">
                <a:latin typeface="Calibri" panose="020F0502020204030204" pitchFamily="34" charset="0"/>
              </a:rPr>
              <a:t>To get into their own apartment, they first have to enter the building. A doorman protects the building and only lets in the tenants living in the building. In the same way, network ACLs act as a subnet firewall for VPC subnets by only letting in the traffic allowed by the ACL rules.</a:t>
            </a:r>
          </a:p>
          <a:p>
            <a:endParaRPr lang="en-US" b="1" dirty="0">
              <a:latin typeface="Calibri" panose="020F0502020204030204" pitchFamily="34" charset="0"/>
            </a:endParaRPr>
          </a:p>
          <a:p>
            <a:r>
              <a:rPr lang="en-US" b="0" i="0" kern="1200" dirty="0">
                <a:solidFill>
                  <a:schemeClr val="tx1"/>
                </a:solidFill>
                <a:effectLst/>
                <a:latin typeface="Calibri" panose="020F0502020204030204" pitchFamily="34" charset="0"/>
                <a:ea typeface="+mn-ea"/>
                <a:cs typeface="+mn-cs"/>
              </a:rPr>
              <a:t>After the person enters the building, they arrive at their locked apartment door, which protects the apartment. They can only gain entry into the apartment by using their key. In the same way, security groups act as a resource firewall for resources such as EC2 instances. They specify rules to filter network traffic to and from a resource. </a:t>
            </a:r>
            <a:endParaRPr lang="en-US" dirty="0">
              <a:latin typeface="Calibri" panose="020F0502020204030204" pitchFamily="34" charset="0"/>
            </a:endParaRP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27</a:t>
            </a:fld>
            <a:endParaRPr lang="en-AU"/>
          </a:p>
        </p:txBody>
      </p:sp>
    </p:spTree>
    <p:extLst>
      <p:ext uri="{BB962C8B-B14F-4D97-AF65-F5344CB8AC3E}">
        <p14:creationId xmlns:p14="http://schemas.microsoft.com/office/powerpoint/2010/main" val="2941946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0" i="1" dirty="0"/>
              <a:t>network access control list (network ACL)</a:t>
            </a:r>
            <a:r>
              <a:rPr lang="en-US" b="1" dirty="0"/>
              <a:t> </a:t>
            </a:r>
            <a:r>
              <a:rPr lang="en-US" dirty="0"/>
              <a:t>is an optional layer of security for your Amazon VPC. It acts as a firewall for controlling traffic in and out of one or more subnets. To add another layer of security to your VPC, you can set up network ACLs with rules that are similar to your security groups.</a:t>
            </a:r>
          </a:p>
          <a:p>
            <a:endParaRPr lang="en-US" dirty="0"/>
          </a:p>
          <a:p>
            <a:r>
              <a:rPr lang="en-US" dirty="0"/>
              <a:t>Each subnet in your VPC must be associated with a network ACL. If you don't explicitly associate a subnet with a network ACL, the subnet is automatically associated with the default network ACL. You can associate a network ACL with multiple subnets; however, a subnet can be associated with only one network ACL at a time. When you associate a network ACL with a subnet, the previous association is removed. </a:t>
            </a: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28</a:t>
            </a:fld>
            <a:endParaRPr lang="en-AU"/>
          </a:p>
        </p:txBody>
      </p:sp>
    </p:spTree>
    <p:extLst>
      <p:ext uri="{BB962C8B-B14F-4D97-AF65-F5344CB8AC3E}">
        <p14:creationId xmlns:p14="http://schemas.microsoft.com/office/powerpoint/2010/main" val="5737738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kern="1200" dirty="0">
                <a:solidFill>
                  <a:schemeClr val="tx1"/>
                </a:solidFill>
                <a:effectLst/>
                <a:ea typeface="+mn-ea"/>
                <a:cs typeface="+mn-cs"/>
              </a:rPr>
              <a:t>Here is the</a:t>
            </a:r>
            <a:r>
              <a:rPr lang="en-US" kern="1200" baseline="0" dirty="0">
                <a:solidFill>
                  <a:schemeClr val="tx1"/>
                </a:solidFill>
                <a:effectLst/>
                <a:ea typeface="+mn-ea"/>
                <a:cs typeface="+mn-cs"/>
              </a:rPr>
              <a:t> basic pattern that Amazon Route 53 follows when a user initiates a DNS request. The DNS resolver checks with your domain in Route 53, gets the IP address, and returns it to the user.</a:t>
            </a:r>
            <a:endParaRPr lang="en-US" kern="1200" dirty="0">
              <a:solidFill>
                <a:schemeClr val="tx1"/>
              </a:solidFill>
              <a:effectLst/>
              <a:ea typeface="+mn-ea"/>
              <a:cs typeface="+mn-cs"/>
            </a:endParaRP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34</a:t>
            </a:fld>
            <a:endParaRPr lang="en-AU"/>
          </a:p>
        </p:txBody>
      </p:sp>
    </p:spTree>
    <p:extLst>
      <p:ext uri="{BB962C8B-B14F-4D97-AF65-F5344CB8AC3E}">
        <p14:creationId xmlns:p14="http://schemas.microsoft.com/office/powerpoint/2010/main" val="19819795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Calibri" panose="020F0502020204030204" pitchFamily="34" charset="0"/>
              </a:rPr>
              <a:t>Image description: </a:t>
            </a:r>
            <a:r>
              <a:rPr lang="en-US" b="0" dirty="0">
                <a:latin typeface="Calibri" panose="020F0502020204030204" pitchFamily="34" charset="0"/>
              </a:rPr>
              <a:t>Network traffic information is collected by VPC Flow Logs from Amazon VPC, a private subnet, and an elastic network interface attached to an EC2 instance. VPC Flow Logs delivers network traffic to Amazon CloudWatch logs, Amazon S3 buckets, or Amazon Kinesis Data Firehose streams. To view logs, users can use the AWS Management Console for Amazon CloudWatch logs and Amazon Athena for Amazon S3. Amazon Kinesis Data Firehose streams can deliver flow logs to Amazon OpenSearch Service. </a:t>
            </a:r>
            <a:r>
              <a:rPr lang="en-US" b="1" dirty="0">
                <a:latin typeface="Calibri" panose="020F0502020204030204" pitchFamily="34" charset="0"/>
              </a:rPr>
              <a:t>Image description end.</a:t>
            </a:r>
          </a:p>
          <a:p>
            <a:endParaRPr lang="en-US" b="1" dirty="0">
              <a:latin typeface="Calibri" panose="020F0502020204030204" pitchFamily="34" charset="0"/>
            </a:endParaRPr>
          </a:p>
          <a:p>
            <a:pPr marL="0" marR="0" lvl="0" indent="0" defTabSz="914400" rtl="0" eaLnBrk="1" fontAlgn="auto" latinLnBrk="0" hangingPunct="1">
              <a:buClrTx/>
              <a:buSzTx/>
              <a:buFont typeface="Arial" panose="020B0604020202020204" pitchFamily="34" charset="0"/>
              <a:buNone/>
              <a:tabLst/>
              <a:defRPr/>
            </a:pPr>
            <a:r>
              <a:rPr lang="en-US" b="0" i="0" kern="1200" dirty="0">
                <a:solidFill>
                  <a:schemeClr val="tx1"/>
                </a:solidFill>
                <a:effectLst/>
                <a:latin typeface="Calibri" panose="020F0502020204030204" pitchFamily="34" charset="0"/>
                <a:ea typeface="+mn-ea"/>
                <a:cs typeface="+mn-cs"/>
              </a:rPr>
              <a:t>When you want to see detailed information about the traffic in your VPC, you can activate VPC Flow Logs. It’s an Amazon VPC feature that you can use to capture packet-level information about the network traffic in your VPC.  </a:t>
            </a:r>
          </a:p>
          <a:p>
            <a:pPr marL="0" marR="0" lvl="0" indent="0" defTabSz="914400" rtl="0" eaLnBrk="1" fontAlgn="auto" latinLnBrk="0" hangingPunct="1">
              <a:buClrTx/>
              <a:buSzTx/>
              <a:buFont typeface="Arial" panose="020B0604020202020204" pitchFamily="34" charset="0"/>
              <a:buNone/>
              <a:tabLst/>
              <a:defRPr/>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 typeface="Arial" panose="020B0604020202020204" pitchFamily="34" charset="0"/>
              <a:buNone/>
              <a:tabLst/>
              <a:defRPr/>
            </a:pPr>
            <a:r>
              <a:rPr lang="en-US" b="0" i="0" kern="1200" dirty="0">
                <a:solidFill>
                  <a:schemeClr val="tx1"/>
                </a:solidFill>
                <a:effectLst/>
                <a:latin typeface="Calibri" panose="020F0502020204030204" pitchFamily="34" charset="0"/>
                <a:ea typeface="+mn-ea"/>
                <a:cs typeface="+mn-cs"/>
              </a:rPr>
              <a:t>When creating a flow log, you can choose to capture all traffic, accepted traffic, or only rejected traffic. You also choose to capture metadata about the whole VPC, a specific subnet, or </a:t>
            </a:r>
            <a:r>
              <a:rPr lang="en-US" b="0" i="0" kern="1200" dirty="0">
                <a:solidFill>
                  <a:schemeClr val="tx1"/>
                </a:solidFill>
                <a:effectLst/>
                <a:latin typeface="Calibri" panose="020F0502020204030204" pitchFamily="34" charset="0"/>
                <a:ea typeface="Amazon Ember Display" panose="020F0603020204020204" pitchFamily="34" charset="0"/>
                <a:cs typeface="Amazon Ember Display" panose="020F0603020204020204" pitchFamily="34" charset="0"/>
              </a:rPr>
              <a:t>e</a:t>
            </a:r>
            <a:r>
              <a:rPr lang="en-US" altLang="en-US" dirty="0">
                <a:latin typeface="Calibri" panose="020F0502020204030204" pitchFamily="34" charset="0"/>
                <a:ea typeface="Amazon Ember Display" panose="020F0603020204020204" pitchFamily="34" charset="0"/>
                <a:cs typeface="Amazon Ember Display" panose="020F0603020204020204" pitchFamily="34" charset="0"/>
              </a:rPr>
              <a:t>lastic network interface</a:t>
            </a:r>
            <a:r>
              <a:rPr lang="en-US" b="0" i="0" kern="1200" dirty="0">
                <a:solidFill>
                  <a:schemeClr val="tx1"/>
                </a:solidFill>
                <a:effectLst/>
                <a:latin typeface="Calibri" panose="020F0502020204030204" pitchFamily="34" charset="0"/>
                <a:ea typeface="+mn-ea"/>
                <a:cs typeface="+mn-cs"/>
              </a:rPr>
              <a:t>. </a:t>
            </a:r>
          </a:p>
          <a:p>
            <a:pPr marL="0" marR="0" lvl="0" indent="0" defTabSz="914400" rtl="0" eaLnBrk="1" fontAlgn="auto" latinLnBrk="0" hangingPunct="1">
              <a:buClrTx/>
              <a:buSzTx/>
              <a:buFont typeface="Arial" panose="020B0604020202020204" pitchFamily="34" charset="0"/>
              <a:buNone/>
              <a:tabLst/>
              <a:defRPr/>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 typeface="Arial" panose="020B0604020202020204" pitchFamily="34" charset="0"/>
              <a:buNone/>
              <a:tabLst/>
              <a:defRPr/>
            </a:pPr>
            <a:r>
              <a:rPr lang="en-US" b="0" i="0" kern="1200" dirty="0">
                <a:solidFill>
                  <a:schemeClr val="tx1"/>
                </a:solidFill>
                <a:effectLst/>
                <a:latin typeface="Calibri" panose="020F0502020204030204" pitchFamily="34" charset="0"/>
                <a:ea typeface="+mn-ea"/>
                <a:cs typeface="+mn-cs"/>
              </a:rPr>
              <a:t>The flow logs can then be delivered to a destination of your choice. If flow logs are delivered to Amazon CloudWatch, users can use the AWS Management Console to filter and view logs. If flow logs are delivered to Amazon S3, then users can use services like Amazon Athena to interactively query the logs. Flow logs in Amazon S3 can be published as plain text or Parquet. </a:t>
            </a:r>
          </a:p>
          <a:p>
            <a:pPr marL="0" marR="0" lvl="0" indent="0" defTabSz="914400" rtl="0" eaLnBrk="1" fontAlgn="auto" latinLnBrk="0" hangingPunct="1">
              <a:buClrTx/>
              <a:buSzTx/>
              <a:buFont typeface="Arial" panose="020B0604020202020204" pitchFamily="34" charset="0"/>
              <a:buNone/>
              <a:tabLst/>
              <a:defRPr/>
            </a:pPr>
            <a:endParaRPr lang="en-US" b="0" i="0" kern="1200" dirty="0">
              <a:solidFill>
                <a:schemeClr val="tx1"/>
              </a:solidFill>
              <a:effectLst/>
              <a:latin typeface="Calibri" panose="020F0502020204030204" pitchFamily="34" charset="0"/>
              <a:ea typeface="+mn-ea"/>
              <a:cs typeface="+mn-cs"/>
            </a:endParaRPr>
          </a:p>
          <a:p>
            <a:pPr marL="0" marR="0" lvl="0" indent="0" defTabSz="914400" rtl="0" eaLnBrk="1" fontAlgn="auto" latinLnBrk="0" hangingPunct="1">
              <a:buClrTx/>
              <a:buSzTx/>
              <a:buFont typeface="Arial" panose="020B0604020202020204" pitchFamily="34" charset="0"/>
              <a:buNone/>
              <a:tabLst/>
              <a:defRPr/>
            </a:pPr>
            <a:r>
              <a:rPr lang="en-US" b="0" i="0" kern="1200" dirty="0">
                <a:solidFill>
                  <a:schemeClr val="tx1"/>
                </a:solidFill>
                <a:effectLst/>
                <a:latin typeface="Calibri" panose="020F0502020204030204" pitchFamily="34" charset="0"/>
                <a:ea typeface="+mn-ea"/>
                <a:cs typeface="+mn-cs"/>
              </a:rPr>
              <a:t>Amazon Kinesis Data Firehose can deliver logs to AWS services such as Amazon OpenSearch Service, which will make the logs available through the Amazon OpenSearch dashboard. Amazon Kinesis Data Firehose can also deliver logs to third party log solutions such as Splunk. </a:t>
            </a:r>
          </a:p>
          <a:p>
            <a:pPr marL="0" marR="0" lvl="0" indent="0" defTabSz="914400" rtl="0" eaLnBrk="1" fontAlgn="auto" latinLnBrk="0" hangingPunct="1">
              <a:buClrTx/>
              <a:buSzTx/>
              <a:buFont typeface="Arial" panose="020B0604020202020204" pitchFamily="34" charset="0"/>
              <a:buNone/>
              <a:tabLst/>
              <a:defRPr/>
            </a:pPr>
            <a:endParaRPr lang="en-US" b="0" i="0" kern="1200" dirty="0">
              <a:solidFill>
                <a:schemeClr val="tx1"/>
              </a:solidFill>
              <a:effectLst/>
              <a:latin typeface="Calibri" panose="020F0502020204030204" pitchFamily="34" charset="0"/>
              <a:ea typeface="+mn-ea"/>
              <a:cs typeface="+mn-cs"/>
            </a:endParaRPr>
          </a:p>
          <a:p>
            <a:pPr marL="0" indent="0">
              <a:buFont typeface="Arial" panose="020B0604020202020204" pitchFamily="34" charset="0"/>
              <a:buNone/>
            </a:pPr>
            <a:r>
              <a:rPr lang="en-US" b="0" i="0" kern="1200" dirty="0">
                <a:solidFill>
                  <a:schemeClr val="tx1"/>
                </a:solidFill>
                <a:effectLst/>
                <a:latin typeface="Calibri" panose="020F0502020204030204" pitchFamily="34" charset="0"/>
                <a:ea typeface="+mn-ea"/>
                <a:cs typeface="+mn-cs"/>
              </a:rPr>
              <a:t>Flow logs operate outside of your VPC network and will not affect your VPC latency and performance.</a:t>
            </a: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37</a:t>
            </a:fld>
            <a:endParaRPr lang="en-AU"/>
          </a:p>
        </p:txBody>
      </p:sp>
    </p:spTree>
    <p:extLst>
      <p:ext uri="{BB962C8B-B14F-4D97-AF65-F5344CB8AC3E}">
        <p14:creationId xmlns:p14="http://schemas.microsoft.com/office/powerpoint/2010/main" val="18316496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0" i="0" kern="1200" dirty="0">
                <a:solidFill>
                  <a:schemeClr val="tx1"/>
                </a:solidFill>
                <a:effectLst/>
                <a:latin typeface="Calibri" panose="020F0502020204030204" pitchFamily="34" charset="0"/>
                <a:ea typeface="+mn-ea"/>
                <a:cs typeface="+mn-cs"/>
              </a:rPr>
              <a:t>To solve specific types of network issues, Amazon VPC provides additional tools to help you resolve these issues. </a:t>
            </a:r>
          </a:p>
          <a:p>
            <a:pPr marL="0" indent="0">
              <a:buFont typeface="Arial" panose="020B0604020202020204" pitchFamily="34" charset="0"/>
              <a:buNone/>
            </a:pPr>
            <a:endParaRPr lang="en-US" b="0" i="0" kern="1200" dirty="0">
              <a:solidFill>
                <a:schemeClr val="tx1"/>
              </a:solidFill>
              <a:effectLst/>
              <a:latin typeface="Calibri" panose="020F0502020204030204" pitchFamily="34" charset="0"/>
              <a:ea typeface="+mn-ea"/>
              <a:cs typeface="+mn-cs"/>
            </a:endParaRPr>
          </a:p>
          <a:p>
            <a:pPr marL="0" indent="0">
              <a:buFont typeface="Arial" panose="020B0604020202020204" pitchFamily="34" charset="0"/>
              <a:buNone/>
            </a:pPr>
            <a:r>
              <a:rPr lang="en-US" b="0" i="0" kern="1200" dirty="0">
                <a:solidFill>
                  <a:schemeClr val="tx1"/>
                </a:solidFill>
                <a:effectLst/>
                <a:latin typeface="Calibri" panose="020F0502020204030204" pitchFamily="34" charset="0"/>
                <a:ea typeface="+mn-ea"/>
                <a:cs typeface="+mn-cs"/>
              </a:rPr>
              <a:t>To test whether two resources in a VPC have connectivity, you can use the Reachability Analyzer feature. When the destination is reachable, Reachability Analyzer produces hop-by-hop details of the virtual network path between the source and the destination. When the destination is not reachable, Reachability Analyzer identifies the blocking component. For example, paths can be blocked by configuration issues in a security group, network access control list (network ACL), route table, or load balancer. To use Reachability Analyzer, you specify the path for the traffic from a source to a destination. For example, you can specify an internet gateway as the source, an EC2 instance as the destination, 22 as the destination port, and TCP as the protocol. This allows you to verify that you can connect to the EC2 instance through the internet gateway using SSH.</a:t>
            </a:r>
            <a:endParaRPr lang="en-US" b="0" dirty="0">
              <a:solidFill>
                <a:schemeClr val="tx1"/>
              </a:solidFill>
              <a:latin typeface="Calibri" panose="020F0502020204030204" pitchFamily="34" charset="0"/>
            </a:endParaRPr>
          </a:p>
          <a:p>
            <a:pPr marL="171450" indent="-171450">
              <a:buFont typeface="Arial" panose="020B0604020202020204" pitchFamily="34" charset="0"/>
              <a:buChar char="•"/>
            </a:pPr>
            <a:endParaRPr lang="en-US" b="0" dirty="0">
              <a:solidFill>
                <a:schemeClr val="tx1"/>
              </a:solidFill>
              <a:latin typeface="Calibri" panose="020F0502020204030204" pitchFamily="34" charset="0"/>
            </a:endParaRPr>
          </a:p>
          <a:p>
            <a:r>
              <a:rPr lang="en-US" b="0" i="0" kern="1200" dirty="0">
                <a:solidFill>
                  <a:schemeClr val="tx1"/>
                </a:solidFill>
                <a:effectLst/>
                <a:latin typeface="Calibri" panose="020F0502020204030204" pitchFamily="34" charset="0"/>
                <a:ea typeface="+mn-ea"/>
                <a:cs typeface="+mn-cs"/>
              </a:rPr>
              <a:t>To identify unintended network access to resources in your AWS account, you can use the Network Access Analyzer feature. You can use Network Access Analyzer to understand, verify, and improve your network security posture by eliminating unintended network access. It’s also useful to demonstrate that your network on AWS meets your compliance requirements. For example, you can verify that a separate logical network is used for systems that process credit card information and that it’s isolated from the rest of your AWS environment.</a:t>
            </a:r>
          </a:p>
          <a:p>
            <a:endParaRPr lang="en-US" b="0" dirty="0">
              <a:solidFill>
                <a:schemeClr val="tx1"/>
              </a:solidFill>
              <a:latin typeface="Calibri" panose="020F0502020204030204" pitchFamily="34" charset="0"/>
            </a:endParaRPr>
          </a:p>
          <a:p>
            <a:pPr marL="0" indent="0">
              <a:buFont typeface="Arial" panose="020B0604020202020204" pitchFamily="34" charset="0"/>
              <a:buNone/>
            </a:pPr>
            <a:r>
              <a:rPr lang="en-US" b="0" i="0" kern="1200" dirty="0">
                <a:solidFill>
                  <a:schemeClr val="tx1"/>
                </a:solidFill>
                <a:effectLst/>
                <a:latin typeface="Calibri" panose="020F0502020204030204" pitchFamily="34" charset="0"/>
                <a:ea typeface="+mn-ea"/>
                <a:cs typeface="+mn-cs"/>
              </a:rPr>
              <a:t>To inspect and monitor traffic, you can use the Amazon VPC Traffic Mirroring feature. It allows you to make a copy of your network traffic to send to your security and monitoring appliances. This provides deeper insight into network traffic by allowing you to analyze actual traffic content including the actual message payload. It’s useful for use-cases when you need to analyze the actual packets to determine the root cause a performance issue, reverse-engineer a sophisticated network attack, or detect and stop insider abuse or compromised workloads. For example, you might want to mirror inbound TCP and UDP traffic to separate security appliances for packet inspection.</a:t>
            </a:r>
            <a:endParaRPr lang="en-US" b="0" dirty="0">
              <a:solidFill>
                <a:schemeClr val="tx1"/>
              </a:solidFill>
              <a:latin typeface="Calibri" panose="020F0502020204030204" pitchFamily="34" charset="0"/>
            </a:endParaRPr>
          </a:p>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38</a:t>
            </a:fld>
            <a:endParaRPr lang="en-AU"/>
          </a:p>
        </p:txBody>
      </p:sp>
    </p:spTree>
    <p:extLst>
      <p:ext uri="{BB962C8B-B14F-4D97-AF65-F5344CB8AC3E}">
        <p14:creationId xmlns:p14="http://schemas.microsoft.com/office/powerpoint/2010/main" val="1679963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B587B50-9B83-4967-B6B1-0AE859023499}" type="slidenum">
              <a:rPr lang="en-AU" smtClean="0"/>
              <a:t>39</a:t>
            </a:fld>
            <a:endParaRPr lang="en-AU"/>
          </a:p>
        </p:txBody>
      </p:sp>
    </p:spTree>
    <p:extLst>
      <p:ext uri="{BB962C8B-B14F-4D97-AF65-F5344CB8AC3E}">
        <p14:creationId xmlns:p14="http://schemas.microsoft.com/office/powerpoint/2010/main" val="15994548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4B587B50-9B83-4967-B6B1-0AE859023499}" type="slidenum">
              <a:rPr lang="en-AU" smtClean="0"/>
              <a:t>43</a:t>
            </a:fld>
            <a:endParaRPr lang="en-AU"/>
          </a:p>
        </p:txBody>
      </p:sp>
    </p:spTree>
    <p:extLst>
      <p:ext uri="{BB962C8B-B14F-4D97-AF65-F5344CB8AC3E}">
        <p14:creationId xmlns:p14="http://schemas.microsoft.com/office/powerpoint/2010/main" val="2834869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1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svg"/><Relationship Id="rId7"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8.svg"/><Relationship Id="rId4" Type="http://schemas.openxmlformats.org/officeDocument/2006/relationships/image" Target="../media/image6.svg"/></Relationships>
</file>

<file path=ppt/slides/_rels/slide1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8.svg"/><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svg"/></Relationships>
</file>

<file path=ppt/slides/_rels/slide16.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4.svg"/><Relationship Id="rId7" Type="http://schemas.openxmlformats.org/officeDocument/2006/relationships/image" Target="../media/image6.sv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0.svg"/><Relationship Id="rId4" Type="http://schemas.openxmlformats.org/officeDocument/2006/relationships/image" Target="../media/image5.svg"/><Relationship Id="rId9" Type="http://schemas.openxmlformats.org/officeDocument/2006/relationships/image" Target="../media/image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4.svg"/><Relationship Id="rId7" Type="http://schemas.openxmlformats.org/officeDocument/2006/relationships/image" Target="../media/image7.sv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svg"/><Relationship Id="rId7" Type="http://schemas.openxmlformats.org/officeDocument/2006/relationships/image" Target="../media/image23.sv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20.sv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5.svg"/><Relationship Id="rId7" Type="http://schemas.openxmlformats.org/officeDocument/2006/relationships/image" Target="../media/image27.sv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6.svg"/><Relationship Id="rId5" Type="http://schemas.openxmlformats.org/officeDocument/2006/relationships/image" Target="../media/image15.svg"/><Relationship Id="rId4" Type="http://schemas.openxmlformats.org/officeDocument/2006/relationships/image" Target="../media/image16.svg"/></Relationships>
</file>

<file path=ppt/slides/_rels/slide28.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29.svg"/><Relationship Id="rId7" Type="http://schemas.openxmlformats.org/officeDocument/2006/relationships/image" Target="../media/image19.sv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 Id="rId9" Type="http://schemas.openxmlformats.org/officeDocument/2006/relationships/image" Target="../media/image24.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32.svg"/><Relationship Id="rId4" Type="http://schemas.openxmlformats.org/officeDocument/2006/relationships/image" Target="../media/image31.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8.svg"/><Relationship Id="rId3" Type="http://schemas.openxmlformats.org/officeDocument/2006/relationships/image" Target="../media/image33.svg"/><Relationship Id="rId7" Type="http://schemas.openxmlformats.org/officeDocument/2006/relationships/image" Target="../media/image36.svg"/><Relationship Id="rId12" Type="http://schemas.openxmlformats.org/officeDocument/2006/relationships/image" Target="../media/image40.sv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35.svg"/><Relationship Id="rId11" Type="http://schemas.openxmlformats.org/officeDocument/2006/relationships/image" Target="../media/image39.svg"/><Relationship Id="rId5" Type="http://schemas.openxmlformats.org/officeDocument/2006/relationships/image" Target="../media/image34.svg"/><Relationship Id="rId10" Type="http://schemas.openxmlformats.org/officeDocument/2006/relationships/image" Target="../media/image38.svg"/><Relationship Id="rId4" Type="http://schemas.openxmlformats.org/officeDocument/2006/relationships/image" Target="../media/image14.svg"/><Relationship Id="rId9" Type="http://schemas.openxmlformats.org/officeDocument/2006/relationships/image" Target="../media/image37.svg"/></Relationships>
</file>

<file path=ppt/slides/_rels/slide38.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43.svg"/><Relationship Id="rId4" Type="http://schemas.openxmlformats.org/officeDocument/2006/relationships/image" Target="../media/image42.sv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A2929"/>
        </a:solidFill>
        <a:effectLst/>
      </p:bgPr>
    </p:bg>
    <p:spTree>
      <p:nvGrpSpPr>
        <p:cNvPr id="1" name=""/>
        <p:cNvGrpSpPr/>
        <p:nvPr/>
      </p:nvGrpSpPr>
      <p:grpSpPr>
        <a:xfrm>
          <a:off x="0" y="0"/>
          <a:ext cx="0" cy="0"/>
          <a:chOff x="0" y="0"/>
          <a:chExt cx="0" cy="0"/>
        </a:xfrm>
      </p:grpSpPr>
      <p:sp>
        <p:nvSpPr>
          <p:cNvPr id="2" name="Rectangle 1"/>
          <p:cNvSpPr/>
          <p:nvPr/>
        </p:nvSpPr>
        <p:spPr>
          <a:xfrm>
            <a:off x="0" y="0"/>
            <a:ext cx="411480" cy="68580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011680"/>
            <a:ext cx="10515600" cy="2377440"/>
          </a:xfrm>
          <a:prstGeom prst="rect">
            <a:avLst/>
          </a:prstGeom>
          <a:noFill/>
        </p:spPr>
        <p:txBody>
          <a:bodyPr wrap="square" lIns="0" tIns="0" rIns="0" bIns="0" anchor="t">
            <a:spAutoFit/>
          </a:bodyPr>
          <a:lstStyle/>
          <a:p>
            <a:r>
              <a:rPr sz="2000" b="1" i="0">
                <a:solidFill>
                  <a:srgbClr val="FBB900"/>
                </a:solidFill>
                <a:latin typeface="Roboto"/>
              </a:rPr>
              <a:t>TOPIC 07</a:t>
            </a:r>
          </a:p>
          <a:p>
            <a:pPr>
              <a:spcBef>
                <a:spcPts val="800"/>
              </a:spcBef>
            </a:pPr>
            <a:r>
              <a:rPr sz="4600" b="1" i="0">
                <a:solidFill>
                  <a:srgbClr val="FFFFFF"/>
                </a:solidFill>
                <a:latin typeface="Roboto"/>
              </a:rPr>
              <a:t>Network &amp; security base</a:t>
            </a:r>
          </a:p>
          <a:p>
            <a:pPr>
              <a:spcBef>
                <a:spcPts val="1200"/>
              </a:spcBef>
            </a:pPr>
            <a:r>
              <a:rPr sz="2200" b="0" i="1">
                <a:solidFill>
                  <a:srgbClr val="D1D1D1"/>
                </a:solidFill>
                <a:latin typeface="Roboto Light"/>
              </a:rPr>
              <a:t>Build the network tier — the VPC your workload lives in, the rules around it, and how it's found by name</a:t>
            </a:r>
          </a:p>
        </p:txBody>
      </p:sp>
      <p:sp>
        <p:nvSpPr>
          <p:cNvPr id="4" name="TextBox 3"/>
          <p:cNvSpPr txBox="1"/>
          <p:nvPr/>
        </p:nvSpPr>
        <p:spPr>
          <a:xfrm>
            <a:off x="914400" y="5943600"/>
            <a:ext cx="7315200" cy="457200"/>
          </a:xfrm>
          <a:prstGeom prst="rect">
            <a:avLst/>
          </a:prstGeom>
          <a:noFill/>
        </p:spPr>
        <p:txBody>
          <a:bodyPr wrap="square" lIns="0" tIns="0" rIns="0" bIns="0" anchor="t">
            <a:spAutoFit/>
          </a:bodyPr>
          <a:lstStyle/>
          <a:p>
            <a:r>
              <a:rPr sz="1600" b="1" i="0">
                <a:solidFill>
                  <a:srgbClr val="FFFFFF"/>
                </a:solidFill>
                <a:latin typeface="Roboto"/>
              </a:rPr>
              <a:t>Kangan </a:t>
            </a:r>
            <a:r>
              <a:rPr sz="1600" b="1" i="0">
                <a:solidFill>
                  <a:srgbClr val="EDAB0C"/>
                </a:solidFill>
                <a:latin typeface="Roboto"/>
              </a:rPr>
              <a:t>Institute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Continuing the build</a:t>
            </a:r>
          </a:p>
          <a:p>
            <a:pPr>
              <a:spcBef>
                <a:spcPts val="200"/>
              </a:spcBef>
            </a:pPr>
            <a:r>
              <a:rPr sz="1800" b="0" i="1">
                <a:solidFill>
                  <a:srgbClr val="D68E10"/>
                </a:solidFill>
                <a:latin typeface="Roboto Light"/>
              </a:rPr>
              <a:t>foundation done — now the network</a:t>
            </a:r>
          </a:p>
        </p:txBody>
      </p:sp>
      <p:sp>
        <p:nvSpPr>
          <p:cNvPr id="3" name="Rectangle 2"/>
          <p:cNvSpPr/>
          <p:nvPr/>
        </p:nvSpPr>
        <p:spPr>
          <a:xfrm>
            <a:off x="658368" y="1371600"/>
            <a:ext cx="1463040" cy="508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Topic 6 set the foundation: the account, identity, and the shared-responsibility line.</a:t>
            </a:r>
          </a:p>
          <a:p>
            <a:pPr marL="0" indent="0">
              <a:lnSpc>
                <a:spcPct val="105000"/>
              </a:lnSpc>
              <a:spcBef>
                <a:spcPts val="0"/>
              </a:spcBef>
              <a:spcAft>
                <a:spcPts val="1000"/>
              </a:spcAft>
            </a:pPr>
            <a:r>
              <a:rPr sz="1800" b="1" i="0">
                <a:solidFill>
                  <a:srgbClr val="92268F"/>
                </a:solidFill>
                <a:latin typeface="Roboto"/>
              </a:rPr>
              <a:t>■  Now you build the network the workload sits inside.</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Three parts: the virtual network (VPC + subnets), traffic control (security groups), and name resolution (DNS).</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Still working to the supplied design — and still capturing evidence as you go.</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For every AWS build task: watch the demo, then do it yourself.</a:t>
            </a:r>
          </a:p>
        </p:txBody>
      </p:sp>
      <p:sp>
        <p:nvSpPr>
          <p:cNvPr id="5" name="Rectangle 4"/>
          <p:cNvSpPr/>
          <p:nvPr/>
        </p:nvSpPr>
        <p:spPr>
          <a:xfrm>
            <a:off x="0" y="6565392"/>
            <a:ext cx="12191695" cy="381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103120"/>
            <a:ext cx="3291840" cy="2194560"/>
          </a:xfrm>
          <a:prstGeom prst="rect">
            <a:avLst/>
          </a:prstGeom>
          <a:noFill/>
        </p:spPr>
        <p:txBody>
          <a:bodyPr wrap="square" lIns="0" tIns="0" rIns="0" bIns="0" anchor="t">
            <a:spAutoFit/>
          </a:bodyPr>
          <a:lstStyle/>
          <a:p>
            <a:r>
              <a:rPr sz="13000" b="1" i="0">
                <a:solidFill>
                  <a:srgbClr val="FFFFFF"/>
                </a:solidFill>
                <a:latin typeface="Roboto"/>
              </a:rPr>
              <a:t>01</a:t>
            </a:r>
          </a:p>
        </p:txBody>
      </p:sp>
      <p:sp>
        <p:nvSpPr>
          <p:cNvPr id="4" name="TextBox 3"/>
          <p:cNvSpPr txBox="1"/>
          <p:nvPr/>
        </p:nvSpPr>
        <p:spPr>
          <a:xfrm>
            <a:off x="4480560" y="2468880"/>
            <a:ext cx="7132320" cy="2194560"/>
          </a:xfrm>
          <a:prstGeom prst="rect">
            <a:avLst/>
          </a:prstGeom>
          <a:noFill/>
        </p:spPr>
        <p:txBody>
          <a:bodyPr wrap="square" lIns="0" tIns="0" rIns="0" bIns="0" anchor="t">
            <a:spAutoFit/>
          </a:bodyPr>
          <a:lstStyle/>
          <a:p>
            <a:r>
              <a:rPr sz="1600" b="1" i="0">
                <a:solidFill>
                  <a:srgbClr val="92268F"/>
                </a:solidFill>
                <a:latin typeface="Roboto"/>
              </a:rPr>
              <a:t>SECTION</a:t>
            </a:r>
          </a:p>
          <a:p>
            <a:pPr>
              <a:spcBef>
                <a:spcPts val="600"/>
              </a:spcBef>
            </a:pPr>
            <a:r>
              <a:rPr sz="3800" b="1" i="0">
                <a:solidFill>
                  <a:srgbClr val="2A2929"/>
                </a:solidFill>
                <a:latin typeface="Roboto"/>
              </a:rPr>
              <a:t>Virtual network &amp; subnets</a:t>
            </a:r>
          </a:p>
          <a:p>
            <a:pPr>
              <a:spcBef>
                <a:spcPts val="1000"/>
              </a:spcBef>
            </a:pPr>
            <a:r>
              <a:rPr sz="2000" b="0" i="1">
                <a:solidFill>
                  <a:srgbClr val="484848"/>
                </a:solidFill>
                <a:latin typeface="Roboto Light"/>
              </a:rPr>
              <a:t>the fabric your workload lives in</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Networking, the essentials</a:t>
            </a:r>
          </a:p>
          <a:p>
            <a:pPr>
              <a:spcBef>
                <a:spcPts val="200"/>
              </a:spcBef>
            </a:pPr>
            <a:r>
              <a:rPr sz="1800" b="0" i="1">
                <a:solidFill>
                  <a:srgbClr val="D68E10"/>
                </a:solidFill>
                <a:latin typeface="Roboto Light"/>
              </a:rPr>
              <a:t>AWS · ACF M05 S5–S9</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7" y="1737360"/>
            <a:ext cx="11533327" cy="1468607"/>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dirty="0">
                <a:solidFill>
                  <a:srgbClr val="EDAB0C"/>
                </a:solidFill>
                <a:latin typeface="Roboto"/>
              </a:rPr>
              <a:t>■  </a:t>
            </a:r>
            <a:r>
              <a:rPr sz="1700" b="0" i="0" dirty="0">
                <a:solidFill>
                  <a:srgbClr val="2A2929"/>
                </a:solidFill>
                <a:latin typeface="Roboto"/>
              </a:rPr>
              <a:t>A network connects machines so they can share resources; it can be split into smaller pieces called subnets.</a:t>
            </a:r>
          </a:p>
          <a:p>
            <a:pPr marL="0" indent="0">
              <a:lnSpc>
                <a:spcPct val="105000"/>
              </a:lnSpc>
              <a:spcBef>
                <a:spcPts val="0"/>
              </a:spcBef>
              <a:spcAft>
                <a:spcPts val="1000"/>
              </a:spcAft>
            </a:pPr>
            <a:r>
              <a:rPr sz="1700" b="1" i="0" dirty="0">
                <a:solidFill>
                  <a:srgbClr val="EDAB0C"/>
                </a:solidFill>
                <a:latin typeface="Roboto"/>
              </a:rPr>
              <a:t>■  </a:t>
            </a:r>
            <a:r>
              <a:rPr sz="1700" b="0" i="0" dirty="0">
                <a:solidFill>
                  <a:srgbClr val="2A2929"/>
                </a:solidFill>
                <a:latin typeface="Roboto"/>
              </a:rPr>
              <a:t>Every machine has an IP address — a unique numeric label (e.g. 10.0.0.17).</a:t>
            </a:r>
          </a:p>
          <a:p>
            <a:pPr marL="0" indent="0">
              <a:lnSpc>
                <a:spcPct val="105000"/>
              </a:lnSpc>
              <a:spcBef>
                <a:spcPts val="0"/>
              </a:spcBef>
              <a:spcAft>
                <a:spcPts val="1000"/>
              </a:spcAft>
            </a:pPr>
            <a:r>
              <a:rPr sz="1700" b="1" i="0" dirty="0">
                <a:solidFill>
                  <a:srgbClr val="92268F"/>
                </a:solidFill>
                <a:latin typeface="Roboto"/>
              </a:rPr>
              <a:t>■  A CIDR block describes a range of addresses: 10.0.0.0/16 — the /number says how many bits are fixed.</a:t>
            </a:r>
          </a:p>
          <a:p>
            <a:pPr marL="0" indent="0">
              <a:lnSpc>
                <a:spcPct val="105000"/>
              </a:lnSpc>
              <a:spcBef>
                <a:spcPts val="0"/>
              </a:spcBef>
              <a:spcAft>
                <a:spcPts val="1000"/>
              </a:spcAft>
            </a:pPr>
            <a:r>
              <a:rPr sz="1700" b="1" i="0" dirty="0">
                <a:solidFill>
                  <a:srgbClr val="EDAB0C"/>
                </a:solidFill>
                <a:latin typeface="Roboto"/>
              </a:rPr>
              <a:t>■  </a:t>
            </a:r>
            <a:r>
              <a:rPr sz="1700" b="0" i="0" dirty="0">
                <a:solidFill>
                  <a:srgbClr val="2A2929"/>
                </a:solidFill>
                <a:latin typeface="Roboto"/>
              </a:rPr>
              <a:t>Traffic moves between networks through routers / gateways.</a:t>
            </a:r>
          </a:p>
        </p:txBody>
      </p:sp>
      <p:sp>
        <p:nvSpPr>
          <p:cNvPr id="7" name="Rectangle 6"/>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9" name="TextBox 8"/>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3E2EE-6403-3706-F0E5-728174EC68C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9B3B16-32E6-52B4-3FDC-D311ED21C7E8}"/>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Networks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8CD6C75E-9EB8-4859-4B49-880B9DC7DAEF}"/>
              </a:ext>
            </a:extLst>
          </p:cNvPr>
          <p:cNvSpPr/>
          <p:nvPr/>
        </p:nvSpPr>
        <p:spPr>
          <a:xfrm>
            <a:off x="640080" y="1025296"/>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32051AB2-F920-5EDD-3479-49B14B0E91FF}"/>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A5E84690-6A91-DC42-FD1D-BB6A608F7EE6}"/>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18BE1631-BC91-52F9-638C-0847A103F2E0}"/>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grpSp>
        <p:nvGrpSpPr>
          <p:cNvPr id="30" name="Group 29" descr="Two subnets consisting of three computers each connected through a router.">
            <a:extLst>
              <a:ext uri="{FF2B5EF4-FFF2-40B4-BE49-F238E27FC236}">
                <a16:creationId xmlns:a16="http://schemas.microsoft.com/office/drawing/2014/main" id="{DFB58A4B-2190-C5CE-1182-7D45C5153CB1}"/>
              </a:ext>
            </a:extLst>
          </p:cNvPr>
          <p:cNvGrpSpPr/>
          <p:nvPr/>
        </p:nvGrpSpPr>
        <p:grpSpPr>
          <a:xfrm>
            <a:off x="898255" y="1803128"/>
            <a:ext cx="10395491" cy="4058650"/>
            <a:chOff x="898255" y="1803128"/>
            <a:chExt cx="10395491" cy="4058650"/>
          </a:xfrm>
        </p:grpSpPr>
        <p:grpSp>
          <p:nvGrpSpPr>
            <p:cNvPr id="45" name="Group 44" descr="two subnets consisting of three computers each connected through a router.">
              <a:extLst>
                <a:ext uri="{FF2B5EF4-FFF2-40B4-BE49-F238E27FC236}">
                  <a16:creationId xmlns:a16="http://schemas.microsoft.com/office/drawing/2014/main" id="{16CFBCC5-309D-4369-9060-0BEE7C7AB8B9}"/>
                </a:ext>
              </a:extLst>
            </p:cNvPr>
            <p:cNvGrpSpPr/>
            <p:nvPr/>
          </p:nvGrpSpPr>
          <p:grpSpPr>
            <a:xfrm>
              <a:off x="898255" y="1803128"/>
              <a:ext cx="10395491" cy="4058650"/>
              <a:chOff x="891329" y="1803128"/>
              <a:chExt cx="10395491" cy="4058650"/>
            </a:xfrm>
          </p:grpSpPr>
          <p:pic>
            <p:nvPicPr>
              <p:cNvPr id="8" name="Graphic 7">
                <a:extLst>
                  <a:ext uri="{FF2B5EF4-FFF2-40B4-BE49-F238E27FC236}">
                    <a16:creationId xmlns:a16="http://schemas.microsoft.com/office/drawing/2014/main" id="{3F4C4926-D38A-4915-A197-44A5DF76A61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1329" y="1803128"/>
                <a:ext cx="914400" cy="914400"/>
              </a:xfrm>
              <a:prstGeom prst="rect">
                <a:avLst/>
              </a:prstGeom>
            </p:spPr>
          </p:pic>
          <p:pic>
            <p:nvPicPr>
              <p:cNvPr id="10" name="Graphic 9">
                <a:extLst>
                  <a:ext uri="{FF2B5EF4-FFF2-40B4-BE49-F238E27FC236}">
                    <a16:creationId xmlns:a16="http://schemas.microsoft.com/office/drawing/2014/main" id="{667C6097-B4CD-4089-861C-66D855D81F0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1329" y="3375253"/>
                <a:ext cx="914400" cy="914400"/>
              </a:xfrm>
              <a:prstGeom prst="rect">
                <a:avLst/>
              </a:prstGeom>
            </p:spPr>
          </p:pic>
          <p:cxnSp>
            <p:nvCxnSpPr>
              <p:cNvPr id="19" name="Straight Connector 18">
                <a:extLst>
                  <a:ext uri="{FF2B5EF4-FFF2-40B4-BE49-F238E27FC236}">
                    <a16:creationId xmlns:a16="http://schemas.microsoft.com/office/drawing/2014/main" id="{E901388A-7ACF-45E3-A0A9-28D56D34AA63}"/>
                  </a:ext>
                </a:extLst>
              </p:cNvPr>
              <p:cNvCxnSpPr>
                <a:cxnSpLocks/>
                <a:stCxn id="10" idx="3"/>
                <a:endCxn id="31" idx="1"/>
              </p:cNvCxnSpPr>
              <p:nvPr/>
            </p:nvCxnSpPr>
            <p:spPr>
              <a:xfrm flipV="1">
                <a:off x="1805729" y="3832452"/>
                <a:ext cx="1309381" cy="1"/>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07A674E8-CEA3-416B-AD0C-29C40A1DD48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1329" y="4947378"/>
                <a:ext cx="914400" cy="914400"/>
              </a:xfrm>
              <a:prstGeom prst="rect">
                <a:avLst/>
              </a:prstGeom>
            </p:spPr>
          </p:pic>
          <p:sp>
            <p:nvSpPr>
              <p:cNvPr id="31" name="TextBox 30">
                <a:extLst>
                  <a:ext uri="{FF2B5EF4-FFF2-40B4-BE49-F238E27FC236}">
                    <a16:creationId xmlns:a16="http://schemas.microsoft.com/office/drawing/2014/main" id="{5F215D48-E0B6-4F9D-8C2F-FC26FEA7BD05}"/>
                  </a:ext>
                </a:extLst>
              </p:cNvPr>
              <p:cNvSpPr txBox="1"/>
              <p:nvPr/>
            </p:nvSpPr>
            <p:spPr>
              <a:xfrm>
                <a:off x="3115110" y="3632397"/>
                <a:ext cx="1207382" cy="400110"/>
              </a:xfrm>
              <a:prstGeom prst="rect">
                <a:avLst/>
              </a:prstGeom>
              <a:noFill/>
              <a:ln>
                <a:solidFill>
                  <a:schemeClr val="tx1"/>
                </a:solidFill>
              </a:ln>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Subnet 1</a:t>
                </a:r>
              </a:p>
            </p:txBody>
          </p:sp>
          <p:cxnSp>
            <p:nvCxnSpPr>
              <p:cNvPr id="38" name="Straight Connector 37">
                <a:extLst>
                  <a:ext uri="{FF2B5EF4-FFF2-40B4-BE49-F238E27FC236}">
                    <a16:creationId xmlns:a16="http://schemas.microsoft.com/office/drawing/2014/main" id="{F931899C-4BE0-45DF-8ACE-3CB5E901FA07}"/>
                  </a:ext>
                </a:extLst>
              </p:cNvPr>
              <p:cNvCxnSpPr>
                <a:stCxn id="31" idx="3"/>
                <a:endCxn id="12" idx="1"/>
              </p:cNvCxnSpPr>
              <p:nvPr/>
            </p:nvCxnSpPr>
            <p:spPr>
              <a:xfrm>
                <a:off x="4322492" y="3832452"/>
                <a:ext cx="1309382" cy="1"/>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AF27ACBD-7E0C-4855-848A-3A23E259AE7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1874" y="3375253"/>
                <a:ext cx="914400" cy="914400"/>
              </a:xfrm>
              <a:prstGeom prst="rect">
                <a:avLst/>
              </a:prstGeom>
            </p:spPr>
          </p:pic>
          <p:sp>
            <p:nvSpPr>
              <p:cNvPr id="33" name="TextBox 32">
                <a:extLst>
                  <a:ext uri="{FF2B5EF4-FFF2-40B4-BE49-F238E27FC236}">
                    <a16:creationId xmlns:a16="http://schemas.microsoft.com/office/drawing/2014/main" id="{99A1C466-76F6-4E68-B902-BEE86E14D3DF}"/>
                  </a:ext>
                </a:extLst>
              </p:cNvPr>
              <p:cNvSpPr txBox="1"/>
              <p:nvPr/>
            </p:nvSpPr>
            <p:spPr>
              <a:xfrm>
                <a:off x="5626159" y="4449238"/>
                <a:ext cx="939681" cy="400110"/>
              </a:xfrm>
              <a:prstGeom prst="rect">
                <a:avLst/>
              </a:prstGeom>
              <a:noFill/>
            </p:spPr>
            <p:txBody>
              <a:bodyPr wrap="non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Router</a:t>
                </a:r>
              </a:p>
            </p:txBody>
          </p:sp>
          <p:cxnSp>
            <p:nvCxnSpPr>
              <p:cNvPr id="43" name="Straight Connector 42">
                <a:extLst>
                  <a:ext uri="{FF2B5EF4-FFF2-40B4-BE49-F238E27FC236}">
                    <a16:creationId xmlns:a16="http://schemas.microsoft.com/office/drawing/2014/main" id="{83C7B623-DD7C-4720-B932-A03A601FC229}"/>
                  </a:ext>
                </a:extLst>
              </p:cNvPr>
              <p:cNvCxnSpPr>
                <a:cxnSpLocks/>
                <a:stCxn id="32" idx="1"/>
                <a:endCxn id="12" idx="3"/>
              </p:cNvCxnSpPr>
              <p:nvPr/>
            </p:nvCxnSpPr>
            <p:spPr>
              <a:xfrm flipH="1">
                <a:off x="6546274" y="3832452"/>
                <a:ext cx="1418386" cy="1"/>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3D26C6E1-FEA5-48BF-B449-645379BDBFD0}"/>
                  </a:ext>
                </a:extLst>
              </p:cNvPr>
              <p:cNvSpPr txBox="1"/>
              <p:nvPr/>
            </p:nvSpPr>
            <p:spPr>
              <a:xfrm>
                <a:off x="7964660" y="3632397"/>
                <a:ext cx="1207382" cy="400110"/>
              </a:xfrm>
              <a:prstGeom prst="rect">
                <a:avLst/>
              </a:prstGeom>
              <a:noFill/>
              <a:ln>
                <a:solidFill>
                  <a:schemeClr val="tx1"/>
                </a:solidFill>
              </a:ln>
            </p:spPr>
            <p:txBody>
              <a:bodyPr wrap="none" rtlCol="0">
                <a:spAutoFit/>
              </a:bodyPr>
              <a:lstStyle/>
              <a:p>
                <a:r>
                  <a:rPr lang="en-US" sz="2000">
                    <a:latin typeface="Amazon Ember Light" panose="020B0403020204020204" pitchFamily="34" charset="0"/>
                    <a:ea typeface="Amazon Ember Light" panose="020B0403020204020204" pitchFamily="34" charset="0"/>
                    <a:cs typeface="Amazon Ember Light" panose="020B0403020204020204" pitchFamily="34" charset="0"/>
                  </a:rPr>
                  <a:t>Subnet 2</a:t>
                </a:r>
              </a:p>
            </p:txBody>
          </p:sp>
          <p:pic>
            <p:nvPicPr>
              <p:cNvPr id="13" name="Graphic 12">
                <a:extLst>
                  <a:ext uri="{FF2B5EF4-FFF2-40B4-BE49-F238E27FC236}">
                    <a16:creationId xmlns:a16="http://schemas.microsoft.com/office/drawing/2014/main" id="{DD6ED128-AB4F-4594-8B52-68489906743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72420" y="1803128"/>
                <a:ext cx="914400" cy="914400"/>
              </a:xfrm>
              <a:prstGeom prst="rect">
                <a:avLst/>
              </a:prstGeom>
            </p:spPr>
          </p:pic>
          <p:cxnSp>
            <p:nvCxnSpPr>
              <p:cNvPr id="25" name="Straight Connector 24">
                <a:extLst>
                  <a:ext uri="{FF2B5EF4-FFF2-40B4-BE49-F238E27FC236}">
                    <a16:creationId xmlns:a16="http://schemas.microsoft.com/office/drawing/2014/main" id="{B02B3B37-054C-45AC-9FBA-0FA19C859BBA}"/>
                  </a:ext>
                </a:extLst>
              </p:cNvPr>
              <p:cNvCxnSpPr>
                <a:cxnSpLocks/>
                <a:stCxn id="32" idx="3"/>
                <a:endCxn id="14" idx="1"/>
              </p:cNvCxnSpPr>
              <p:nvPr/>
            </p:nvCxnSpPr>
            <p:spPr>
              <a:xfrm>
                <a:off x="9172042" y="3832452"/>
                <a:ext cx="1200378" cy="1"/>
              </a:xfrm>
              <a:prstGeom prst="line">
                <a:avLst/>
              </a:prstGeom>
            </p:spPr>
            <p:style>
              <a:lnRef idx="1">
                <a:schemeClr val="accent1"/>
              </a:lnRef>
              <a:fillRef idx="0">
                <a:schemeClr val="accent1"/>
              </a:fillRef>
              <a:effectRef idx="0">
                <a:schemeClr val="accent1"/>
              </a:effectRef>
              <a:fontRef idx="minor">
                <a:schemeClr val="tx1"/>
              </a:fontRef>
            </p:style>
          </p:cxnSp>
          <p:pic>
            <p:nvPicPr>
              <p:cNvPr id="14" name="Graphic 13">
                <a:extLst>
                  <a:ext uri="{FF2B5EF4-FFF2-40B4-BE49-F238E27FC236}">
                    <a16:creationId xmlns:a16="http://schemas.microsoft.com/office/drawing/2014/main" id="{0844F5B0-BA50-4372-A3D2-2C52A10AEE1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72420" y="3375253"/>
                <a:ext cx="914400" cy="914400"/>
              </a:xfrm>
              <a:prstGeom prst="rect">
                <a:avLst/>
              </a:prstGeom>
            </p:spPr>
          </p:pic>
          <p:pic>
            <p:nvPicPr>
              <p:cNvPr id="15" name="Graphic 14">
                <a:extLst>
                  <a:ext uri="{FF2B5EF4-FFF2-40B4-BE49-F238E27FC236}">
                    <a16:creationId xmlns:a16="http://schemas.microsoft.com/office/drawing/2014/main" id="{01E293D9-2971-478E-B1B5-E626E416CEF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372420" y="4947378"/>
                <a:ext cx="914400" cy="914400"/>
              </a:xfrm>
              <a:prstGeom prst="rect">
                <a:avLst/>
              </a:prstGeom>
            </p:spPr>
          </p:pic>
        </p:grpSp>
        <p:cxnSp>
          <p:nvCxnSpPr>
            <p:cNvPr id="9" name="Elbow Connector 8">
              <a:extLst>
                <a:ext uri="{FF2B5EF4-FFF2-40B4-BE49-F238E27FC236}">
                  <a16:creationId xmlns:a16="http://schemas.microsoft.com/office/drawing/2014/main" id="{8ADF22D2-D261-878E-A1DF-DDE679E726B8}"/>
                </a:ext>
              </a:extLst>
            </p:cNvPr>
            <p:cNvCxnSpPr>
              <a:stCxn id="8" idx="3"/>
            </p:cNvCxnSpPr>
            <p:nvPr/>
          </p:nvCxnSpPr>
          <p:spPr>
            <a:xfrm>
              <a:off x="1812655" y="2260328"/>
              <a:ext cx="1309381" cy="157212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16" name="Elbow Connector 15">
              <a:extLst>
                <a:ext uri="{FF2B5EF4-FFF2-40B4-BE49-F238E27FC236}">
                  <a16:creationId xmlns:a16="http://schemas.microsoft.com/office/drawing/2014/main" id="{DC314B63-9F39-E64F-275B-B8C43301C847}"/>
                </a:ext>
              </a:extLst>
            </p:cNvPr>
            <p:cNvCxnSpPr>
              <a:stCxn id="11" idx="3"/>
            </p:cNvCxnSpPr>
            <p:nvPr/>
          </p:nvCxnSpPr>
          <p:spPr>
            <a:xfrm flipV="1">
              <a:off x="1812655" y="4032507"/>
              <a:ext cx="1309381" cy="1372071"/>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0" name="Elbow Connector 19">
              <a:extLst>
                <a:ext uri="{FF2B5EF4-FFF2-40B4-BE49-F238E27FC236}">
                  <a16:creationId xmlns:a16="http://schemas.microsoft.com/office/drawing/2014/main" id="{4BF1C0D5-D76E-A2FA-4E76-98701D8717B6}"/>
                </a:ext>
              </a:extLst>
            </p:cNvPr>
            <p:cNvCxnSpPr>
              <a:stCxn id="13" idx="1"/>
            </p:cNvCxnSpPr>
            <p:nvPr/>
          </p:nvCxnSpPr>
          <p:spPr>
            <a:xfrm rot="10800000" flipV="1">
              <a:off x="9178968" y="2260328"/>
              <a:ext cx="1200378" cy="1572124"/>
            </a:xfrm>
            <a:prstGeom prst="bentConnector2">
              <a:avLst/>
            </a:prstGeom>
          </p:spPr>
          <p:style>
            <a:lnRef idx="1">
              <a:schemeClr val="accent1"/>
            </a:lnRef>
            <a:fillRef idx="0">
              <a:schemeClr val="accent1"/>
            </a:fillRef>
            <a:effectRef idx="0">
              <a:schemeClr val="accent1"/>
            </a:effectRef>
            <a:fontRef idx="minor">
              <a:schemeClr val="tx1"/>
            </a:fontRef>
          </p:style>
        </p:cxnSp>
        <p:cxnSp>
          <p:nvCxnSpPr>
            <p:cNvPr id="28" name="Elbow Connector 27">
              <a:extLst>
                <a:ext uri="{FF2B5EF4-FFF2-40B4-BE49-F238E27FC236}">
                  <a16:creationId xmlns:a16="http://schemas.microsoft.com/office/drawing/2014/main" id="{76766006-1818-BCA4-367C-2B57F958C2BE}"/>
                </a:ext>
              </a:extLst>
            </p:cNvPr>
            <p:cNvCxnSpPr>
              <a:stCxn id="32" idx="3"/>
              <a:endCxn id="15" idx="1"/>
            </p:cNvCxnSpPr>
            <p:nvPr/>
          </p:nvCxnSpPr>
          <p:spPr>
            <a:xfrm>
              <a:off x="9178968" y="3832452"/>
              <a:ext cx="1200378" cy="1572126"/>
            </a:xfrm>
            <a:prstGeom prst="bentConnector3">
              <a:avLst>
                <a:gd name="adj1" fmla="val -165"/>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364023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1478C-FCF1-4545-10AD-4B77585473C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68B857B-98D7-95E7-43A0-A2284303887C}"/>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IP Addresses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B3147FCE-A1F1-0E9C-AEBE-E910B5E287EB}"/>
              </a:ext>
            </a:extLst>
          </p:cNvPr>
          <p:cNvSpPr/>
          <p:nvPr/>
        </p:nvSpPr>
        <p:spPr>
          <a:xfrm>
            <a:off x="640080" y="976987"/>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8F4D8A5B-4D9B-D1A3-419C-2193A113D5C1}"/>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37DF802-B94A-0DBE-7E91-1C3311BE8B5F}"/>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A1D81252-D375-67CF-3443-FF12CD93ECE7}"/>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grpSp>
        <p:nvGrpSpPr>
          <p:cNvPr id="8" name="Group 7" descr="IP address format described in notes.">
            <a:extLst>
              <a:ext uri="{FF2B5EF4-FFF2-40B4-BE49-F238E27FC236}">
                <a16:creationId xmlns:a16="http://schemas.microsoft.com/office/drawing/2014/main" id="{E655B417-FE39-8D3E-B5B6-DCA843D52868}"/>
              </a:ext>
              <a:ext uri="{C183D7F6-B498-43B3-948B-1728B52AA6E4}">
                <adec:decorative xmlns:adec="http://schemas.microsoft.com/office/drawing/2017/decorative" val="0"/>
              </a:ext>
            </a:extLst>
          </p:cNvPr>
          <p:cNvGrpSpPr/>
          <p:nvPr/>
        </p:nvGrpSpPr>
        <p:grpSpPr>
          <a:xfrm>
            <a:off x="1165135" y="2306265"/>
            <a:ext cx="9861730" cy="2676356"/>
            <a:chOff x="1165135" y="2533334"/>
            <a:chExt cx="9861730" cy="2676356"/>
          </a:xfrm>
        </p:grpSpPr>
        <p:grpSp>
          <p:nvGrpSpPr>
            <p:cNvPr id="9" name="Group 8">
              <a:extLst>
                <a:ext uri="{FF2B5EF4-FFF2-40B4-BE49-F238E27FC236}">
                  <a16:creationId xmlns:a16="http://schemas.microsoft.com/office/drawing/2014/main" id="{638680F3-A49F-3AB7-1FE2-D3A351341519}"/>
                </a:ext>
              </a:extLst>
            </p:cNvPr>
            <p:cNvGrpSpPr/>
            <p:nvPr/>
          </p:nvGrpSpPr>
          <p:grpSpPr>
            <a:xfrm>
              <a:off x="1165135" y="2533334"/>
              <a:ext cx="1864613" cy="2676356"/>
              <a:chOff x="1165135" y="2533334"/>
              <a:chExt cx="1864613" cy="2676356"/>
            </a:xfrm>
          </p:grpSpPr>
          <p:sp>
            <p:nvSpPr>
              <p:cNvPr id="25" name="TextBox 24">
                <a:extLst>
                  <a:ext uri="{FF2B5EF4-FFF2-40B4-BE49-F238E27FC236}">
                    <a16:creationId xmlns:a16="http://schemas.microsoft.com/office/drawing/2014/main" id="{7A2A7FF3-C9B4-4979-234E-7B5D55E92698}"/>
                  </a:ext>
                </a:extLst>
              </p:cNvPr>
              <p:cNvSpPr txBox="1"/>
              <p:nvPr/>
            </p:nvSpPr>
            <p:spPr>
              <a:xfrm>
                <a:off x="1690118" y="2533334"/>
                <a:ext cx="814647" cy="523220"/>
              </a:xfrm>
              <a:prstGeom prst="rect">
                <a:avLst/>
              </a:prstGeom>
              <a:noFill/>
            </p:spPr>
            <p:txBody>
              <a:bodyPr wrap="none" rtlCol="0">
                <a:spAutoFit/>
              </a:bodyPr>
              <a:lstStyle/>
              <a:p>
                <a:r>
                  <a:rPr lang="en-US" sz="2800" dirty="0">
                    <a:latin typeface="Amazon Ember" panose="020B0603020204020204" pitchFamily="34" charset="0"/>
                    <a:ea typeface="Amazon Ember" panose="020B0603020204020204" pitchFamily="34" charset="0"/>
                    <a:cs typeface="Amazon Ember" panose="020B0603020204020204" pitchFamily="34" charset="0"/>
                  </a:rPr>
                  <a:t>192</a:t>
                </a:r>
              </a:p>
            </p:txBody>
          </p:sp>
          <p:sp>
            <p:nvSpPr>
              <p:cNvPr id="26" name="Arrow: Down 25" descr="down arrow">
                <a:extLst>
                  <a:ext uri="{FF2B5EF4-FFF2-40B4-BE49-F238E27FC236}">
                    <a16:creationId xmlns:a16="http://schemas.microsoft.com/office/drawing/2014/main" id="{46777F10-973D-1E1B-B938-211DD7D42042}"/>
                  </a:ext>
                </a:extLst>
              </p:cNvPr>
              <p:cNvSpPr/>
              <p:nvPr/>
            </p:nvSpPr>
            <p:spPr>
              <a:xfrm>
                <a:off x="1954671" y="3435094"/>
                <a:ext cx="285541" cy="872836"/>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E75A8C64-CE18-153E-C907-4390646ADB52}"/>
                  </a:ext>
                </a:extLst>
              </p:cNvPr>
              <p:cNvSpPr txBox="1"/>
              <p:nvPr/>
            </p:nvSpPr>
            <p:spPr>
              <a:xfrm>
                <a:off x="1165135" y="4686470"/>
                <a:ext cx="1864613"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11000000</a:t>
                </a:r>
              </a:p>
            </p:txBody>
          </p:sp>
        </p:grpSp>
        <p:sp>
          <p:nvSpPr>
            <p:cNvPr id="10" name="TextBox 9">
              <a:extLst>
                <a:ext uri="{FF2B5EF4-FFF2-40B4-BE49-F238E27FC236}">
                  <a16:creationId xmlns:a16="http://schemas.microsoft.com/office/drawing/2014/main" id="{8C9F594A-5A4F-6167-8706-6B0DF24D8ACC}"/>
                </a:ext>
              </a:extLst>
            </p:cNvPr>
            <p:cNvSpPr txBox="1"/>
            <p:nvPr/>
          </p:nvSpPr>
          <p:spPr>
            <a:xfrm>
              <a:off x="3022971" y="2533334"/>
              <a:ext cx="814647" cy="523220"/>
            </a:xfrm>
            <a:prstGeom prst="rect">
              <a:avLst/>
            </a:prstGeom>
            <a:noFill/>
            <a:ln>
              <a:noFill/>
            </a:ln>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grpSp>
          <p:nvGrpSpPr>
            <p:cNvPr id="11" name="Group 10">
              <a:extLst>
                <a:ext uri="{FF2B5EF4-FFF2-40B4-BE49-F238E27FC236}">
                  <a16:creationId xmlns:a16="http://schemas.microsoft.com/office/drawing/2014/main" id="{49974C98-E5C9-23E3-2E72-923879FB81E7}"/>
                </a:ext>
              </a:extLst>
            </p:cNvPr>
            <p:cNvGrpSpPr/>
            <p:nvPr/>
          </p:nvGrpSpPr>
          <p:grpSpPr>
            <a:xfrm>
              <a:off x="3830841" y="2533334"/>
              <a:ext cx="1864613" cy="2676356"/>
              <a:chOff x="4005835" y="2533334"/>
              <a:chExt cx="1864613" cy="2676356"/>
            </a:xfrm>
          </p:grpSpPr>
          <p:sp>
            <p:nvSpPr>
              <p:cNvPr id="22" name="TextBox 21">
                <a:extLst>
                  <a:ext uri="{FF2B5EF4-FFF2-40B4-BE49-F238E27FC236}">
                    <a16:creationId xmlns:a16="http://schemas.microsoft.com/office/drawing/2014/main" id="{8FE7BB28-954A-6A6A-5916-707A97B05D80}"/>
                  </a:ext>
                </a:extLst>
              </p:cNvPr>
              <p:cNvSpPr txBox="1"/>
              <p:nvPr/>
            </p:nvSpPr>
            <p:spPr>
              <a:xfrm>
                <a:off x="4740811" y="2533334"/>
                <a:ext cx="394660"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a:t>
                </a:r>
              </a:p>
            </p:txBody>
          </p:sp>
          <p:sp>
            <p:nvSpPr>
              <p:cNvPr id="23" name="Arrow: Down 22" descr="down arrow">
                <a:extLst>
                  <a:ext uri="{FF2B5EF4-FFF2-40B4-BE49-F238E27FC236}">
                    <a16:creationId xmlns:a16="http://schemas.microsoft.com/office/drawing/2014/main" id="{66A28446-2C0D-FF6F-6B4F-E8C4813234B0}"/>
                  </a:ext>
                </a:extLst>
              </p:cNvPr>
              <p:cNvSpPr/>
              <p:nvPr/>
            </p:nvSpPr>
            <p:spPr>
              <a:xfrm>
                <a:off x="4795371" y="3435094"/>
                <a:ext cx="285541" cy="872836"/>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307F3F44-1BF1-9D5E-DA4D-4A141DC1203D}"/>
                  </a:ext>
                </a:extLst>
              </p:cNvPr>
              <p:cNvSpPr txBox="1"/>
              <p:nvPr/>
            </p:nvSpPr>
            <p:spPr>
              <a:xfrm>
                <a:off x="4005835" y="4686470"/>
                <a:ext cx="1864613"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00000000</a:t>
                </a:r>
              </a:p>
            </p:txBody>
          </p:sp>
        </p:grpSp>
        <p:sp>
          <p:nvSpPr>
            <p:cNvPr id="12" name="TextBox 11">
              <a:extLst>
                <a:ext uri="{FF2B5EF4-FFF2-40B4-BE49-F238E27FC236}">
                  <a16:creationId xmlns:a16="http://schemas.microsoft.com/office/drawing/2014/main" id="{E2700A7B-BF90-0422-810E-BC899938E3A9}"/>
                </a:ext>
              </a:extLst>
            </p:cNvPr>
            <p:cNvSpPr txBox="1"/>
            <p:nvPr/>
          </p:nvSpPr>
          <p:spPr>
            <a:xfrm>
              <a:off x="5688677" y="2533334"/>
              <a:ext cx="814647" cy="523220"/>
            </a:xfrm>
            <a:prstGeom prst="rect">
              <a:avLst/>
            </a:prstGeom>
            <a:noFill/>
            <a:ln>
              <a:noFill/>
            </a:ln>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grpSp>
          <p:nvGrpSpPr>
            <p:cNvPr id="13" name="Group 12">
              <a:extLst>
                <a:ext uri="{FF2B5EF4-FFF2-40B4-BE49-F238E27FC236}">
                  <a16:creationId xmlns:a16="http://schemas.microsoft.com/office/drawing/2014/main" id="{3FFF0582-1D15-D27C-1FCB-D4BDFE23C240}"/>
                </a:ext>
              </a:extLst>
            </p:cNvPr>
            <p:cNvGrpSpPr/>
            <p:nvPr/>
          </p:nvGrpSpPr>
          <p:grpSpPr>
            <a:xfrm>
              <a:off x="6496547" y="2533334"/>
              <a:ext cx="1864613" cy="2676356"/>
              <a:chOff x="6636542" y="2533334"/>
              <a:chExt cx="1864613" cy="2676356"/>
            </a:xfrm>
          </p:grpSpPr>
          <p:sp>
            <p:nvSpPr>
              <p:cNvPr id="19" name="TextBox 18">
                <a:extLst>
                  <a:ext uri="{FF2B5EF4-FFF2-40B4-BE49-F238E27FC236}">
                    <a16:creationId xmlns:a16="http://schemas.microsoft.com/office/drawing/2014/main" id="{3BC3ADBC-773E-FADC-9826-1F47E98F1DBE}"/>
                  </a:ext>
                </a:extLst>
              </p:cNvPr>
              <p:cNvSpPr txBox="1"/>
              <p:nvPr/>
            </p:nvSpPr>
            <p:spPr>
              <a:xfrm>
                <a:off x="7371518" y="2533334"/>
                <a:ext cx="394660" cy="523220"/>
              </a:xfrm>
              <a:prstGeom prst="rect">
                <a:avLst/>
              </a:prstGeom>
              <a:noFill/>
            </p:spPr>
            <p:txBody>
              <a:bodyPr wrap="none" rtlCol="0">
                <a:spAutoFit/>
              </a:bodyPr>
              <a:lstStyle/>
              <a:p>
                <a:r>
                  <a:rPr lang="en-US" sz="2800" dirty="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20" name="Arrow: Down 19" descr="down arrow">
                <a:extLst>
                  <a:ext uri="{FF2B5EF4-FFF2-40B4-BE49-F238E27FC236}">
                    <a16:creationId xmlns:a16="http://schemas.microsoft.com/office/drawing/2014/main" id="{7FF634CE-E818-64A6-FC14-F1BEADB3EE89}"/>
                  </a:ext>
                </a:extLst>
              </p:cNvPr>
              <p:cNvSpPr/>
              <p:nvPr/>
            </p:nvSpPr>
            <p:spPr>
              <a:xfrm>
                <a:off x="7426078" y="3435094"/>
                <a:ext cx="285541" cy="872836"/>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909E842-11A4-8225-2578-8050213A99B3}"/>
                  </a:ext>
                </a:extLst>
              </p:cNvPr>
              <p:cNvSpPr txBox="1"/>
              <p:nvPr/>
            </p:nvSpPr>
            <p:spPr>
              <a:xfrm>
                <a:off x="6636542" y="4686470"/>
                <a:ext cx="1864613"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00000010</a:t>
                </a:r>
              </a:p>
            </p:txBody>
          </p:sp>
        </p:grpSp>
        <p:sp>
          <p:nvSpPr>
            <p:cNvPr id="14" name="TextBox 13">
              <a:extLst>
                <a:ext uri="{FF2B5EF4-FFF2-40B4-BE49-F238E27FC236}">
                  <a16:creationId xmlns:a16="http://schemas.microsoft.com/office/drawing/2014/main" id="{750ED307-EA59-5AB3-4422-C129D0AE72BE}"/>
                </a:ext>
              </a:extLst>
            </p:cNvPr>
            <p:cNvSpPr txBox="1"/>
            <p:nvPr/>
          </p:nvSpPr>
          <p:spPr>
            <a:xfrm>
              <a:off x="8354383" y="2533334"/>
              <a:ext cx="814647" cy="523220"/>
            </a:xfrm>
            <a:prstGeom prst="rect">
              <a:avLst/>
            </a:prstGeom>
            <a:noFill/>
            <a:ln>
              <a:noFill/>
            </a:ln>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grpSp>
          <p:nvGrpSpPr>
            <p:cNvPr id="15" name="Group 14">
              <a:extLst>
                <a:ext uri="{FF2B5EF4-FFF2-40B4-BE49-F238E27FC236}">
                  <a16:creationId xmlns:a16="http://schemas.microsoft.com/office/drawing/2014/main" id="{43FACC2E-0B96-2952-FF57-A40EE1A5673A}"/>
                </a:ext>
              </a:extLst>
            </p:cNvPr>
            <p:cNvGrpSpPr/>
            <p:nvPr/>
          </p:nvGrpSpPr>
          <p:grpSpPr>
            <a:xfrm>
              <a:off x="9162252" y="2533334"/>
              <a:ext cx="1864613" cy="2676356"/>
              <a:chOff x="9162252" y="2533334"/>
              <a:chExt cx="1864613" cy="2676356"/>
            </a:xfrm>
          </p:grpSpPr>
          <p:sp>
            <p:nvSpPr>
              <p:cNvPr id="16" name="TextBox 15">
                <a:extLst>
                  <a:ext uri="{FF2B5EF4-FFF2-40B4-BE49-F238E27FC236}">
                    <a16:creationId xmlns:a16="http://schemas.microsoft.com/office/drawing/2014/main" id="{36DD55C2-BC6A-A151-C252-F968A69C7102}"/>
                  </a:ext>
                </a:extLst>
              </p:cNvPr>
              <p:cNvSpPr txBox="1"/>
              <p:nvPr/>
            </p:nvSpPr>
            <p:spPr>
              <a:xfrm>
                <a:off x="9897228" y="2533334"/>
                <a:ext cx="394660"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a:t>
                </a:r>
              </a:p>
            </p:txBody>
          </p:sp>
          <p:sp>
            <p:nvSpPr>
              <p:cNvPr id="17" name="Arrow: Down 16" descr="down arrow">
                <a:extLst>
                  <a:ext uri="{FF2B5EF4-FFF2-40B4-BE49-F238E27FC236}">
                    <a16:creationId xmlns:a16="http://schemas.microsoft.com/office/drawing/2014/main" id="{DD7EC9FA-F074-8899-FB2E-F65816DED1FA}"/>
                  </a:ext>
                </a:extLst>
              </p:cNvPr>
              <p:cNvSpPr/>
              <p:nvPr/>
            </p:nvSpPr>
            <p:spPr>
              <a:xfrm>
                <a:off x="9951788" y="3435094"/>
                <a:ext cx="285541" cy="872836"/>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7E51501-0488-07E2-CEF9-60ED88095667}"/>
                  </a:ext>
                </a:extLst>
              </p:cNvPr>
              <p:cNvSpPr txBox="1"/>
              <p:nvPr/>
            </p:nvSpPr>
            <p:spPr>
              <a:xfrm>
                <a:off x="9162252" y="4686470"/>
                <a:ext cx="1864613"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00000000</a:t>
                </a:r>
              </a:p>
            </p:txBody>
          </p:sp>
        </p:grpSp>
      </p:grpSp>
    </p:spTree>
    <p:extLst>
      <p:ext uri="{BB962C8B-B14F-4D97-AF65-F5344CB8AC3E}">
        <p14:creationId xmlns:p14="http://schemas.microsoft.com/office/powerpoint/2010/main" val="1751827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8D08-67E1-A860-17EC-0755889A531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3347566-BDE4-3270-DB37-7DFDC3C26832}"/>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IPv4 and IPv6 addresses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E6C9B6D6-4142-7187-7DBB-2EA0A13EFF50}"/>
              </a:ext>
            </a:extLst>
          </p:cNvPr>
          <p:cNvSpPr/>
          <p:nvPr/>
        </p:nvSpPr>
        <p:spPr>
          <a:xfrm>
            <a:off x="640080" y="976987"/>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502E174E-8512-432C-B20C-77D5F749C3AE}"/>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824FB57-45B8-4FDE-1D37-4F7E82E868FF}"/>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9F11D2A2-1613-8C39-A2C5-DF6B9FCBD666}"/>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sp>
        <p:nvSpPr>
          <p:cNvPr id="4" name="TextBox 3">
            <a:extLst>
              <a:ext uri="{FF2B5EF4-FFF2-40B4-BE49-F238E27FC236}">
                <a16:creationId xmlns:a16="http://schemas.microsoft.com/office/drawing/2014/main" id="{DD9F200E-4E5A-A663-A6FB-CC9C9C58075A}"/>
              </a:ext>
            </a:extLst>
          </p:cNvPr>
          <p:cNvSpPr txBox="1"/>
          <p:nvPr/>
        </p:nvSpPr>
        <p:spPr>
          <a:xfrm>
            <a:off x="697185" y="2201995"/>
            <a:ext cx="5097870" cy="523220"/>
          </a:xfrm>
          <a:prstGeom prst="rect">
            <a:avLst/>
          </a:prstGeom>
          <a:noFill/>
        </p:spPr>
        <p:txBody>
          <a:bodyPr wrap="none" rtlCol="0">
            <a:spAutoFit/>
          </a:bodyPr>
          <a:lstStyle/>
          <a:p>
            <a:r>
              <a:rPr lang="en-US" sz="2800" b="1"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IPv4 (32-bit) address</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192.0.2.0</a:t>
            </a:r>
          </a:p>
        </p:txBody>
      </p:sp>
      <p:sp>
        <p:nvSpPr>
          <p:cNvPr id="8" name="TextBox 7">
            <a:extLst>
              <a:ext uri="{FF2B5EF4-FFF2-40B4-BE49-F238E27FC236}">
                <a16:creationId xmlns:a16="http://schemas.microsoft.com/office/drawing/2014/main" id="{0325C5C1-686F-0461-0B34-619BD7013C35}"/>
              </a:ext>
            </a:extLst>
          </p:cNvPr>
          <p:cNvSpPr txBox="1"/>
          <p:nvPr/>
        </p:nvSpPr>
        <p:spPr>
          <a:xfrm>
            <a:off x="731520" y="3280991"/>
            <a:ext cx="10698480" cy="954107"/>
          </a:xfrm>
          <a:prstGeom prst="rect">
            <a:avLst/>
          </a:prstGeom>
          <a:noFill/>
        </p:spPr>
        <p:txBody>
          <a:bodyPr wrap="square" rtlCol="0">
            <a:spAutoFit/>
          </a:bodyPr>
          <a:lstStyle/>
          <a:p>
            <a:r>
              <a:rPr lang="en-US" sz="2800" b="1"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IPv6 (128-bit) address</a:t>
            </a: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 </a:t>
            </a:r>
            <a:r>
              <a:rPr lang="en-US" sz="2800" dirty="0">
                <a:latin typeface="+mj-lt"/>
                <a:ea typeface="Amazon Ember" panose="020B0603020204020204" pitchFamily="34" charset="0"/>
                <a:cs typeface="Amazon Ember" panose="020B0603020204020204" pitchFamily="34" charset="0"/>
              </a:rPr>
              <a:t>2600:1f18:22ba:8c00:ba86:a05e:a5ba:00FF</a:t>
            </a:r>
          </a:p>
        </p:txBody>
      </p:sp>
    </p:spTree>
    <p:extLst>
      <p:ext uri="{BB962C8B-B14F-4D97-AF65-F5344CB8AC3E}">
        <p14:creationId xmlns:p14="http://schemas.microsoft.com/office/powerpoint/2010/main" val="1640087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0D547-347A-2BB2-F5AD-CAB0DD59A5A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E09ECC8-F2D8-DC35-9472-046DA638C85F}"/>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Classless Inter-Domain Routing (CIDR)</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3978457A-FB7C-B4B5-CC12-2379A26DC073}"/>
              </a:ext>
            </a:extLst>
          </p:cNvPr>
          <p:cNvSpPr/>
          <p:nvPr/>
        </p:nvSpPr>
        <p:spPr>
          <a:xfrm>
            <a:off x="640080" y="976987"/>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C98C8910-7DC0-4013-17E0-2D0C5F9CCB15}"/>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220FAA4-8C66-92DD-D820-5CEE29E4B66A}"/>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FE8470DE-0BDC-36CF-86B4-3C3187FAA904}"/>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grpSp>
        <p:nvGrpSpPr>
          <p:cNvPr id="35" name="Group 34" descr="Binary conversion for IPv4 CIDR of 192.0.2.0/24.">
            <a:extLst>
              <a:ext uri="{FF2B5EF4-FFF2-40B4-BE49-F238E27FC236}">
                <a16:creationId xmlns:a16="http://schemas.microsoft.com/office/drawing/2014/main" id="{27BF2E28-BF30-F5B0-B2C9-03E897BBDAAD}"/>
              </a:ext>
            </a:extLst>
          </p:cNvPr>
          <p:cNvGrpSpPr/>
          <p:nvPr/>
        </p:nvGrpSpPr>
        <p:grpSpPr>
          <a:xfrm>
            <a:off x="63523" y="1467408"/>
            <a:ext cx="12064955" cy="4174987"/>
            <a:chOff x="18595" y="1467408"/>
            <a:chExt cx="12064955" cy="4174987"/>
          </a:xfrm>
        </p:grpSpPr>
        <p:sp>
          <p:nvSpPr>
            <p:cNvPr id="36" name="TextBox 35">
              <a:extLst>
                <a:ext uri="{FF2B5EF4-FFF2-40B4-BE49-F238E27FC236}">
                  <a16:creationId xmlns:a16="http://schemas.microsoft.com/office/drawing/2014/main" id="{88432844-E8CD-D4C7-89A4-851D6DCBF90C}"/>
                </a:ext>
              </a:extLst>
            </p:cNvPr>
            <p:cNvSpPr txBox="1"/>
            <p:nvPr/>
          </p:nvSpPr>
          <p:spPr>
            <a:xfrm>
              <a:off x="895505" y="1467408"/>
              <a:ext cx="5429692" cy="523220"/>
            </a:xfrm>
            <a:prstGeom prst="rect">
              <a:avLst/>
            </a:prstGeom>
            <a:noFill/>
          </p:spPr>
          <p:txBody>
            <a:bodyPr wrap="none" rtlCol="0">
              <a:spAutoFit/>
            </a:bodyPr>
            <a:lstStyle/>
            <a:p>
              <a:pPr algn="ctr"/>
              <a:r>
                <a:rPr lang="en-US" sz="2800" dirty="0">
                  <a:latin typeface="Amazon Ember Light" panose="020B0403020204020204" pitchFamily="34" charset="0"/>
                  <a:ea typeface="Amazon Ember Light" panose="020B0403020204020204" pitchFamily="34" charset="0"/>
                  <a:cs typeface="Amazon Ember Light" panose="020B0403020204020204" pitchFamily="34" charset="0"/>
                </a:rPr>
                <a:t>Network identifier (routing prefix)</a:t>
              </a:r>
            </a:p>
          </p:txBody>
        </p:sp>
        <p:sp>
          <p:nvSpPr>
            <p:cNvPr id="37" name="Rectangle 36">
              <a:extLst>
                <a:ext uri="{FF2B5EF4-FFF2-40B4-BE49-F238E27FC236}">
                  <a16:creationId xmlns:a16="http://schemas.microsoft.com/office/drawing/2014/main" id="{37812E34-8576-A4F3-042B-49BF76BC8B3E}"/>
                </a:ext>
                <a:ext uri="{C183D7F6-B498-43B3-948B-1728B52AA6E4}">
                  <adec:decorative xmlns:adec="http://schemas.microsoft.com/office/drawing/2017/decorative" val="1"/>
                </a:ext>
              </a:extLst>
            </p:cNvPr>
            <p:cNvSpPr/>
            <p:nvPr/>
          </p:nvSpPr>
          <p:spPr>
            <a:xfrm>
              <a:off x="289437" y="2229616"/>
              <a:ext cx="6475208" cy="1071247"/>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41C777D0-211D-D0C2-FAF1-AD3064F2031D}"/>
                </a:ext>
              </a:extLst>
            </p:cNvPr>
            <p:cNvSpPr txBox="1"/>
            <p:nvPr/>
          </p:nvSpPr>
          <p:spPr>
            <a:xfrm>
              <a:off x="543579" y="2503629"/>
              <a:ext cx="814647"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192</a:t>
              </a:r>
            </a:p>
          </p:txBody>
        </p:sp>
        <p:sp>
          <p:nvSpPr>
            <p:cNvPr id="39" name="Arrow: Down 38" descr="down arrow">
              <a:extLst>
                <a:ext uri="{FF2B5EF4-FFF2-40B4-BE49-F238E27FC236}">
                  <a16:creationId xmlns:a16="http://schemas.microsoft.com/office/drawing/2014/main" id="{BA840325-D187-B933-5595-3CDE89A2D18A}"/>
                </a:ext>
              </a:extLst>
            </p:cNvPr>
            <p:cNvSpPr/>
            <p:nvPr/>
          </p:nvSpPr>
          <p:spPr>
            <a:xfrm>
              <a:off x="813742" y="3530481"/>
              <a:ext cx="274320" cy="457200"/>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9BCDFC9-2063-48B3-1FD8-5763F08B8382}"/>
                </a:ext>
              </a:extLst>
            </p:cNvPr>
            <p:cNvSpPr txBox="1"/>
            <p:nvPr/>
          </p:nvSpPr>
          <p:spPr>
            <a:xfrm>
              <a:off x="18595" y="4104142"/>
              <a:ext cx="1864613" cy="523220"/>
            </a:xfrm>
            <a:prstGeom prst="rect">
              <a:avLst/>
            </a:prstGeom>
            <a:noFill/>
          </p:spPr>
          <p:txBody>
            <a:bodyPr wrap="non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11000000</a:t>
              </a:r>
            </a:p>
          </p:txBody>
        </p:sp>
        <p:sp>
          <p:nvSpPr>
            <p:cNvPr id="41" name="TextBox 40">
              <a:extLst>
                <a:ext uri="{FF2B5EF4-FFF2-40B4-BE49-F238E27FC236}">
                  <a16:creationId xmlns:a16="http://schemas.microsoft.com/office/drawing/2014/main" id="{618008D4-EE72-8FFB-57E3-A8F5935086B8}"/>
                </a:ext>
              </a:extLst>
            </p:cNvPr>
            <p:cNvSpPr txBox="1"/>
            <p:nvPr/>
          </p:nvSpPr>
          <p:spPr>
            <a:xfrm>
              <a:off x="449000" y="5119175"/>
              <a:ext cx="1003801"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Fixed</a:t>
              </a:r>
            </a:p>
          </p:txBody>
        </p:sp>
        <p:sp>
          <p:nvSpPr>
            <p:cNvPr id="42" name="TextBox 41">
              <a:extLst>
                <a:ext uri="{FF2B5EF4-FFF2-40B4-BE49-F238E27FC236}">
                  <a16:creationId xmlns:a16="http://schemas.microsoft.com/office/drawing/2014/main" id="{ADB6C7B4-DD5D-18F7-BD71-7FA30880DA0A}"/>
                </a:ext>
              </a:extLst>
            </p:cNvPr>
            <p:cNvSpPr txBox="1"/>
            <p:nvPr/>
          </p:nvSpPr>
          <p:spPr>
            <a:xfrm>
              <a:off x="1936645" y="2485700"/>
              <a:ext cx="814647" cy="523220"/>
            </a:xfrm>
            <a:prstGeom prst="rect">
              <a:avLst/>
            </a:prstGeom>
            <a:noFill/>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sp>
          <p:nvSpPr>
            <p:cNvPr id="43" name="TextBox 42">
              <a:extLst>
                <a:ext uri="{FF2B5EF4-FFF2-40B4-BE49-F238E27FC236}">
                  <a16:creationId xmlns:a16="http://schemas.microsoft.com/office/drawing/2014/main" id="{BE7AA3A6-19D7-94A8-A121-C1085F6C127F}"/>
                </a:ext>
              </a:extLst>
            </p:cNvPr>
            <p:cNvSpPr txBox="1"/>
            <p:nvPr/>
          </p:nvSpPr>
          <p:spPr>
            <a:xfrm>
              <a:off x="3543717" y="2503629"/>
              <a:ext cx="394660"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a:t>
              </a:r>
            </a:p>
          </p:txBody>
        </p:sp>
        <p:sp>
          <p:nvSpPr>
            <p:cNvPr id="44" name="Arrow: Down 43">
              <a:extLst>
                <a:ext uri="{FF2B5EF4-FFF2-40B4-BE49-F238E27FC236}">
                  <a16:creationId xmlns:a16="http://schemas.microsoft.com/office/drawing/2014/main" id="{C7969C1F-0BDA-8583-CCCB-3A802562F041}"/>
                </a:ext>
                <a:ext uri="{C183D7F6-B498-43B3-948B-1728B52AA6E4}">
                  <adec:decorative xmlns:adec="http://schemas.microsoft.com/office/drawing/2017/decorative" val="1"/>
                </a:ext>
              </a:extLst>
            </p:cNvPr>
            <p:cNvSpPr/>
            <p:nvPr/>
          </p:nvSpPr>
          <p:spPr>
            <a:xfrm>
              <a:off x="3610351" y="3530481"/>
              <a:ext cx="274320" cy="457200"/>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1AC56CB7-FFA6-729E-ACA2-B674D30789B3}"/>
                </a:ext>
              </a:extLst>
            </p:cNvPr>
            <p:cNvSpPr txBox="1"/>
            <p:nvPr/>
          </p:nvSpPr>
          <p:spPr>
            <a:xfrm>
              <a:off x="2821876" y="4104142"/>
              <a:ext cx="1864613" cy="523220"/>
            </a:xfrm>
            <a:prstGeom prst="rect">
              <a:avLst/>
            </a:prstGeom>
            <a:noFill/>
          </p:spPr>
          <p:txBody>
            <a:bodyPr wrap="non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00000000</a:t>
              </a:r>
            </a:p>
          </p:txBody>
        </p:sp>
        <p:sp>
          <p:nvSpPr>
            <p:cNvPr id="46" name="TextBox 45">
              <a:extLst>
                <a:ext uri="{FF2B5EF4-FFF2-40B4-BE49-F238E27FC236}">
                  <a16:creationId xmlns:a16="http://schemas.microsoft.com/office/drawing/2014/main" id="{025CAF84-D600-5C14-1CE0-69FC784C1942}"/>
                </a:ext>
              </a:extLst>
            </p:cNvPr>
            <p:cNvSpPr txBox="1"/>
            <p:nvPr/>
          </p:nvSpPr>
          <p:spPr>
            <a:xfrm>
              <a:off x="3234323" y="5119175"/>
              <a:ext cx="1003801"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Fixed</a:t>
              </a:r>
            </a:p>
          </p:txBody>
        </p:sp>
        <p:sp>
          <p:nvSpPr>
            <p:cNvPr id="47" name="TextBox 46">
              <a:extLst>
                <a:ext uri="{FF2B5EF4-FFF2-40B4-BE49-F238E27FC236}">
                  <a16:creationId xmlns:a16="http://schemas.microsoft.com/office/drawing/2014/main" id="{32C3014E-D572-85C5-BF5D-D4A355C20B91}"/>
                </a:ext>
              </a:extLst>
            </p:cNvPr>
            <p:cNvSpPr txBox="1"/>
            <p:nvPr/>
          </p:nvSpPr>
          <p:spPr>
            <a:xfrm>
              <a:off x="4722777" y="2503629"/>
              <a:ext cx="814647" cy="523220"/>
            </a:xfrm>
            <a:prstGeom prst="rect">
              <a:avLst/>
            </a:prstGeom>
            <a:noFill/>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sp>
          <p:nvSpPr>
            <p:cNvPr id="48" name="TextBox 47">
              <a:extLst>
                <a:ext uri="{FF2B5EF4-FFF2-40B4-BE49-F238E27FC236}">
                  <a16:creationId xmlns:a16="http://schemas.microsoft.com/office/drawing/2014/main" id="{56B671B6-EE4D-0D36-E91D-C96FD617F426}"/>
                </a:ext>
              </a:extLst>
            </p:cNvPr>
            <p:cNvSpPr txBox="1"/>
            <p:nvPr/>
          </p:nvSpPr>
          <p:spPr>
            <a:xfrm>
              <a:off x="6115843" y="2503629"/>
              <a:ext cx="394660"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2</a:t>
              </a:r>
            </a:p>
          </p:txBody>
        </p:sp>
        <p:sp>
          <p:nvSpPr>
            <p:cNvPr id="49" name="Arrow: Down 48" descr="down arrow">
              <a:extLst>
                <a:ext uri="{FF2B5EF4-FFF2-40B4-BE49-F238E27FC236}">
                  <a16:creationId xmlns:a16="http://schemas.microsoft.com/office/drawing/2014/main" id="{3CD74095-55CF-88D4-573B-F1784E8E1466}"/>
                </a:ext>
              </a:extLst>
            </p:cNvPr>
            <p:cNvSpPr/>
            <p:nvPr/>
          </p:nvSpPr>
          <p:spPr>
            <a:xfrm>
              <a:off x="6176013" y="3530481"/>
              <a:ext cx="274320" cy="457200"/>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29DB8315-886C-2F81-4F02-424E35021A0B}"/>
                </a:ext>
              </a:extLst>
            </p:cNvPr>
            <p:cNvSpPr txBox="1"/>
            <p:nvPr/>
          </p:nvSpPr>
          <p:spPr>
            <a:xfrm>
              <a:off x="5382968" y="4104142"/>
              <a:ext cx="1864613" cy="523220"/>
            </a:xfrm>
            <a:prstGeom prst="rect">
              <a:avLst/>
            </a:prstGeom>
            <a:noFill/>
          </p:spPr>
          <p:txBody>
            <a:bodyPr wrap="non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00000010</a:t>
              </a:r>
            </a:p>
          </p:txBody>
        </p:sp>
        <p:sp>
          <p:nvSpPr>
            <p:cNvPr id="51" name="TextBox 50">
              <a:extLst>
                <a:ext uri="{FF2B5EF4-FFF2-40B4-BE49-F238E27FC236}">
                  <a16:creationId xmlns:a16="http://schemas.microsoft.com/office/drawing/2014/main" id="{158E8E47-F0EE-9E41-F8D8-7654ECD0774E}"/>
                </a:ext>
              </a:extLst>
            </p:cNvPr>
            <p:cNvSpPr txBox="1"/>
            <p:nvPr/>
          </p:nvSpPr>
          <p:spPr>
            <a:xfrm>
              <a:off x="5806525" y="5119175"/>
              <a:ext cx="1003801"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Fixed</a:t>
              </a:r>
            </a:p>
          </p:txBody>
        </p:sp>
        <p:sp>
          <p:nvSpPr>
            <p:cNvPr id="52" name="TextBox 51">
              <a:extLst>
                <a:ext uri="{FF2B5EF4-FFF2-40B4-BE49-F238E27FC236}">
                  <a16:creationId xmlns:a16="http://schemas.microsoft.com/office/drawing/2014/main" id="{65D80CD7-A07A-F009-1168-B3B2FC7974E0}"/>
                </a:ext>
              </a:extLst>
            </p:cNvPr>
            <p:cNvSpPr txBox="1"/>
            <p:nvPr/>
          </p:nvSpPr>
          <p:spPr>
            <a:xfrm>
              <a:off x="7196375" y="2503629"/>
              <a:ext cx="814647" cy="523220"/>
            </a:xfrm>
            <a:prstGeom prst="rect">
              <a:avLst/>
            </a:prstGeom>
            <a:noFill/>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sp>
          <p:nvSpPr>
            <p:cNvPr id="53" name="TextBox 52">
              <a:extLst>
                <a:ext uri="{FF2B5EF4-FFF2-40B4-BE49-F238E27FC236}">
                  <a16:creationId xmlns:a16="http://schemas.microsoft.com/office/drawing/2014/main" id="{47BB7B2E-8257-CFFA-F146-08AE899616A1}"/>
                </a:ext>
              </a:extLst>
            </p:cNvPr>
            <p:cNvSpPr txBox="1"/>
            <p:nvPr/>
          </p:nvSpPr>
          <p:spPr>
            <a:xfrm>
              <a:off x="7578748" y="1467408"/>
              <a:ext cx="2416046" cy="523220"/>
            </a:xfrm>
            <a:prstGeom prst="rect">
              <a:avLst/>
            </a:prstGeom>
            <a:noFill/>
          </p:spPr>
          <p:txBody>
            <a:bodyPr wrap="none" rtlCol="0">
              <a:spAutoFit/>
            </a:bodyPr>
            <a:lstStyle/>
            <a:p>
              <a:pPr algn="ctr"/>
              <a:r>
                <a:rPr lang="en-US" sz="2800">
                  <a:latin typeface="Amazon Ember Light" panose="020B0403020204020204" pitchFamily="34" charset="0"/>
                  <a:ea typeface="Amazon Ember Light" panose="020B0403020204020204" pitchFamily="34" charset="0"/>
                  <a:cs typeface="Amazon Ember Light" panose="020B0403020204020204" pitchFamily="34" charset="0"/>
                </a:rPr>
                <a:t>Host identifier</a:t>
              </a:r>
            </a:p>
          </p:txBody>
        </p:sp>
        <p:sp>
          <p:nvSpPr>
            <p:cNvPr id="54" name="Rectangle 53">
              <a:extLst>
                <a:ext uri="{FF2B5EF4-FFF2-40B4-BE49-F238E27FC236}">
                  <a16:creationId xmlns:a16="http://schemas.microsoft.com/office/drawing/2014/main" id="{CB27CAAF-3710-AEC6-371D-BA084EC1E698}"/>
                </a:ext>
                <a:ext uri="{C183D7F6-B498-43B3-948B-1728B52AA6E4}">
                  <adec:decorative xmlns:adec="http://schemas.microsoft.com/office/drawing/2017/decorative" val="1"/>
                </a:ext>
              </a:extLst>
            </p:cNvPr>
            <p:cNvSpPr/>
            <p:nvPr/>
          </p:nvSpPr>
          <p:spPr>
            <a:xfrm>
              <a:off x="8279047" y="2171529"/>
              <a:ext cx="1015448" cy="1071247"/>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48DF6784-E7E5-7695-2510-C493D6E179C6}"/>
                </a:ext>
              </a:extLst>
            </p:cNvPr>
            <p:cNvSpPr txBox="1"/>
            <p:nvPr/>
          </p:nvSpPr>
          <p:spPr>
            <a:xfrm>
              <a:off x="8589441" y="2503629"/>
              <a:ext cx="394660"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0</a:t>
              </a:r>
            </a:p>
          </p:txBody>
        </p:sp>
        <p:sp>
          <p:nvSpPr>
            <p:cNvPr id="56" name="Arrow: Down 55" descr="down arrow">
              <a:extLst>
                <a:ext uri="{FF2B5EF4-FFF2-40B4-BE49-F238E27FC236}">
                  <a16:creationId xmlns:a16="http://schemas.microsoft.com/office/drawing/2014/main" id="{8AF83B5C-F26F-3748-3096-D8E3415F042A}"/>
                </a:ext>
              </a:extLst>
            </p:cNvPr>
            <p:cNvSpPr/>
            <p:nvPr/>
          </p:nvSpPr>
          <p:spPr>
            <a:xfrm>
              <a:off x="8650830" y="3530481"/>
              <a:ext cx="274320" cy="457200"/>
            </a:xfrm>
            <a:prstGeom prst="down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8FCFAE18-E2AC-C04E-3D0D-0B9F3BD551CC}"/>
                </a:ext>
              </a:extLst>
            </p:cNvPr>
            <p:cNvSpPr txBox="1"/>
            <p:nvPr/>
          </p:nvSpPr>
          <p:spPr>
            <a:xfrm>
              <a:off x="7618786" y="4104142"/>
              <a:ext cx="2305439" cy="954107"/>
            </a:xfrm>
            <a:prstGeom prst="rect">
              <a:avLst/>
            </a:prstGeom>
            <a:noFill/>
          </p:spPr>
          <p:txBody>
            <a:bodyPr wrap="non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00000000 </a:t>
              </a:r>
              <a:br>
                <a:rPr lang="en-US" sz="2800">
                  <a:latin typeface="Amazon Ember" panose="020B0603020204020204" pitchFamily="34" charset="0"/>
                  <a:ea typeface="Amazon Ember" panose="020B0603020204020204" pitchFamily="34" charset="0"/>
                  <a:cs typeface="Amazon Ember" panose="020B0603020204020204" pitchFamily="34" charset="0"/>
                </a:rPr>
              </a:br>
              <a:r>
                <a:rPr lang="en-US" sz="2800">
                  <a:latin typeface="Amazon Ember" panose="020B0603020204020204" pitchFamily="34" charset="0"/>
                  <a:ea typeface="Amazon Ember" panose="020B0603020204020204" pitchFamily="34" charset="0"/>
                  <a:cs typeface="Amazon Ember" panose="020B0603020204020204" pitchFamily="34" charset="0"/>
                </a:rPr>
                <a:t>to 11111111</a:t>
              </a:r>
            </a:p>
          </p:txBody>
        </p:sp>
        <p:sp>
          <p:nvSpPr>
            <p:cNvPr id="58" name="TextBox 57">
              <a:extLst>
                <a:ext uri="{FF2B5EF4-FFF2-40B4-BE49-F238E27FC236}">
                  <a16:creationId xmlns:a16="http://schemas.microsoft.com/office/drawing/2014/main" id="{599E2BBF-242C-DFFA-B989-F60CCF912342}"/>
                </a:ext>
              </a:extLst>
            </p:cNvPr>
            <p:cNvSpPr txBox="1"/>
            <p:nvPr/>
          </p:nvSpPr>
          <p:spPr>
            <a:xfrm>
              <a:off x="8102128" y="5119175"/>
              <a:ext cx="1369286" cy="523220"/>
            </a:xfrm>
            <a:prstGeom prst="rect">
              <a:avLst/>
            </a:prstGeom>
            <a:noFill/>
          </p:spPr>
          <p:txBody>
            <a:bodyPr wrap="none" rtlCol="0">
              <a:spAutoFit/>
            </a:bodyPr>
            <a:lstStyle/>
            <a:p>
              <a:r>
                <a:rPr lang="en-US" sz="2800">
                  <a:latin typeface="Amazon Ember Light" panose="020B0403020204020204" pitchFamily="34" charset="0"/>
                  <a:ea typeface="Amazon Ember Light" panose="020B0403020204020204" pitchFamily="34" charset="0"/>
                  <a:cs typeface="Amazon Ember Light" panose="020B0403020204020204" pitchFamily="34" charset="0"/>
                </a:rPr>
                <a:t>Flexible</a:t>
              </a:r>
            </a:p>
          </p:txBody>
        </p:sp>
        <p:sp>
          <p:nvSpPr>
            <p:cNvPr id="59" name="TextBox 58">
              <a:extLst>
                <a:ext uri="{FF2B5EF4-FFF2-40B4-BE49-F238E27FC236}">
                  <a16:creationId xmlns:a16="http://schemas.microsoft.com/office/drawing/2014/main" id="{9D3585B3-0313-EFCC-4421-3BE2C3DA62E1}"/>
                </a:ext>
              </a:extLst>
            </p:cNvPr>
            <p:cNvSpPr txBox="1"/>
            <p:nvPr/>
          </p:nvSpPr>
          <p:spPr>
            <a:xfrm>
              <a:off x="9562520" y="2503629"/>
              <a:ext cx="814647" cy="523220"/>
            </a:xfrm>
            <a:prstGeom prst="rect">
              <a:avLst/>
            </a:prstGeom>
            <a:noFill/>
          </p:spPr>
          <p:txBody>
            <a:bodyPr wrap="square" rtlCol="0">
              <a:spAutoFit/>
            </a:bodyPr>
            <a:lstStyle/>
            <a:p>
              <a:pPr algn="ctr"/>
              <a:r>
                <a:rPr lang="en-US" sz="2800">
                  <a:latin typeface="Amazon Ember" panose="020B0603020204020204" pitchFamily="34" charset="0"/>
                  <a:ea typeface="Amazon Ember" panose="020B0603020204020204" pitchFamily="34" charset="0"/>
                  <a:cs typeface="Amazon Ember" panose="020B0603020204020204" pitchFamily="34" charset="0"/>
                </a:rPr>
                <a:t>/</a:t>
              </a:r>
            </a:p>
          </p:txBody>
        </p:sp>
        <p:sp>
          <p:nvSpPr>
            <p:cNvPr id="60" name="Oval 59">
              <a:extLst>
                <a:ext uri="{FF2B5EF4-FFF2-40B4-BE49-F238E27FC236}">
                  <a16:creationId xmlns:a16="http://schemas.microsoft.com/office/drawing/2014/main" id="{DBD9A192-408E-C38D-E24A-855A1E6503F0}"/>
                </a:ext>
                <a:ext uri="{C183D7F6-B498-43B3-948B-1728B52AA6E4}">
                  <adec:decorative xmlns:adec="http://schemas.microsoft.com/office/drawing/2017/decorative" val="1"/>
                </a:ext>
              </a:extLst>
            </p:cNvPr>
            <p:cNvSpPr/>
            <p:nvPr/>
          </p:nvSpPr>
          <p:spPr>
            <a:xfrm>
              <a:off x="10780855" y="2288670"/>
              <a:ext cx="954107" cy="954107"/>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08076E7D-F7AD-9099-D3AE-E6E2BB5B5F63}"/>
                </a:ext>
              </a:extLst>
            </p:cNvPr>
            <p:cNvSpPr txBox="1"/>
            <p:nvPr/>
          </p:nvSpPr>
          <p:spPr>
            <a:xfrm>
              <a:off x="10955583" y="2503629"/>
              <a:ext cx="604653" cy="523220"/>
            </a:xfrm>
            <a:prstGeom prst="rect">
              <a:avLst/>
            </a:prstGeom>
            <a:noFill/>
          </p:spPr>
          <p:txBody>
            <a:bodyPr wrap="none" rtlCol="0">
              <a:spAutoFit/>
            </a:bodyPr>
            <a:lstStyle/>
            <a:p>
              <a:r>
                <a:rPr lang="en-US" sz="2800">
                  <a:latin typeface="Amazon Ember" panose="020B0603020204020204" pitchFamily="34" charset="0"/>
                  <a:ea typeface="Amazon Ember" panose="020B0603020204020204" pitchFamily="34" charset="0"/>
                  <a:cs typeface="Amazon Ember" panose="020B0603020204020204" pitchFamily="34" charset="0"/>
                </a:rPr>
                <a:t>24</a:t>
              </a:r>
            </a:p>
          </p:txBody>
        </p:sp>
        <p:sp>
          <p:nvSpPr>
            <p:cNvPr id="62" name="TextBox 61">
              <a:extLst>
                <a:ext uri="{FF2B5EF4-FFF2-40B4-BE49-F238E27FC236}">
                  <a16:creationId xmlns:a16="http://schemas.microsoft.com/office/drawing/2014/main" id="{AB8ED133-FA23-8209-7FBC-29F53CB9CA6B}"/>
                </a:ext>
              </a:extLst>
            </p:cNvPr>
            <p:cNvSpPr txBox="1"/>
            <p:nvPr/>
          </p:nvSpPr>
          <p:spPr>
            <a:xfrm>
              <a:off x="10432264" y="3421368"/>
              <a:ext cx="1651286" cy="1015663"/>
            </a:xfrm>
            <a:prstGeom prst="rect">
              <a:avLst/>
            </a:prstGeom>
            <a:noFill/>
          </p:spPr>
          <p:txBody>
            <a:bodyPr wrap="none" rtlCol="0">
              <a:spAutoFit/>
            </a:bodyPr>
            <a:lstStyle/>
            <a:p>
              <a:pPr algn="ctr"/>
              <a:r>
                <a:rPr lang="en-US" sz="2000">
                  <a:latin typeface="Amazon Ember Light" panose="020B0403020204020204" pitchFamily="34" charset="0"/>
                  <a:ea typeface="Amazon Ember Light" panose="020B0403020204020204" pitchFamily="34" charset="0"/>
                  <a:cs typeface="Amazon Ember Light" panose="020B0403020204020204" pitchFamily="34" charset="0"/>
                </a:rPr>
                <a:t>Tells you how</a:t>
              </a:r>
              <a:br>
                <a:rPr lang="en-US" sz="200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a:latin typeface="Amazon Ember Light" panose="020B0403020204020204" pitchFamily="34" charset="0"/>
                  <a:ea typeface="Amazon Ember Light" panose="020B0403020204020204" pitchFamily="34" charset="0"/>
                  <a:cs typeface="Amazon Ember Light" panose="020B0403020204020204" pitchFamily="34" charset="0"/>
                </a:rPr>
                <a:t>many bits are </a:t>
              </a:r>
              <a:br>
                <a:rPr lang="en-US" sz="2000">
                  <a:latin typeface="Amazon Ember Light" panose="020B0403020204020204" pitchFamily="34" charset="0"/>
                  <a:ea typeface="Amazon Ember Light" panose="020B0403020204020204" pitchFamily="34" charset="0"/>
                  <a:cs typeface="Amazon Ember Light" panose="020B0403020204020204" pitchFamily="34" charset="0"/>
                </a:rPr>
              </a:br>
              <a:r>
                <a:rPr lang="en-US" sz="2000">
                  <a:latin typeface="Amazon Ember Light" panose="020B0403020204020204" pitchFamily="34" charset="0"/>
                  <a:ea typeface="Amazon Ember Light" panose="020B0403020204020204" pitchFamily="34" charset="0"/>
                  <a:cs typeface="Amazon Ember Light" panose="020B0403020204020204" pitchFamily="34" charset="0"/>
                </a:rPr>
                <a:t>fixed</a:t>
              </a:r>
            </a:p>
          </p:txBody>
        </p:sp>
      </p:grpSp>
    </p:spTree>
    <p:extLst>
      <p:ext uri="{BB962C8B-B14F-4D97-AF65-F5344CB8AC3E}">
        <p14:creationId xmlns:p14="http://schemas.microsoft.com/office/powerpoint/2010/main" val="5977916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The VPC — your private network in AWS</a:t>
            </a:r>
          </a:p>
          <a:p>
            <a:pPr>
              <a:spcBef>
                <a:spcPts val="200"/>
              </a:spcBef>
            </a:pPr>
            <a:r>
              <a:rPr sz="1800" b="0" i="1">
                <a:solidFill>
                  <a:srgbClr val="D68E10"/>
                </a:solidFill>
                <a:latin typeface="Roboto Light"/>
              </a:rPr>
              <a:t>AWS · ACF M05 S11 · ACA M07 S10</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 VPC is a logically isolated section of AWS that you define — your own virtual network.</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It belongs to one Region and can span Availability Zones; you size it with a CIDR block (largest /16, smallest /28; you can't change it later).</a:t>
            </a:r>
          </a:p>
          <a:p>
            <a:pPr marL="0" indent="0">
              <a:lnSpc>
                <a:spcPct val="105000"/>
              </a:lnSpc>
              <a:spcBef>
                <a:spcPts val="0"/>
              </a:spcBef>
              <a:spcAft>
                <a:spcPts val="1000"/>
              </a:spcAft>
            </a:pPr>
            <a:r>
              <a:rPr sz="1800" b="1" i="0">
                <a:solidFill>
                  <a:srgbClr val="92268F"/>
                </a:solidFill>
                <a:latin typeface="Roboto"/>
              </a:rPr>
              <a:t>■  You divide the VPC into subnets — each in one AZ, classified public or private.</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1DF84-AA7A-3907-157A-60B186BBEB3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D38B05D-1611-4F94-3FF3-C184C14EA60C}"/>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Virtual Private Cloud (VPC)</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83DDA3E3-E8B9-3C81-CAC0-EF9212C0F483}"/>
              </a:ext>
            </a:extLst>
          </p:cNvPr>
          <p:cNvSpPr/>
          <p:nvPr/>
        </p:nvSpPr>
        <p:spPr>
          <a:xfrm>
            <a:off x="658368" y="99385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592BD9B0-0CDA-4E30-337A-1898CE4CCF79}"/>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5104EA71-B3DA-F797-4F04-800FDC909FEF}"/>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494B5D40-3730-C1C9-1B4D-31FE1A06FA88}"/>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sp>
        <p:nvSpPr>
          <p:cNvPr id="8" name="Content Placeholder 2">
            <a:extLst>
              <a:ext uri="{FF2B5EF4-FFF2-40B4-BE49-F238E27FC236}">
                <a16:creationId xmlns:a16="http://schemas.microsoft.com/office/drawing/2014/main" id="{E0679B6C-DAE8-52F1-8F19-1F15FA7E35CB}"/>
              </a:ext>
            </a:extLst>
          </p:cNvPr>
          <p:cNvSpPr txBox="1">
            <a:spLocks/>
          </p:cNvSpPr>
          <p:nvPr/>
        </p:nvSpPr>
        <p:spPr>
          <a:xfrm>
            <a:off x="2157984" y="1527048"/>
            <a:ext cx="9610344" cy="4645152"/>
          </a:xfrm>
          <a:prstGeom prst="rect">
            <a:avLst/>
          </a:prstGeom>
        </p:spPr>
        <p:txBody>
          <a:bodyPr>
            <a:normAutofit fontScale="92500" lnSpcReduction="20000"/>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t>Enables you to provision a </a:t>
            </a:r>
            <a:r>
              <a:rPr lang="en-US">
                <a:solidFill>
                  <a:schemeClr val="accent6"/>
                </a:solidFill>
              </a:rPr>
              <a:t>logically isolated </a:t>
            </a:r>
            <a:r>
              <a:rPr lang="en-US"/>
              <a:t>section of the AWS Cloud where you can launch AWS resources in a virtual network that you define</a:t>
            </a:r>
          </a:p>
          <a:p>
            <a:r>
              <a:rPr lang="en-US"/>
              <a:t>Gives you </a:t>
            </a:r>
            <a:r>
              <a:rPr lang="en-US">
                <a:solidFill>
                  <a:schemeClr val="accent6"/>
                </a:solidFill>
              </a:rPr>
              <a:t>control over your virtual networking resources</a:t>
            </a:r>
            <a:r>
              <a:rPr lang="en-US"/>
              <a:t>, including:</a:t>
            </a:r>
          </a:p>
          <a:p>
            <a:pPr lvl="1"/>
            <a:r>
              <a:rPr lang="en-US"/>
              <a:t>Selection of IP address range</a:t>
            </a:r>
          </a:p>
          <a:p>
            <a:pPr lvl="1"/>
            <a:r>
              <a:rPr lang="en-US"/>
              <a:t>Creation of subnets</a:t>
            </a:r>
          </a:p>
          <a:p>
            <a:pPr lvl="1"/>
            <a:r>
              <a:rPr lang="en-US"/>
              <a:t>Configuration of route tables and network gateways</a:t>
            </a:r>
          </a:p>
          <a:p>
            <a:r>
              <a:rPr lang="en-US"/>
              <a:t>Enables you to </a:t>
            </a:r>
            <a:r>
              <a:rPr lang="en-US">
                <a:solidFill>
                  <a:schemeClr val="accent6"/>
                </a:solidFill>
              </a:rPr>
              <a:t>customize the network configuration </a:t>
            </a:r>
            <a:r>
              <a:rPr lang="en-US"/>
              <a:t>for your VPC</a:t>
            </a:r>
          </a:p>
          <a:p>
            <a:r>
              <a:rPr lang="en-US"/>
              <a:t>Enables you to use </a:t>
            </a:r>
            <a:r>
              <a:rPr lang="en-US">
                <a:solidFill>
                  <a:schemeClr val="accent6"/>
                </a:solidFill>
              </a:rPr>
              <a:t>multiple layers of security</a:t>
            </a:r>
            <a:endParaRPr lang="en-US" dirty="0">
              <a:solidFill>
                <a:schemeClr val="accent6"/>
              </a:solidFill>
            </a:endParaRPr>
          </a:p>
        </p:txBody>
      </p:sp>
      <p:pic>
        <p:nvPicPr>
          <p:cNvPr id="9" name="Graphic 8">
            <a:extLst>
              <a:ext uri="{FF2B5EF4-FFF2-40B4-BE49-F238E27FC236}">
                <a16:creationId xmlns:a16="http://schemas.microsoft.com/office/drawing/2014/main" id="{C7F2AD7C-BE52-8598-E5EF-70AE01EE9AB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19100" y="1528175"/>
            <a:ext cx="1371600" cy="1371600"/>
          </a:xfrm>
          <a:prstGeom prst="rect">
            <a:avLst/>
          </a:prstGeom>
        </p:spPr>
      </p:pic>
      <p:sp>
        <p:nvSpPr>
          <p:cNvPr id="10" name="TextBox 9">
            <a:extLst>
              <a:ext uri="{FF2B5EF4-FFF2-40B4-BE49-F238E27FC236}">
                <a16:creationId xmlns:a16="http://schemas.microsoft.com/office/drawing/2014/main" id="{A8B64EFF-3E5C-E485-1E22-2409AC824F25}"/>
              </a:ext>
            </a:extLst>
          </p:cNvPr>
          <p:cNvSpPr txBox="1"/>
          <p:nvPr/>
        </p:nvSpPr>
        <p:spPr>
          <a:xfrm>
            <a:off x="422564" y="3013501"/>
            <a:ext cx="1375698" cy="830997"/>
          </a:xfrm>
          <a:prstGeom prst="rect">
            <a:avLst/>
          </a:prstGeom>
          <a:noFill/>
        </p:spPr>
        <p:txBody>
          <a:bodyPr wrap="none" rtlCol="0">
            <a:spAutoFit/>
          </a:bodyPr>
          <a:lstStyle/>
          <a:p>
            <a:pPr algn="ctr"/>
            <a:r>
              <a:rPr lang="en-US" sz="2400">
                <a:latin typeface="Amazon Ember Light" panose="020B0403020204020204" pitchFamily="34" charset="0"/>
                <a:ea typeface="Amazon Ember Light" panose="020B0403020204020204" pitchFamily="34" charset="0"/>
                <a:cs typeface="Amazon Ember Light" panose="020B0403020204020204" pitchFamily="34" charset="0"/>
              </a:rPr>
              <a:t>Amazon </a:t>
            </a:r>
            <a:br>
              <a:rPr lang="en-US" sz="2400">
                <a:latin typeface="Amazon Ember Light" panose="020B0403020204020204" pitchFamily="34" charset="0"/>
                <a:ea typeface="Amazon Ember Light" panose="020B0403020204020204" pitchFamily="34" charset="0"/>
                <a:cs typeface="Amazon Ember Light" panose="020B0403020204020204" pitchFamily="34" charset="0"/>
              </a:rPr>
            </a:br>
            <a:r>
              <a:rPr lang="en-US" sz="2400">
                <a:latin typeface="Amazon Ember Light" panose="020B0403020204020204" pitchFamily="34" charset="0"/>
                <a:ea typeface="Amazon Ember Light" panose="020B0403020204020204" pitchFamily="34" charset="0"/>
                <a:cs typeface="Amazon Ember Light" panose="020B0403020204020204" pitchFamily="34" charset="0"/>
              </a:rPr>
              <a:t>VPC</a:t>
            </a:r>
          </a:p>
        </p:txBody>
      </p:sp>
    </p:spTree>
    <p:extLst>
      <p:ext uri="{BB962C8B-B14F-4D97-AF65-F5344CB8AC3E}">
        <p14:creationId xmlns:p14="http://schemas.microsoft.com/office/powerpoint/2010/main" val="3121692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Routing: gateways &amp; route tables</a:t>
            </a:r>
          </a:p>
          <a:p>
            <a:pPr>
              <a:spcBef>
                <a:spcPts val="200"/>
              </a:spcBef>
            </a:pPr>
            <a:r>
              <a:rPr sz="1800" b="0" i="1">
                <a:solidFill>
                  <a:srgbClr val="D68E10"/>
                </a:solidFill>
                <a:latin typeface="Roboto Light"/>
              </a:rPr>
              <a:t>AWS · ACA M07 S12–S16</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737360"/>
            <a:ext cx="11045952" cy="1743298"/>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dirty="0">
                <a:solidFill>
                  <a:srgbClr val="EDAB0C"/>
                </a:solidFill>
                <a:latin typeface="Roboto"/>
              </a:rPr>
              <a:t>■  </a:t>
            </a:r>
            <a:r>
              <a:rPr sz="1700" b="0" i="0" dirty="0">
                <a:solidFill>
                  <a:srgbClr val="2A2929"/>
                </a:solidFill>
                <a:latin typeface="Roboto"/>
              </a:rPr>
              <a:t>A route table holds rules that direct a subnet's traffic; every table has a built-in local route for inside-the-VPC traffic.</a:t>
            </a:r>
          </a:p>
          <a:p>
            <a:pPr marL="0" indent="0">
              <a:lnSpc>
                <a:spcPct val="105000"/>
              </a:lnSpc>
              <a:spcBef>
                <a:spcPts val="0"/>
              </a:spcBef>
              <a:spcAft>
                <a:spcPts val="1000"/>
              </a:spcAft>
            </a:pPr>
            <a:r>
              <a:rPr sz="1700" b="1" i="0" dirty="0">
                <a:solidFill>
                  <a:srgbClr val="EDAB0C"/>
                </a:solidFill>
                <a:latin typeface="Roboto"/>
              </a:rPr>
              <a:t>■  </a:t>
            </a:r>
            <a:r>
              <a:rPr sz="1700" b="0" i="0" dirty="0">
                <a:solidFill>
                  <a:srgbClr val="2A2929"/>
                </a:solidFill>
                <a:latin typeface="Roboto"/>
              </a:rPr>
              <a:t>Public subnet → an Internet Gateway (a 0.0.0.0/0 route to the IGW) gives direct internet access.</a:t>
            </a:r>
          </a:p>
          <a:p>
            <a:pPr marL="0" indent="0">
              <a:lnSpc>
                <a:spcPct val="105000"/>
              </a:lnSpc>
              <a:spcBef>
                <a:spcPts val="0"/>
              </a:spcBef>
              <a:spcAft>
                <a:spcPts val="1000"/>
              </a:spcAft>
            </a:pPr>
            <a:r>
              <a:rPr sz="1700" b="1" i="0" dirty="0">
                <a:solidFill>
                  <a:srgbClr val="EDAB0C"/>
                </a:solidFill>
                <a:latin typeface="Roboto"/>
              </a:rPr>
              <a:t>■  </a:t>
            </a:r>
            <a:r>
              <a:rPr sz="1700" b="0" i="0" dirty="0">
                <a:solidFill>
                  <a:srgbClr val="2A2929"/>
                </a:solidFill>
                <a:latin typeface="Roboto"/>
              </a:rPr>
              <a:t>Private subnet → no direct internet path.</a:t>
            </a:r>
          </a:p>
          <a:p>
            <a:pPr marL="0" indent="0">
              <a:lnSpc>
                <a:spcPct val="105000"/>
              </a:lnSpc>
              <a:spcBef>
                <a:spcPts val="0"/>
              </a:spcBef>
              <a:spcAft>
                <a:spcPts val="1000"/>
              </a:spcAft>
            </a:pPr>
            <a:r>
              <a:rPr sz="1700" b="1" i="0" dirty="0">
                <a:solidFill>
                  <a:srgbClr val="92268F"/>
                </a:solidFill>
                <a:latin typeface="Roboto"/>
              </a:rPr>
              <a:t>■  A NAT gateway lets private resources reach OUT (e.g. patching) without being reachable from the internet.</a:t>
            </a:r>
          </a:p>
        </p:txBody>
      </p:sp>
      <p:sp>
        <p:nvSpPr>
          <p:cNvPr id="7" name="Rectangle 6"/>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9" name="TextBox 8"/>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4</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43CA2-BC67-1504-8187-6480F803C8C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68AA976-3DBB-6AD8-192F-B5F77BAFEB5D}"/>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Public subnets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4923D716-5921-3E56-3195-14A0ADEFCE47}"/>
              </a:ext>
            </a:extLst>
          </p:cNvPr>
          <p:cNvSpPr/>
          <p:nvPr/>
        </p:nvSpPr>
        <p:spPr>
          <a:xfrm>
            <a:off x="658368" y="99385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E10AF4B-2256-2538-4FB4-5BFE7D908382}"/>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93538775-D354-A960-8EAC-6E266DD34F1B}"/>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80EEA862-1C18-699B-320C-B670FA829803}"/>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grpSp>
        <p:nvGrpSpPr>
          <p:cNvPr id="4" name="FlattenPSN" descr="VPC containing a public subnet with an EC2 instance and a public subnet route table. See details in student notes.">
            <a:extLst>
              <a:ext uri="{FF2B5EF4-FFF2-40B4-BE49-F238E27FC236}">
                <a16:creationId xmlns:a16="http://schemas.microsoft.com/office/drawing/2014/main" id="{0F83CAA3-03B9-94B5-69B8-BDFAD1C8E307}"/>
              </a:ext>
            </a:extLst>
          </p:cNvPr>
          <p:cNvGrpSpPr/>
          <p:nvPr/>
        </p:nvGrpSpPr>
        <p:grpSpPr>
          <a:xfrm>
            <a:off x="2248009" y="1157288"/>
            <a:ext cx="9330242" cy="3211453"/>
            <a:chOff x="2248009" y="1157288"/>
            <a:chExt cx="9330242" cy="3211453"/>
          </a:xfrm>
        </p:grpSpPr>
        <p:sp>
          <p:nvSpPr>
            <p:cNvPr id="8" name="Rectangle 7">
              <a:extLst>
                <a:ext uri="{FF2B5EF4-FFF2-40B4-BE49-F238E27FC236}">
                  <a16:creationId xmlns:a16="http://schemas.microsoft.com/office/drawing/2014/main" id="{2F0E1AA4-81D8-03D3-347D-61D2E205DAF5}"/>
                </a:ext>
              </a:extLst>
            </p:cNvPr>
            <p:cNvSpPr/>
            <p:nvPr/>
          </p:nvSpPr>
          <p:spPr bwMode="auto">
            <a:xfrm>
              <a:off x="2248009" y="1157288"/>
              <a:ext cx="9099696" cy="3211453"/>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ln w="0"/>
                  <a:solidFill>
                    <a:schemeClr val="tx1"/>
                  </a:solidFill>
                  <a:cs typeface="Arial" panose="020B0604020202020204" pitchFamily="34" charset="0"/>
                </a:rPr>
                <a:t>Amazon VPC 10.0.0.0/16</a:t>
              </a:r>
            </a:p>
          </p:txBody>
        </p:sp>
        <p:pic>
          <p:nvPicPr>
            <p:cNvPr id="9" name="Graphic 8">
              <a:extLst>
                <a:ext uri="{FF2B5EF4-FFF2-40B4-BE49-F238E27FC236}">
                  <a16:creationId xmlns:a16="http://schemas.microsoft.com/office/drawing/2014/main" id="{D66BF1D1-2EF3-290D-4BDD-9C070D678D16}"/>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248009" y="1164480"/>
              <a:ext cx="381000" cy="381000"/>
            </a:xfrm>
            <a:prstGeom prst="rect">
              <a:avLst/>
            </a:prstGeom>
          </p:spPr>
        </p:pic>
        <p:sp>
          <p:nvSpPr>
            <p:cNvPr id="10" name="Rectangle 9">
              <a:extLst>
                <a:ext uri="{FF2B5EF4-FFF2-40B4-BE49-F238E27FC236}">
                  <a16:creationId xmlns:a16="http://schemas.microsoft.com/office/drawing/2014/main" id="{D4B21631-7D6A-BE65-1ECA-062CCD7E6574}"/>
                </a:ext>
              </a:extLst>
            </p:cNvPr>
            <p:cNvSpPr/>
            <p:nvPr/>
          </p:nvSpPr>
          <p:spPr>
            <a:xfrm>
              <a:off x="3274739" y="2011516"/>
              <a:ext cx="4497010" cy="2107628"/>
            </a:xfrm>
            <a:prstGeom prst="rect">
              <a:avLst/>
            </a:prstGeom>
            <a:noFill/>
            <a:ln w="15875">
              <a:solidFill>
                <a:srgbClr val="7AA116"/>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02920" tIns="91440" bIns="45720"/>
            <a:lstStyle/>
            <a:p>
              <a:pP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Public subnet 10.0.0.0/20</a:t>
              </a:r>
            </a:p>
          </p:txBody>
        </p:sp>
        <p:pic>
          <p:nvPicPr>
            <p:cNvPr id="11" name="Graphic 10">
              <a:extLst>
                <a:ext uri="{FF2B5EF4-FFF2-40B4-BE49-F238E27FC236}">
                  <a16:creationId xmlns:a16="http://schemas.microsoft.com/office/drawing/2014/main" id="{5388FD49-B48E-AD4C-F9B3-D8E13F747DB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274274" y="2011516"/>
              <a:ext cx="381000" cy="381000"/>
            </a:xfrm>
            <a:prstGeom prst="rect">
              <a:avLst/>
            </a:prstGeom>
          </p:spPr>
        </p:pic>
        <p:sp>
          <p:nvSpPr>
            <p:cNvPr id="12" name="Rectangle 11">
              <a:extLst>
                <a:ext uri="{FF2B5EF4-FFF2-40B4-BE49-F238E27FC236}">
                  <a16:creationId xmlns:a16="http://schemas.microsoft.com/office/drawing/2014/main" id="{E0B1DDB9-4317-A9BF-5D89-6FD23C2DBAAC}"/>
                </a:ext>
              </a:extLst>
            </p:cNvPr>
            <p:cNvSpPr/>
            <p:nvPr/>
          </p:nvSpPr>
          <p:spPr bwMode="auto">
            <a:xfrm>
              <a:off x="2464595" y="1604562"/>
              <a:ext cx="7711318" cy="2651554"/>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600" dirty="0">
                  <a:solidFill>
                    <a:schemeClr val="tx1"/>
                  </a:solidFill>
                  <a:cs typeface="Arial" panose="020B0604020202020204" pitchFamily="34" charset="0"/>
                </a:rPr>
                <a:t>Availability Zone </a:t>
              </a:r>
            </a:p>
          </p:txBody>
        </p:sp>
        <p:pic>
          <p:nvPicPr>
            <p:cNvPr id="13" name="Graphic 12">
              <a:extLst>
                <a:ext uri="{FF2B5EF4-FFF2-40B4-BE49-F238E27FC236}">
                  <a16:creationId xmlns:a16="http://schemas.microsoft.com/office/drawing/2014/main" id="{2BB13D96-DDEB-5A2E-6B5B-2B442446108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873455" y="2722151"/>
              <a:ext cx="457200" cy="457200"/>
            </a:xfrm>
            <a:prstGeom prst="rect">
              <a:avLst/>
            </a:prstGeom>
          </p:spPr>
        </p:pic>
        <p:cxnSp>
          <p:nvCxnSpPr>
            <p:cNvPr id="14" name="Straight Arrow Connector 13">
              <a:extLst>
                <a:ext uri="{FF2B5EF4-FFF2-40B4-BE49-F238E27FC236}">
                  <a16:creationId xmlns:a16="http://schemas.microsoft.com/office/drawing/2014/main" id="{155CE885-F4B2-D47F-3BA3-D0F067061BC0}"/>
                </a:ext>
              </a:extLst>
            </p:cNvPr>
            <p:cNvCxnSpPr>
              <a:cxnSpLocks/>
              <a:stCxn id="17" idx="3"/>
              <a:endCxn id="13" idx="1"/>
            </p:cNvCxnSpPr>
            <p:nvPr/>
          </p:nvCxnSpPr>
          <p:spPr>
            <a:xfrm>
              <a:off x="9733262" y="2946645"/>
              <a:ext cx="1140193" cy="4106"/>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15" name="TextBox 27">
              <a:extLst>
                <a:ext uri="{FF2B5EF4-FFF2-40B4-BE49-F238E27FC236}">
                  <a16:creationId xmlns:a16="http://schemas.microsoft.com/office/drawing/2014/main" id="{2E6E40E9-6071-6DB4-73BC-45DC1868D686}"/>
                </a:ext>
              </a:extLst>
            </p:cNvPr>
            <p:cNvSpPr txBox="1">
              <a:spLocks noChangeArrowheads="1"/>
            </p:cNvSpPr>
            <p:nvPr/>
          </p:nvSpPr>
          <p:spPr bwMode="auto">
            <a:xfrm>
              <a:off x="8697539" y="3230492"/>
              <a:ext cx="16446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Public subnet</a:t>
              </a:r>
            </a:p>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route table</a:t>
              </a:r>
            </a:p>
          </p:txBody>
        </p:sp>
        <p:cxnSp>
          <p:nvCxnSpPr>
            <p:cNvPr id="16" name="Straight Arrow Connector 15">
              <a:extLst>
                <a:ext uri="{FF2B5EF4-FFF2-40B4-BE49-F238E27FC236}">
                  <a16:creationId xmlns:a16="http://schemas.microsoft.com/office/drawing/2014/main" id="{31BD8D67-0BF6-C84E-DB49-289AFCB84ABF}"/>
                </a:ext>
              </a:extLst>
            </p:cNvPr>
            <p:cNvCxnSpPr>
              <a:cxnSpLocks/>
              <a:stCxn id="19" idx="3"/>
              <a:endCxn id="17" idx="1"/>
            </p:cNvCxnSpPr>
            <p:nvPr/>
          </p:nvCxnSpPr>
          <p:spPr>
            <a:xfrm flipV="1">
              <a:off x="5744514" y="2946645"/>
              <a:ext cx="3468048" cy="4107"/>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6A12E337-7059-F40C-8873-436D86E1C58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12562" y="2686295"/>
              <a:ext cx="520700" cy="520700"/>
            </a:xfrm>
            <a:prstGeom prst="rect">
              <a:avLst/>
            </a:prstGeom>
          </p:spPr>
        </p:pic>
        <p:sp>
          <p:nvSpPr>
            <p:cNvPr id="18" name="TextBox 16">
              <a:extLst>
                <a:ext uri="{FF2B5EF4-FFF2-40B4-BE49-F238E27FC236}">
                  <a16:creationId xmlns:a16="http://schemas.microsoft.com/office/drawing/2014/main" id="{7537BF2D-E53E-7420-191D-0E1158B917E9}"/>
                </a:ext>
              </a:extLst>
            </p:cNvPr>
            <p:cNvSpPr txBox="1">
              <a:spLocks noChangeArrowheads="1"/>
            </p:cNvSpPr>
            <p:nvPr/>
          </p:nvSpPr>
          <p:spPr bwMode="auto">
            <a:xfrm>
              <a:off x="3534830" y="3269189"/>
              <a:ext cx="3848579"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EC2 instance </a:t>
              </a:r>
            </a:p>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Private IP address: 10.0.0.5</a:t>
              </a:r>
            </a:p>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Public IP address: 198.51.102.7</a:t>
              </a:r>
            </a:p>
          </p:txBody>
        </p:sp>
        <p:pic>
          <p:nvPicPr>
            <p:cNvPr id="19" name="Graphic 18">
              <a:extLst>
                <a:ext uri="{FF2B5EF4-FFF2-40B4-BE49-F238E27FC236}">
                  <a16:creationId xmlns:a16="http://schemas.microsoft.com/office/drawing/2014/main" id="{CC46944B-C779-8C94-DAC1-227ABD7414B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077315" y="2617152"/>
              <a:ext cx="667199" cy="667199"/>
            </a:xfrm>
            <a:prstGeom prst="rect">
              <a:avLst/>
            </a:prstGeom>
          </p:spPr>
        </p:pic>
        <p:sp>
          <p:nvSpPr>
            <p:cNvPr id="20" name="TextBox 12">
              <a:extLst>
                <a:ext uri="{FF2B5EF4-FFF2-40B4-BE49-F238E27FC236}">
                  <a16:creationId xmlns:a16="http://schemas.microsoft.com/office/drawing/2014/main" id="{E4B00685-F42B-46DA-4306-CF8E4998F47A}"/>
                </a:ext>
              </a:extLst>
            </p:cNvPr>
            <p:cNvSpPr txBox="1">
              <a:spLocks noChangeArrowheads="1"/>
            </p:cNvSpPr>
            <p:nvPr/>
          </p:nvSpPr>
          <p:spPr bwMode="auto">
            <a:xfrm>
              <a:off x="10174901" y="3229555"/>
              <a:ext cx="14033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Internet gateway</a:t>
              </a:r>
            </a:p>
          </p:txBody>
        </p:sp>
      </p:grpSp>
      <p:graphicFrame>
        <p:nvGraphicFramePr>
          <p:cNvPr id="21" name="Table 20">
            <a:extLst>
              <a:ext uri="{FF2B5EF4-FFF2-40B4-BE49-F238E27FC236}">
                <a16:creationId xmlns:a16="http://schemas.microsoft.com/office/drawing/2014/main" id="{75E4DF44-084B-5E96-C0A1-926F746A688D}"/>
              </a:ext>
            </a:extLst>
          </p:cNvPr>
          <p:cNvGraphicFramePr>
            <a:graphicFrameLocks noGrp="1"/>
          </p:cNvGraphicFramePr>
          <p:nvPr>
            <p:extLst>
              <p:ext uri="{D42A27DB-BD31-4B8C-83A1-F6EECF244321}">
                <p14:modId xmlns:p14="http://schemas.microsoft.com/office/powerpoint/2010/main" val="2129545076"/>
              </p:ext>
            </p:extLst>
          </p:nvPr>
        </p:nvGraphicFramePr>
        <p:xfrm>
          <a:off x="3394412" y="4895454"/>
          <a:ext cx="2766283" cy="1148862"/>
        </p:xfrm>
        <a:graphic>
          <a:graphicData uri="http://schemas.openxmlformats.org/drawingml/2006/table">
            <a:tbl>
              <a:tblPr firstRow="1" bandRow="1">
                <a:tableStyleId>{5C22544A-7EE6-4342-B048-85BDC9FD1C3A}</a:tableStyleId>
              </a:tblPr>
              <a:tblGrid>
                <a:gridCol w="1566509">
                  <a:extLst>
                    <a:ext uri="{9D8B030D-6E8A-4147-A177-3AD203B41FA5}">
                      <a16:colId xmlns:a16="http://schemas.microsoft.com/office/drawing/2014/main" val="2689445315"/>
                    </a:ext>
                  </a:extLst>
                </a:gridCol>
                <a:gridCol w="1199774">
                  <a:extLst>
                    <a:ext uri="{9D8B030D-6E8A-4147-A177-3AD203B41FA5}">
                      <a16:colId xmlns:a16="http://schemas.microsoft.com/office/drawing/2014/main" val="713551910"/>
                    </a:ext>
                  </a:extLst>
                </a:gridCol>
              </a:tblGrid>
              <a:tr h="390454">
                <a:tc gridSpan="2">
                  <a:txBody>
                    <a:bodyPr/>
                    <a:lstStyle/>
                    <a:p>
                      <a:pPr algn="ctr"/>
                      <a:r>
                        <a:rPr lang="en-US" sz="1600" b="0" dirty="0">
                          <a:solidFill>
                            <a:schemeClr val="bg1"/>
                          </a:solidFill>
                        </a:rPr>
                        <a:t>Main VPC route table</a:t>
                      </a:r>
                    </a:p>
                  </a:txBody>
                  <a:tcPr marL="150638" marR="75319" marT="37664" marB="37664" anchor="ctr"/>
                </a:tc>
                <a:tc hMerge="1">
                  <a:txBody>
                    <a:bodyPr/>
                    <a:lstStyle/>
                    <a:p>
                      <a:endParaRPr lang="en-US" sz="1600" b="1" kern="1200" dirty="0">
                        <a:solidFill>
                          <a:schemeClr val="bg1"/>
                        </a:solidFill>
                        <a:latin typeface="+mn-lt"/>
                        <a:ea typeface="+mn-ea"/>
                        <a:cs typeface="+mn-cs"/>
                      </a:endParaRPr>
                    </a:p>
                  </a:txBody>
                  <a:tcPr marL="150638" marR="75319" marT="37664" marB="37664" anchor="ctr"/>
                </a:tc>
                <a:extLst>
                  <a:ext uri="{0D108BD9-81ED-4DB2-BD59-A6C34878D82A}">
                    <a16:rowId xmlns:a16="http://schemas.microsoft.com/office/drawing/2014/main" val="3873101766"/>
                  </a:ext>
                </a:extLst>
              </a:tr>
              <a:tr h="390454">
                <a:tc>
                  <a:txBody>
                    <a:bodyPr/>
                    <a:lstStyle/>
                    <a:p>
                      <a:r>
                        <a:rPr lang="en-US" sz="1600" dirty="0">
                          <a:solidFill>
                            <a:schemeClr val="bg1"/>
                          </a:solidFill>
                        </a:rPr>
                        <a:t>Destination</a:t>
                      </a:r>
                      <a:endParaRPr lang="en-US" sz="1600" b="0" dirty="0">
                        <a:solidFill>
                          <a:schemeClr val="bg1"/>
                        </a:solidFill>
                      </a:endParaRPr>
                    </a:p>
                  </a:txBody>
                  <a:tcPr marL="150638" marR="75319" marT="37664" marB="37664" anchor="ctr">
                    <a:solidFill>
                      <a:schemeClr val="accent1"/>
                    </a:solidFill>
                  </a:tcPr>
                </a:tc>
                <a:tc>
                  <a:txBody>
                    <a:bodyPr/>
                    <a:lstStyle/>
                    <a:p>
                      <a:r>
                        <a:rPr lang="en-US" sz="1600" kern="1200" dirty="0">
                          <a:solidFill>
                            <a:schemeClr val="bg1"/>
                          </a:solidFill>
                        </a:rPr>
                        <a:t>Target</a:t>
                      </a:r>
                      <a:endParaRPr lang="en-US" sz="1600" b="1" kern="1200" dirty="0">
                        <a:solidFill>
                          <a:schemeClr val="bg1"/>
                        </a:solidFill>
                        <a:latin typeface="+mn-lt"/>
                        <a:ea typeface="+mn-ea"/>
                        <a:cs typeface="+mn-cs"/>
                      </a:endParaRPr>
                    </a:p>
                  </a:txBody>
                  <a:tcPr marL="150638" marR="75319" marT="37664" marB="37664" anchor="ctr">
                    <a:solidFill>
                      <a:schemeClr val="accent1"/>
                    </a:solidFill>
                  </a:tcPr>
                </a:tc>
                <a:extLst>
                  <a:ext uri="{0D108BD9-81ED-4DB2-BD59-A6C34878D82A}">
                    <a16:rowId xmlns:a16="http://schemas.microsoft.com/office/drawing/2014/main" val="4207004471"/>
                  </a:ext>
                </a:extLst>
              </a:tr>
              <a:tr h="367954">
                <a:tc>
                  <a:txBody>
                    <a:bodyPr/>
                    <a:lstStyle/>
                    <a:p>
                      <a:pPr algn="l"/>
                      <a:r>
                        <a:rPr lang="en-US" sz="1600" dirty="0"/>
                        <a:t>10.0.0.0/16</a:t>
                      </a:r>
                      <a:endParaRPr lang="en-US" sz="1600" dirty="0">
                        <a:latin typeface="+mn-lt"/>
                        <a:ea typeface="Amazon Ember" panose="020B0603020204020204" pitchFamily="34" charset="0"/>
                        <a:cs typeface="Amazon Ember" panose="020B0603020204020204" pitchFamily="34" charset="0"/>
                      </a:endParaRPr>
                    </a:p>
                  </a:txBody>
                  <a:tcPr anchor="ctr"/>
                </a:tc>
                <a:tc>
                  <a:txBody>
                    <a:bodyPr/>
                    <a:lstStyle/>
                    <a:p>
                      <a:pPr algn="l"/>
                      <a:r>
                        <a:rPr lang="en-US" sz="1600" dirty="0"/>
                        <a:t> local</a:t>
                      </a:r>
                      <a:endParaRPr lang="en-US" sz="1600" dirty="0">
                        <a:latin typeface="+mn-lt"/>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1027896922"/>
                  </a:ext>
                </a:extLst>
              </a:tr>
            </a:tbl>
          </a:graphicData>
        </a:graphic>
      </p:graphicFrame>
      <p:cxnSp>
        <p:nvCxnSpPr>
          <p:cNvPr id="22" name="Straight Connector 21">
            <a:extLst>
              <a:ext uri="{FF2B5EF4-FFF2-40B4-BE49-F238E27FC236}">
                <a16:creationId xmlns:a16="http://schemas.microsoft.com/office/drawing/2014/main" id="{65BB8387-6FFC-F2FD-2173-D61489D760AC}"/>
              </a:ext>
              <a:ext uri="{C183D7F6-B498-43B3-948B-1728B52AA6E4}">
                <adec:decorative xmlns:adec="http://schemas.microsoft.com/office/drawing/2017/decorative" val="1"/>
              </a:ext>
            </a:extLst>
          </p:cNvPr>
          <p:cNvCxnSpPr>
            <a:cxnSpLocks/>
            <a:endCxn id="21" idx="0"/>
          </p:cNvCxnSpPr>
          <p:nvPr/>
        </p:nvCxnSpPr>
        <p:spPr>
          <a:xfrm>
            <a:off x="4777553" y="4368741"/>
            <a:ext cx="0" cy="526713"/>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23" name="Table 22">
            <a:extLst>
              <a:ext uri="{FF2B5EF4-FFF2-40B4-BE49-F238E27FC236}">
                <a16:creationId xmlns:a16="http://schemas.microsoft.com/office/drawing/2014/main" id="{2E5F1553-2F7E-9D3C-86F7-3C2982EA050B}"/>
              </a:ext>
            </a:extLst>
          </p:cNvPr>
          <p:cNvGraphicFramePr>
            <a:graphicFrameLocks noGrp="1"/>
          </p:cNvGraphicFramePr>
          <p:nvPr>
            <p:extLst>
              <p:ext uri="{D42A27DB-BD31-4B8C-83A1-F6EECF244321}">
                <p14:modId xmlns:p14="http://schemas.microsoft.com/office/powerpoint/2010/main" val="407145367"/>
              </p:ext>
            </p:extLst>
          </p:nvPr>
        </p:nvGraphicFramePr>
        <p:xfrm>
          <a:off x="7845474" y="4588635"/>
          <a:ext cx="3348780" cy="1461338"/>
        </p:xfrm>
        <a:graphic>
          <a:graphicData uri="http://schemas.openxmlformats.org/drawingml/2006/table">
            <a:tbl>
              <a:tblPr firstRow="1" bandRow="1">
                <a:tableStyleId>{5C22544A-7EE6-4342-B048-85BDC9FD1C3A}</a:tableStyleId>
              </a:tblPr>
              <a:tblGrid>
                <a:gridCol w="1336527">
                  <a:extLst>
                    <a:ext uri="{9D8B030D-6E8A-4147-A177-3AD203B41FA5}">
                      <a16:colId xmlns:a16="http://schemas.microsoft.com/office/drawing/2014/main" val="2689445315"/>
                    </a:ext>
                  </a:extLst>
                </a:gridCol>
                <a:gridCol w="2012253">
                  <a:extLst>
                    <a:ext uri="{9D8B030D-6E8A-4147-A177-3AD203B41FA5}">
                      <a16:colId xmlns:a16="http://schemas.microsoft.com/office/drawing/2014/main" val="713551910"/>
                    </a:ext>
                  </a:extLst>
                </a:gridCol>
              </a:tblGrid>
              <a:tr h="0">
                <a:tc gridSpan="2">
                  <a:txBody>
                    <a:bodyPr/>
                    <a:lstStyle/>
                    <a:p>
                      <a:pPr algn="ctr"/>
                      <a:r>
                        <a:rPr lang="en-US" sz="1600" b="0" dirty="0">
                          <a:solidFill>
                            <a:schemeClr val="bg1"/>
                          </a:solidFill>
                        </a:rPr>
                        <a:t>Public subnet route table</a:t>
                      </a:r>
                    </a:p>
                  </a:txBody>
                  <a:tcPr marL="150638" marR="75319" marT="37664" marB="37664" anchor="ctr"/>
                </a:tc>
                <a:tc hMerge="1">
                  <a:txBody>
                    <a:bodyPr/>
                    <a:lstStyle/>
                    <a:p>
                      <a:endParaRPr lang="en-US" sz="1600" b="1" kern="1200" dirty="0">
                        <a:solidFill>
                          <a:schemeClr val="bg1"/>
                        </a:solidFill>
                        <a:latin typeface="+mn-lt"/>
                        <a:ea typeface="+mn-ea"/>
                        <a:cs typeface="+mn-cs"/>
                      </a:endParaRPr>
                    </a:p>
                  </a:txBody>
                  <a:tcPr marL="150638" marR="75319" marT="37664" marB="37664" anchor="ctr"/>
                </a:tc>
                <a:extLst>
                  <a:ext uri="{0D108BD9-81ED-4DB2-BD59-A6C34878D82A}">
                    <a16:rowId xmlns:a16="http://schemas.microsoft.com/office/drawing/2014/main" val="224265529"/>
                  </a:ext>
                </a:extLst>
              </a:tr>
              <a:tr h="390454">
                <a:tc>
                  <a:txBody>
                    <a:bodyPr/>
                    <a:lstStyle/>
                    <a:p>
                      <a:r>
                        <a:rPr lang="en-US" sz="1600" dirty="0">
                          <a:solidFill>
                            <a:schemeClr val="bg1"/>
                          </a:solidFill>
                        </a:rPr>
                        <a:t>Destination</a:t>
                      </a:r>
                      <a:endParaRPr lang="en-US" sz="1600" b="0" dirty="0">
                        <a:solidFill>
                          <a:schemeClr val="bg1"/>
                        </a:solidFill>
                      </a:endParaRPr>
                    </a:p>
                  </a:txBody>
                  <a:tcPr marL="150638" marR="75319" marT="37664" marB="37664" anchor="ctr">
                    <a:solidFill>
                      <a:schemeClr val="accent1"/>
                    </a:solidFill>
                  </a:tcPr>
                </a:tc>
                <a:tc>
                  <a:txBody>
                    <a:bodyPr/>
                    <a:lstStyle/>
                    <a:p>
                      <a:r>
                        <a:rPr lang="en-US" sz="1600" kern="1200" dirty="0">
                          <a:solidFill>
                            <a:schemeClr val="bg1"/>
                          </a:solidFill>
                        </a:rPr>
                        <a:t>Target</a:t>
                      </a:r>
                      <a:endParaRPr lang="en-US" sz="1600" b="1" kern="1200" dirty="0">
                        <a:solidFill>
                          <a:schemeClr val="bg1"/>
                        </a:solidFill>
                        <a:latin typeface="+mn-lt"/>
                        <a:ea typeface="+mn-ea"/>
                        <a:cs typeface="+mn-cs"/>
                      </a:endParaRPr>
                    </a:p>
                  </a:txBody>
                  <a:tcPr marL="150638" marR="75319" marT="37664" marB="37664" anchor="ctr">
                    <a:solidFill>
                      <a:schemeClr val="accent1"/>
                    </a:solidFill>
                  </a:tcPr>
                </a:tc>
                <a:extLst>
                  <a:ext uri="{0D108BD9-81ED-4DB2-BD59-A6C34878D82A}">
                    <a16:rowId xmlns:a16="http://schemas.microsoft.com/office/drawing/2014/main" val="4207004471"/>
                  </a:ext>
                </a:extLst>
              </a:tr>
              <a:tr h="367954">
                <a:tc>
                  <a:txBody>
                    <a:bodyPr/>
                    <a:lstStyle/>
                    <a:p>
                      <a:pPr algn="l"/>
                      <a:r>
                        <a:rPr lang="en-US" sz="1600" dirty="0"/>
                        <a:t>10.0.0.0/16</a:t>
                      </a:r>
                      <a:endParaRPr lang="en-US" sz="1600" dirty="0">
                        <a:latin typeface="+mn-lt"/>
                        <a:ea typeface="Amazon Ember" panose="020B0603020204020204" pitchFamily="34" charset="0"/>
                        <a:cs typeface="Amazon Ember" panose="020B0603020204020204" pitchFamily="34" charset="0"/>
                      </a:endParaRPr>
                    </a:p>
                  </a:txBody>
                  <a:tcPr anchor="ctr"/>
                </a:tc>
                <a:tc>
                  <a:txBody>
                    <a:bodyPr/>
                    <a:lstStyle/>
                    <a:p>
                      <a:pPr algn="l"/>
                      <a:r>
                        <a:rPr lang="en-US" sz="1600" dirty="0"/>
                        <a:t> local</a:t>
                      </a:r>
                      <a:endParaRPr lang="en-US" sz="1600" dirty="0">
                        <a:latin typeface="+mn-lt"/>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1027896922"/>
                  </a:ext>
                </a:extLst>
              </a:tr>
              <a:tr h="383762">
                <a:tc>
                  <a:txBody>
                    <a:bodyPr/>
                    <a:lstStyle/>
                    <a:p>
                      <a:pPr algn="l"/>
                      <a:r>
                        <a:rPr lang="en-US" sz="1600" dirty="0"/>
                        <a:t>0.0.0.0/0</a:t>
                      </a:r>
                      <a:endParaRPr lang="en-US" sz="1600" dirty="0">
                        <a:latin typeface="+mn-lt"/>
                        <a:ea typeface="Amazon Ember" panose="020B0603020204020204" pitchFamily="34" charset="0"/>
                        <a:cs typeface="Amazon Ember" panose="020B0603020204020204" pitchFamily="34" charset="0"/>
                      </a:endParaRPr>
                    </a:p>
                  </a:txBody>
                  <a:tcPr anchor="ctr"/>
                </a:tc>
                <a:tc>
                  <a:txBody>
                    <a:bodyPr/>
                    <a:lstStyle/>
                    <a:p>
                      <a:pPr algn="l"/>
                      <a:r>
                        <a:rPr lang="en-US" sz="1600" dirty="0">
                          <a:solidFill>
                            <a:schemeClr val="tx1"/>
                          </a:solidFill>
                        </a:rPr>
                        <a:t>Internet gateway ID</a:t>
                      </a:r>
                      <a:endParaRPr lang="en-US" sz="1600" dirty="0">
                        <a:solidFill>
                          <a:schemeClr val="tx1"/>
                        </a:solidFill>
                        <a:latin typeface="+mn-lt"/>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772135158"/>
                  </a:ext>
                </a:extLst>
              </a:tr>
            </a:tbl>
          </a:graphicData>
        </a:graphic>
      </p:graphicFrame>
      <p:cxnSp>
        <p:nvCxnSpPr>
          <p:cNvPr id="24" name="Straight Connector 23">
            <a:extLst>
              <a:ext uri="{FF2B5EF4-FFF2-40B4-BE49-F238E27FC236}">
                <a16:creationId xmlns:a16="http://schemas.microsoft.com/office/drawing/2014/main" id="{65D1B63C-D5E0-D5CD-1256-BA073BB1E222}"/>
              </a:ext>
              <a:ext uri="{C183D7F6-B498-43B3-948B-1728B52AA6E4}">
                <adec:decorative xmlns:adec="http://schemas.microsoft.com/office/drawing/2017/decorative" val="1"/>
              </a:ext>
            </a:extLst>
          </p:cNvPr>
          <p:cNvCxnSpPr>
            <a:cxnSpLocks/>
            <a:stCxn id="15" idx="2"/>
            <a:endCxn id="23" idx="0"/>
          </p:cNvCxnSpPr>
          <p:nvPr/>
        </p:nvCxnSpPr>
        <p:spPr>
          <a:xfrm>
            <a:off x="9519864" y="3815267"/>
            <a:ext cx="0" cy="773368"/>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
        <p:nvSpPr>
          <p:cNvPr id="25" name="Callout: Colors menu">
            <a:extLst>
              <a:ext uri="{FF2B5EF4-FFF2-40B4-BE49-F238E27FC236}">
                <a16:creationId xmlns:a16="http://schemas.microsoft.com/office/drawing/2014/main" id="{A6DA3189-2F52-5CF3-2719-4BF954EAA3BA}"/>
              </a:ext>
              <a:ext uri="{C183D7F6-B498-43B3-948B-1728B52AA6E4}">
                <adec:decorative xmlns:adec="http://schemas.microsoft.com/office/drawing/2017/decorative" val="1"/>
              </a:ext>
            </a:extLst>
          </p:cNvPr>
          <p:cNvSpPr/>
          <p:nvPr/>
        </p:nvSpPr>
        <p:spPr>
          <a:xfrm>
            <a:off x="425598" y="1866632"/>
            <a:ext cx="2376908" cy="1077218"/>
          </a:xfrm>
          <a:prstGeom prst="borderCallout1">
            <a:avLst>
              <a:gd name="adj1" fmla="val 49693"/>
              <a:gd name="adj2" fmla="val 97780"/>
              <a:gd name="adj3" fmla="val 49042"/>
              <a:gd name="adj4" fmla="val 119540"/>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600" dirty="0">
                <a:solidFill>
                  <a:schemeClr val="bg1"/>
                </a:solidFill>
              </a:rPr>
              <a:t>A public subnet with an associated internet gateway allows direct access to the internet.</a:t>
            </a:r>
          </a:p>
        </p:txBody>
      </p:sp>
      <p:grpSp>
        <p:nvGrpSpPr>
          <p:cNvPr id="26" name="Group 25">
            <a:extLst>
              <a:ext uri="{FF2B5EF4-FFF2-40B4-BE49-F238E27FC236}">
                <a16:creationId xmlns:a16="http://schemas.microsoft.com/office/drawing/2014/main" id="{55E3D7B1-580A-DEDC-F12C-3E94B3A4C897}"/>
              </a:ext>
            </a:extLst>
          </p:cNvPr>
          <p:cNvGrpSpPr/>
          <p:nvPr/>
        </p:nvGrpSpPr>
        <p:grpSpPr>
          <a:xfrm>
            <a:off x="421968" y="3191245"/>
            <a:ext cx="3751386" cy="1077218"/>
            <a:chOff x="6171383" y="4029865"/>
            <a:chExt cx="3477694" cy="1009820"/>
          </a:xfrm>
          <a:solidFill>
            <a:schemeClr val="accent5"/>
          </a:solidFill>
        </p:grpSpPr>
        <p:cxnSp>
          <p:nvCxnSpPr>
            <p:cNvPr id="27" name="Straight Connector 20" descr="Describe what is being pointed to.">
              <a:extLst>
                <a:ext uri="{FF2B5EF4-FFF2-40B4-BE49-F238E27FC236}">
                  <a16:creationId xmlns:a16="http://schemas.microsoft.com/office/drawing/2014/main" id="{7CEF464F-CA7C-B3EA-2ACB-6E77CD47E5EC}"/>
                </a:ext>
              </a:extLst>
            </p:cNvPr>
            <p:cNvCxnSpPr>
              <a:cxnSpLocks/>
            </p:cNvCxnSpPr>
            <p:nvPr/>
          </p:nvCxnSpPr>
          <p:spPr>
            <a:xfrm rot="5400000">
              <a:off x="9306823" y="4528425"/>
              <a:ext cx="671807" cy="12700"/>
            </a:xfrm>
            <a:prstGeom prst="bentConnector5">
              <a:avLst>
                <a:gd name="adj1" fmla="val 0"/>
                <a:gd name="adj2" fmla="val 4202425"/>
                <a:gd name="adj3" fmla="val 97382"/>
              </a:avLst>
            </a:prstGeom>
            <a:grpFill/>
            <a:ln w="44450">
              <a:solidFill>
                <a:schemeClr val="accent5"/>
              </a:solidFill>
            </a:ln>
          </p:spPr>
          <p:style>
            <a:lnRef idx="2">
              <a:schemeClr val="accent5">
                <a:shade val="50000"/>
              </a:schemeClr>
            </a:lnRef>
            <a:fillRef idx="1">
              <a:schemeClr val="accent5"/>
            </a:fillRef>
            <a:effectRef idx="0">
              <a:schemeClr val="accent5"/>
            </a:effectRef>
            <a:fontRef idx="minor">
              <a:schemeClr val="lt1"/>
            </a:fontRef>
          </p:style>
        </p:cxnSp>
        <p:sp>
          <p:nvSpPr>
            <p:cNvPr id="28" name="Callout: Create resources">
              <a:extLst>
                <a:ext uri="{FF2B5EF4-FFF2-40B4-BE49-F238E27FC236}">
                  <a16:creationId xmlns:a16="http://schemas.microsoft.com/office/drawing/2014/main" id="{1BC505AC-FFDF-24E0-D8A3-6B00464B6CE7}"/>
                </a:ext>
                <a:ext uri="{C183D7F6-B498-43B3-948B-1728B52AA6E4}">
                  <adec:decorative xmlns:adec="http://schemas.microsoft.com/office/drawing/2017/decorative" val="1"/>
                </a:ext>
              </a:extLst>
            </p:cNvPr>
            <p:cNvSpPr/>
            <p:nvPr/>
          </p:nvSpPr>
          <p:spPr>
            <a:xfrm>
              <a:off x="6171383" y="4029865"/>
              <a:ext cx="2421500" cy="1009820"/>
            </a:xfrm>
            <a:prstGeom prst="borderCallout1">
              <a:avLst>
                <a:gd name="adj1" fmla="val 51338"/>
                <a:gd name="adj2" fmla="val 99782"/>
                <a:gd name="adj3" fmla="val 51666"/>
                <a:gd name="adj4" fmla="val 121331"/>
              </a:avLst>
            </a:prstGeom>
            <a:grpFill/>
            <a:ln w="44450">
              <a:solidFill>
                <a:schemeClr val="accent5"/>
              </a:solidFill>
            </a:ln>
          </p:spPr>
          <p:style>
            <a:lnRef idx="2">
              <a:schemeClr val="accent5">
                <a:shade val="50000"/>
              </a:schemeClr>
            </a:lnRef>
            <a:fillRef idx="1">
              <a:schemeClr val="accent5"/>
            </a:fillRef>
            <a:effectRef idx="0">
              <a:schemeClr val="accent5"/>
            </a:effectRef>
            <a:fontRef idx="minor">
              <a:schemeClr val="lt1"/>
            </a:fontRef>
          </p:style>
          <p:txBody>
            <a:bodyPr wrap="square" lIns="45720" rIns="45720" rtlCol="0" anchor="ctr">
              <a:spAutoFit/>
            </a:bodyPr>
            <a:lstStyle/>
            <a:p>
              <a:pPr algn="ctr"/>
              <a:r>
                <a:rPr lang="en-US" sz="1600" dirty="0">
                  <a:solidFill>
                    <a:schemeClr val="bg1"/>
                  </a:solidFill>
                </a:rPr>
                <a:t>Every instance in a public subnet requires a private and a public IP address to gain internet access.</a:t>
              </a:r>
            </a:p>
          </p:txBody>
        </p:sp>
      </p:grpSp>
    </p:spTree>
    <p:extLst>
      <p:ext uri="{BB962C8B-B14F-4D97-AF65-F5344CB8AC3E}">
        <p14:creationId xmlns:p14="http://schemas.microsoft.com/office/powerpoint/2010/main" val="3705098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10FD5-4B84-8C25-428E-9AE5CC3CF93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BF78CFC-E249-D11C-EB64-C98B6FAFAB4D}"/>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Elastic IP addresses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AC6DA49E-B1CE-19E8-9D8D-5CE14C0041EE}"/>
              </a:ext>
            </a:extLst>
          </p:cNvPr>
          <p:cNvSpPr/>
          <p:nvPr/>
        </p:nvSpPr>
        <p:spPr>
          <a:xfrm>
            <a:off x="658368" y="99385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EF544723-8E67-C8AD-D787-9953208E4EC7}"/>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F4C54892-CAC4-F49B-CE48-B61700A0E290}"/>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F2398BFE-D08F-6BFE-883C-40D5A7B7494B}"/>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grpSp>
        <p:nvGrpSpPr>
          <p:cNvPr id="25" name="FlattenEIP" descr="Amazon EC2 instance with a private IP address and an Elastic IP address in a public subnet.">
            <a:extLst>
              <a:ext uri="{FF2B5EF4-FFF2-40B4-BE49-F238E27FC236}">
                <a16:creationId xmlns:a16="http://schemas.microsoft.com/office/drawing/2014/main" id="{59B10C7E-6091-D52B-218D-D719C8E3DD79}"/>
              </a:ext>
            </a:extLst>
          </p:cNvPr>
          <p:cNvGrpSpPr/>
          <p:nvPr/>
        </p:nvGrpSpPr>
        <p:grpSpPr>
          <a:xfrm>
            <a:off x="1288914" y="1186557"/>
            <a:ext cx="9306284" cy="3959225"/>
            <a:chOff x="1288914" y="981647"/>
            <a:chExt cx="9306284" cy="3959225"/>
          </a:xfrm>
        </p:grpSpPr>
        <p:sp>
          <p:nvSpPr>
            <p:cNvPr id="26" name="Rectangle 25">
              <a:extLst>
                <a:ext uri="{FF2B5EF4-FFF2-40B4-BE49-F238E27FC236}">
                  <a16:creationId xmlns:a16="http://schemas.microsoft.com/office/drawing/2014/main" id="{2A9595B2-3E40-652F-FEBF-D72F8B469814}"/>
                </a:ext>
              </a:extLst>
            </p:cNvPr>
            <p:cNvSpPr/>
            <p:nvPr/>
          </p:nvSpPr>
          <p:spPr bwMode="auto">
            <a:xfrm>
              <a:off x="1288914" y="981647"/>
              <a:ext cx="8994426" cy="3959225"/>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ln w="0"/>
                  <a:solidFill>
                    <a:schemeClr val="tx1"/>
                  </a:solidFill>
                  <a:cs typeface="Arial" panose="020B0604020202020204" pitchFamily="34" charset="0"/>
                </a:rPr>
                <a:t>Amazon VPC 10.0.0.0/16</a:t>
              </a:r>
            </a:p>
          </p:txBody>
        </p:sp>
        <p:sp>
          <p:nvSpPr>
            <p:cNvPr id="27" name="Rectangle 26">
              <a:extLst>
                <a:ext uri="{FF2B5EF4-FFF2-40B4-BE49-F238E27FC236}">
                  <a16:creationId xmlns:a16="http://schemas.microsoft.com/office/drawing/2014/main" id="{B1743E84-EE2B-008F-2DB4-0F9A24CD403C}"/>
                </a:ext>
              </a:extLst>
            </p:cNvPr>
            <p:cNvSpPr/>
            <p:nvPr/>
          </p:nvSpPr>
          <p:spPr>
            <a:xfrm>
              <a:off x="2636110" y="1877001"/>
              <a:ext cx="4800950" cy="2674765"/>
            </a:xfrm>
            <a:prstGeom prst="rect">
              <a:avLst/>
            </a:prstGeom>
            <a:noFill/>
            <a:ln w="15875">
              <a:solidFill>
                <a:srgbClr val="7AA116"/>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02920" tIns="91440" bIns="45720"/>
            <a:lstStyle/>
            <a:p>
              <a:pP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Public subnet 10.0.0.0/20</a:t>
              </a:r>
            </a:p>
          </p:txBody>
        </p:sp>
        <p:pic>
          <p:nvPicPr>
            <p:cNvPr id="28" name="Graphic 27">
              <a:extLst>
                <a:ext uri="{FF2B5EF4-FFF2-40B4-BE49-F238E27FC236}">
                  <a16:creationId xmlns:a16="http://schemas.microsoft.com/office/drawing/2014/main" id="{103541CA-A8F2-AEFC-AF22-F8F4720264D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634473" y="1877001"/>
              <a:ext cx="381000" cy="381000"/>
            </a:xfrm>
            <a:prstGeom prst="rect">
              <a:avLst/>
            </a:prstGeom>
          </p:spPr>
        </p:pic>
        <p:sp>
          <p:nvSpPr>
            <p:cNvPr id="29" name="Rectangle 28">
              <a:extLst>
                <a:ext uri="{FF2B5EF4-FFF2-40B4-BE49-F238E27FC236}">
                  <a16:creationId xmlns:a16="http://schemas.microsoft.com/office/drawing/2014/main" id="{A5E7EE42-7C5F-FB8D-1334-61EEC29E3A1B}"/>
                </a:ext>
              </a:extLst>
            </p:cNvPr>
            <p:cNvSpPr/>
            <p:nvPr/>
          </p:nvSpPr>
          <p:spPr bwMode="auto">
            <a:xfrm>
              <a:off x="1994170" y="1388833"/>
              <a:ext cx="7454840" cy="3334243"/>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600" dirty="0">
                  <a:solidFill>
                    <a:schemeClr val="tx1"/>
                  </a:solidFill>
                  <a:cs typeface="Arial" panose="020B0604020202020204" pitchFamily="34" charset="0"/>
                </a:rPr>
                <a:t>Availability Zone 1</a:t>
              </a:r>
            </a:p>
          </p:txBody>
        </p:sp>
        <p:pic>
          <p:nvPicPr>
            <p:cNvPr id="30" name="Graphic 29">
              <a:extLst>
                <a:ext uri="{FF2B5EF4-FFF2-40B4-BE49-F238E27FC236}">
                  <a16:creationId xmlns:a16="http://schemas.microsoft.com/office/drawing/2014/main" id="{F34320E0-5B5E-12EE-B683-16A2D35C851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735719" y="2842944"/>
              <a:ext cx="547621" cy="545784"/>
            </a:xfrm>
            <a:prstGeom prst="rect">
              <a:avLst/>
            </a:prstGeom>
          </p:spPr>
        </p:pic>
        <p:sp>
          <p:nvSpPr>
            <p:cNvPr id="31" name="TextBox 12">
              <a:extLst>
                <a:ext uri="{FF2B5EF4-FFF2-40B4-BE49-F238E27FC236}">
                  <a16:creationId xmlns:a16="http://schemas.microsoft.com/office/drawing/2014/main" id="{ACF1E836-1A33-BB91-A928-49C1568FB018}"/>
                </a:ext>
              </a:extLst>
            </p:cNvPr>
            <p:cNvSpPr txBox="1">
              <a:spLocks noChangeArrowheads="1"/>
            </p:cNvSpPr>
            <p:nvPr/>
          </p:nvSpPr>
          <p:spPr bwMode="auto">
            <a:xfrm>
              <a:off x="9191848" y="3338647"/>
              <a:ext cx="14033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Internet gateway</a:t>
              </a:r>
            </a:p>
          </p:txBody>
        </p:sp>
        <p:sp>
          <p:nvSpPr>
            <p:cNvPr id="32" name="TextBox 16">
              <a:extLst>
                <a:ext uri="{FF2B5EF4-FFF2-40B4-BE49-F238E27FC236}">
                  <a16:creationId xmlns:a16="http://schemas.microsoft.com/office/drawing/2014/main" id="{CE7AC4F3-3D66-3BC4-3746-30418B324DBF}"/>
                </a:ext>
              </a:extLst>
            </p:cNvPr>
            <p:cNvSpPr txBox="1">
              <a:spLocks noChangeArrowheads="1"/>
            </p:cNvSpPr>
            <p:nvPr/>
          </p:nvSpPr>
          <p:spPr bwMode="auto">
            <a:xfrm>
              <a:off x="3058960" y="3497623"/>
              <a:ext cx="195144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EC2 instance</a:t>
              </a:r>
            </a:p>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Private IP address: </a:t>
              </a:r>
            </a:p>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10.0.0.5</a:t>
              </a:r>
            </a:p>
          </p:txBody>
        </p:sp>
        <p:pic>
          <p:nvPicPr>
            <p:cNvPr id="33" name="Graphic 32">
              <a:extLst>
                <a:ext uri="{FF2B5EF4-FFF2-40B4-BE49-F238E27FC236}">
                  <a16:creationId xmlns:a16="http://schemas.microsoft.com/office/drawing/2014/main" id="{4614058B-B1A5-85B4-5F8A-B3348A60179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58076" y="2696362"/>
              <a:ext cx="810206" cy="810206"/>
            </a:xfrm>
            <a:prstGeom prst="rect">
              <a:avLst/>
            </a:prstGeom>
          </p:spPr>
        </p:pic>
        <p:pic>
          <p:nvPicPr>
            <p:cNvPr id="34" name="Graphic 33">
              <a:extLst>
                <a:ext uri="{FF2B5EF4-FFF2-40B4-BE49-F238E27FC236}">
                  <a16:creationId xmlns:a16="http://schemas.microsoft.com/office/drawing/2014/main" id="{A76FBA5A-759C-B2BD-368A-D168E72C3566}"/>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288914" y="981647"/>
              <a:ext cx="381000" cy="381000"/>
            </a:xfrm>
            <a:prstGeom prst="rect">
              <a:avLst/>
            </a:prstGeom>
          </p:spPr>
        </p:pic>
        <p:cxnSp>
          <p:nvCxnSpPr>
            <p:cNvPr id="35" name="Straight Arrow Connector 34">
              <a:extLst>
                <a:ext uri="{FF2B5EF4-FFF2-40B4-BE49-F238E27FC236}">
                  <a16:creationId xmlns:a16="http://schemas.microsoft.com/office/drawing/2014/main" id="{AC210394-9EE6-8747-82C0-0C0D1042D80D}"/>
                </a:ext>
              </a:extLst>
            </p:cNvPr>
            <p:cNvCxnSpPr>
              <a:cxnSpLocks/>
              <a:stCxn id="38" idx="3"/>
              <a:endCxn id="30" idx="1"/>
            </p:cNvCxnSpPr>
            <p:nvPr/>
          </p:nvCxnSpPr>
          <p:spPr>
            <a:xfrm>
              <a:off x="8887206" y="3113775"/>
              <a:ext cx="848513" cy="2061"/>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4ED7F6ED-4740-0C12-DA16-E1E767D2A239}"/>
                </a:ext>
              </a:extLst>
            </p:cNvPr>
            <p:cNvCxnSpPr>
              <a:cxnSpLocks/>
              <a:stCxn id="39" idx="3"/>
              <a:endCxn id="38" idx="1"/>
            </p:cNvCxnSpPr>
            <p:nvPr/>
          </p:nvCxnSpPr>
          <p:spPr>
            <a:xfrm>
              <a:off x="6725587" y="3107904"/>
              <a:ext cx="1537938" cy="5871"/>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37" name="TextBox 12">
              <a:extLst>
                <a:ext uri="{FF2B5EF4-FFF2-40B4-BE49-F238E27FC236}">
                  <a16:creationId xmlns:a16="http://schemas.microsoft.com/office/drawing/2014/main" id="{349E78A5-3E2C-B805-39E4-FEF1146179C5}"/>
                </a:ext>
              </a:extLst>
            </p:cNvPr>
            <p:cNvSpPr txBox="1">
              <a:spLocks noChangeArrowheads="1"/>
            </p:cNvSpPr>
            <p:nvPr/>
          </p:nvSpPr>
          <p:spPr bwMode="auto">
            <a:xfrm>
              <a:off x="7862340" y="3359696"/>
              <a:ext cx="140335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Public subnet route table</a:t>
              </a:r>
            </a:p>
          </p:txBody>
        </p:sp>
        <p:pic>
          <p:nvPicPr>
            <p:cNvPr id="38" name="Graphic 37">
              <a:extLst>
                <a:ext uri="{FF2B5EF4-FFF2-40B4-BE49-F238E27FC236}">
                  <a16:creationId xmlns:a16="http://schemas.microsoft.com/office/drawing/2014/main" id="{588753E2-C108-0294-7C55-BC51B0B417E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63525" y="2801934"/>
              <a:ext cx="623681" cy="623681"/>
            </a:xfrm>
            <a:prstGeom prst="rect">
              <a:avLst/>
            </a:prstGeom>
          </p:spPr>
        </p:pic>
        <p:pic>
          <p:nvPicPr>
            <p:cNvPr id="39" name="Graphic 38">
              <a:extLst>
                <a:ext uri="{FF2B5EF4-FFF2-40B4-BE49-F238E27FC236}">
                  <a16:creationId xmlns:a16="http://schemas.microsoft.com/office/drawing/2014/main" id="{A48970AC-AAAD-1685-6B03-98C15DEDE9E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18167" y="2754194"/>
              <a:ext cx="707420" cy="707420"/>
            </a:xfrm>
            <a:prstGeom prst="rect">
              <a:avLst/>
            </a:prstGeom>
          </p:spPr>
        </p:pic>
        <p:sp>
          <p:nvSpPr>
            <p:cNvPr id="40" name="Rectangle 39">
              <a:extLst>
                <a:ext uri="{FF2B5EF4-FFF2-40B4-BE49-F238E27FC236}">
                  <a16:creationId xmlns:a16="http://schemas.microsoft.com/office/drawing/2014/main" id="{355F4CA9-9EA6-A0FA-F08E-ED2E0612AC15}"/>
                </a:ext>
              </a:extLst>
            </p:cNvPr>
            <p:cNvSpPr/>
            <p:nvPr/>
          </p:nvSpPr>
          <p:spPr>
            <a:xfrm>
              <a:off x="5634117" y="3497623"/>
              <a:ext cx="1451038" cy="830997"/>
            </a:xfrm>
            <a:prstGeom prst="rect">
              <a:avLst/>
            </a:prstGeom>
          </p:spPr>
          <p:txBody>
            <a:bodyPr wrap="none">
              <a:spAutoFit/>
            </a:bodyPr>
            <a:lstStyle/>
            <a:p>
              <a:pPr algn="ctr"/>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Public Elastic </a:t>
              </a:r>
            </a:p>
            <a:p>
              <a:pPr algn="ctr"/>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IP address: </a:t>
              </a:r>
            </a:p>
            <a:p>
              <a:pPr algn="ctr"/>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198.51.100.2</a:t>
              </a:r>
            </a:p>
          </p:txBody>
        </p:sp>
        <p:cxnSp>
          <p:nvCxnSpPr>
            <p:cNvPr id="41" name="Straight Arrow Connector 40">
              <a:extLst>
                <a:ext uri="{FF2B5EF4-FFF2-40B4-BE49-F238E27FC236}">
                  <a16:creationId xmlns:a16="http://schemas.microsoft.com/office/drawing/2014/main" id="{4025A8EE-8515-D05F-B193-EECDCDA1D9D4}"/>
                </a:ext>
              </a:extLst>
            </p:cNvPr>
            <p:cNvCxnSpPr>
              <a:cxnSpLocks/>
              <a:stCxn id="33" idx="3"/>
              <a:endCxn id="39" idx="1"/>
            </p:cNvCxnSpPr>
            <p:nvPr/>
          </p:nvCxnSpPr>
          <p:spPr>
            <a:xfrm>
              <a:off x="4368282" y="3101465"/>
              <a:ext cx="1649885" cy="6439"/>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grpSp>
      <p:sp>
        <p:nvSpPr>
          <p:cNvPr id="42" name="Callout: Colors menu">
            <a:extLst>
              <a:ext uri="{FF2B5EF4-FFF2-40B4-BE49-F238E27FC236}">
                <a16:creationId xmlns:a16="http://schemas.microsoft.com/office/drawing/2014/main" id="{60849748-2D1F-2928-BA4C-FCB155BD22FC}"/>
              </a:ext>
              <a:ext uri="{C183D7F6-B498-43B3-948B-1728B52AA6E4}">
                <adec:decorative xmlns:adec="http://schemas.microsoft.com/office/drawing/2017/decorative" val="1"/>
              </a:ext>
            </a:extLst>
          </p:cNvPr>
          <p:cNvSpPr/>
          <p:nvPr/>
        </p:nvSpPr>
        <p:spPr>
          <a:xfrm>
            <a:off x="3558075" y="5427904"/>
            <a:ext cx="5329132" cy="830997"/>
          </a:xfrm>
          <a:prstGeom prst="borderCallout1">
            <a:avLst>
              <a:gd name="adj1" fmla="val -1776"/>
              <a:gd name="adj2" fmla="val 52656"/>
              <a:gd name="adj3" fmla="val -113012"/>
              <a:gd name="adj4" fmla="val 52589"/>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600" dirty="0">
                <a:solidFill>
                  <a:schemeClr val="bg1"/>
                </a:solidFill>
              </a:rPr>
              <a:t>An Elastic IP address is a public, static address associated with an instance. An Elastic IP address can be transferred to a new instance.</a:t>
            </a:r>
          </a:p>
        </p:txBody>
      </p:sp>
    </p:spTree>
    <p:extLst>
      <p:ext uri="{BB962C8B-B14F-4D97-AF65-F5344CB8AC3E}">
        <p14:creationId xmlns:p14="http://schemas.microsoft.com/office/powerpoint/2010/main" val="2986714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88752-4445-AABF-97F4-8F628DC781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00E0F0F-CFE9-B234-20A5-A353FC82E2B6}"/>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Private subnets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2DED6073-33A3-2899-7451-F7043EE6EF36}"/>
              </a:ext>
            </a:extLst>
          </p:cNvPr>
          <p:cNvSpPr/>
          <p:nvPr/>
        </p:nvSpPr>
        <p:spPr>
          <a:xfrm>
            <a:off x="658368" y="99385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88887EB6-8A87-5154-FF55-EF37E3967A9A}"/>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DE378087-72FB-4D95-040D-6D94B1281A7C}"/>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8B06D06F-7451-E2A6-FDEE-174C09FCBC2F}"/>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graphicFrame>
        <p:nvGraphicFramePr>
          <p:cNvPr id="4" name="Table 3">
            <a:extLst>
              <a:ext uri="{FF2B5EF4-FFF2-40B4-BE49-F238E27FC236}">
                <a16:creationId xmlns:a16="http://schemas.microsoft.com/office/drawing/2014/main" id="{8E64A6A6-97C5-EEF3-1B7F-2321B230058D}"/>
              </a:ext>
            </a:extLst>
          </p:cNvPr>
          <p:cNvGraphicFramePr>
            <a:graphicFrameLocks noGrp="1"/>
          </p:cNvGraphicFramePr>
          <p:nvPr>
            <p:extLst>
              <p:ext uri="{D42A27DB-BD31-4B8C-83A1-F6EECF244321}">
                <p14:modId xmlns:p14="http://schemas.microsoft.com/office/powerpoint/2010/main" val="759640823"/>
              </p:ext>
            </p:extLst>
          </p:nvPr>
        </p:nvGraphicFramePr>
        <p:xfrm>
          <a:off x="4083122" y="5097884"/>
          <a:ext cx="2766283" cy="1148862"/>
        </p:xfrm>
        <a:graphic>
          <a:graphicData uri="http://schemas.openxmlformats.org/drawingml/2006/table">
            <a:tbl>
              <a:tblPr firstRow="1" bandRow="1">
                <a:tableStyleId>{5C22544A-7EE6-4342-B048-85BDC9FD1C3A}</a:tableStyleId>
              </a:tblPr>
              <a:tblGrid>
                <a:gridCol w="1566509">
                  <a:extLst>
                    <a:ext uri="{9D8B030D-6E8A-4147-A177-3AD203B41FA5}">
                      <a16:colId xmlns:a16="http://schemas.microsoft.com/office/drawing/2014/main" val="2689445315"/>
                    </a:ext>
                  </a:extLst>
                </a:gridCol>
                <a:gridCol w="1199774">
                  <a:extLst>
                    <a:ext uri="{9D8B030D-6E8A-4147-A177-3AD203B41FA5}">
                      <a16:colId xmlns:a16="http://schemas.microsoft.com/office/drawing/2014/main" val="713551910"/>
                    </a:ext>
                  </a:extLst>
                </a:gridCol>
              </a:tblGrid>
              <a:tr h="390454">
                <a:tc gridSpan="2">
                  <a:txBody>
                    <a:bodyPr/>
                    <a:lstStyle/>
                    <a:p>
                      <a:pPr algn="ctr"/>
                      <a:r>
                        <a:rPr lang="en-US" sz="1600" b="0" dirty="0">
                          <a:solidFill>
                            <a:schemeClr val="bg1"/>
                          </a:solidFill>
                        </a:rPr>
                        <a:t>Main VPC route table</a:t>
                      </a:r>
                    </a:p>
                  </a:txBody>
                  <a:tcPr marL="150638" marR="75319" marT="37664" marB="37664" anchor="ctr"/>
                </a:tc>
                <a:tc hMerge="1">
                  <a:txBody>
                    <a:bodyPr/>
                    <a:lstStyle/>
                    <a:p>
                      <a:endParaRPr lang="en-US" sz="1600" b="1" kern="1200" dirty="0">
                        <a:solidFill>
                          <a:schemeClr val="bg1"/>
                        </a:solidFill>
                        <a:latin typeface="+mn-lt"/>
                        <a:ea typeface="+mn-ea"/>
                        <a:cs typeface="+mn-cs"/>
                      </a:endParaRPr>
                    </a:p>
                  </a:txBody>
                  <a:tcPr marL="150638" marR="75319" marT="37664" marB="37664" anchor="ctr"/>
                </a:tc>
                <a:extLst>
                  <a:ext uri="{0D108BD9-81ED-4DB2-BD59-A6C34878D82A}">
                    <a16:rowId xmlns:a16="http://schemas.microsoft.com/office/drawing/2014/main" val="3873101766"/>
                  </a:ext>
                </a:extLst>
              </a:tr>
              <a:tr h="390454">
                <a:tc>
                  <a:txBody>
                    <a:bodyPr/>
                    <a:lstStyle/>
                    <a:p>
                      <a:r>
                        <a:rPr lang="en-US" sz="1600" dirty="0">
                          <a:solidFill>
                            <a:schemeClr val="bg1"/>
                          </a:solidFill>
                        </a:rPr>
                        <a:t>Destination</a:t>
                      </a:r>
                      <a:endParaRPr lang="en-US" sz="1600" b="0" dirty="0">
                        <a:solidFill>
                          <a:schemeClr val="bg1"/>
                        </a:solidFill>
                      </a:endParaRPr>
                    </a:p>
                  </a:txBody>
                  <a:tcPr marL="150638" marR="75319" marT="37664" marB="37664" anchor="ctr">
                    <a:solidFill>
                      <a:schemeClr val="accent1"/>
                    </a:solidFill>
                  </a:tcPr>
                </a:tc>
                <a:tc>
                  <a:txBody>
                    <a:bodyPr/>
                    <a:lstStyle/>
                    <a:p>
                      <a:r>
                        <a:rPr lang="en-US" sz="1600" kern="1200" dirty="0">
                          <a:solidFill>
                            <a:schemeClr val="bg1"/>
                          </a:solidFill>
                        </a:rPr>
                        <a:t>Target</a:t>
                      </a:r>
                      <a:endParaRPr lang="en-US" sz="1600" b="1" kern="1200" dirty="0">
                        <a:solidFill>
                          <a:schemeClr val="bg1"/>
                        </a:solidFill>
                        <a:latin typeface="+mn-lt"/>
                        <a:ea typeface="+mn-ea"/>
                        <a:cs typeface="+mn-cs"/>
                      </a:endParaRPr>
                    </a:p>
                  </a:txBody>
                  <a:tcPr marL="150638" marR="75319" marT="37664" marB="37664" anchor="ctr">
                    <a:solidFill>
                      <a:schemeClr val="accent1"/>
                    </a:solidFill>
                  </a:tcPr>
                </a:tc>
                <a:extLst>
                  <a:ext uri="{0D108BD9-81ED-4DB2-BD59-A6C34878D82A}">
                    <a16:rowId xmlns:a16="http://schemas.microsoft.com/office/drawing/2014/main" val="4207004471"/>
                  </a:ext>
                </a:extLst>
              </a:tr>
              <a:tr h="367954">
                <a:tc>
                  <a:txBody>
                    <a:bodyPr/>
                    <a:lstStyle/>
                    <a:p>
                      <a:pPr algn="l"/>
                      <a:r>
                        <a:rPr lang="en-US" sz="1600" dirty="0"/>
                        <a:t>10.0.0.0/16</a:t>
                      </a:r>
                      <a:endParaRPr lang="en-US" sz="1600" dirty="0">
                        <a:latin typeface="+mn-lt"/>
                        <a:ea typeface="Amazon Ember" panose="020B0603020204020204" pitchFamily="34" charset="0"/>
                        <a:cs typeface="Amazon Ember" panose="020B0603020204020204" pitchFamily="34" charset="0"/>
                      </a:endParaRPr>
                    </a:p>
                  </a:txBody>
                  <a:tcPr anchor="ctr"/>
                </a:tc>
                <a:tc>
                  <a:txBody>
                    <a:bodyPr/>
                    <a:lstStyle/>
                    <a:p>
                      <a:pPr algn="l"/>
                      <a:r>
                        <a:rPr lang="en-US" sz="1600" dirty="0"/>
                        <a:t> local</a:t>
                      </a:r>
                      <a:endParaRPr lang="en-US" sz="1600" dirty="0">
                        <a:latin typeface="+mn-lt"/>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1027896922"/>
                  </a:ext>
                </a:extLst>
              </a:tr>
            </a:tbl>
          </a:graphicData>
        </a:graphic>
      </p:graphicFrame>
      <p:grpSp>
        <p:nvGrpSpPr>
          <p:cNvPr id="8" name="Group 7">
            <a:extLst>
              <a:ext uri="{FF2B5EF4-FFF2-40B4-BE49-F238E27FC236}">
                <a16:creationId xmlns:a16="http://schemas.microsoft.com/office/drawing/2014/main" id="{F7CE76D4-C99A-6AE6-3D6D-5BB98BCDC2A0}"/>
              </a:ext>
            </a:extLst>
          </p:cNvPr>
          <p:cNvGrpSpPr/>
          <p:nvPr/>
        </p:nvGrpSpPr>
        <p:grpSpPr>
          <a:xfrm>
            <a:off x="2464595" y="1490888"/>
            <a:ext cx="8316229" cy="3273396"/>
            <a:chOff x="2248009" y="1157288"/>
            <a:chExt cx="8316229" cy="3273396"/>
          </a:xfrm>
        </p:grpSpPr>
        <p:sp>
          <p:nvSpPr>
            <p:cNvPr id="9" name="Rectangle 8">
              <a:extLst>
                <a:ext uri="{FF2B5EF4-FFF2-40B4-BE49-F238E27FC236}">
                  <a16:creationId xmlns:a16="http://schemas.microsoft.com/office/drawing/2014/main" id="{2519CF8C-B68C-1C7F-7759-18AFB20305F2}"/>
                </a:ext>
              </a:extLst>
            </p:cNvPr>
            <p:cNvSpPr/>
            <p:nvPr/>
          </p:nvSpPr>
          <p:spPr bwMode="auto">
            <a:xfrm>
              <a:off x="2248009" y="1157288"/>
              <a:ext cx="8316229" cy="3273396"/>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ln w="0"/>
                  <a:solidFill>
                    <a:schemeClr val="tx1"/>
                  </a:solidFill>
                  <a:cs typeface="Arial" panose="020B0604020202020204" pitchFamily="34" charset="0"/>
                </a:rPr>
                <a:t>Amazon VPC 10.0.0.0/16</a:t>
              </a:r>
            </a:p>
          </p:txBody>
        </p:sp>
        <p:pic>
          <p:nvPicPr>
            <p:cNvPr id="10" name="Graphic 9">
              <a:extLst>
                <a:ext uri="{FF2B5EF4-FFF2-40B4-BE49-F238E27FC236}">
                  <a16:creationId xmlns:a16="http://schemas.microsoft.com/office/drawing/2014/main" id="{998FDEA3-B0A4-9D45-9E15-BF33E9AB799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2248009" y="1164480"/>
              <a:ext cx="381000" cy="381000"/>
            </a:xfrm>
            <a:prstGeom prst="rect">
              <a:avLst/>
            </a:prstGeom>
          </p:spPr>
        </p:pic>
        <p:sp>
          <p:nvSpPr>
            <p:cNvPr id="11" name="Rectangle 10">
              <a:extLst>
                <a:ext uri="{FF2B5EF4-FFF2-40B4-BE49-F238E27FC236}">
                  <a16:creationId xmlns:a16="http://schemas.microsoft.com/office/drawing/2014/main" id="{C9AB51B4-4F1A-0896-B673-2CAC9B18CFD9}"/>
                </a:ext>
              </a:extLst>
            </p:cNvPr>
            <p:cNvSpPr/>
            <p:nvPr/>
          </p:nvSpPr>
          <p:spPr>
            <a:xfrm>
              <a:off x="3085491" y="2113245"/>
              <a:ext cx="4540096" cy="2009868"/>
            </a:xfrm>
            <a:prstGeom prst="rect">
              <a:avLst/>
            </a:prstGeom>
            <a:noFill/>
            <a:ln w="15875">
              <a:solidFill>
                <a:srgbClr val="00A4A6"/>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02920" tIns="91440" bIns="45720"/>
            <a:lstStyle/>
            <a:p>
              <a:pP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Private subnet 10.0.128.0/20</a:t>
              </a:r>
            </a:p>
          </p:txBody>
        </p:sp>
        <p:pic>
          <p:nvPicPr>
            <p:cNvPr id="12" name="Graphic 11">
              <a:extLst>
                <a:ext uri="{FF2B5EF4-FFF2-40B4-BE49-F238E27FC236}">
                  <a16:creationId xmlns:a16="http://schemas.microsoft.com/office/drawing/2014/main" id="{475AC804-96F4-1FD2-066E-E33DCE916D1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085491" y="2113245"/>
              <a:ext cx="381000" cy="381000"/>
            </a:xfrm>
            <a:prstGeom prst="rect">
              <a:avLst/>
            </a:prstGeom>
          </p:spPr>
        </p:pic>
        <p:sp>
          <p:nvSpPr>
            <p:cNvPr id="13" name="Rectangle 12">
              <a:extLst>
                <a:ext uri="{FF2B5EF4-FFF2-40B4-BE49-F238E27FC236}">
                  <a16:creationId xmlns:a16="http://schemas.microsoft.com/office/drawing/2014/main" id="{3F300A0F-1394-A80D-2AD1-511CA223B2F1}"/>
                </a:ext>
              </a:extLst>
            </p:cNvPr>
            <p:cNvSpPr/>
            <p:nvPr/>
          </p:nvSpPr>
          <p:spPr bwMode="auto">
            <a:xfrm>
              <a:off x="2464595" y="1604563"/>
              <a:ext cx="5590438" cy="2668180"/>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600" dirty="0">
                  <a:solidFill>
                    <a:schemeClr val="tx1"/>
                  </a:solidFill>
                  <a:cs typeface="Arial" panose="020B0604020202020204" pitchFamily="34" charset="0"/>
                </a:rPr>
                <a:t>Availability Zone </a:t>
              </a:r>
            </a:p>
          </p:txBody>
        </p:sp>
        <p:sp>
          <p:nvSpPr>
            <p:cNvPr id="14" name="TextBox 16">
              <a:extLst>
                <a:ext uri="{FF2B5EF4-FFF2-40B4-BE49-F238E27FC236}">
                  <a16:creationId xmlns:a16="http://schemas.microsoft.com/office/drawing/2014/main" id="{A49E9598-A454-91C2-0289-560192F0FD45}"/>
                </a:ext>
              </a:extLst>
            </p:cNvPr>
            <p:cNvSpPr txBox="1">
              <a:spLocks noChangeArrowheads="1"/>
            </p:cNvSpPr>
            <p:nvPr/>
          </p:nvSpPr>
          <p:spPr bwMode="auto">
            <a:xfrm>
              <a:off x="3466491" y="3399869"/>
              <a:ext cx="3848579"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EC2 instance </a:t>
              </a:r>
            </a:p>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Private IP address: 10.0.128.17</a:t>
              </a:r>
            </a:p>
          </p:txBody>
        </p:sp>
        <p:pic>
          <p:nvPicPr>
            <p:cNvPr id="15" name="Graphic 14">
              <a:extLst>
                <a:ext uri="{FF2B5EF4-FFF2-40B4-BE49-F238E27FC236}">
                  <a16:creationId xmlns:a16="http://schemas.microsoft.com/office/drawing/2014/main" id="{DCBCB80E-3EB4-B9BF-C938-ACEC54E0703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003629" y="2699709"/>
              <a:ext cx="667199" cy="667199"/>
            </a:xfrm>
            <a:prstGeom prst="rect">
              <a:avLst/>
            </a:prstGeom>
          </p:spPr>
        </p:pic>
        <p:sp>
          <p:nvSpPr>
            <p:cNvPr id="16" name="TextBox 27">
              <a:extLst>
                <a:ext uri="{FF2B5EF4-FFF2-40B4-BE49-F238E27FC236}">
                  <a16:creationId xmlns:a16="http://schemas.microsoft.com/office/drawing/2014/main" id="{E8F253F2-DA49-DF1B-BCAF-D9C98F07B14C}"/>
                </a:ext>
              </a:extLst>
            </p:cNvPr>
            <p:cNvSpPr txBox="1">
              <a:spLocks noChangeArrowheads="1"/>
            </p:cNvSpPr>
            <p:nvPr/>
          </p:nvSpPr>
          <p:spPr bwMode="auto">
            <a:xfrm>
              <a:off x="8650587" y="3328585"/>
              <a:ext cx="16446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Private subnet</a:t>
              </a:r>
            </a:p>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route table</a:t>
              </a:r>
            </a:p>
          </p:txBody>
        </p:sp>
        <p:cxnSp>
          <p:nvCxnSpPr>
            <p:cNvPr id="17" name="Straight Arrow Connector 16">
              <a:extLst>
                <a:ext uri="{FF2B5EF4-FFF2-40B4-BE49-F238E27FC236}">
                  <a16:creationId xmlns:a16="http://schemas.microsoft.com/office/drawing/2014/main" id="{663DD3C0-91E5-711E-DEA7-B99CBDC7CF54}"/>
                </a:ext>
              </a:extLst>
            </p:cNvPr>
            <p:cNvCxnSpPr>
              <a:cxnSpLocks/>
              <a:stCxn id="15" idx="3"/>
              <a:endCxn id="18" idx="1"/>
            </p:cNvCxnSpPr>
            <p:nvPr/>
          </p:nvCxnSpPr>
          <p:spPr>
            <a:xfrm>
              <a:off x="5670828" y="3033309"/>
              <a:ext cx="3541734" cy="20772"/>
            </a:xfrm>
            <a:prstGeom prst="straightConnector1">
              <a:avLst/>
            </a:prstGeom>
            <a:ln w="19050">
              <a:solidFill>
                <a:srgbClr val="7C5AED"/>
              </a:solidFill>
              <a:headEnd type="arrow" w="med" len="sm"/>
              <a:tailEnd type="arrow" w="med" len="sm"/>
            </a:ln>
          </p:spPr>
          <p:style>
            <a:lnRef idx="1">
              <a:schemeClr val="accent1"/>
            </a:lnRef>
            <a:fillRef idx="0">
              <a:schemeClr val="accent1"/>
            </a:fillRef>
            <a:effectRef idx="0">
              <a:schemeClr val="accent1"/>
            </a:effectRef>
            <a:fontRef idx="minor">
              <a:schemeClr val="tx1"/>
            </a:fontRef>
          </p:style>
        </p:cxnSp>
        <p:pic>
          <p:nvPicPr>
            <p:cNvPr id="18" name="Graphic 17">
              <a:extLst>
                <a:ext uri="{FF2B5EF4-FFF2-40B4-BE49-F238E27FC236}">
                  <a16:creationId xmlns:a16="http://schemas.microsoft.com/office/drawing/2014/main" id="{BAC7462B-CB34-88DD-D783-F4B18DCA1F2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12562" y="2793731"/>
              <a:ext cx="520700" cy="520700"/>
            </a:xfrm>
            <a:prstGeom prst="rect">
              <a:avLst/>
            </a:prstGeom>
          </p:spPr>
        </p:pic>
      </p:grpSp>
      <p:graphicFrame>
        <p:nvGraphicFramePr>
          <p:cNvPr id="19" name="Table 18">
            <a:extLst>
              <a:ext uri="{FF2B5EF4-FFF2-40B4-BE49-F238E27FC236}">
                <a16:creationId xmlns:a16="http://schemas.microsoft.com/office/drawing/2014/main" id="{74465679-F0E1-4243-3251-74844BE493C4}"/>
              </a:ext>
            </a:extLst>
          </p:cNvPr>
          <p:cNvGraphicFramePr>
            <a:graphicFrameLocks noGrp="1"/>
          </p:cNvGraphicFramePr>
          <p:nvPr>
            <p:extLst>
              <p:ext uri="{D42A27DB-BD31-4B8C-83A1-F6EECF244321}">
                <p14:modId xmlns:p14="http://schemas.microsoft.com/office/powerpoint/2010/main" val="4245590667"/>
              </p:ext>
            </p:extLst>
          </p:nvPr>
        </p:nvGraphicFramePr>
        <p:xfrm>
          <a:off x="8303717" y="5072104"/>
          <a:ext cx="2766283" cy="1148862"/>
        </p:xfrm>
        <a:graphic>
          <a:graphicData uri="http://schemas.openxmlformats.org/drawingml/2006/table">
            <a:tbl>
              <a:tblPr firstRow="1" bandRow="1">
                <a:tableStyleId>{5C22544A-7EE6-4342-B048-85BDC9FD1C3A}</a:tableStyleId>
              </a:tblPr>
              <a:tblGrid>
                <a:gridCol w="1566509">
                  <a:extLst>
                    <a:ext uri="{9D8B030D-6E8A-4147-A177-3AD203B41FA5}">
                      <a16:colId xmlns:a16="http://schemas.microsoft.com/office/drawing/2014/main" val="2689445315"/>
                    </a:ext>
                  </a:extLst>
                </a:gridCol>
                <a:gridCol w="1199774">
                  <a:extLst>
                    <a:ext uri="{9D8B030D-6E8A-4147-A177-3AD203B41FA5}">
                      <a16:colId xmlns:a16="http://schemas.microsoft.com/office/drawing/2014/main" val="713551910"/>
                    </a:ext>
                  </a:extLst>
                </a:gridCol>
              </a:tblGrid>
              <a:tr h="390454">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bg1"/>
                          </a:solidFill>
                        </a:rPr>
                        <a:t>Private subnet route table</a:t>
                      </a:r>
                    </a:p>
                  </a:txBody>
                  <a:tcPr marL="150638" marR="75319" marT="37664" marB="37664" anchor="ctr"/>
                </a:tc>
                <a:tc hMerge="1">
                  <a:txBody>
                    <a:bodyPr/>
                    <a:lstStyle/>
                    <a:p>
                      <a:endParaRPr lang="en-US" sz="1600" b="1" kern="1200" dirty="0">
                        <a:solidFill>
                          <a:schemeClr val="bg1"/>
                        </a:solidFill>
                        <a:latin typeface="+mn-lt"/>
                        <a:ea typeface="+mn-ea"/>
                        <a:cs typeface="+mn-cs"/>
                      </a:endParaRPr>
                    </a:p>
                  </a:txBody>
                  <a:tcPr marL="150638" marR="75319" marT="37664" marB="37664" anchor="ctr"/>
                </a:tc>
                <a:extLst>
                  <a:ext uri="{0D108BD9-81ED-4DB2-BD59-A6C34878D82A}">
                    <a16:rowId xmlns:a16="http://schemas.microsoft.com/office/drawing/2014/main" val="3873101766"/>
                  </a:ext>
                </a:extLst>
              </a:tr>
              <a:tr h="390454">
                <a:tc>
                  <a:txBody>
                    <a:bodyPr/>
                    <a:lstStyle/>
                    <a:p>
                      <a:r>
                        <a:rPr lang="en-US" sz="1600" dirty="0">
                          <a:solidFill>
                            <a:schemeClr val="bg1"/>
                          </a:solidFill>
                        </a:rPr>
                        <a:t>Destination</a:t>
                      </a:r>
                      <a:endParaRPr lang="en-US" sz="1600" b="0" dirty="0">
                        <a:solidFill>
                          <a:schemeClr val="bg1"/>
                        </a:solidFill>
                      </a:endParaRPr>
                    </a:p>
                  </a:txBody>
                  <a:tcPr marL="150638" marR="75319" marT="37664" marB="37664" anchor="ctr">
                    <a:solidFill>
                      <a:schemeClr val="accent1"/>
                    </a:solidFill>
                  </a:tcPr>
                </a:tc>
                <a:tc>
                  <a:txBody>
                    <a:bodyPr/>
                    <a:lstStyle/>
                    <a:p>
                      <a:r>
                        <a:rPr lang="en-US" sz="1600" kern="1200" dirty="0">
                          <a:solidFill>
                            <a:schemeClr val="bg1"/>
                          </a:solidFill>
                        </a:rPr>
                        <a:t>Target</a:t>
                      </a:r>
                      <a:endParaRPr lang="en-US" sz="1600" b="1" kern="1200" dirty="0">
                        <a:solidFill>
                          <a:schemeClr val="bg1"/>
                        </a:solidFill>
                        <a:latin typeface="+mn-lt"/>
                        <a:ea typeface="+mn-ea"/>
                        <a:cs typeface="+mn-cs"/>
                      </a:endParaRPr>
                    </a:p>
                  </a:txBody>
                  <a:tcPr marL="150638" marR="75319" marT="37664" marB="37664" anchor="ctr">
                    <a:solidFill>
                      <a:schemeClr val="accent1"/>
                    </a:solidFill>
                  </a:tcPr>
                </a:tc>
                <a:extLst>
                  <a:ext uri="{0D108BD9-81ED-4DB2-BD59-A6C34878D82A}">
                    <a16:rowId xmlns:a16="http://schemas.microsoft.com/office/drawing/2014/main" val="4207004471"/>
                  </a:ext>
                </a:extLst>
              </a:tr>
              <a:tr h="367954">
                <a:tc>
                  <a:txBody>
                    <a:bodyPr/>
                    <a:lstStyle/>
                    <a:p>
                      <a:pPr algn="l"/>
                      <a:r>
                        <a:rPr lang="en-US" sz="1600" dirty="0"/>
                        <a:t>10.0.0.0/16</a:t>
                      </a:r>
                      <a:endParaRPr lang="en-US" sz="1600" dirty="0">
                        <a:latin typeface="+mn-lt"/>
                        <a:ea typeface="Amazon Ember" panose="020B0603020204020204" pitchFamily="34" charset="0"/>
                        <a:cs typeface="Amazon Ember" panose="020B0603020204020204" pitchFamily="34" charset="0"/>
                      </a:endParaRPr>
                    </a:p>
                  </a:txBody>
                  <a:tcPr anchor="ctr"/>
                </a:tc>
                <a:tc>
                  <a:txBody>
                    <a:bodyPr/>
                    <a:lstStyle/>
                    <a:p>
                      <a:pPr algn="l"/>
                      <a:r>
                        <a:rPr lang="en-US" sz="1600" dirty="0"/>
                        <a:t> local</a:t>
                      </a:r>
                      <a:endParaRPr lang="en-US" sz="1600" dirty="0">
                        <a:latin typeface="+mn-lt"/>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1027896922"/>
                  </a:ext>
                </a:extLst>
              </a:tr>
            </a:tbl>
          </a:graphicData>
        </a:graphic>
      </p:graphicFrame>
      <p:sp>
        <p:nvSpPr>
          <p:cNvPr id="20" name="Callout: Colors menu">
            <a:extLst>
              <a:ext uri="{FF2B5EF4-FFF2-40B4-BE49-F238E27FC236}">
                <a16:creationId xmlns:a16="http://schemas.microsoft.com/office/drawing/2014/main" id="{919534F6-1B43-9EF7-2729-78450F6BF44C}"/>
              </a:ext>
              <a:ext uri="{C183D7F6-B498-43B3-948B-1728B52AA6E4}">
                <adec:decorative xmlns:adec="http://schemas.microsoft.com/office/drawing/2017/decorative" val="1"/>
              </a:ext>
            </a:extLst>
          </p:cNvPr>
          <p:cNvSpPr/>
          <p:nvPr/>
        </p:nvSpPr>
        <p:spPr>
          <a:xfrm>
            <a:off x="474847" y="3242397"/>
            <a:ext cx="2306530" cy="830997"/>
          </a:xfrm>
          <a:prstGeom prst="borderCallout1">
            <a:avLst>
              <a:gd name="adj1" fmla="val 49693"/>
              <a:gd name="adj2" fmla="val 87934"/>
              <a:gd name="adj3" fmla="val 50783"/>
              <a:gd name="adj4" fmla="val 122269"/>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600" dirty="0">
                <a:solidFill>
                  <a:schemeClr val="bg1"/>
                </a:solidFill>
              </a:rPr>
              <a:t>A private subnet does not have direct access to the internet.</a:t>
            </a:r>
          </a:p>
        </p:txBody>
      </p:sp>
      <p:cxnSp>
        <p:nvCxnSpPr>
          <p:cNvPr id="21" name="Straight Connector 20">
            <a:extLst>
              <a:ext uri="{FF2B5EF4-FFF2-40B4-BE49-F238E27FC236}">
                <a16:creationId xmlns:a16="http://schemas.microsoft.com/office/drawing/2014/main" id="{535A8151-766C-6F0C-E130-C208EAE532B6}"/>
              </a:ext>
            </a:extLst>
          </p:cNvPr>
          <p:cNvCxnSpPr>
            <a:cxnSpLocks/>
            <a:stCxn id="16" idx="2"/>
            <a:endCxn id="19" idx="0"/>
          </p:cNvCxnSpPr>
          <p:nvPr/>
        </p:nvCxnSpPr>
        <p:spPr>
          <a:xfrm flipH="1">
            <a:off x="9686858" y="4246960"/>
            <a:ext cx="2640" cy="82514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DABE327-B968-0BE5-F2A6-E5E3B7B3A484}"/>
              </a:ext>
            </a:extLst>
          </p:cNvPr>
          <p:cNvCxnSpPr>
            <a:cxnSpLocks/>
            <a:endCxn id="4" idx="0"/>
          </p:cNvCxnSpPr>
          <p:nvPr/>
        </p:nvCxnSpPr>
        <p:spPr>
          <a:xfrm>
            <a:off x="5466263" y="4764284"/>
            <a:ext cx="0" cy="33360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47640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3CB31-C8DF-9261-53F2-A8BF8D476AD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AA42D19-6E42-0110-2D06-7D80F725B697}"/>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NAT IP mapping</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A19C60D3-A96C-ADC8-1A2B-41B1D528054E}"/>
              </a:ext>
            </a:extLst>
          </p:cNvPr>
          <p:cNvSpPr/>
          <p:nvPr/>
        </p:nvSpPr>
        <p:spPr>
          <a:xfrm>
            <a:off x="658368" y="99385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9C2F5D25-4F1E-BAA9-6535-971446D5E54A}"/>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6B5B0C9-30FE-1582-F002-6F683F7AFA1C}"/>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6E4F1BC4-A488-54A7-358E-CF21E9B231B3}"/>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pic>
        <p:nvPicPr>
          <p:cNvPr id="4" name="Graphic 3">
            <a:extLst>
              <a:ext uri="{FF2B5EF4-FFF2-40B4-BE49-F238E27FC236}">
                <a16:creationId xmlns:a16="http://schemas.microsoft.com/office/drawing/2014/main" id="{3F3B46D1-26E2-DB83-2593-B6B9BA5CAFC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0715" y="2620523"/>
            <a:ext cx="1221344" cy="1221344"/>
          </a:xfrm>
          <a:prstGeom prst="rect">
            <a:avLst/>
          </a:prstGeom>
        </p:spPr>
      </p:pic>
      <p:sp>
        <p:nvSpPr>
          <p:cNvPr id="8" name="TextBox 38">
            <a:extLst>
              <a:ext uri="{FF2B5EF4-FFF2-40B4-BE49-F238E27FC236}">
                <a16:creationId xmlns:a16="http://schemas.microsoft.com/office/drawing/2014/main" id="{AD7C66C6-A73C-F32B-D1C0-A8624AB41827}"/>
              </a:ext>
            </a:extLst>
          </p:cNvPr>
          <p:cNvSpPr txBox="1">
            <a:spLocks noChangeArrowheads="1"/>
          </p:cNvSpPr>
          <p:nvPr/>
        </p:nvSpPr>
        <p:spPr bwMode="auto">
          <a:xfrm>
            <a:off x="474331" y="4135014"/>
            <a:ext cx="2287663"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dirty="0">
                <a:latin typeface="Amazon Ember Display" panose="020F0603020204020204" pitchFamily="34" charset="0"/>
                <a:ea typeface="Amazon Ember Display" panose="020F0603020204020204" pitchFamily="34" charset="0"/>
                <a:cs typeface="Amazon Ember Display" panose="020F0603020204020204" pitchFamily="34" charset="0"/>
              </a:rPr>
              <a:t>Source server</a:t>
            </a:r>
          </a:p>
          <a:p>
            <a:pPr algn="ctr" eaLnBrk="1" hangingPunct="1"/>
            <a:r>
              <a:rPr lang="en-US" altLang="en-US" dirty="0">
                <a:latin typeface="Amazon Ember Display" panose="020F0603020204020204" pitchFamily="34" charset="0"/>
                <a:ea typeface="Amazon Ember Display" panose="020F0603020204020204" pitchFamily="34" charset="0"/>
                <a:cs typeface="Amazon Ember Display" panose="020F0603020204020204" pitchFamily="34" charset="0"/>
              </a:rPr>
              <a:t>Private IP: 10.0.0.17</a:t>
            </a:r>
          </a:p>
        </p:txBody>
      </p:sp>
      <p:cxnSp>
        <p:nvCxnSpPr>
          <p:cNvPr id="9" name="Straight Arrow Connector 8">
            <a:extLst>
              <a:ext uri="{FF2B5EF4-FFF2-40B4-BE49-F238E27FC236}">
                <a16:creationId xmlns:a16="http://schemas.microsoft.com/office/drawing/2014/main" id="{365068FE-7019-2471-85A7-EC604B2ED6DF}"/>
              </a:ext>
            </a:extLst>
          </p:cNvPr>
          <p:cNvCxnSpPr>
            <a:cxnSpLocks/>
          </p:cNvCxnSpPr>
          <p:nvPr/>
        </p:nvCxnSpPr>
        <p:spPr>
          <a:xfrm flipV="1">
            <a:off x="1821649" y="2863451"/>
            <a:ext cx="3773194" cy="1"/>
          </a:xfrm>
          <a:prstGeom prst="straightConnector1">
            <a:avLst/>
          </a:prstGeom>
          <a:ln w="44450" cmpd="sng">
            <a:solidFill>
              <a:schemeClr val="accent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10" name="Oval 9">
            <a:extLst>
              <a:ext uri="{FF2B5EF4-FFF2-40B4-BE49-F238E27FC236}">
                <a16:creationId xmlns:a16="http://schemas.microsoft.com/office/drawing/2014/main" id="{196E370F-122F-24DE-FE86-E8F8BCEE8264}"/>
              </a:ext>
              <a:ext uri="{C183D7F6-B498-43B3-948B-1728B52AA6E4}">
                <adec:decorative xmlns:adec="http://schemas.microsoft.com/office/drawing/2017/decorative" val="1"/>
              </a:ext>
            </a:extLst>
          </p:cNvPr>
          <p:cNvSpPr>
            <a:spLocks noChangeAspect="1"/>
          </p:cNvSpPr>
          <p:nvPr/>
        </p:nvSpPr>
        <p:spPr>
          <a:xfrm>
            <a:off x="2237455" y="2315618"/>
            <a:ext cx="457200" cy="457200"/>
          </a:xfrm>
          <a:prstGeom prst="ellipse">
            <a:avLst/>
          </a:prstGeom>
          <a:solidFill>
            <a:schemeClr val="accent5"/>
          </a:solidFill>
          <a:ln>
            <a:solidFill>
              <a:schemeClr val="accent5"/>
            </a:solid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1</a:t>
            </a:r>
          </a:p>
        </p:txBody>
      </p:sp>
      <p:sp>
        <p:nvSpPr>
          <p:cNvPr id="11" name="TextBox 10">
            <a:extLst>
              <a:ext uri="{FF2B5EF4-FFF2-40B4-BE49-F238E27FC236}">
                <a16:creationId xmlns:a16="http://schemas.microsoft.com/office/drawing/2014/main" id="{7A28C850-E075-A7D3-E36D-207A078B50C3}"/>
              </a:ext>
            </a:extLst>
          </p:cNvPr>
          <p:cNvSpPr txBox="1"/>
          <p:nvPr/>
        </p:nvSpPr>
        <p:spPr>
          <a:xfrm>
            <a:off x="2733378" y="2252188"/>
            <a:ext cx="1955985" cy="584775"/>
          </a:xfrm>
          <a:prstGeom prst="rect">
            <a:avLst/>
          </a:prstGeom>
          <a:noFill/>
        </p:spPr>
        <p:txBody>
          <a:bodyPr wrap="none" rtlCol="0">
            <a:spAutoFit/>
          </a:bodyPr>
          <a:lstStyle/>
          <a:p>
            <a:r>
              <a:rPr lang="en-US" sz="1600" dirty="0"/>
              <a:t>Request message </a:t>
            </a:r>
          </a:p>
          <a:p>
            <a:r>
              <a:rPr lang="en-US" sz="1600" dirty="0"/>
              <a:t>source IP 10.0.0.17</a:t>
            </a:r>
          </a:p>
        </p:txBody>
      </p:sp>
      <p:pic>
        <p:nvPicPr>
          <p:cNvPr id="12" name="Graphic 8">
            <a:extLst>
              <a:ext uri="{FF2B5EF4-FFF2-40B4-BE49-F238E27FC236}">
                <a16:creationId xmlns:a16="http://schemas.microsoft.com/office/drawing/2014/main" id="{AB77FBC0-AA23-A337-493E-A2E7932EC11B}"/>
              </a:ext>
              <a:ext uri="{C183D7F6-B498-43B3-948B-1728B52AA6E4}">
                <adec:decorative xmlns:adec="http://schemas.microsoft.com/office/drawing/2017/decorative" val="1"/>
              </a:ext>
            </a:extLst>
          </p:cNvPr>
          <p:cNvPicPr>
            <a:picLocks noChangeAspect="1" noChangeArrowheads="1"/>
          </p:cNvPicPr>
          <p:nvPr/>
        </p:nvPicPr>
        <p:blipFill>
          <a:blip>
            <a:extLst>
              <a:ext uri="{96DAC541-7B7A-43D3-8B79-37D633B846F1}">
                <asvg:svgBlip xmlns:asvg="http://schemas.microsoft.com/office/drawing/2016/SVG/main" r:embed="rId4"/>
              </a:ext>
            </a:extLst>
          </a:blip>
          <a:srcRect/>
          <a:stretch/>
        </p:blipFill>
        <p:spPr bwMode="auto">
          <a:xfrm>
            <a:off x="5606796" y="2695413"/>
            <a:ext cx="1071563" cy="1071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Rectangle 12">
            <a:extLst>
              <a:ext uri="{FF2B5EF4-FFF2-40B4-BE49-F238E27FC236}">
                <a16:creationId xmlns:a16="http://schemas.microsoft.com/office/drawing/2014/main" id="{4AFF5C74-7E52-B7C7-7277-77FFA980AA72}"/>
              </a:ext>
            </a:extLst>
          </p:cNvPr>
          <p:cNvSpPr/>
          <p:nvPr/>
        </p:nvSpPr>
        <p:spPr>
          <a:xfrm>
            <a:off x="5363784" y="4152279"/>
            <a:ext cx="2454518" cy="646331"/>
          </a:xfrm>
          <a:prstGeom prst="rect">
            <a:avLst/>
          </a:prstGeom>
        </p:spPr>
        <p:txBody>
          <a:bodyPr wrap="none">
            <a:spAutoFit/>
          </a:bodyPr>
          <a:lstStyle/>
          <a:p>
            <a:r>
              <a:rPr lang="en-US" altLang="en-US" dirty="0">
                <a:latin typeface="Amazon Ember Display" panose="020F0603020204020204" pitchFamily="34" charset="0"/>
                <a:ea typeface="Amazon Ember Display" panose="020F0603020204020204" pitchFamily="34" charset="0"/>
                <a:cs typeface="Amazon Ember Display" panose="020F0603020204020204" pitchFamily="34" charset="0"/>
              </a:rPr>
              <a:t>NAT device</a:t>
            </a:r>
          </a:p>
          <a:p>
            <a:r>
              <a:rPr lang="en-US" dirty="0">
                <a:latin typeface="Amazon Ember Display" panose="020F0603020204020204" pitchFamily="34" charset="0"/>
                <a:ea typeface="Amazon Ember Display" panose="020F0603020204020204" pitchFamily="34" charset="0"/>
                <a:cs typeface="Amazon Ember Display" panose="020F0603020204020204" pitchFamily="34" charset="0"/>
              </a:rPr>
              <a:t>Public IP: 89.89.0.100</a:t>
            </a:r>
            <a:endParaRPr lang="en-US" dirty="0"/>
          </a:p>
        </p:txBody>
      </p:sp>
      <p:cxnSp>
        <p:nvCxnSpPr>
          <p:cNvPr id="14" name="Straight Arrow Connector 13">
            <a:extLst>
              <a:ext uri="{FF2B5EF4-FFF2-40B4-BE49-F238E27FC236}">
                <a16:creationId xmlns:a16="http://schemas.microsoft.com/office/drawing/2014/main" id="{6BB67C6E-534E-9CF2-FD1A-A84AD7DB285E}"/>
              </a:ext>
            </a:extLst>
          </p:cNvPr>
          <p:cNvCxnSpPr>
            <a:cxnSpLocks/>
          </p:cNvCxnSpPr>
          <p:nvPr/>
        </p:nvCxnSpPr>
        <p:spPr>
          <a:xfrm flipV="1">
            <a:off x="6676020" y="2863451"/>
            <a:ext cx="3665713" cy="9093"/>
          </a:xfrm>
          <a:prstGeom prst="straightConnector1">
            <a:avLst/>
          </a:prstGeom>
          <a:ln w="44450" cmpd="sng">
            <a:solidFill>
              <a:schemeClr val="accent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6EA309B1-9120-5219-7CDD-4648E1EF81B3}"/>
              </a:ext>
              <a:ext uri="{C183D7F6-B498-43B3-948B-1728B52AA6E4}">
                <adec:decorative xmlns:adec="http://schemas.microsoft.com/office/drawing/2017/decorative" val="1"/>
              </a:ext>
            </a:extLst>
          </p:cNvPr>
          <p:cNvSpPr>
            <a:spLocks noChangeAspect="1"/>
          </p:cNvSpPr>
          <p:nvPr/>
        </p:nvSpPr>
        <p:spPr>
          <a:xfrm>
            <a:off x="6829518" y="2315618"/>
            <a:ext cx="457200" cy="457200"/>
          </a:xfrm>
          <a:prstGeom prst="ellipse">
            <a:avLst/>
          </a:prstGeom>
          <a:solidFill>
            <a:schemeClr val="accent5"/>
          </a:solidFill>
          <a:ln>
            <a:solidFill>
              <a:schemeClr val="accent5"/>
            </a:solid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2</a:t>
            </a:r>
          </a:p>
        </p:txBody>
      </p:sp>
      <p:sp>
        <p:nvSpPr>
          <p:cNvPr id="16" name="TextBox 15">
            <a:extLst>
              <a:ext uri="{FF2B5EF4-FFF2-40B4-BE49-F238E27FC236}">
                <a16:creationId xmlns:a16="http://schemas.microsoft.com/office/drawing/2014/main" id="{4786C99B-A4A8-7D08-3205-D4927F319EAA}"/>
              </a:ext>
            </a:extLst>
          </p:cNvPr>
          <p:cNvSpPr txBox="1"/>
          <p:nvPr/>
        </p:nvSpPr>
        <p:spPr>
          <a:xfrm>
            <a:off x="7410660" y="2252188"/>
            <a:ext cx="2196435" cy="584775"/>
          </a:xfrm>
          <a:prstGeom prst="rect">
            <a:avLst/>
          </a:prstGeom>
          <a:noFill/>
        </p:spPr>
        <p:txBody>
          <a:bodyPr wrap="none" rtlCol="0">
            <a:spAutoFit/>
          </a:bodyPr>
          <a:lstStyle/>
          <a:p>
            <a:r>
              <a:rPr lang="en-US" sz="1600" dirty="0"/>
              <a:t>Request message </a:t>
            </a:r>
          </a:p>
          <a:p>
            <a:r>
              <a:rPr lang="en-US" sz="1600" dirty="0"/>
              <a:t>source IP 89.89.0.100</a:t>
            </a:r>
          </a:p>
        </p:txBody>
      </p:sp>
      <p:pic>
        <p:nvPicPr>
          <p:cNvPr id="17" name="Graphic 16">
            <a:extLst>
              <a:ext uri="{FF2B5EF4-FFF2-40B4-BE49-F238E27FC236}">
                <a16:creationId xmlns:a16="http://schemas.microsoft.com/office/drawing/2014/main" id="{67709FE7-5988-8E0C-E159-071C1699A9F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84687" y="2528037"/>
            <a:ext cx="1221344" cy="1221344"/>
          </a:xfrm>
          <a:prstGeom prst="rect">
            <a:avLst/>
          </a:prstGeom>
        </p:spPr>
      </p:pic>
      <p:sp>
        <p:nvSpPr>
          <p:cNvPr id="18" name="TextBox 38">
            <a:extLst>
              <a:ext uri="{FF2B5EF4-FFF2-40B4-BE49-F238E27FC236}">
                <a16:creationId xmlns:a16="http://schemas.microsoft.com/office/drawing/2014/main" id="{47CD7CF6-169A-10B7-1541-F54389C132CD}"/>
              </a:ext>
            </a:extLst>
          </p:cNvPr>
          <p:cNvSpPr txBox="1">
            <a:spLocks noChangeArrowheads="1"/>
          </p:cNvSpPr>
          <p:nvPr/>
        </p:nvSpPr>
        <p:spPr bwMode="auto">
          <a:xfrm>
            <a:off x="9287855" y="4135013"/>
            <a:ext cx="267905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dirty="0">
                <a:latin typeface="Amazon Ember Display" panose="020F0603020204020204" pitchFamily="34" charset="0"/>
                <a:ea typeface="Amazon Ember Display" panose="020F0603020204020204" pitchFamily="34" charset="0"/>
                <a:cs typeface="Amazon Ember Display" panose="020F0603020204020204" pitchFamily="34" charset="0"/>
              </a:rPr>
              <a:t>Destination server</a:t>
            </a:r>
          </a:p>
          <a:p>
            <a:pPr algn="ctr" eaLnBrk="1" hangingPunct="1"/>
            <a:r>
              <a:rPr lang="en-US" altLang="en-US" dirty="0">
                <a:latin typeface="Amazon Ember Display" panose="020F0603020204020204" pitchFamily="34" charset="0"/>
                <a:ea typeface="Amazon Ember Display" panose="020F0603020204020204" pitchFamily="34" charset="0"/>
                <a:cs typeface="Amazon Ember Display" panose="020F0603020204020204" pitchFamily="34" charset="0"/>
              </a:rPr>
              <a:t>Public IP: 190.50.20.87</a:t>
            </a:r>
          </a:p>
        </p:txBody>
      </p:sp>
      <p:cxnSp>
        <p:nvCxnSpPr>
          <p:cNvPr id="19" name="Straight Arrow Connector 18">
            <a:extLst>
              <a:ext uri="{FF2B5EF4-FFF2-40B4-BE49-F238E27FC236}">
                <a16:creationId xmlns:a16="http://schemas.microsoft.com/office/drawing/2014/main" id="{F603C578-2C6A-2D1C-041B-FD69997EC8D1}"/>
              </a:ext>
            </a:extLst>
          </p:cNvPr>
          <p:cNvCxnSpPr>
            <a:cxnSpLocks/>
          </p:cNvCxnSpPr>
          <p:nvPr/>
        </p:nvCxnSpPr>
        <p:spPr>
          <a:xfrm flipH="1">
            <a:off x="6676020" y="3652955"/>
            <a:ext cx="3665713" cy="8632"/>
          </a:xfrm>
          <a:prstGeom prst="straightConnector1">
            <a:avLst/>
          </a:prstGeom>
          <a:ln w="44450" cmpd="sng">
            <a:solidFill>
              <a:schemeClr val="accent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20" name="Oval 19">
            <a:extLst>
              <a:ext uri="{FF2B5EF4-FFF2-40B4-BE49-F238E27FC236}">
                <a16:creationId xmlns:a16="http://schemas.microsoft.com/office/drawing/2014/main" id="{2766E186-BCDC-E0A9-0D11-A574CDB38A68}"/>
              </a:ext>
              <a:ext uri="{C183D7F6-B498-43B3-948B-1728B52AA6E4}">
                <adec:decorative xmlns:adec="http://schemas.microsoft.com/office/drawing/2017/decorative" val="1"/>
              </a:ext>
            </a:extLst>
          </p:cNvPr>
          <p:cNvSpPr>
            <a:spLocks noChangeAspect="1"/>
          </p:cNvSpPr>
          <p:nvPr/>
        </p:nvSpPr>
        <p:spPr>
          <a:xfrm>
            <a:off x="6852428" y="3153637"/>
            <a:ext cx="457200" cy="457200"/>
          </a:xfrm>
          <a:prstGeom prst="ellipse">
            <a:avLst/>
          </a:prstGeom>
          <a:solidFill>
            <a:schemeClr val="accent5"/>
          </a:solidFill>
          <a:ln>
            <a:solidFill>
              <a:schemeClr val="accent5"/>
            </a:solid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3</a:t>
            </a:r>
          </a:p>
        </p:txBody>
      </p:sp>
      <p:sp>
        <p:nvSpPr>
          <p:cNvPr id="21" name="TextBox 20">
            <a:extLst>
              <a:ext uri="{FF2B5EF4-FFF2-40B4-BE49-F238E27FC236}">
                <a16:creationId xmlns:a16="http://schemas.microsoft.com/office/drawing/2014/main" id="{54996953-1FCE-E08E-93AF-2FCF89662AA4}"/>
              </a:ext>
            </a:extLst>
          </p:cNvPr>
          <p:cNvSpPr txBox="1"/>
          <p:nvPr/>
        </p:nvSpPr>
        <p:spPr>
          <a:xfrm>
            <a:off x="7260631" y="3033344"/>
            <a:ext cx="2638864" cy="584775"/>
          </a:xfrm>
          <a:prstGeom prst="rect">
            <a:avLst/>
          </a:prstGeom>
          <a:noFill/>
        </p:spPr>
        <p:txBody>
          <a:bodyPr wrap="none" rtlCol="0">
            <a:spAutoFit/>
          </a:bodyPr>
          <a:lstStyle/>
          <a:p>
            <a:pPr algn="ctr"/>
            <a:r>
              <a:rPr lang="en-US" sz="1600" dirty="0"/>
              <a:t>Response message </a:t>
            </a:r>
          </a:p>
          <a:p>
            <a:pPr algn="ctr"/>
            <a:r>
              <a:rPr lang="en-US" sz="1600" dirty="0"/>
              <a:t>destination IP 89.89.0.100</a:t>
            </a:r>
          </a:p>
        </p:txBody>
      </p:sp>
      <p:cxnSp>
        <p:nvCxnSpPr>
          <p:cNvPr id="22" name="Straight Arrow Connector 21">
            <a:extLst>
              <a:ext uri="{FF2B5EF4-FFF2-40B4-BE49-F238E27FC236}">
                <a16:creationId xmlns:a16="http://schemas.microsoft.com/office/drawing/2014/main" id="{94940C82-1C0C-ECF2-83CE-E41DE6E1F89A}"/>
              </a:ext>
            </a:extLst>
          </p:cNvPr>
          <p:cNvCxnSpPr>
            <a:cxnSpLocks/>
          </p:cNvCxnSpPr>
          <p:nvPr/>
        </p:nvCxnSpPr>
        <p:spPr>
          <a:xfrm flipH="1">
            <a:off x="1825657" y="3661587"/>
            <a:ext cx="3797802" cy="0"/>
          </a:xfrm>
          <a:prstGeom prst="straightConnector1">
            <a:avLst/>
          </a:prstGeom>
          <a:ln w="44450" cmpd="sng">
            <a:solidFill>
              <a:schemeClr val="accent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FAAC8233-8BD8-CCD4-9F19-7EC774C3E434}"/>
              </a:ext>
              <a:ext uri="{C183D7F6-B498-43B3-948B-1728B52AA6E4}">
                <adec:decorative xmlns:adec="http://schemas.microsoft.com/office/drawing/2017/decorative" val="1"/>
              </a:ext>
            </a:extLst>
          </p:cNvPr>
          <p:cNvSpPr>
            <a:spLocks noChangeAspect="1"/>
          </p:cNvSpPr>
          <p:nvPr/>
        </p:nvSpPr>
        <p:spPr>
          <a:xfrm>
            <a:off x="2274744" y="3153637"/>
            <a:ext cx="457200" cy="457200"/>
          </a:xfrm>
          <a:prstGeom prst="ellipse">
            <a:avLst/>
          </a:prstGeom>
          <a:solidFill>
            <a:schemeClr val="accent5"/>
          </a:solidFill>
          <a:ln>
            <a:solidFill>
              <a:schemeClr val="accent5"/>
            </a:solidFill>
          </a:ln>
          <a:scene3d>
            <a:camera prst="orthographicFront">
              <a:rot lat="0" lon="0" rev="0"/>
            </a:camera>
            <a:lightRig rig="twoPt" dir="tl"/>
          </a:scene3d>
        </p:spPr>
        <p:style>
          <a:lnRef idx="0">
            <a:schemeClr val="accent5"/>
          </a:lnRef>
          <a:fillRef idx="3">
            <a:schemeClr val="accent5"/>
          </a:fillRef>
          <a:effectRef idx="3">
            <a:schemeClr val="accent5"/>
          </a:effectRef>
          <a:fontRef idx="minor">
            <a:schemeClr val="lt1"/>
          </a:fontRef>
        </p:style>
        <p:txBody>
          <a:bodyPr lIns="45720" rIns="45720" rtlCol="0" anchor="ctr"/>
          <a:lstStyle/>
          <a:p>
            <a:pPr algn="ctr"/>
            <a:r>
              <a:rPr lang="en-US" sz="1600" dirty="0">
                <a:solidFill>
                  <a:schemeClr val="bg1"/>
                </a:solidFill>
              </a:rPr>
              <a:t>4</a:t>
            </a:r>
          </a:p>
        </p:txBody>
      </p:sp>
      <p:sp>
        <p:nvSpPr>
          <p:cNvPr id="24" name="TextBox 23">
            <a:extLst>
              <a:ext uri="{FF2B5EF4-FFF2-40B4-BE49-F238E27FC236}">
                <a16:creationId xmlns:a16="http://schemas.microsoft.com/office/drawing/2014/main" id="{C87753EF-9CDD-27B2-9AB1-33629A2B73F5}"/>
              </a:ext>
            </a:extLst>
          </p:cNvPr>
          <p:cNvSpPr txBox="1"/>
          <p:nvPr/>
        </p:nvSpPr>
        <p:spPr>
          <a:xfrm>
            <a:off x="2731944" y="3033344"/>
            <a:ext cx="2398413" cy="584775"/>
          </a:xfrm>
          <a:prstGeom prst="rect">
            <a:avLst/>
          </a:prstGeom>
          <a:noFill/>
        </p:spPr>
        <p:txBody>
          <a:bodyPr wrap="none" rtlCol="0">
            <a:spAutoFit/>
          </a:bodyPr>
          <a:lstStyle/>
          <a:p>
            <a:pPr algn="ctr"/>
            <a:r>
              <a:rPr lang="en-US" sz="1600" dirty="0"/>
              <a:t>Response message </a:t>
            </a:r>
          </a:p>
          <a:p>
            <a:pPr algn="ctr"/>
            <a:r>
              <a:rPr lang="en-US" sz="1600" dirty="0"/>
              <a:t>destination IP 10.0.0.17</a:t>
            </a:r>
          </a:p>
        </p:txBody>
      </p:sp>
    </p:spTree>
    <p:extLst>
      <p:ext uri="{BB962C8B-B14F-4D97-AF65-F5344CB8AC3E}">
        <p14:creationId xmlns:p14="http://schemas.microsoft.com/office/powerpoint/2010/main" val="3959167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6E100-4D0E-850C-A552-38A7722D7B9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FE51C61-1927-97E9-AAB4-7828A82908B3}"/>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Connecting private subnets to the internet</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2A02C5DD-3405-8642-E4F8-A36452697808}"/>
              </a:ext>
            </a:extLst>
          </p:cNvPr>
          <p:cNvSpPr/>
          <p:nvPr/>
        </p:nvSpPr>
        <p:spPr>
          <a:xfrm>
            <a:off x="658368" y="993858"/>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3CDBC90E-5974-3083-618E-20CA36017177}"/>
              </a:ext>
            </a:extLst>
          </p:cNvPr>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C785178-FA05-7443-E259-87529EA6FF53}"/>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852EFE43-546A-7CEB-6DDF-1337649A142D}"/>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3</a:t>
            </a:r>
          </a:p>
        </p:txBody>
      </p:sp>
      <p:grpSp>
        <p:nvGrpSpPr>
          <p:cNvPr id="4" name="FlattenNAT" descr="Traffic flowing from EC2 instances in a private subnet to internet gateway. See more details in student notes.&#10;">
            <a:extLst>
              <a:ext uri="{FF2B5EF4-FFF2-40B4-BE49-F238E27FC236}">
                <a16:creationId xmlns:a16="http://schemas.microsoft.com/office/drawing/2014/main" id="{2BA21359-4989-A73E-32CF-084EF3903800}"/>
              </a:ext>
            </a:extLst>
          </p:cNvPr>
          <p:cNvGrpSpPr/>
          <p:nvPr/>
        </p:nvGrpSpPr>
        <p:grpSpPr>
          <a:xfrm>
            <a:off x="378338" y="1174278"/>
            <a:ext cx="11255181" cy="3462646"/>
            <a:chOff x="378338" y="990947"/>
            <a:chExt cx="11255181" cy="3462646"/>
          </a:xfrm>
        </p:grpSpPr>
        <p:sp>
          <p:nvSpPr>
            <p:cNvPr id="8" name="Rectangle 7">
              <a:extLst>
                <a:ext uri="{FF2B5EF4-FFF2-40B4-BE49-F238E27FC236}">
                  <a16:creationId xmlns:a16="http://schemas.microsoft.com/office/drawing/2014/main" id="{F4A0C95E-A1D4-93BA-1A48-184B319BC8ED}"/>
                </a:ext>
              </a:extLst>
            </p:cNvPr>
            <p:cNvSpPr/>
            <p:nvPr/>
          </p:nvSpPr>
          <p:spPr bwMode="auto">
            <a:xfrm>
              <a:off x="654570" y="990947"/>
              <a:ext cx="10978949" cy="3462646"/>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ln w="0"/>
                  <a:solidFill>
                    <a:schemeClr val="tx1"/>
                  </a:solidFill>
                  <a:cs typeface="Arial" panose="020B0604020202020204" pitchFamily="34" charset="0"/>
                </a:rPr>
                <a:t>Amazon VPC 10.0.0.0/16</a:t>
              </a:r>
            </a:p>
          </p:txBody>
        </p:sp>
        <p:pic>
          <p:nvPicPr>
            <p:cNvPr id="9" name="Graphic 8">
              <a:extLst>
                <a:ext uri="{FF2B5EF4-FFF2-40B4-BE49-F238E27FC236}">
                  <a16:creationId xmlns:a16="http://schemas.microsoft.com/office/drawing/2014/main" id="{B773EF88-CCFB-9A55-C058-C086AFD2045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54570" y="990947"/>
              <a:ext cx="381000" cy="381000"/>
            </a:xfrm>
            <a:prstGeom prst="rect">
              <a:avLst/>
            </a:prstGeom>
          </p:spPr>
        </p:pic>
        <p:sp>
          <p:nvSpPr>
            <p:cNvPr id="10" name="Rectangle 9">
              <a:extLst>
                <a:ext uri="{FF2B5EF4-FFF2-40B4-BE49-F238E27FC236}">
                  <a16:creationId xmlns:a16="http://schemas.microsoft.com/office/drawing/2014/main" id="{AC01F226-E725-B36F-86B7-9DB868968B96}"/>
                </a:ext>
              </a:extLst>
            </p:cNvPr>
            <p:cNvSpPr/>
            <p:nvPr/>
          </p:nvSpPr>
          <p:spPr>
            <a:xfrm>
              <a:off x="8009187" y="1714557"/>
              <a:ext cx="3408432" cy="2548008"/>
            </a:xfrm>
            <a:prstGeom prst="rect">
              <a:avLst/>
            </a:prstGeom>
            <a:noFill/>
            <a:ln w="15875">
              <a:solidFill>
                <a:srgbClr val="00A4A6"/>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02920" tIns="91440" bIns="45720"/>
            <a:lstStyle/>
            <a:p>
              <a:pP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Private subnet 10.0.128.0/20</a:t>
              </a:r>
            </a:p>
          </p:txBody>
        </p:sp>
        <p:sp>
          <p:nvSpPr>
            <p:cNvPr id="11" name="Rectangle 10">
              <a:extLst>
                <a:ext uri="{FF2B5EF4-FFF2-40B4-BE49-F238E27FC236}">
                  <a16:creationId xmlns:a16="http://schemas.microsoft.com/office/drawing/2014/main" id="{0653C834-F7B9-8BBE-535C-CEFC24B6CD72}"/>
                </a:ext>
              </a:extLst>
            </p:cNvPr>
            <p:cNvSpPr/>
            <p:nvPr/>
          </p:nvSpPr>
          <p:spPr>
            <a:xfrm>
              <a:off x="3355950" y="1683434"/>
              <a:ext cx="3108111" cy="2548008"/>
            </a:xfrm>
            <a:prstGeom prst="rect">
              <a:avLst/>
            </a:prstGeom>
            <a:noFill/>
            <a:ln w="15875">
              <a:solidFill>
                <a:srgbClr val="7AA116"/>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02920" tIns="91440" bIns="45720"/>
            <a:lstStyle/>
            <a:p>
              <a:pP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Public subnet 10.0.0.0/20</a:t>
              </a:r>
            </a:p>
          </p:txBody>
        </p:sp>
        <p:pic>
          <p:nvPicPr>
            <p:cNvPr id="12" name="Graphic 11">
              <a:extLst>
                <a:ext uri="{FF2B5EF4-FFF2-40B4-BE49-F238E27FC236}">
                  <a16:creationId xmlns:a16="http://schemas.microsoft.com/office/drawing/2014/main" id="{72E3601D-EF6B-DC2D-0C5B-B57BBA3447F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3355950" y="1684823"/>
              <a:ext cx="381000" cy="381000"/>
            </a:xfrm>
            <a:prstGeom prst="rect">
              <a:avLst/>
            </a:prstGeom>
          </p:spPr>
        </p:pic>
        <p:pic>
          <p:nvPicPr>
            <p:cNvPr id="13" name="Graphic 12">
              <a:extLst>
                <a:ext uri="{FF2B5EF4-FFF2-40B4-BE49-F238E27FC236}">
                  <a16:creationId xmlns:a16="http://schemas.microsoft.com/office/drawing/2014/main" id="{379A3610-0344-3CCD-6D54-C8AE50FD5AD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009187" y="1714557"/>
              <a:ext cx="381000" cy="381000"/>
            </a:xfrm>
            <a:prstGeom prst="rect">
              <a:avLst/>
            </a:prstGeom>
          </p:spPr>
        </p:pic>
        <p:sp>
          <p:nvSpPr>
            <p:cNvPr id="14" name="Rectangle 13">
              <a:extLst>
                <a:ext uri="{FF2B5EF4-FFF2-40B4-BE49-F238E27FC236}">
                  <a16:creationId xmlns:a16="http://schemas.microsoft.com/office/drawing/2014/main" id="{2638CEB1-9E93-40EE-A571-50ED0E5C6AB6}"/>
                </a:ext>
              </a:extLst>
            </p:cNvPr>
            <p:cNvSpPr/>
            <p:nvPr/>
          </p:nvSpPr>
          <p:spPr bwMode="auto">
            <a:xfrm>
              <a:off x="1627926" y="1326234"/>
              <a:ext cx="9935544" cy="3033521"/>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600" dirty="0">
                  <a:solidFill>
                    <a:schemeClr val="tx1"/>
                  </a:solidFill>
                  <a:cs typeface="Arial" panose="020B0604020202020204" pitchFamily="34" charset="0"/>
                </a:rPr>
                <a:t>Availability Zone </a:t>
              </a:r>
            </a:p>
          </p:txBody>
        </p:sp>
        <p:sp>
          <p:nvSpPr>
            <p:cNvPr id="15" name="TextBox 17">
              <a:extLst>
                <a:ext uri="{FF2B5EF4-FFF2-40B4-BE49-F238E27FC236}">
                  <a16:creationId xmlns:a16="http://schemas.microsoft.com/office/drawing/2014/main" id="{5C24EB65-200E-77C5-04BD-736D93CC2E7A}"/>
                </a:ext>
              </a:extLst>
            </p:cNvPr>
            <p:cNvSpPr txBox="1">
              <a:spLocks noChangeArrowheads="1"/>
            </p:cNvSpPr>
            <p:nvPr/>
          </p:nvSpPr>
          <p:spPr bwMode="auto">
            <a:xfrm>
              <a:off x="4120002" y="2816639"/>
              <a:ext cx="165434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NAT gateway</a:t>
              </a:r>
            </a:p>
          </p:txBody>
        </p:sp>
        <p:pic>
          <p:nvPicPr>
            <p:cNvPr id="16" name="Graphic 15">
              <a:extLst>
                <a:ext uri="{FF2B5EF4-FFF2-40B4-BE49-F238E27FC236}">
                  <a16:creationId xmlns:a16="http://schemas.microsoft.com/office/drawing/2014/main" id="{DEDEC994-3198-53FD-1300-500F0ADC7DC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09378" y="2295374"/>
              <a:ext cx="568526" cy="568526"/>
            </a:xfrm>
            <a:prstGeom prst="rect">
              <a:avLst/>
            </a:prstGeom>
          </p:spPr>
        </p:pic>
        <p:sp>
          <p:nvSpPr>
            <p:cNvPr id="17" name="Rectangle 16">
              <a:extLst>
                <a:ext uri="{FF2B5EF4-FFF2-40B4-BE49-F238E27FC236}">
                  <a16:creationId xmlns:a16="http://schemas.microsoft.com/office/drawing/2014/main" id="{83A20303-44BA-8CDB-123C-D245869D172C}"/>
                </a:ext>
              </a:extLst>
            </p:cNvPr>
            <p:cNvSpPr/>
            <p:nvPr/>
          </p:nvSpPr>
          <p:spPr>
            <a:xfrm>
              <a:off x="908106" y="2754734"/>
              <a:ext cx="520700" cy="10427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Graphic 17">
              <a:extLst>
                <a:ext uri="{FF2B5EF4-FFF2-40B4-BE49-F238E27FC236}">
                  <a16:creationId xmlns:a16="http://schemas.microsoft.com/office/drawing/2014/main" id="{14642AC9-D49A-6960-9807-18C2A778147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6290" y="2757717"/>
              <a:ext cx="457200" cy="457200"/>
            </a:xfrm>
            <a:prstGeom prst="rect">
              <a:avLst/>
            </a:prstGeom>
          </p:spPr>
        </p:pic>
        <p:sp>
          <p:nvSpPr>
            <p:cNvPr id="19" name="TextBox 12">
              <a:extLst>
                <a:ext uri="{FF2B5EF4-FFF2-40B4-BE49-F238E27FC236}">
                  <a16:creationId xmlns:a16="http://schemas.microsoft.com/office/drawing/2014/main" id="{484F58AD-50D2-2A98-28F4-EA089567F2E7}"/>
                </a:ext>
              </a:extLst>
            </p:cNvPr>
            <p:cNvSpPr txBox="1">
              <a:spLocks noChangeArrowheads="1"/>
            </p:cNvSpPr>
            <p:nvPr/>
          </p:nvSpPr>
          <p:spPr bwMode="auto">
            <a:xfrm>
              <a:off x="378338" y="3246257"/>
              <a:ext cx="14033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Internet gateway</a:t>
              </a:r>
            </a:p>
          </p:txBody>
        </p:sp>
        <p:sp>
          <p:nvSpPr>
            <p:cNvPr id="20" name="TextBox 16">
              <a:extLst>
                <a:ext uri="{FF2B5EF4-FFF2-40B4-BE49-F238E27FC236}">
                  <a16:creationId xmlns:a16="http://schemas.microsoft.com/office/drawing/2014/main" id="{648D93E3-3E24-CCDF-C295-603F3778FE70}"/>
                </a:ext>
              </a:extLst>
            </p:cNvPr>
            <p:cNvSpPr txBox="1">
              <a:spLocks noChangeArrowheads="1"/>
            </p:cNvSpPr>
            <p:nvPr/>
          </p:nvSpPr>
          <p:spPr bwMode="auto">
            <a:xfrm>
              <a:off x="8482144" y="2843345"/>
              <a:ext cx="25396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EC2 application instance 1</a:t>
              </a:r>
            </a:p>
          </p:txBody>
        </p:sp>
        <p:pic>
          <p:nvPicPr>
            <p:cNvPr id="21" name="Graphic 20">
              <a:extLst>
                <a:ext uri="{FF2B5EF4-FFF2-40B4-BE49-F238E27FC236}">
                  <a16:creationId xmlns:a16="http://schemas.microsoft.com/office/drawing/2014/main" id="{EC69B499-99C4-81EE-02BE-018CD89FE5B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78281" y="2265379"/>
              <a:ext cx="603774" cy="603774"/>
            </a:xfrm>
            <a:prstGeom prst="rect">
              <a:avLst/>
            </a:prstGeom>
          </p:spPr>
        </p:pic>
        <p:cxnSp>
          <p:nvCxnSpPr>
            <p:cNvPr id="22" name="Straight Arrow Connector 21">
              <a:extLst>
                <a:ext uri="{FF2B5EF4-FFF2-40B4-BE49-F238E27FC236}">
                  <a16:creationId xmlns:a16="http://schemas.microsoft.com/office/drawing/2014/main" id="{A3DE2742-59DA-5DBB-B9D5-CEB8145119C3}"/>
                </a:ext>
              </a:extLst>
            </p:cNvPr>
            <p:cNvCxnSpPr>
              <a:cxnSpLocks/>
              <a:stCxn id="18" idx="3"/>
              <a:endCxn id="32" idx="1"/>
            </p:cNvCxnSpPr>
            <p:nvPr/>
          </p:nvCxnSpPr>
          <p:spPr>
            <a:xfrm flipV="1">
              <a:off x="1103490" y="2981136"/>
              <a:ext cx="910430" cy="5181"/>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23" name="TextBox 12">
              <a:extLst>
                <a:ext uri="{FF2B5EF4-FFF2-40B4-BE49-F238E27FC236}">
                  <a16:creationId xmlns:a16="http://schemas.microsoft.com/office/drawing/2014/main" id="{268E0136-9A45-B7FE-B212-D1270CCCE03D}"/>
                </a:ext>
              </a:extLst>
            </p:cNvPr>
            <p:cNvSpPr txBox="1">
              <a:spLocks noChangeArrowheads="1"/>
            </p:cNvSpPr>
            <p:nvPr/>
          </p:nvSpPr>
          <p:spPr bwMode="auto">
            <a:xfrm>
              <a:off x="1630587" y="3301125"/>
              <a:ext cx="15188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Public subnet route table</a:t>
              </a:r>
            </a:p>
          </p:txBody>
        </p:sp>
        <p:cxnSp>
          <p:nvCxnSpPr>
            <p:cNvPr id="24" name="Straight Arrow Connector 36">
              <a:extLst>
                <a:ext uri="{FF2B5EF4-FFF2-40B4-BE49-F238E27FC236}">
                  <a16:creationId xmlns:a16="http://schemas.microsoft.com/office/drawing/2014/main" id="{6934DB7E-7BD9-8140-FDC8-91A666BB47CB}"/>
                </a:ext>
              </a:extLst>
            </p:cNvPr>
            <p:cNvCxnSpPr>
              <a:cxnSpLocks/>
              <a:endCxn id="21" idx="1"/>
            </p:cNvCxnSpPr>
            <p:nvPr/>
          </p:nvCxnSpPr>
          <p:spPr>
            <a:xfrm flipV="1">
              <a:off x="7544723" y="2567266"/>
              <a:ext cx="1833558" cy="191814"/>
            </a:xfrm>
            <a:prstGeom prst="bentConnector3">
              <a:avLst>
                <a:gd name="adj1" fmla="val 37989"/>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25" name="Straight Arrow Connector 38">
              <a:extLst>
                <a:ext uri="{FF2B5EF4-FFF2-40B4-BE49-F238E27FC236}">
                  <a16:creationId xmlns:a16="http://schemas.microsoft.com/office/drawing/2014/main" id="{2A1558CF-BA3B-9612-93EC-3E2A695D8E76}"/>
                </a:ext>
              </a:extLst>
            </p:cNvPr>
            <p:cNvCxnSpPr>
              <a:cxnSpLocks/>
              <a:endCxn id="16" idx="1"/>
            </p:cNvCxnSpPr>
            <p:nvPr/>
          </p:nvCxnSpPr>
          <p:spPr>
            <a:xfrm flipV="1">
              <a:off x="2635966" y="2579637"/>
              <a:ext cx="1973412" cy="202368"/>
            </a:xfrm>
            <a:prstGeom prst="bentConnector3">
              <a:avLst>
                <a:gd name="adj1" fmla="val 75473"/>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26" name="Graphic 25">
              <a:extLst>
                <a:ext uri="{FF2B5EF4-FFF2-40B4-BE49-F238E27FC236}">
                  <a16:creationId xmlns:a16="http://schemas.microsoft.com/office/drawing/2014/main" id="{9CF293B8-9BFB-B41C-0F40-94DBBE2C834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381205" y="3273915"/>
              <a:ext cx="600850" cy="600850"/>
            </a:xfrm>
            <a:prstGeom prst="rect">
              <a:avLst/>
            </a:prstGeom>
          </p:spPr>
        </p:pic>
        <p:sp>
          <p:nvSpPr>
            <p:cNvPr id="27" name="TextBox 16">
              <a:extLst>
                <a:ext uri="{FF2B5EF4-FFF2-40B4-BE49-F238E27FC236}">
                  <a16:creationId xmlns:a16="http://schemas.microsoft.com/office/drawing/2014/main" id="{871E066D-C072-D59E-A5A1-2102F48A1B57}"/>
                </a:ext>
              </a:extLst>
            </p:cNvPr>
            <p:cNvSpPr txBox="1">
              <a:spLocks noChangeArrowheads="1"/>
            </p:cNvSpPr>
            <p:nvPr/>
          </p:nvSpPr>
          <p:spPr bwMode="auto">
            <a:xfrm>
              <a:off x="8526501" y="3854061"/>
              <a:ext cx="25396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EC2 application instance 2</a:t>
              </a:r>
            </a:p>
          </p:txBody>
        </p:sp>
        <p:pic>
          <p:nvPicPr>
            <p:cNvPr id="28" name="Graphic 27">
              <a:extLst>
                <a:ext uri="{FF2B5EF4-FFF2-40B4-BE49-F238E27FC236}">
                  <a16:creationId xmlns:a16="http://schemas.microsoft.com/office/drawing/2014/main" id="{5E665959-3F5A-5A4A-A62E-9F41588DD40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649261" y="3217040"/>
              <a:ext cx="626194" cy="626194"/>
            </a:xfrm>
            <a:prstGeom prst="rect">
              <a:avLst/>
            </a:prstGeom>
          </p:spPr>
        </p:pic>
        <p:sp>
          <p:nvSpPr>
            <p:cNvPr id="29" name="TextBox 16">
              <a:extLst>
                <a:ext uri="{FF2B5EF4-FFF2-40B4-BE49-F238E27FC236}">
                  <a16:creationId xmlns:a16="http://schemas.microsoft.com/office/drawing/2014/main" id="{A71CEB6C-331B-225A-1335-3EE401CEE3DF}"/>
                </a:ext>
              </a:extLst>
            </p:cNvPr>
            <p:cNvSpPr txBox="1">
              <a:spLocks noChangeArrowheads="1"/>
            </p:cNvSpPr>
            <p:nvPr/>
          </p:nvSpPr>
          <p:spPr bwMode="auto">
            <a:xfrm>
              <a:off x="3676725" y="3861002"/>
              <a:ext cx="25396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EC2 NAT device instance</a:t>
              </a:r>
            </a:p>
          </p:txBody>
        </p:sp>
        <p:cxnSp>
          <p:nvCxnSpPr>
            <p:cNvPr id="30" name="Straight Arrow Connector 46">
              <a:extLst>
                <a:ext uri="{FF2B5EF4-FFF2-40B4-BE49-F238E27FC236}">
                  <a16:creationId xmlns:a16="http://schemas.microsoft.com/office/drawing/2014/main" id="{E099FDB0-8127-6F1F-5AF6-714C4DFED0C2}"/>
                </a:ext>
              </a:extLst>
            </p:cNvPr>
            <p:cNvCxnSpPr>
              <a:cxnSpLocks/>
              <a:endCxn id="26" idx="1"/>
            </p:cNvCxnSpPr>
            <p:nvPr/>
          </p:nvCxnSpPr>
          <p:spPr>
            <a:xfrm>
              <a:off x="7547647" y="3177431"/>
              <a:ext cx="1833558" cy="396909"/>
            </a:xfrm>
            <a:prstGeom prst="bentConnector3">
              <a:avLst>
                <a:gd name="adj1" fmla="val 37728"/>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31" name="Straight Arrow Connector 47">
              <a:extLst>
                <a:ext uri="{FF2B5EF4-FFF2-40B4-BE49-F238E27FC236}">
                  <a16:creationId xmlns:a16="http://schemas.microsoft.com/office/drawing/2014/main" id="{DC2A3BB7-BD43-BB48-63B5-011E6390AC2C}"/>
                </a:ext>
              </a:extLst>
            </p:cNvPr>
            <p:cNvCxnSpPr>
              <a:cxnSpLocks/>
              <a:endCxn id="28" idx="1"/>
            </p:cNvCxnSpPr>
            <p:nvPr/>
          </p:nvCxnSpPr>
          <p:spPr>
            <a:xfrm>
              <a:off x="2629644" y="3205296"/>
              <a:ext cx="2019617" cy="324841"/>
            </a:xfrm>
            <a:prstGeom prst="bentConnector3">
              <a:avLst>
                <a:gd name="adj1" fmla="val 74890"/>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32" name="Graphic 31">
              <a:extLst>
                <a:ext uri="{FF2B5EF4-FFF2-40B4-BE49-F238E27FC236}">
                  <a16:creationId xmlns:a16="http://schemas.microsoft.com/office/drawing/2014/main" id="{1B2093B0-A220-3DCC-4F43-6F710BDF65F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13920" y="2670113"/>
              <a:ext cx="622046" cy="622046"/>
            </a:xfrm>
            <a:prstGeom prst="rect">
              <a:avLst/>
            </a:prstGeom>
          </p:spPr>
        </p:pic>
        <p:sp>
          <p:nvSpPr>
            <p:cNvPr id="33" name="TextBox 12">
              <a:extLst>
                <a:ext uri="{FF2B5EF4-FFF2-40B4-BE49-F238E27FC236}">
                  <a16:creationId xmlns:a16="http://schemas.microsoft.com/office/drawing/2014/main" id="{3E36BB65-DBB2-E79E-14DF-8A29E7847841}"/>
                </a:ext>
              </a:extLst>
            </p:cNvPr>
            <p:cNvSpPr txBox="1">
              <a:spLocks noChangeArrowheads="1"/>
            </p:cNvSpPr>
            <p:nvPr/>
          </p:nvSpPr>
          <p:spPr bwMode="auto">
            <a:xfrm>
              <a:off x="6525151" y="3259439"/>
              <a:ext cx="151880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Private subnet route table</a:t>
              </a:r>
            </a:p>
          </p:txBody>
        </p:sp>
        <p:pic>
          <p:nvPicPr>
            <p:cNvPr id="34" name="Graphic 33">
              <a:extLst>
                <a:ext uri="{FF2B5EF4-FFF2-40B4-BE49-F238E27FC236}">
                  <a16:creationId xmlns:a16="http://schemas.microsoft.com/office/drawing/2014/main" id="{9630F998-CD4D-5B6B-8921-00AA10B27E9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925601" y="2667808"/>
              <a:ext cx="622046" cy="622046"/>
            </a:xfrm>
            <a:prstGeom prst="rect">
              <a:avLst/>
            </a:prstGeom>
          </p:spPr>
        </p:pic>
        <p:cxnSp>
          <p:nvCxnSpPr>
            <p:cNvPr id="35" name="Straight Arrow Connector 54">
              <a:extLst>
                <a:ext uri="{FF2B5EF4-FFF2-40B4-BE49-F238E27FC236}">
                  <a16:creationId xmlns:a16="http://schemas.microsoft.com/office/drawing/2014/main" id="{1F0BF7FD-31FF-509C-2445-FCCC3257DCFD}"/>
                </a:ext>
              </a:extLst>
            </p:cNvPr>
            <p:cNvCxnSpPr>
              <a:cxnSpLocks/>
              <a:stCxn id="16" idx="3"/>
            </p:cNvCxnSpPr>
            <p:nvPr/>
          </p:nvCxnSpPr>
          <p:spPr>
            <a:xfrm>
              <a:off x="5177904" y="2579637"/>
              <a:ext cx="1714013" cy="202368"/>
            </a:xfrm>
            <a:prstGeom prst="bentConnector3">
              <a:avLst>
                <a:gd name="adj1" fmla="val 50000"/>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36" name="Straight Arrow Connector 57">
              <a:extLst>
                <a:ext uri="{FF2B5EF4-FFF2-40B4-BE49-F238E27FC236}">
                  <a16:creationId xmlns:a16="http://schemas.microsoft.com/office/drawing/2014/main" id="{623F35BF-45A2-3F63-79C0-FE58848BCE36}"/>
                </a:ext>
              </a:extLst>
            </p:cNvPr>
            <p:cNvCxnSpPr>
              <a:cxnSpLocks/>
              <a:stCxn id="28" idx="3"/>
            </p:cNvCxnSpPr>
            <p:nvPr/>
          </p:nvCxnSpPr>
          <p:spPr>
            <a:xfrm flipV="1">
              <a:off x="5275455" y="3199151"/>
              <a:ext cx="1650146" cy="330986"/>
            </a:xfrm>
            <a:prstGeom prst="bentConnector3">
              <a:avLst>
                <a:gd name="adj1" fmla="val 47969"/>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grpSp>
      <p:graphicFrame>
        <p:nvGraphicFramePr>
          <p:cNvPr id="37" name="Table 36">
            <a:extLst>
              <a:ext uri="{FF2B5EF4-FFF2-40B4-BE49-F238E27FC236}">
                <a16:creationId xmlns:a16="http://schemas.microsoft.com/office/drawing/2014/main" id="{954BBDC2-B3E4-2BF2-1AE4-C3BC48555780}"/>
              </a:ext>
            </a:extLst>
          </p:cNvPr>
          <p:cNvGraphicFramePr>
            <a:graphicFrameLocks noGrp="1"/>
          </p:cNvGraphicFramePr>
          <p:nvPr>
            <p:extLst>
              <p:ext uri="{D42A27DB-BD31-4B8C-83A1-F6EECF244321}">
                <p14:modId xmlns:p14="http://schemas.microsoft.com/office/powerpoint/2010/main" val="3505614245"/>
              </p:ext>
            </p:extLst>
          </p:nvPr>
        </p:nvGraphicFramePr>
        <p:xfrm>
          <a:off x="1124938" y="4807145"/>
          <a:ext cx="3596411" cy="1478091"/>
        </p:xfrm>
        <a:graphic>
          <a:graphicData uri="http://schemas.openxmlformats.org/drawingml/2006/table">
            <a:tbl>
              <a:tblPr firstRow="1" bandRow="1">
                <a:tableStyleId>{5C22544A-7EE6-4342-B048-85BDC9FD1C3A}</a:tableStyleId>
              </a:tblPr>
              <a:tblGrid>
                <a:gridCol w="1565422">
                  <a:extLst>
                    <a:ext uri="{9D8B030D-6E8A-4147-A177-3AD203B41FA5}">
                      <a16:colId xmlns:a16="http://schemas.microsoft.com/office/drawing/2014/main" val="2689445315"/>
                    </a:ext>
                  </a:extLst>
                </a:gridCol>
                <a:gridCol w="2030989">
                  <a:extLst>
                    <a:ext uri="{9D8B030D-6E8A-4147-A177-3AD203B41FA5}">
                      <a16:colId xmlns:a16="http://schemas.microsoft.com/office/drawing/2014/main" val="713551910"/>
                    </a:ext>
                  </a:extLst>
                </a:gridCol>
              </a:tblGrid>
              <a:tr h="39256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bg1"/>
                          </a:solidFill>
                        </a:rPr>
                        <a:t>Public subnet route table</a:t>
                      </a:r>
                    </a:p>
                  </a:txBody>
                  <a:tcPr marL="150638" marR="75319" marT="37664" marB="37664" anchor="ctr"/>
                </a:tc>
                <a:tc hMerge="1">
                  <a:txBody>
                    <a:bodyPr/>
                    <a:lstStyle/>
                    <a:p>
                      <a:endParaRPr lang="en-US" sz="1600" b="1" kern="1200" dirty="0">
                        <a:solidFill>
                          <a:schemeClr val="bg1"/>
                        </a:solidFill>
                        <a:latin typeface="+mn-lt"/>
                        <a:ea typeface="+mn-ea"/>
                        <a:cs typeface="+mn-cs"/>
                      </a:endParaRPr>
                    </a:p>
                  </a:txBody>
                  <a:tcPr marL="150638" marR="75319" marT="37664" marB="37664" anchor="ctr"/>
                </a:tc>
                <a:extLst>
                  <a:ext uri="{0D108BD9-81ED-4DB2-BD59-A6C34878D82A}">
                    <a16:rowId xmlns:a16="http://schemas.microsoft.com/office/drawing/2014/main" val="1607177402"/>
                  </a:ext>
                </a:extLst>
              </a:tr>
              <a:tr h="376297">
                <a:tc>
                  <a:txBody>
                    <a:bodyPr/>
                    <a:lstStyle/>
                    <a:p>
                      <a:r>
                        <a:rPr lang="en-US" sz="1600" dirty="0">
                          <a:solidFill>
                            <a:schemeClr val="bg1"/>
                          </a:solidFill>
                        </a:rPr>
                        <a:t>Destination</a:t>
                      </a:r>
                      <a:endParaRPr lang="en-US" sz="1600" b="0" dirty="0">
                        <a:solidFill>
                          <a:schemeClr val="bg1"/>
                        </a:solidFill>
                      </a:endParaRPr>
                    </a:p>
                  </a:txBody>
                  <a:tcPr marL="150638" marR="75319" marT="37664" marB="37664" anchor="ctr">
                    <a:solidFill>
                      <a:schemeClr val="accent1"/>
                    </a:solidFill>
                  </a:tcPr>
                </a:tc>
                <a:tc>
                  <a:txBody>
                    <a:bodyPr/>
                    <a:lstStyle/>
                    <a:p>
                      <a:r>
                        <a:rPr lang="en-US" sz="1600" kern="1200" dirty="0">
                          <a:solidFill>
                            <a:schemeClr val="bg1"/>
                          </a:solidFill>
                        </a:rPr>
                        <a:t>Target</a:t>
                      </a:r>
                      <a:endParaRPr lang="en-US" sz="1600" b="1" kern="1200" dirty="0">
                        <a:solidFill>
                          <a:schemeClr val="bg1"/>
                        </a:solidFill>
                        <a:latin typeface="+mn-lt"/>
                        <a:ea typeface="+mn-ea"/>
                        <a:cs typeface="+mn-cs"/>
                      </a:endParaRPr>
                    </a:p>
                  </a:txBody>
                  <a:tcPr marL="150638" marR="75319" marT="37664" marB="37664" anchor="ctr">
                    <a:solidFill>
                      <a:schemeClr val="accent1"/>
                    </a:solidFill>
                  </a:tcPr>
                </a:tc>
                <a:extLst>
                  <a:ext uri="{0D108BD9-81ED-4DB2-BD59-A6C34878D82A}">
                    <a16:rowId xmlns:a16="http://schemas.microsoft.com/office/drawing/2014/main" val="4207004471"/>
                  </a:ext>
                </a:extLst>
              </a:tr>
              <a:tr h="354613">
                <a:tc>
                  <a:txBody>
                    <a:bodyPr/>
                    <a:lstStyle/>
                    <a:p>
                      <a:pPr algn="l"/>
                      <a:r>
                        <a:rPr lang="en-US" sz="1600" dirty="0"/>
                        <a:t>10.0.0.0/16</a:t>
                      </a:r>
                      <a:endParaRPr lang="en-US" sz="1600" dirty="0">
                        <a:latin typeface="+mn-lt"/>
                        <a:ea typeface="Amazon Ember" panose="020B0603020204020204" pitchFamily="34" charset="0"/>
                        <a:cs typeface="Amazon Ember" panose="020B0603020204020204" pitchFamily="34" charset="0"/>
                      </a:endParaRPr>
                    </a:p>
                  </a:txBody>
                  <a:tcPr anchor="ctr"/>
                </a:tc>
                <a:tc>
                  <a:txBody>
                    <a:bodyPr/>
                    <a:lstStyle/>
                    <a:p>
                      <a:pPr algn="l"/>
                      <a:r>
                        <a:rPr lang="en-US" sz="1600" dirty="0"/>
                        <a:t> local</a:t>
                      </a:r>
                      <a:endParaRPr lang="en-US" sz="1600" dirty="0">
                        <a:latin typeface="+mn-lt"/>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1027896922"/>
                  </a:ext>
                </a:extLst>
              </a:tr>
              <a:tr h="3546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0.0.0.0/0</a:t>
                      </a:r>
                      <a:endParaRPr lang="en-US" sz="1600" dirty="0">
                        <a:latin typeface="+mn-lt"/>
                        <a:ea typeface="Amazon Ember" panose="020B0603020204020204" pitchFamily="34" charset="0"/>
                        <a:cs typeface="Amazon Ember" panose="020B0603020204020204" pitchFamily="34" charset="0"/>
                      </a:endParaRPr>
                    </a:p>
                  </a:txBody>
                  <a:tcPr anchor="ctr"/>
                </a:tc>
                <a:tc>
                  <a:txBody>
                    <a:bodyPr/>
                    <a:lstStyle/>
                    <a:p>
                      <a:pPr algn="l"/>
                      <a:r>
                        <a:rPr lang="en-US" sz="1600" dirty="0">
                          <a:latin typeface="+mn-lt"/>
                          <a:ea typeface="Amazon Ember" panose="020B0603020204020204" pitchFamily="34" charset="0"/>
                          <a:cs typeface="Amazon Ember" panose="020B0603020204020204" pitchFamily="34" charset="0"/>
                        </a:rPr>
                        <a:t>Internet gateway ID</a:t>
                      </a:r>
                    </a:p>
                  </a:txBody>
                  <a:tcPr anchor="ctr"/>
                </a:tc>
                <a:extLst>
                  <a:ext uri="{0D108BD9-81ED-4DB2-BD59-A6C34878D82A}">
                    <a16:rowId xmlns:a16="http://schemas.microsoft.com/office/drawing/2014/main" val="2555108034"/>
                  </a:ext>
                </a:extLst>
              </a:tr>
            </a:tbl>
          </a:graphicData>
        </a:graphic>
      </p:graphicFrame>
      <p:cxnSp>
        <p:nvCxnSpPr>
          <p:cNvPr id="38" name="Straight Connector 37">
            <a:extLst>
              <a:ext uri="{FF2B5EF4-FFF2-40B4-BE49-F238E27FC236}">
                <a16:creationId xmlns:a16="http://schemas.microsoft.com/office/drawing/2014/main" id="{6DB76A30-F56E-75D1-4DCB-B618C683D810}"/>
              </a:ext>
              <a:ext uri="{C183D7F6-B498-43B3-948B-1728B52AA6E4}">
                <adec:decorative xmlns:adec="http://schemas.microsoft.com/office/drawing/2017/decorative" val="1"/>
              </a:ext>
            </a:extLst>
          </p:cNvPr>
          <p:cNvCxnSpPr>
            <a:cxnSpLocks/>
            <a:stCxn id="23" idx="2"/>
          </p:cNvCxnSpPr>
          <p:nvPr/>
        </p:nvCxnSpPr>
        <p:spPr>
          <a:xfrm>
            <a:off x="2389988" y="4069231"/>
            <a:ext cx="0" cy="737914"/>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39" name="Table 38">
            <a:extLst>
              <a:ext uri="{FF2B5EF4-FFF2-40B4-BE49-F238E27FC236}">
                <a16:creationId xmlns:a16="http://schemas.microsoft.com/office/drawing/2014/main" id="{669A4181-B073-0A5A-85F0-91F26A1E0C7D}"/>
              </a:ext>
            </a:extLst>
          </p:cNvPr>
          <p:cNvGraphicFramePr>
            <a:graphicFrameLocks noGrp="1"/>
          </p:cNvGraphicFramePr>
          <p:nvPr>
            <p:extLst>
              <p:ext uri="{D42A27DB-BD31-4B8C-83A1-F6EECF244321}">
                <p14:modId xmlns:p14="http://schemas.microsoft.com/office/powerpoint/2010/main" val="1890781183"/>
              </p:ext>
            </p:extLst>
          </p:nvPr>
        </p:nvGraphicFramePr>
        <p:xfrm>
          <a:off x="5771483" y="4820255"/>
          <a:ext cx="3013669" cy="1478091"/>
        </p:xfrm>
        <a:graphic>
          <a:graphicData uri="http://schemas.openxmlformats.org/drawingml/2006/table">
            <a:tbl>
              <a:tblPr firstRow="1" bandRow="1">
                <a:tableStyleId>{5C22544A-7EE6-4342-B048-85BDC9FD1C3A}</a:tableStyleId>
              </a:tblPr>
              <a:tblGrid>
                <a:gridCol w="1311770">
                  <a:extLst>
                    <a:ext uri="{9D8B030D-6E8A-4147-A177-3AD203B41FA5}">
                      <a16:colId xmlns:a16="http://schemas.microsoft.com/office/drawing/2014/main" val="2689445315"/>
                    </a:ext>
                  </a:extLst>
                </a:gridCol>
                <a:gridCol w="1701899">
                  <a:extLst>
                    <a:ext uri="{9D8B030D-6E8A-4147-A177-3AD203B41FA5}">
                      <a16:colId xmlns:a16="http://schemas.microsoft.com/office/drawing/2014/main" val="713551910"/>
                    </a:ext>
                  </a:extLst>
                </a:gridCol>
              </a:tblGrid>
              <a:tr h="392568">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0" dirty="0">
                          <a:solidFill>
                            <a:schemeClr val="bg1"/>
                          </a:solidFill>
                        </a:rPr>
                        <a:t>Private subnet route table</a:t>
                      </a:r>
                    </a:p>
                  </a:txBody>
                  <a:tcPr marL="150638" marR="75319" marT="37664" marB="37664" anchor="ctr"/>
                </a:tc>
                <a:tc hMerge="1">
                  <a:txBody>
                    <a:bodyPr/>
                    <a:lstStyle/>
                    <a:p>
                      <a:endParaRPr lang="en-US" sz="1600" b="1" kern="1200" dirty="0">
                        <a:solidFill>
                          <a:schemeClr val="bg1"/>
                        </a:solidFill>
                        <a:latin typeface="+mn-lt"/>
                        <a:ea typeface="+mn-ea"/>
                        <a:cs typeface="+mn-cs"/>
                      </a:endParaRPr>
                    </a:p>
                  </a:txBody>
                  <a:tcPr marL="150638" marR="75319" marT="37664" marB="37664" anchor="ctr"/>
                </a:tc>
                <a:extLst>
                  <a:ext uri="{0D108BD9-81ED-4DB2-BD59-A6C34878D82A}">
                    <a16:rowId xmlns:a16="http://schemas.microsoft.com/office/drawing/2014/main" val="1607177402"/>
                  </a:ext>
                </a:extLst>
              </a:tr>
              <a:tr h="376297">
                <a:tc>
                  <a:txBody>
                    <a:bodyPr/>
                    <a:lstStyle/>
                    <a:p>
                      <a:r>
                        <a:rPr lang="en-US" sz="1600" dirty="0">
                          <a:solidFill>
                            <a:schemeClr val="bg1"/>
                          </a:solidFill>
                        </a:rPr>
                        <a:t>Destination</a:t>
                      </a:r>
                      <a:endParaRPr lang="en-US" sz="1600" b="0" dirty="0">
                        <a:solidFill>
                          <a:schemeClr val="bg1"/>
                        </a:solidFill>
                      </a:endParaRPr>
                    </a:p>
                  </a:txBody>
                  <a:tcPr marL="150638" marR="75319" marT="37664" marB="37664" anchor="ctr">
                    <a:solidFill>
                      <a:schemeClr val="accent1"/>
                    </a:solidFill>
                  </a:tcPr>
                </a:tc>
                <a:tc>
                  <a:txBody>
                    <a:bodyPr/>
                    <a:lstStyle/>
                    <a:p>
                      <a:r>
                        <a:rPr lang="en-US" sz="1600" kern="1200" dirty="0">
                          <a:solidFill>
                            <a:schemeClr val="bg1"/>
                          </a:solidFill>
                        </a:rPr>
                        <a:t>Target</a:t>
                      </a:r>
                      <a:endParaRPr lang="en-US" sz="1600" b="1" kern="1200" dirty="0">
                        <a:solidFill>
                          <a:schemeClr val="bg1"/>
                        </a:solidFill>
                        <a:latin typeface="+mn-lt"/>
                        <a:ea typeface="+mn-ea"/>
                        <a:cs typeface="+mn-cs"/>
                      </a:endParaRPr>
                    </a:p>
                  </a:txBody>
                  <a:tcPr marL="150638" marR="75319" marT="37664" marB="37664" anchor="ctr">
                    <a:solidFill>
                      <a:schemeClr val="accent1"/>
                    </a:solidFill>
                  </a:tcPr>
                </a:tc>
                <a:extLst>
                  <a:ext uri="{0D108BD9-81ED-4DB2-BD59-A6C34878D82A}">
                    <a16:rowId xmlns:a16="http://schemas.microsoft.com/office/drawing/2014/main" val="4207004471"/>
                  </a:ext>
                </a:extLst>
              </a:tr>
              <a:tr h="354613">
                <a:tc>
                  <a:txBody>
                    <a:bodyPr/>
                    <a:lstStyle/>
                    <a:p>
                      <a:pPr algn="l"/>
                      <a:r>
                        <a:rPr lang="en-US" sz="1600" dirty="0"/>
                        <a:t>10.0.0.0/16</a:t>
                      </a:r>
                      <a:endParaRPr lang="en-US" sz="1600" dirty="0">
                        <a:latin typeface="+mn-lt"/>
                        <a:ea typeface="Amazon Ember" panose="020B0603020204020204" pitchFamily="34" charset="0"/>
                        <a:cs typeface="Amazon Ember" panose="020B0603020204020204" pitchFamily="34" charset="0"/>
                      </a:endParaRPr>
                    </a:p>
                  </a:txBody>
                  <a:tcPr anchor="ctr"/>
                </a:tc>
                <a:tc>
                  <a:txBody>
                    <a:bodyPr/>
                    <a:lstStyle/>
                    <a:p>
                      <a:pPr algn="l"/>
                      <a:r>
                        <a:rPr lang="en-US" sz="1600" dirty="0"/>
                        <a:t> local</a:t>
                      </a:r>
                      <a:endParaRPr lang="en-US" sz="1600" dirty="0">
                        <a:latin typeface="+mn-lt"/>
                        <a:ea typeface="Amazon Ember" panose="020B0603020204020204" pitchFamily="34" charset="0"/>
                        <a:cs typeface="Amazon Ember" panose="020B0603020204020204" pitchFamily="34" charset="0"/>
                      </a:endParaRPr>
                    </a:p>
                  </a:txBody>
                  <a:tcPr anchor="ctr"/>
                </a:tc>
                <a:extLst>
                  <a:ext uri="{0D108BD9-81ED-4DB2-BD59-A6C34878D82A}">
                    <a16:rowId xmlns:a16="http://schemas.microsoft.com/office/drawing/2014/main" val="1027896922"/>
                  </a:ext>
                </a:extLst>
              </a:tr>
              <a:tr h="3546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0.0.0.0/0</a:t>
                      </a:r>
                      <a:endParaRPr lang="en-US" sz="1600" dirty="0">
                        <a:latin typeface="+mn-lt"/>
                        <a:ea typeface="Amazon Ember" panose="020B0603020204020204" pitchFamily="34" charset="0"/>
                        <a:cs typeface="Amazon Ember" panose="020B0603020204020204" pitchFamily="34" charset="0"/>
                      </a:endParaRPr>
                    </a:p>
                  </a:txBody>
                  <a:tcPr anchor="ctr"/>
                </a:tc>
                <a:tc>
                  <a:txBody>
                    <a:bodyPr/>
                    <a:lstStyle/>
                    <a:p>
                      <a:pPr algn="l"/>
                      <a:r>
                        <a:rPr lang="en-US" sz="1600" dirty="0">
                          <a:latin typeface="+mn-lt"/>
                          <a:ea typeface="Amazon Ember" panose="020B0603020204020204" pitchFamily="34" charset="0"/>
                          <a:cs typeface="Amazon Ember" panose="020B0603020204020204" pitchFamily="34" charset="0"/>
                        </a:rPr>
                        <a:t>NAT gateway ID</a:t>
                      </a:r>
                    </a:p>
                  </a:txBody>
                  <a:tcPr anchor="ctr"/>
                </a:tc>
                <a:extLst>
                  <a:ext uri="{0D108BD9-81ED-4DB2-BD59-A6C34878D82A}">
                    <a16:rowId xmlns:a16="http://schemas.microsoft.com/office/drawing/2014/main" val="2555108034"/>
                  </a:ext>
                </a:extLst>
              </a:tr>
            </a:tbl>
          </a:graphicData>
        </a:graphic>
      </p:graphicFrame>
      <p:cxnSp>
        <p:nvCxnSpPr>
          <p:cNvPr id="40" name="Straight Connector 39">
            <a:extLst>
              <a:ext uri="{FF2B5EF4-FFF2-40B4-BE49-F238E27FC236}">
                <a16:creationId xmlns:a16="http://schemas.microsoft.com/office/drawing/2014/main" id="{43BE1B87-303F-C04B-BA67-8C20F7EA5EDA}"/>
              </a:ext>
              <a:ext uri="{C183D7F6-B498-43B3-948B-1728B52AA6E4}">
                <adec:decorative xmlns:adec="http://schemas.microsoft.com/office/drawing/2017/decorative" val="1"/>
              </a:ext>
            </a:extLst>
          </p:cNvPr>
          <p:cNvCxnSpPr>
            <a:cxnSpLocks/>
            <a:stCxn id="33" idx="2"/>
            <a:endCxn id="39" idx="0"/>
          </p:cNvCxnSpPr>
          <p:nvPr/>
        </p:nvCxnSpPr>
        <p:spPr>
          <a:xfrm flipH="1">
            <a:off x="7278317" y="4027545"/>
            <a:ext cx="6235" cy="792710"/>
          </a:xfrm>
          <a:prstGeom prst="line">
            <a:avLst/>
          </a:prstGeom>
          <a:ln w="28575">
            <a:solidFill>
              <a:schemeClr val="tx1"/>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92894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lIns="0" tIns="0" rIns="0" bIns="0" anchor="ctr">
            <a:spAutoFit/>
          </a:bodyPr>
          <a:lstStyle/>
          <a:p>
            <a:r>
              <a:rPr sz="2600" b="1" i="0">
                <a:solidFill>
                  <a:srgbClr val="FFFFFF"/>
                </a:solidFill>
                <a:latin typeface="Roboto"/>
              </a:rPr>
              <a:t>Public or private?</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1" i="0">
                <a:solidFill>
                  <a:srgbClr val="2A2929"/>
                </a:solidFill>
                <a:latin typeface="Roboto"/>
              </a:rPr>
              <a:t>For each resource, decide which subnet it belongs in — public or private:</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the database · a batch-processing job · the web/app server · a NAT gateway</a:t>
            </a:r>
          </a:p>
          <a:p>
            <a:pPr marL="0" indent="0">
              <a:lnSpc>
                <a:spcPct val="105000"/>
              </a:lnSpc>
              <a:spcBef>
                <a:spcPts val="0"/>
              </a:spcBef>
              <a:spcAft>
                <a:spcPts val="1000"/>
              </a:spcAft>
            </a:pPr>
            <a:r>
              <a:rPr sz="1700" b="1" i="0">
                <a:solidFill>
                  <a:srgbClr val="92268F"/>
                </a:solidFill>
                <a:latin typeface="Roboto"/>
              </a:rPr>
              <a:t>■  Rule of thumb: anything that shouldn't be reachable from the internet goes private; only internet-facing entry points and the NAT gateway go public.</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(AWS recommends even web/app tiers sit private, behind a load balancer.)</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3657600" cy="365760"/>
          </a:xfrm>
          <a:prstGeom prst="rect">
            <a:avLst/>
          </a:prstGeom>
          <a:noFill/>
        </p:spPr>
        <p:txBody>
          <a:bodyPr wrap="square" lIns="0" tIns="0" rIns="0" bIns="0" anchor="ctr">
            <a:spAutoFit/>
          </a:bodyPr>
          <a:lstStyle/>
          <a:p>
            <a:r>
              <a:rPr sz="1500" b="1" i="0">
                <a:solidFill>
                  <a:srgbClr val="2A2929"/>
                </a:solidFill>
                <a:latin typeface="Roboto"/>
              </a:rPr>
              <a:t>⏱  ~10 min</a:t>
            </a:r>
          </a:p>
        </p:txBody>
      </p:sp>
      <p:sp>
        <p:nvSpPr>
          <p:cNvPr id="8" name="Rectangle 7"/>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The network you'll build</a:t>
            </a:r>
          </a:p>
          <a:p>
            <a:pPr>
              <a:spcBef>
                <a:spcPts val="200"/>
              </a:spcBef>
            </a:pPr>
            <a:r>
              <a:rPr sz="1800" b="0" i="1">
                <a:solidFill>
                  <a:srgbClr val="D68E10"/>
                </a:solidFill>
                <a:latin typeface="Roboto Light"/>
              </a:rPr>
              <a:t>work from the Solution Design</a:t>
            </a:r>
          </a:p>
        </p:txBody>
      </p:sp>
      <p:sp>
        <p:nvSpPr>
          <p:cNvPr id="3" name="Rectangle 2"/>
          <p:cNvSpPr/>
          <p:nvPr/>
        </p:nvSpPr>
        <p:spPr>
          <a:xfrm>
            <a:off x="658368" y="13716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92268F"/>
                </a:solidFill>
                <a:latin typeface="Roboto"/>
              </a:rPr>
              <a:t>■  Open the Solution Design for this engagement (on the intranet) and study its network topology (§4.4) — you build to that.</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VPC 10.0.0.0/16 (room to expand); DNS resolution + flow logs on.</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Subnets in ap-southeast-2a: public-egress-a (NAT only) · private-app-a (app + internal ALB) · private-data-a (database).</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Internet Gateway is egress-only — patching via NAT; no inbound path from the internet.</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Staff reach the service over the campus Site-to-Site VPN; route tables set per tier.</a:t>
            </a:r>
          </a:p>
        </p:txBody>
      </p:sp>
      <p:sp>
        <p:nvSpPr>
          <p:cNvPr id="5" name="Rectangle 4"/>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6</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92268F"/>
                </a:solidFill>
                <a:latin typeface="Roboto"/>
              </a:rPr>
              <a:t>Section 1 · The virtual network</a:t>
            </a:r>
          </a:p>
        </p:txBody>
      </p:sp>
      <p:sp>
        <p:nvSpPr>
          <p:cNvPr id="3" name="Rectangle 2"/>
          <p:cNvSpPr/>
          <p:nvPr/>
        </p:nvSpPr>
        <p:spPr>
          <a:xfrm>
            <a:off x="658368" y="1600200"/>
            <a:ext cx="1463040" cy="508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A VPC is your logically isolated network in one Region, sized by a CIDR block.</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Subnets split the VPC by tier and Availability Zone — public or private.</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Route tables + IGW/NAT decide what reaches the internet — this design is egress-only.</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818888"/>
            <a:ext cx="109728" cy="841248"/>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818888"/>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Build to the supplied topology; Region first (data residency).</a:t>
            </a:r>
          </a:p>
        </p:txBody>
      </p:sp>
      <p:sp>
        <p:nvSpPr>
          <p:cNvPr id="16" name="Rectangle 15"/>
          <p:cNvSpPr/>
          <p:nvPr/>
        </p:nvSpPr>
        <p:spPr>
          <a:xfrm>
            <a:off x="0" y="6565392"/>
            <a:ext cx="12191695" cy="38100"/>
          </a:xfrm>
          <a:prstGeom prst="rect">
            <a:avLst/>
          </a:prstGeom>
          <a:solidFill>
            <a:srgbClr val="9226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8" name="TextBox 17"/>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103120"/>
            <a:ext cx="3291840" cy="2194560"/>
          </a:xfrm>
          <a:prstGeom prst="rect">
            <a:avLst/>
          </a:prstGeom>
          <a:noFill/>
        </p:spPr>
        <p:txBody>
          <a:bodyPr wrap="square" lIns="0" tIns="0" rIns="0" bIns="0" anchor="t">
            <a:spAutoFit/>
          </a:bodyPr>
          <a:lstStyle/>
          <a:p>
            <a:r>
              <a:rPr sz="13000" b="1" i="0">
                <a:solidFill>
                  <a:srgbClr val="FFFFFF"/>
                </a:solidFill>
                <a:latin typeface="Roboto"/>
              </a:rPr>
              <a:t>02</a:t>
            </a:r>
          </a:p>
        </p:txBody>
      </p:sp>
      <p:sp>
        <p:nvSpPr>
          <p:cNvPr id="4" name="TextBox 3"/>
          <p:cNvSpPr txBox="1"/>
          <p:nvPr/>
        </p:nvSpPr>
        <p:spPr>
          <a:xfrm>
            <a:off x="4480560" y="2468880"/>
            <a:ext cx="7132320" cy="2194560"/>
          </a:xfrm>
          <a:prstGeom prst="rect">
            <a:avLst/>
          </a:prstGeom>
          <a:noFill/>
        </p:spPr>
        <p:txBody>
          <a:bodyPr wrap="square" lIns="0" tIns="0" rIns="0" bIns="0" anchor="t">
            <a:spAutoFit/>
          </a:bodyPr>
          <a:lstStyle/>
          <a:p>
            <a:r>
              <a:rPr sz="1600" b="1" i="0">
                <a:solidFill>
                  <a:srgbClr val="27B5CE"/>
                </a:solidFill>
                <a:latin typeface="Roboto"/>
              </a:rPr>
              <a:t>SECTION</a:t>
            </a:r>
          </a:p>
          <a:p>
            <a:pPr>
              <a:spcBef>
                <a:spcPts val="600"/>
              </a:spcBef>
            </a:pPr>
            <a:r>
              <a:rPr sz="3800" b="1" i="0">
                <a:solidFill>
                  <a:srgbClr val="2A2929"/>
                </a:solidFill>
                <a:latin typeface="Roboto"/>
              </a:rPr>
              <a:t>Controlling traffic</a:t>
            </a:r>
          </a:p>
          <a:p>
            <a:pPr>
              <a:spcBef>
                <a:spcPts val="1000"/>
              </a:spcBef>
            </a:pPr>
            <a:r>
              <a:rPr sz="2000" b="0" i="1">
                <a:solidFill>
                  <a:srgbClr val="484848"/>
                </a:solidFill>
                <a:latin typeface="Roboto Light"/>
              </a:rPr>
              <a:t>who may talk to what</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What a firewall does</a:t>
            </a:r>
          </a:p>
          <a:p>
            <a:pPr>
              <a:spcBef>
                <a:spcPts val="200"/>
              </a:spcBef>
            </a:pPr>
            <a:r>
              <a:rPr sz="1800" b="0" i="1">
                <a:solidFill>
                  <a:srgbClr val="D68E10"/>
                </a:solidFill>
                <a:latin typeface="Roboto Light"/>
              </a:rPr>
              <a:t>AWS · ACA M07 S23</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A firewall filters network traffic by rule — it decides what's allowed through.</a:t>
            </a:r>
          </a:p>
          <a:p>
            <a:pPr marL="0" indent="0">
              <a:lnSpc>
                <a:spcPct val="105000"/>
              </a:lnSpc>
              <a:spcBef>
                <a:spcPts val="0"/>
              </a:spcBef>
              <a:spcAft>
                <a:spcPts val="1000"/>
              </a:spcAft>
            </a:pPr>
            <a:r>
              <a:rPr sz="1800" b="1" i="0" dirty="0">
                <a:solidFill>
                  <a:srgbClr val="27B5CE"/>
                </a:solidFill>
                <a:latin typeface="Roboto"/>
              </a:rPr>
              <a:t>■  Think of a security group like an apartment door: it only lets in the tenant with the right key — it protects one resource.</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Traffic is identified by address + port: 443 = HTTPS, 1433 = SQL Server, 3389 = RDP.</a:t>
            </a:r>
          </a:p>
          <a:p>
            <a:pPr marL="0" indent="0">
              <a:lnSpc>
                <a:spcPct val="105000"/>
              </a:lnSpc>
              <a:spcBef>
                <a:spcPts val="0"/>
              </a:spcBef>
              <a:spcAft>
                <a:spcPts val="1000"/>
              </a:spcAft>
            </a:pPr>
            <a:r>
              <a:rPr sz="1800" b="1" i="0" dirty="0">
                <a:solidFill>
                  <a:srgbClr val="EDAB0C"/>
                </a:solidFill>
                <a:latin typeface="Roboto"/>
              </a:rPr>
              <a:t>■  </a:t>
            </a:r>
            <a:r>
              <a:rPr sz="1800" b="0" i="0" dirty="0">
                <a:solidFill>
                  <a:srgbClr val="2A2929"/>
                </a:solidFill>
                <a:latin typeface="Roboto"/>
              </a:rPr>
              <a:t>Least privilege — open only the ports the job needs, only to who needs them.</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8</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F9D65-7F50-09BE-27E2-C335D92668B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BE75ADA-4E03-A93B-200D-CCD18238515A}"/>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AWS Network Firewall</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E28730F7-BA4B-2D8E-BDD4-7CD1BE00CA49}"/>
              </a:ext>
            </a:extLst>
          </p:cNvPr>
          <p:cNvSpPr/>
          <p:nvPr/>
        </p:nvSpPr>
        <p:spPr>
          <a:xfrm>
            <a:off x="658368" y="1003136"/>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DB5498D-DF99-2BE9-5F24-EF5CF004D031}"/>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AEB0FFD8-46A4-6699-5ECB-3F1877FFCAD6}"/>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E6151FA3-B8C4-4197-B17B-94ECCED7F8C7}"/>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8</a:t>
            </a:r>
          </a:p>
        </p:txBody>
      </p:sp>
      <p:sp>
        <p:nvSpPr>
          <p:cNvPr id="4" name="Content Placeholder 3">
            <a:extLst>
              <a:ext uri="{FF2B5EF4-FFF2-40B4-BE49-F238E27FC236}">
                <a16:creationId xmlns:a16="http://schemas.microsoft.com/office/drawing/2014/main" id="{6731A25D-CD80-60C1-BA7B-E511A150611B}"/>
              </a:ext>
            </a:extLst>
          </p:cNvPr>
          <p:cNvSpPr txBox="1">
            <a:spLocks/>
          </p:cNvSpPr>
          <p:nvPr/>
        </p:nvSpPr>
        <p:spPr>
          <a:xfrm>
            <a:off x="3202241" y="1195766"/>
            <a:ext cx="8457946" cy="2106368"/>
          </a:xfrm>
          <a:prstGeom prst="rect">
            <a:avLst/>
          </a:prstGeom>
        </p:spPr>
        <p:txBody>
          <a:bodyPr>
            <a:normAutofit/>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2400" dirty="0"/>
              <a:t>Network firewall and intrusion detection and prevention service for an Amazon VPC.</a:t>
            </a:r>
          </a:p>
          <a:p>
            <a:r>
              <a:rPr lang="en-US" sz="2400" dirty="0"/>
              <a:t>Adds an additional layer of security.</a:t>
            </a:r>
          </a:p>
          <a:p>
            <a:r>
              <a:rPr lang="en-US" sz="2400" dirty="0"/>
              <a:t>Routes external VPC traffic through AWS Network Firewall to protect subnet resources.</a:t>
            </a:r>
          </a:p>
        </p:txBody>
      </p:sp>
      <p:grpSp>
        <p:nvGrpSpPr>
          <p:cNvPr id="8" name="FlattenNF" descr="External VPC network traffic flow to firewall endpoint and business application EC2 instance.&#10;">
            <a:extLst>
              <a:ext uri="{FF2B5EF4-FFF2-40B4-BE49-F238E27FC236}">
                <a16:creationId xmlns:a16="http://schemas.microsoft.com/office/drawing/2014/main" id="{029C3FBF-9261-7CED-70BA-15DD5DD8A871}"/>
              </a:ext>
            </a:extLst>
          </p:cNvPr>
          <p:cNvGrpSpPr/>
          <p:nvPr/>
        </p:nvGrpSpPr>
        <p:grpSpPr>
          <a:xfrm>
            <a:off x="3088626" y="3417199"/>
            <a:ext cx="8685176" cy="2956768"/>
            <a:chOff x="3081104" y="3546967"/>
            <a:chExt cx="8685176" cy="2956768"/>
          </a:xfrm>
        </p:grpSpPr>
        <p:sp>
          <p:nvSpPr>
            <p:cNvPr id="9" name="Rectangle 8">
              <a:extLst>
                <a:ext uri="{FF2B5EF4-FFF2-40B4-BE49-F238E27FC236}">
                  <a16:creationId xmlns:a16="http://schemas.microsoft.com/office/drawing/2014/main" id="{DA916A2D-8E2F-FCBF-D91D-9D8C5963F017}"/>
                </a:ext>
              </a:extLst>
            </p:cNvPr>
            <p:cNvSpPr/>
            <p:nvPr/>
          </p:nvSpPr>
          <p:spPr>
            <a:xfrm>
              <a:off x="8723691" y="4353642"/>
              <a:ext cx="2621647" cy="1858735"/>
            </a:xfrm>
            <a:prstGeom prst="rect">
              <a:avLst/>
            </a:prstGeom>
            <a:noFill/>
            <a:ln w="15875">
              <a:solidFill>
                <a:srgbClr val="00A4A6"/>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02920" tIns="91440" bIns="45720"/>
            <a:lstStyle/>
            <a:p>
              <a:pP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Private subnet 10.0.128.0/20</a:t>
              </a:r>
            </a:p>
          </p:txBody>
        </p:sp>
        <p:sp>
          <p:nvSpPr>
            <p:cNvPr id="10" name="Rectangle 9">
              <a:extLst>
                <a:ext uri="{FF2B5EF4-FFF2-40B4-BE49-F238E27FC236}">
                  <a16:creationId xmlns:a16="http://schemas.microsoft.com/office/drawing/2014/main" id="{11F2AC17-E31B-0ABB-4FEF-D5A9043FD2FA}"/>
                </a:ext>
              </a:extLst>
            </p:cNvPr>
            <p:cNvSpPr/>
            <p:nvPr/>
          </p:nvSpPr>
          <p:spPr bwMode="auto">
            <a:xfrm>
              <a:off x="3263630" y="3546967"/>
              <a:ext cx="8502650" cy="2909422"/>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ln w="0"/>
                  <a:solidFill>
                    <a:schemeClr val="tx1"/>
                  </a:solidFill>
                  <a:cs typeface="Arial" panose="020B0604020202020204" pitchFamily="34" charset="0"/>
                </a:rPr>
                <a:t>Amazon VPC 10.0.0.0/16</a:t>
              </a:r>
            </a:p>
          </p:txBody>
        </p:sp>
        <p:pic>
          <p:nvPicPr>
            <p:cNvPr id="11" name="Graphic 10">
              <a:extLst>
                <a:ext uri="{FF2B5EF4-FFF2-40B4-BE49-F238E27FC236}">
                  <a16:creationId xmlns:a16="http://schemas.microsoft.com/office/drawing/2014/main" id="{9B0AB1FA-B144-A105-EC13-D4DD44A83AA0}"/>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263630" y="3546967"/>
              <a:ext cx="381000" cy="381000"/>
            </a:xfrm>
            <a:prstGeom prst="rect">
              <a:avLst/>
            </a:prstGeom>
          </p:spPr>
        </p:pic>
        <p:pic>
          <p:nvPicPr>
            <p:cNvPr id="12" name="Graphic 11">
              <a:extLst>
                <a:ext uri="{FF2B5EF4-FFF2-40B4-BE49-F238E27FC236}">
                  <a16:creationId xmlns:a16="http://schemas.microsoft.com/office/drawing/2014/main" id="{EF39E9CB-DC20-7AA6-2C05-4927C8C3846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8723691" y="4353642"/>
              <a:ext cx="381000" cy="381000"/>
            </a:xfrm>
            <a:prstGeom prst="rect">
              <a:avLst/>
            </a:prstGeom>
          </p:spPr>
        </p:pic>
        <p:sp>
          <p:nvSpPr>
            <p:cNvPr id="13" name="Rectangle 12">
              <a:extLst>
                <a:ext uri="{FF2B5EF4-FFF2-40B4-BE49-F238E27FC236}">
                  <a16:creationId xmlns:a16="http://schemas.microsoft.com/office/drawing/2014/main" id="{445CCA57-1C6D-9A21-08D8-7D3A5D19A0A3}"/>
                </a:ext>
              </a:extLst>
            </p:cNvPr>
            <p:cNvSpPr/>
            <p:nvPr/>
          </p:nvSpPr>
          <p:spPr bwMode="auto">
            <a:xfrm>
              <a:off x="3695430" y="3927967"/>
              <a:ext cx="7727950" cy="2383917"/>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600" dirty="0">
                  <a:solidFill>
                    <a:schemeClr val="tx1"/>
                  </a:solidFill>
                  <a:cs typeface="Arial" panose="020B0604020202020204" pitchFamily="34" charset="0"/>
                </a:rPr>
                <a:t>Availability Zone 1</a:t>
              </a:r>
            </a:p>
          </p:txBody>
        </p:sp>
        <p:sp>
          <p:nvSpPr>
            <p:cNvPr id="14" name="TextBox 16">
              <a:extLst>
                <a:ext uri="{FF2B5EF4-FFF2-40B4-BE49-F238E27FC236}">
                  <a16:creationId xmlns:a16="http://schemas.microsoft.com/office/drawing/2014/main" id="{ADB61709-489E-9591-9404-649220011E33}"/>
                </a:ext>
              </a:extLst>
            </p:cNvPr>
            <p:cNvSpPr txBox="1">
              <a:spLocks noChangeArrowheads="1"/>
            </p:cNvSpPr>
            <p:nvPr/>
          </p:nvSpPr>
          <p:spPr bwMode="auto">
            <a:xfrm>
              <a:off x="8994722" y="5594228"/>
              <a:ext cx="213787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EC2 application instance</a:t>
              </a:r>
            </a:p>
          </p:txBody>
        </p:sp>
        <p:pic>
          <p:nvPicPr>
            <p:cNvPr id="15" name="Graphic 14">
              <a:extLst>
                <a:ext uri="{FF2B5EF4-FFF2-40B4-BE49-F238E27FC236}">
                  <a16:creationId xmlns:a16="http://schemas.microsoft.com/office/drawing/2014/main" id="{68623786-8AB7-B2E4-4521-95546BBF60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722348" y="4968513"/>
              <a:ext cx="682626" cy="682626"/>
            </a:xfrm>
            <a:prstGeom prst="rect">
              <a:avLst/>
            </a:prstGeom>
          </p:spPr>
        </p:pic>
        <p:cxnSp>
          <p:nvCxnSpPr>
            <p:cNvPr id="16" name="Straight Arrow Connector 15">
              <a:extLst>
                <a:ext uri="{FF2B5EF4-FFF2-40B4-BE49-F238E27FC236}">
                  <a16:creationId xmlns:a16="http://schemas.microsoft.com/office/drawing/2014/main" id="{54CD4453-7562-300A-1839-2E8456050D22}"/>
                </a:ext>
              </a:extLst>
            </p:cNvPr>
            <p:cNvCxnSpPr>
              <a:cxnSpLocks/>
              <a:stCxn id="26" idx="3"/>
              <a:endCxn id="15" idx="1"/>
            </p:cNvCxnSpPr>
            <p:nvPr/>
          </p:nvCxnSpPr>
          <p:spPr>
            <a:xfrm>
              <a:off x="8514037" y="5306781"/>
              <a:ext cx="1208311" cy="3045"/>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A27CD28A-B5FC-6B4C-CB18-865D195B9514}"/>
                </a:ext>
              </a:extLst>
            </p:cNvPr>
            <p:cNvSpPr/>
            <p:nvPr/>
          </p:nvSpPr>
          <p:spPr>
            <a:xfrm>
              <a:off x="4945137" y="4344226"/>
              <a:ext cx="2745421" cy="1858735"/>
            </a:xfrm>
            <a:prstGeom prst="rect">
              <a:avLst/>
            </a:prstGeom>
            <a:noFill/>
            <a:ln w="15875">
              <a:solidFill>
                <a:srgbClr val="00A4A6"/>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02920" tIns="91440" bIns="45720"/>
            <a:lstStyle/>
            <a:p>
              <a:pP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Firewall subnet 10.0.64.0/20</a:t>
              </a:r>
            </a:p>
          </p:txBody>
        </p:sp>
        <p:pic>
          <p:nvPicPr>
            <p:cNvPr id="18" name="Graphic 17">
              <a:extLst>
                <a:ext uri="{FF2B5EF4-FFF2-40B4-BE49-F238E27FC236}">
                  <a16:creationId xmlns:a16="http://schemas.microsoft.com/office/drawing/2014/main" id="{7D1347BB-2EF7-842C-EFDD-28AA857DB13F}"/>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945137" y="4326991"/>
              <a:ext cx="381000" cy="381000"/>
            </a:xfrm>
            <a:prstGeom prst="rect">
              <a:avLst/>
            </a:prstGeom>
          </p:spPr>
        </p:pic>
        <p:sp>
          <p:nvSpPr>
            <p:cNvPr id="19" name="TextBox 15">
              <a:extLst>
                <a:ext uri="{FF2B5EF4-FFF2-40B4-BE49-F238E27FC236}">
                  <a16:creationId xmlns:a16="http://schemas.microsoft.com/office/drawing/2014/main" id="{CF9F14EE-1E02-29F4-63D0-9BC3E1C76D1E}"/>
                </a:ext>
              </a:extLst>
            </p:cNvPr>
            <p:cNvSpPr txBox="1">
              <a:spLocks noChangeArrowheads="1"/>
            </p:cNvSpPr>
            <p:nvPr/>
          </p:nvSpPr>
          <p:spPr bwMode="auto">
            <a:xfrm>
              <a:off x="5178032" y="5641859"/>
              <a:ext cx="221243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mn-lt"/>
                  <a:ea typeface="Amazon Ember" panose="020B0603020204020204" pitchFamily="34" charset="0"/>
                  <a:cs typeface="Arial" panose="020B0604020202020204" pitchFamily="34" charset="0"/>
                </a:rPr>
                <a:t>AWS Network </a:t>
              </a:r>
            </a:p>
            <a:p>
              <a:pPr algn="ctr" eaLnBrk="1" hangingPunct="1"/>
              <a:r>
                <a:rPr lang="en-US" altLang="en-US" sz="1600" dirty="0">
                  <a:latin typeface="+mn-lt"/>
                  <a:ea typeface="Amazon Ember" panose="020B0603020204020204" pitchFamily="34" charset="0"/>
                  <a:cs typeface="Arial" panose="020B0604020202020204" pitchFamily="34" charset="0"/>
                </a:rPr>
                <a:t>Firewall endpoint</a:t>
              </a:r>
            </a:p>
          </p:txBody>
        </p:sp>
        <p:pic>
          <p:nvPicPr>
            <p:cNvPr id="20" name="Graphic 19">
              <a:extLst>
                <a:ext uri="{FF2B5EF4-FFF2-40B4-BE49-F238E27FC236}">
                  <a16:creationId xmlns:a16="http://schemas.microsoft.com/office/drawing/2014/main" id="{90628299-BC7F-DEF9-840E-0FD157A2FE35}"/>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5953217" y="4972058"/>
              <a:ext cx="662064" cy="662064"/>
            </a:xfrm>
            <a:prstGeom prst="rect">
              <a:avLst/>
            </a:prstGeom>
          </p:spPr>
        </p:pic>
        <p:cxnSp>
          <p:nvCxnSpPr>
            <p:cNvPr id="21" name="Straight Arrow Connector 20">
              <a:extLst>
                <a:ext uri="{FF2B5EF4-FFF2-40B4-BE49-F238E27FC236}">
                  <a16:creationId xmlns:a16="http://schemas.microsoft.com/office/drawing/2014/main" id="{EE56A4D7-936E-51C9-A188-0100D4F7759E}"/>
                </a:ext>
              </a:extLst>
            </p:cNvPr>
            <p:cNvCxnSpPr>
              <a:cxnSpLocks/>
              <a:endCxn id="23" idx="1"/>
            </p:cNvCxnSpPr>
            <p:nvPr/>
          </p:nvCxnSpPr>
          <p:spPr>
            <a:xfrm>
              <a:off x="3081104" y="5302327"/>
              <a:ext cx="1040554" cy="0"/>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A63BFC31-39E4-69C7-DA48-C02799256706}"/>
                </a:ext>
              </a:extLst>
            </p:cNvPr>
            <p:cNvSpPr txBox="1"/>
            <p:nvPr/>
          </p:nvSpPr>
          <p:spPr>
            <a:xfrm>
              <a:off x="4070574" y="5672738"/>
              <a:ext cx="888385" cy="830997"/>
            </a:xfrm>
            <a:prstGeom prst="rect">
              <a:avLst/>
            </a:prstGeom>
            <a:noFill/>
          </p:spPr>
          <p:txBody>
            <a:bodyPr wrap="none" rtlCol="0">
              <a:spAutoFit/>
            </a:bodyPr>
            <a:lstStyle/>
            <a:p>
              <a:pPr algn="ctr"/>
              <a:r>
                <a:rPr lang="en-US" sz="1600" dirty="0">
                  <a:ea typeface="Amazon Ember Light" panose="020B0403020204020204" pitchFamily="34" charset="0"/>
                  <a:cs typeface="Amazon Ember Light" panose="020B0403020204020204" pitchFamily="34" charset="0"/>
                </a:rPr>
                <a:t>Route</a:t>
              </a:r>
            </a:p>
            <a:p>
              <a:pPr algn="ctr"/>
              <a:r>
                <a:rPr lang="en-US" sz="1600" dirty="0">
                  <a:ea typeface="Amazon Ember Light" panose="020B0403020204020204" pitchFamily="34" charset="0"/>
                  <a:cs typeface="Amazon Ember Light" panose="020B0403020204020204" pitchFamily="34" charset="0"/>
                </a:rPr>
                <a:t>table 1 </a:t>
              </a:r>
              <a:br>
                <a:rPr lang="en-US" sz="1600" dirty="0">
                  <a:ea typeface="Amazon Ember Light" panose="020B0403020204020204" pitchFamily="34" charset="0"/>
                  <a:cs typeface="Amazon Ember Light" panose="020B0403020204020204" pitchFamily="34" charset="0"/>
                </a:rPr>
              </a:br>
              <a:endParaRPr lang="en-US" sz="1600" dirty="0">
                <a:ea typeface="Amazon Ember Light" panose="020B0403020204020204" pitchFamily="34" charset="0"/>
                <a:cs typeface="Amazon Ember Light" panose="020B0403020204020204" pitchFamily="34" charset="0"/>
              </a:endParaRPr>
            </a:p>
          </p:txBody>
        </p:sp>
        <p:pic>
          <p:nvPicPr>
            <p:cNvPr id="23" name="Graphic 22">
              <a:extLst>
                <a:ext uri="{FF2B5EF4-FFF2-40B4-BE49-F238E27FC236}">
                  <a16:creationId xmlns:a16="http://schemas.microsoft.com/office/drawing/2014/main" id="{D162A7BD-F76F-79C8-E1DD-21BEA72A069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21658" y="4939545"/>
              <a:ext cx="725563" cy="725563"/>
            </a:xfrm>
            <a:prstGeom prst="rect">
              <a:avLst/>
            </a:prstGeom>
          </p:spPr>
        </p:pic>
        <p:cxnSp>
          <p:nvCxnSpPr>
            <p:cNvPr id="24" name="Straight Arrow Connector 23">
              <a:extLst>
                <a:ext uri="{FF2B5EF4-FFF2-40B4-BE49-F238E27FC236}">
                  <a16:creationId xmlns:a16="http://schemas.microsoft.com/office/drawing/2014/main" id="{03B6D714-8787-4B97-2475-092B456A36A9}"/>
                </a:ext>
              </a:extLst>
            </p:cNvPr>
            <p:cNvCxnSpPr>
              <a:cxnSpLocks/>
              <a:stCxn id="23" idx="3"/>
              <a:endCxn id="20" idx="1"/>
            </p:cNvCxnSpPr>
            <p:nvPr/>
          </p:nvCxnSpPr>
          <p:spPr>
            <a:xfrm>
              <a:off x="4847221" y="5302327"/>
              <a:ext cx="1105996" cy="763"/>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2DCB2EB-665F-0C96-CEBE-DB0C7C10CAA0}"/>
                </a:ext>
              </a:extLst>
            </p:cNvPr>
            <p:cNvSpPr txBox="1"/>
            <p:nvPr/>
          </p:nvSpPr>
          <p:spPr>
            <a:xfrm>
              <a:off x="7737390" y="5641752"/>
              <a:ext cx="888385" cy="830997"/>
            </a:xfrm>
            <a:prstGeom prst="rect">
              <a:avLst/>
            </a:prstGeom>
            <a:noFill/>
          </p:spPr>
          <p:txBody>
            <a:bodyPr wrap="none" rtlCol="0">
              <a:spAutoFit/>
            </a:bodyPr>
            <a:lstStyle/>
            <a:p>
              <a:pPr algn="ctr"/>
              <a:r>
                <a:rPr lang="en-US" sz="1600" dirty="0">
                  <a:ea typeface="Amazon Ember Light" panose="020B0403020204020204" pitchFamily="34" charset="0"/>
                  <a:cs typeface="Amazon Ember Light" panose="020B0403020204020204" pitchFamily="34" charset="0"/>
                </a:rPr>
                <a:t>Route</a:t>
              </a:r>
            </a:p>
            <a:p>
              <a:pPr algn="ctr"/>
              <a:r>
                <a:rPr lang="en-US" sz="1600" dirty="0">
                  <a:ea typeface="Amazon Ember Light" panose="020B0403020204020204" pitchFamily="34" charset="0"/>
                  <a:cs typeface="Amazon Ember Light" panose="020B0403020204020204" pitchFamily="34" charset="0"/>
                </a:rPr>
                <a:t>table 2 </a:t>
              </a:r>
              <a:br>
                <a:rPr lang="en-US" sz="1600" dirty="0">
                  <a:ea typeface="Amazon Ember Light" panose="020B0403020204020204" pitchFamily="34" charset="0"/>
                  <a:cs typeface="Amazon Ember Light" panose="020B0403020204020204" pitchFamily="34" charset="0"/>
                </a:rPr>
              </a:br>
              <a:endParaRPr lang="en-US" sz="1600" dirty="0">
                <a:ea typeface="Amazon Ember Light" panose="020B0403020204020204" pitchFamily="34" charset="0"/>
                <a:cs typeface="Amazon Ember Light" panose="020B0403020204020204" pitchFamily="34" charset="0"/>
              </a:endParaRPr>
            </a:p>
          </p:txBody>
        </p:sp>
        <p:pic>
          <p:nvPicPr>
            <p:cNvPr id="26" name="Graphic 25">
              <a:extLst>
                <a:ext uri="{FF2B5EF4-FFF2-40B4-BE49-F238E27FC236}">
                  <a16:creationId xmlns:a16="http://schemas.microsoft.com/office/drawing/2014/main" id="{BDF688CF-5050-6EC4-9AE2-020CB17C672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88474" y="4943999"/>
              <a:ext cx="725563" cy="725563"/>
            </a:xfrm>
            <a:prstGeom prst="rect">
              <a:avLst/>
            </a:prstGeom>
          </p:spPr>
        </p:pic>
        <p:cxnSp>
          <p:nvCxnSpPr>
            <p:cNvPr id="27" name="Straight Arrow Connector 26">
              <a:extLst>
                <a:ext uri="{FF2B5EF4-FFF2-40B4-BE49-F238E27FC236}">
                  <a16:creationId xmlns:a16="http://schemas.microsoft.com/office/drawing/2014/main" id="{8AC1AC24-1D6F-F8CD-3AE7-829109E6A925}"/>
                </a:ext>
              </a:extLst>
            </p:cNvPr>
            <p:cNvCxnSpPr>
              <a:cxnSpLocks/>
              <a:stCxn id="20" idx="3"/>
              <a:endCxn id="26" idx="1"/>
            </p:cNvCxnSpPr>
            <p:nvPr/>
          </p:nvCxnSpPr>
          <p:spPr>
            <a:xfrm>
              <a:off x="6615281" y="5303090"/>
              <a:ext cx="1173193" cy="3691"/>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grpSp>
      <p:pic>
        <p:nvPicPr>
          <p:cNvPr id="28" name="Picture Placeholder 10">
            <a:extLst>
              <a:ext uri="{FF2B5EF4-FFF2-40B4-BE49-F238E27FC236}">
                <a16:creationId xmlns:a16="http://schemas.microsoft.com/office/drawing/2014/main" id="{7ADE5866-D81E-C076-3BE6-9CF1E5B2779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531813" y="2182813"/>
            <a:ext cx="2286000" cy="2286000"/>
          </a:xfrm>
          <a:prstGeom prst="rect">
            <a:avLst/>
          </a:prstGeom>
        </p:spPr>
      </p:pic>
    </p:spTree>
    <p:extLst>
      <p:ext uri="{BB962C8B-B14F-4D97-AF65-F5344CB8AC3E}">
        <p14:creationId xmlns:p14="http://schemas.microsoft.com/office/powerpoint/2010/main" val="39897720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Security groups</a:t>
            </a:r>
          </a:p>
          <a:p>
            <a:pPr>
              <a:spcBef>
                <a:spcPts val="200"/>
              </a:spcBef>
            </a:pPr>
            <a:r>
              <a:rPr sz="1800" b="0" i="1">
                <a:solidFill>
                  <a:srgbClr val="D68E10"/>
                </a:solidFill>
                <a:latin typeface="Roboto Light"/>
              </a:rPr>
              <a:t>AWS · ACF M05 S33–S35 · ACA M07 S24</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 security group is a virtual firewall attached to a resource (an instance or interface).</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Stateful — if you allow traffic in, the return traffic is automatically allowed out.</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Allow-rules only (no deny). A new SG blocks all inbound until you add rules.</a:t>
            </a:r>
          </a:p>
          <a:p>
            <a:pPr marL="0" indent="0">
              <a:lnSpc>
                <a:spcPct val="105000"/>
              </a:lnSpc>
              <a:spcBef>
                <a:spcPts val="0"/>
              </a:spcBef>
              <a:spcAft>
                <a:spcPts val="1000"/>
              </a:spcAft>
            </a:pPr>
            <a:r>
              <a:rPr sz="1800" b="1" i="0">
                <a:solidFill>
                  <a:srgbClr val="27B5CE"/>
                </a:solidFill>
                <a:latin typeface="Roboto"/>
              </a:rPr>
              <a:t>■  You can name another security group as the source — that's how you chain tiers (e.g. allow 443 only from the load balancer's SG).</a:t>
            </a:r>
          </a:p>
        </p:txBody>
      </p:sp>
      <p:sp>
        <p:nvSpPr>
          <p:cNvPr id="5" name="Rectangle 4"/>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9</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17FAD-7D39-C2BF-152A-5B645018BB7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0A3B7AF-2DF7-478A-C0F1-6003AB53FDBF}"/>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Security groups (1 of 2)</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D192CA16-370F-7E2B-6762-308D8F84BAE5}"/>
              </a:ext>
            </a:extLst>
          </p:cNvPr>
          <p:cNvSpPr/>
          <p:nvPr/>
        </p:nvSpPr>
        <p:spPr>
          <a:xfrm>
            <a:off x="658368" y="1003136"/>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C7761840-FCC5-CCAC-6937-7DEC895E8F8D}"/>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7914223F-A2C9-A6D7-1EE8-990D5F0900F7}"/>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F453ED44-C449-5316-7C88-D531F4703F45}"/>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8</a:t>
            </a:r>
          </a:p>
        </p:txBody>
      </p:sp>
      <p:sp>
        <p:nvSpPr>
          <p:cNvPr id="4" name="TextBox 3">
            <a:extLst>
              <a:ext uri="{FF2B5EF4-FFF2-40B4-BE49-F238E27FC236}">
                <a16:creationId xmlns:a16="http://schemas.microsoft.com/office/drawing/2014/main" id="{C568A3E9-2C8D-AB22-A460-7AFD16B5CBEA}"/>
              </a:ext>
            </a:extLst>
          </p:cNvPr>
          <p:cNvSpPr txBox="1"/>
          <p:nvPr/>
        </p:nvSpPr>
        <p:spPr>
          <a:xfrm>
            <a:off x="8128130" y="4011019"/>
            <a:ext cx="3518050" cy="954107"/>
          </a:xfrm>
          <a:prstGeom prst="rect">
            <a:avLst/>
          </a:prstGeom>
          <a:noFill/>
        </p:spPr>
        <p:txBody>
          <a:bodyPr wrap="square" rtlCol="0">
            <a:spAutoFit/>
          </a:bodyPr>
          <a:lstStyle/>
          <a:p>
            <a:r>
              <a:rPr lang="en-US" sz="2800" dirty="0">
                <a:ea typeface="Amazon Ember Light" panose="020B0403020204020204" pitchFamily="34" charset="0"/>
                <a:cs typeface="Amazon Ember Light" panose="020B0403020204020204" pitchFamily="34" charset="0"/>
              </a:rPr>
              <a:t>Security groups act at </a:t>
            </a:r>
            <a:br>
              <a:rPr lang="en-US" sz="2800" dirty="0">
                <a:ea typeface="Amazon Ember Light" panose="020B0403020204020204" pitchFamily="34" charset="0"/>
                <a:cs typeface="Amazon Ember Light" panose="020B0403020204020204" pitchFamily="34" charset="0"/>
              </a:rPr>
            </a:br>
            <a:r>
              <a:rPr lang="en-US" sz="2800" dirty="0">
                <a:ea typeface="Amazon Ember Light" panose="020B0403020204020204" pitchFamily="34" charset="0"/>
                <a:cs typeface="Amazon Ember Light" panose="020B0403020204020204" pitchFamily="34" charset="0"/>
              </a:rPr>
              <a:t>the </a:t>
            </a:r>
            <a:r>
              <a:rPr lang="en-US" sz="2800" dirty="0">
                <a:solidFill>
                  <a:schemeClr val="accent6"/>
                </a:solidFill>
                <a:ea typeface="Amazon Ember Light" panose="020B0403020204020204" pitchFamily="34" charset="0"/>
                <a:cs typeface="Amazon Ember Light" panose="020B0403020204020204" pitchFamily="34" charset="0"/>
              </a:rPr>
              <a:t>instance level</a:t>
            </a:r>
            <a:r>
              <a:rPr lang="en-US" sz="2800" dirty="0">
                <a:ea typeface="Amazon Ember Light" panose="020B0403020204020204" pitchFamily="34" charset="0"/>
                <a:cs typeface="Amazon Ember Light" panose="020B0403020204020204" pitchFamily="34" charset="0"/>
              </a:rPr>
              <a:t>.</a:t>
            </a:r>
          </a:p>
        </p:txBody>
      </p:sp>
      <p:grpSp>
        <p:nvGrpSpPr>
          <p:cNvPr id="8" name="Group 7" descr="Architecture diagram of a VPC with two subnets. Inside each subnet is an instance inside a security group.">
            <a:extLst>
              <a:ext uri="{FF2B5EF4-FFF2-40B4-BE49-F238E27FC236}">
                <a16:creationId xmlns:a16="http://schemas.microsoft.com/office/drawing/2014/main" id="{866DB45B-E3A2-CA03-BB4D-CF4880004A58}"/>
              </a:ext>
            </a:extLst>
          </p:cNvPr>
          <p:cNvGrpSpPr/>
          <p:nvPr/>
        </p:nvGrpSpPr>
        <p:grpSpPr>
          <a:xfrm>
            <a:off x="1154942" y="1486486"/>
            <a:ext cx="4973726" cy="4559579"/>
            <a:chOff x="152401" y="1273546"/>
            <a:chExt cx="5403273" cy="5191619"/>
          </a:xfrm>
        </p:grpSpPr>
        <p:sp>
          <p:nvSpPr>
            <p:cNvPr id="9" name="Rectangle 8">
              <a:extLst>
                <a:ext uri="{FF2B5EF4-FFF2-40B4-BE49-F238E27FC236}">
                  <a16:creationId xmlns:a16="http://schemas.microsoft.com/office/drawing/2014/main" id="{534F0620-F661-36E5-0E44-58E0FA0F33F0}"/>
                </a:ext>
              </a:extLst>
            </p:cNvPr>
            <p:cNvSpPr/>
            <p:nvPr/>
          </p:nvSpPr>
          <p:spPr>
            <a:xfrm>
              <a:off x="1063615" y="2244988"/>
              <a:ext cx="3591473" cy="4103990"/>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Availability Zone</a:t>
              </a:r>
            </a:p>
          </p:txBody>
        </p:sp>
        <p:sp>
          <p:nvSpPr>
            <p:cNvPr id="10" name="Rectangle 9">
              <a:extLst>
                <a:ext uri="{FF2B5EF4-FFF2-40B4-BE49-F238E27FC236}">
                  <a16:creationId xmlns:a16="http://schemas.microsoft.com/office/drawing/2014/main" id="{01EA52A7-6E7E-71BF-FE19-93C4713AA8A3}"/>
                </a:ext>
              </a:extLst>
            </p:cNvPr>
            <p:cNvSpPr/>
            <p:nvPr/>
          </p:nvSpPr>
          <p:spPr>
            <a:xfrm>
              <a:off x="1315653" y="2982872"/>
              <a:ext cx="3108960" cy="13716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ea typeface="+mn-ea"/>
                  <a:cs typeface="+mn-cs"/>
                </a:rPr>
                <a:t>   Public subnet:10.0.1.0/24</a:t>
              </a:r>
            </a:p>
          </p:txBody>
        </p:sp>
        <p:pic>
          <p:nvPicPr>
            <p:cNvPr id="11" name="Graphic 10">
              <a:extLst>
                <a:ext uri="{FF2B5EF4-FFF2-40B4-BE49-F238E27FC236}">
                  <a16:creationId xmlns:a16="http://schemas.microsoft.com/office/drawing/2014/main" id="{71CCAA02-B866-B734-8C20-56676A4EDEE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15654" y="2980513"/>
              <a:ext cx="457200" cy="457200"/>
            </a:xfrm>
            <a:prstGeom prst="rect">
              <a:avLst/>
            </a:prstGeom>
          </p:spPr>
        </p:pic>
        <p:sp>
          <p:nvSpPr>
            <p:cNvPr id="12" name="Rectangle 11">
              <a:extLst>
                <a:ext uri="{FF2B5EF4-FFF2-40B4-BE49-F238E27FC236}">
                  <a16:creationId xmlns:a16="http://schemas.microsoft.com/office/drawing/2014/main" id="{91D0048F-AE7C-2D13-EBF3-0AEA0721546B}"/>
                </a:ext>
              </a:extLst>
            </p:cNvPr>
            <p:cNvSpPr/>
            <p:nvPr/>
          </p:nvSpPr>
          <p:spPr>
            <a:xfrm>
              <a:off x="1315652" y="4510729"/>
              <a:ext cx="3108960" cy="13716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Private subnet: 10.0.2.0/24</a:t>
              </a:r>
            </a:p>
          </p:txBody>
        </p:sp>
        <p:pic>
          <p:nvPicPr>
            <p:cNvPr id="13" name="Graphic 12">
              <a:extLst>
                <a:ext uri="{FF2B5EF4-FFF2-40B4-BE49-F238E27FC236}">
                  <a16:creationId xmlns:a16="http://schemas.microsoft.com/office/drawing/2014/main" id="{467E1C6D-75E3-9BF2-0685-CD0A4948814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315653" y="4508371"/>
              <a:ext cx="457200" cy="457200"/>
            </a:xfrm>
            <a:prstGeom prst="rect">
              <a:avLst/>
            </a:prstGeom>
          </p:spPr>
        </p:pic>
        <p:sp>
          <p:nvSpPr>
            <p:cNvPr id="14" name="Rectangle 13">
              <a:extLst>
                <a:ext uri="{FF2B5EF4-FFF2-40B4-BE49-F238E27FC236}">
                  <a16:creationId xmlns:a16="http://schemas.microsoft.com/office/drawing/2014/main" id="{313CE743-A280-3DC9-D4C3-5B79C453E525}"/>
                </a:ext>
              </a:extLst>
            </p:cNvPr>
            <p:cNvSpPr/>
            <p:nvPr/>
          </p:nvSpPr>
          <p:spPr>
            <a:xfrm>
              <a:off x="152402" y="1273546"/>
              <a:ext cx="5403272" cy="5191619"/>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ea typeface="+mn-ea"/>
                  <a:cs typeface="+mn-cs"/>
                </a:rPr>
                <a:t> </a:t>
              </a:r>
              <a:r>
                <a:rPr kumimoji="0" lang="en-US" sz="1600" b="0" i="0" u="none" strike="noStrike" kern="0" cap="none" spc="0" normalizeH="0" baseline="0" noProof="0">
                  <a:ln>
                    <a:noFill/>
                  </a:ln>
                  <a:solidFill>
                    <a:sysClr val="windowText" lastClr="000000"/>
                  </a:solidFill>
                  <a:effectLst/>
                  <a:uLnTx/>
                  <a:uFillTx/>
                  <a:ea typeface="+mn-ea"/>
                  <a:cs typeface="+mn-cs"/>
                </a:rPr>
                <a:t>AWS Cloud</a:t>
              </a:r>
            </a:p>
          </p:txBody>
        </p:sp>
        <p:pic>
          <p:nvPicPr>
            <p:cNvPr id="15" name="Graphic 14">
              <a:extLst>
                <a:ext uri="{FF2B5EF4-FFF2-40B4-BE49-F238E27FC236}">
                  <a16:creationId xmlns:a16="http://schemas.microsoft.com/office/drawing/2014/main" id="{B5CF3865-46BC-213C-8F27-7D2D69DFCEC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2401" y="1273546"/>
              <a:ext cx="457200" cy="457200"/>
            </a:xfrm>
            <a:prstGeom prst="rect">
              <a:avLst/>
            </a:prstGeom>
          </p:spPr>
        </p:pic>
        <p:sp>
          <p:nvSpPr>
            <p:cNvPr id="16" name="Rectangle 15">
              <a:extLst>
                <a:ext uri="{FF2B5EF4-FFF2-40B4-BE49-F238E27FC236}">
                  <a16:creationId xmlns:a16="http://schemas.microsoft.com/office/drawing/2014/main" id="{2019624A-CC4B-7BE0-9E6B-FCCD017919D9}"/>
                </a:ext>
              </a:extLst>
            </p:cNvPr>
            <p:cNvSpPr/>
            <p:nvPr/>
          </p:nvSpPr>
          <p:spPr>
            <a:xfrm>
              <a:off x="280551" y="1888174"/>
              <a:ext cx="4984176" cy="4328548"/>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Region</a:t>
              </a:r>
            </a:p>
          </p:txBody>
        </p:sp>
        <p:pic>
          <p:nvPicPr>
            <p:cNvPr id="17" name="Graphic 16">
              <a:extLst>
                <a:ext uri="{FF2B5EF4-FFF2-40B4-BE49-F238E27FC236}">
                  <a16:creationId xmlns:a16="http://schemas.microsoft.com/office/drawing/2014/main" id="{83C4A3B8-A59C-68CD-2144-C9EEA717D4C5}"/>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80551" y="1888174"/>
              <a:ext cx="457200" cy="457200"/>
            </a:xfrm>
            <a:prstGeom prst="rect">
              <a:avLst/>
            </a:prstGeom>
          </p:spPr>
        </p:pic>
        <p:sp>
          <p:nvSpPr>
            <p:cNvPr id="18" name="Rectangle 17">
              <a:extLst>
                <a:ext uri="{FF2B5EF4-FFF2-40B4-BE49-F238E27FC236}">
                  <a16:creationId xmlns:a16="http://schemas.microsoft.com/office/drawing/2014/main" id="{718ED126-0031-10A1-FFFE-60C6CD149BA2}"/>
                </a:ext>
              </a:extLst>
            </p:cNvPr>
            <p:cNvSpPr/>
            <p:nvPr/>
          </p:nvSpPr>
          <p:spPr>
            <a:xfrm>
              <a:off x="581948" y="2624640"/>
              <a:ext cx="4364125" cy="344341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kumimoji="0" lang="en-US" sz="1600" b="0" i="0" u="none" strike="noStrike" kern="0" cap="none" spc="0" normalizeH="0" baseline="0" noProof="0">
                  <a:ln w="0"/>
                  <a:solidFill>
                    <a:srgbClr val="1D8900"/>
                  </a:solidFill>
                  <a:effectLst/>
                  <a:uLnTx/>
                  <a:uFillTx/>
                </a:rPr>
                <a:t> VPC: </a:t>
              </a:r>
              <a:r>
                <a:rPr lang="en-US" sz="1600">
                  <a:solidFill>
                    <a:srgbClr val="1D8900"/>
                  </a:solidFill>
                </a:rPr>
                <a:t>10.0.0.0/16</a:t>
              </a:r>
            </a:p>
          </p:txBody>
        </p:sp>
        <p:pic>
          <p:nvPicPr>
            <p:cNvPr id="19" name="Graphic 18">
              <a:extLst>
                <a:ext uri="{FF2B5EF4-FFF2-40B4-BE49-F238E27FC236}">
                  <a16:creationId xmlns:a16="http://schemas.microsoft.com/office/drawing/2014/main" id="{863BEA51-6E66-F270-39E9-D97565D417C1}"/>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81948" y="2624640"/>
              <a:ext cx="457200" cy="457200"/>
            </a:xfrm>
            <a:prstGeom prst="rect">
              <a:avLst/>
            </a:prstGeom>
          </p:spPr>
        </p:pic>
        <p:pic>
          <p:nvPicPr>
            <p:cNvPr id="20" name="Graphic 19">
              <a:extLst>
                <a:ext uri="{FF2B5EF4-FFF2-40B4-BE49-F238E27FC236}">
                  <a16:creationId xmlns:a16="http://schemas.microsoft.com/office/drawing/2014/main" id="{EF5E9C7D-24C4-FB0A-3A9C-522F7CCCAB92}"/>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99541" y="3711641"/>
              <a:ext cx="457200" cy="457200"/>
            </a:xfrm>
            <a:prstGeom prst="rect">
              <a:avLst/>
            </a:prstGeom>
          </p:spPr>
        </p:pic>
        <p:sp>
          <p:nvSpPr>
            <p:cNvPr id="21" name="Rectangle 20">
              <a:extLst>
                <a:ext uri="{FF2B5EF4-FFF2-40B4-BE49-F238E27FC236}">
                  <a16:creationId xmlns:a16="http://schemas.microsoft.com/office/drawing/2014/main" id="{02259934-4303-A158-3E56-42537532B2CF}"/>
                </a:ext>
              </a:extLst>
            </p:cNvPr>
            <p:cNvSpPr/>
            <p:nvPr/>
          </p:nvSpPr>
          <p:spPr>
            <a:xfrm>
              <a:off x="2145491" y="3372897"/>
              <a:ext cx="1765300" cy="872669"/>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DF3312"/>
                  </a:solidFill>
                  <a:effectLst/>
                  <a:uLnTx/>
                  <a:uFillTx/>
                  <a:ea typeface="+mn-ea"/>
                  <a:cs typeface="+mn-cs"/>
                </a:rPr>
                <a:t>Security group</a:t>
              </a:r>
            </a:p>
          </p:txBody>
        </p:sp>
        <p:pic>
          <p:nvPicPr>
            <p:cNvPr id="22" name="Graphic 21">
              <a:extLst>
                <a:ext uri="{FF2B5EF4-FFF2-40B4-BE49-F238E27FC236}">
                  <a16:creationId xmlns:a16="http://schemas.microsoft.com/office/drawing/2014/main" id="{CB90E03E-87BD-1B63-8A5D-E6123C566FD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813392" y="5249493"/>
              <a:ext cx="457200" cy="457200"/>
            </a:xfrm>
            <a:prstGeom prst="rect">
              <a:avLst/>
            </a:prstGeom>
          </p:spPr>
        </p:pic>
        <p:sp>
          <p:nvSpPr>
            <p:cNvPr id="23" name="Rectangle 22">
              <a:extLst>
                <a:ext uri="{FF2B5EF4-FFF2-40B4-BE49-F238E27FC236}">
                  <a16:creationId xmlns:a16="http://schemas.microsoft.com/office/drawing/2014/main" id="{6941D733-F322-6741-0E7E-51EC5F04DBA5}"/>
                </a:ext>
              </a:extLst>
            </p:cNvPr>
            <p:cNvSpPr/>
            <p:nvPr/>
          </p:nvSpPr>
          <p:spPr>
            <a:xfrm>
              <a:off x="2159342" y="4910749"/>
              <a:ext cx="1765300" cy="872669"/>
            </a:xfrm>
            <a:prstGeom prst="rect">
              <a:avLst/>
            </a:prstGeom>
            <a:noFill/>
            <a:ln w="12700" cap="flat" cmpd="sng" algn="ctr">
              <a:solidFill>
                <a:srgbClr val="DF3312"/>
              </a:solidFill>
              <a:prstDash val="solid"/>
              <a:miter lim="800000"/>
            </a:ln>
            <a:effectLst/>
          </p:spPr>
          <p:txBody>
            <a:bodyPr rot="0" spcFirstLastPara="0" vertOverflow="overflow" horzOverflow="overflow" vert="horz" wrap="square" lIns="91440" tIns="91440" rIns="91440" bIns="45720" numCol="1" spcCol="0" rtlCol="0" fromWordArt="0" anchor="t" anchorCtr="1"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DF3312"/>
                  </a:solidFill>
                  <a:effectLst/>
                  <a:uLnTx/>
                  <a:uFillTx/>
                  <a:ea typeface="+mn-ea"/>
                  <a:cs typeface="+mn-cs"/>
                </a:rPr>
                <a:t>Security group</a:t>
              </a:r>
            </a:p>
          </p:txBody>
        </p:sp>
      </p:grpSp>
      <p:cxnSp>
        <p:nvCxnSpPr>
          <p:cNvPr id="24" name="Elbow Connector 20">
            <a:extLst>
              <a:ext uri="{FF2B5EF4-FFF2-40B4-BE49-F238E27FC236}">
                <a16:creationId xmlns:a16="http://schemas.microsoft.com/office/drawing/2014/main" id="{1D4452B4-DB7E-AD0B-8E23-7180E603C55B}"/>
              </a:ext>
              <a:ext uri="{C183D7F6-B498-43B3-948B-1728B52AA6E4}">
                <adec:decorative xmlns:adec="http://schemas.microsoft.com/office/drawing/2017/decorative" val="1"/>
              </a:ext>
            </a:extLst>
          </p:cNvPr>
          <p:cNvCxnSpPr>
            <a:cxnSpLocks/>
            <a:stCxn id="4" idx="1"/>
          </p:cNvCxnSpPr>
          <p:nvPr/>
        </p:nvCxnSpPr>
        <p:spPr>
          <a:xfrm rot="10800000">
            <a:off x="4627304" y="3785937"/>
            <a:ext cx="3500827" cy="702136"/>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cxnSp>
        <p:nvCxnSpPr>
          <p:cNvPr id="25" name="Elbow Connector 26">
            <a:extLst>
              <a:ext uri="{FF2B5EF4-FFF2-40B4-BE49-F238E27FC236}">
                <a16:creationId xmlns:a16="http://schemas.microsoft.com/office/drawing/2014/main" id="{23DF9F90-2263-9FF8-B10C-D1417A6B1197}"/>
              </a:ext>
              <a:ext uri="{C183D7F6-B498-43B3-948B-1728B52AA6E4}">
                <adec:decorative xmlns:adec="http://schemas.microsoft.com/office/drawing/2017/decorative" val="1"/>
              </a:ext>
            </a:extLst>
          </p:cNvPr>
          <p:cNvCxnSpPr>
            <a:cxnSpLocks/>
            <a:stCxn id="4" idx="1"/>
          </p:cNvCxnSpPr>
          <p:nvPr/>
        </p:nvCxnSpPr>
        <p:spPr>
          <a:xfrm rot="10800000" flipV="1">
            <a:off x="4627304" y="4488072"/>
            <a:ext cx="3500827" cy="629355"/>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732452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0D79B-5A53-DC76-ABEF-6CE7B6979C2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D12609B-DE87-0642-38B1-8B44379948F6}"/>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Security groups (2 of 2)</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383DA920-9C15-657E-93AF-08EB763F326B}"/>
              </a:ext>
            </a:extLst>
          </p:cNvPr>
          <p:cNvSpPr/>
          <p:nvPr/>
        </p:nvSpPr>
        <p:spPr>
          <a:xfrm>
            <a:off x="658368" y="1003136"/>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A412751D-BE4D-4284-C8FF-275130681905}"/>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E8232970-AD68-5BAB-0F34-C03216DDA9C2}"/>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D8454EE8-D5F4-5C48-453E-95F11EE67C03}"/>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8</a:t>
            </a:r>
          </a:p>
        </p:txBody>
      </p:sp>
      <p:sp>
        <p:nvSpPr>
          <p:cNvPr id="12" name="Rectangle 11">
            <a:extLst>
              <a:ext uri="{FF2B5EF4-FFF2-40B4-BE49-F238E27FC236}">
                <a16:creationId xmlns:a16="http://schemas.microsoft.com/office/drawing/2014/main" id="{A65D1CB5-9A49-D23E-E461-54D19C81350A}"/>
              </a:ext>
            </a:extLst>
          </p:cNvPr>
          <p:cNvSpPr/>
          <p:nvPr/>
        </p:nvSpPr>
        <p:spPr>
          <a:xfrm>
            <a:off x="532687" y="1402671"/>
            <a:ext cx="11092761" cy="1313180"/>
          </a:xfrm>
          <a:prstGeom prst="rect">
            <a:avLst/>
          </a:prstGeom>
        </p:spPr>
        <p:txBody>
          <a:bodyPr wrap="square">
            <a:spAutoFit/>
          </a:bodyPr>
          <a:lstStyle/>
          <a:p>
            <a:pPr marL="457200" indent="-457200">
              <a:spcAft>
                <a:spcPts val="800"/>
              </a:spcAft>
              <a:buFont typeface="Arial" panose="020B0604020202020204" pitchFamily="34" charset="0"/>
              <a:buChar char="•"/>
            </a:pPr>
            <a:r>
              <a:rPr lang="en-US" sz="2200" dirty="0"/>
              <a:t>Security groups have </a:t>
            </a:r>
            <a:r>
              <a:rPr lang="en-US" sz="2200" dirty="0">
                <a:solidFill>
                  <a:schemeClr val="accent6"/>
                </a:solidFill>
              </a:rPr>
              <a:t>rules </a:t>
            </a:r>
            <a:r>
              <a:rPr lang="en-US" sz="2200" dirty="0"/>
              <a:t>that control inbound and outbound instance traffic. </a:t>
            </a:r>
          </a:p>
          <a:p>
            <a:pPr marL="457200" indent="-457200">
              <a:spcAft>
                <a:spcPts val="800"/>
              </a:spcAft>
              <a:buFont typeface="Arial" panose="020B0604020202020204" pitchFamily="34" charset="0"/>
              <a:buChar char="•"/>
            </a:pPr>
            <a:r>
              <a:rPr lang="en-US" sz="2200" dirty="0"/>
              <a:t>Default security groups </a:t>
            </a:r>
            <a:r>
              <a:rPr lang="en-US" sz="2200" dirty="0">
                <a:solidFill>
                  <a:schemeClr val="accent6"/>
                </a:solidFill>
              </a:rPr>
              <a:t>deny all inbound </a:t>
            </a:r>
            <a:r>
              <a:rPr lang="en-US" sz="2200" dirty="0"/>
              <a:t>traffic and </a:t>
            </a:r>
            <a:r>
              <a:rPr lang="en-US" sz="2200" dirty="0">
                <a:solidFill>
                  <a:schemeClr val="accent6"/>
                </a:solidFill>
              </a:rPr>
              <a:t>allow all outbound </a:t>
            </a:r>
            <a:r>
              <a:rPr lang="en-US" sz="2200" dirty="0"/>
              <a:t>traffic.</a:t>
            </a:r>
          </a:p>
          <a:p>
            <a:pPr marL="457200" indent="-457200">
              <a:spcAft>
                <a:spcPts val="800"/>
              </a:spcAft>
              <a:buFont typeface="Arial" panose="020B0604020202020204" pitchFamily="34" charset="0"/>
              <a:buChar char="•"/>
            </a:pPr>
            <a:r>
              <a:rPr lang="en-US" sz="2200" dirty="0"/>
              <a:t>Security groups are </a:t>
            </a:r>
            <a:r>
              <a:rPr lang="en-US" sz="2200" dirty="0">
                <a:solidFill>
                  <a:schemeClr val="accent6"/>
                </a:solidFill>
              </a:rPr>
              <a:t>stateful</a:t>
            </a:r>
            <a:r>
              <a:rPr lang="en-US" sz="2200" dirty="0"/>
              <a:t>.</a:t>
            </a:r>
          </a:p>
        </p:txBody>
      </p:sp>
      <p:sp>
        <p:nvSpPr>
          <p:cNvPr id="13" name="TextBox 12">
            <a:extLst>
              <a:ext uri="{FF2B5EF4-FFF2-40B4-BE49-F238E27FC236}">
                <a16:creationId xmlns:a16="http://schemas.microsoft.com/office/drawing/2014/main" id="{8388877F-DDB7-0956-1CB5-AEE58C5ACCE4}"/>
              </a:ext>
            </a:extLst>
          </p:cNvPr>
          <p:cNvSpPr txBox="1"/>
          <p:nvPr/>
        </p:nvSpPr>
        <p:spPr>
          <a:xfrm>
            <a:off x="655461" y="2712730"/>
            <a:ext cx="10847211" cy="366210"/>
          </a:xfrm>
          <a:prstGeom prst="rect">
            <a:avLst/>
          </a:prstGeom>
          <a:solidFill>
            <a:schemeClr val="tx1"/>
          </a:solidFill>
        </p:spPr>
        <p:txBody>
          <a:bodyPr wrap="square" rtlCol="0">
            <a:spAutoFit/>
          </a:bodyPr>
          <a:lstStyle/>
          <a:p>
            <a:pPr algn="ctr"/>
            <a:r>
              <a:rPr lang="en-US">
                <a:solidFill>
                  <a:schemeClr val="bg1"/>
                </a:solidFill>
              </a:rPr>
              <a:t>Inbound</a:t>
            </a:r>
          </a:p>
        </p:txBody>
      </p:sp>
      <p:graphicFrame>
        <p:nvGraphicFramePr>
          <p:cNvPr id="14" name="Table 13">
            <a:extLst>
              <a:ext uri="{FF2B5EF4-FFF2-40B4-BE49-F238E27FC236}">
                <a16:creationId xmlns:a16="http://schemas.microsoft.com/office/drawing/2014/main" id="{3D58B87B-7CCF-B309-8304-EDB55CCBFA8B}"/>
              </a:ext>
            </a:extLst>
          </p:cNvPr>
          <p:cNvGraphicFramePr>
            <a:graphicFrameLocks noGrp="1"/>
          </p:cNvGraphicFramePr>
          <p:nvPr>
            <p:extLst>
              <p:ext uri="{D42A27DB-BD31-4B8C-83A1-F6EECF244321}">
                <p14:modId xmlns:p14="http://schemas.microsoft.com/office/powerpoint/2010/main" val="4021791838"/>
              </p:ext>
            </p:extLst>
          </p:nvPr>
        </p:nvGraphicFramePr>
        <p:xfrm>
          <a:off x="638528" y="3078940"/>
          <a:ext cx="10881078" cy="1010920"/>
        </p:xfrm>
        <a:graphic>
          <a:graphicData uri="http://schemas.openxmlformats.org/drawingml/2006/table">
            <a:tbl>
              <a:tblPr firstRow="1">
                <a:tableStyleId>{5C22544A-7EE6-4342-B048-85BDC9FD1C3A}</a:tableStyleId>
              </a:tblPr>
              <a:tblGrid>
                <a:gridCol w="1840604">
                  <a:extLst>
                    <a:ext uri="{9D8B030D-6E8A-4147-A177-3AD203B41FA5}">
                      <a16:colId xmlns:a16="http://schemas.microsoft.com/office/drawing/2014/main" val="1178131056"/>
                    </a:ext>
                  </a:extLst>
                </a:gridCol>
                <a:gridCol w="1272746">
                  <a:extLst>
                    <a:ext uri="{9D8B030D-6E8A-4147-A177-3AD203B41FA5}">
                      <a16:colId xmlns:a16="http://schemas.microsoft.com/office/drawing/2014/main" val="470111755"/>
                    </a:ext>
                  </a:extLst>
                </a:gridCol>
                <a:gridCol w="1495167">
                  <a:extLst>
                    <a:ext uri="{9D8B030D-6E8A-4147-A177-3AD203B41FA5}">
                      <a16:colId xmlns:a16="http://schemas.microsoft.com/office/drawing/2014/main" val="672005831"/>
                    </a:ext>
                  </a:extLst>
                </a:gridCol>
                <a:gridCol w="6272561">
                  <a:extLst>
                    <a:ext uri="{9D8B030D-6E8A-4147-A177-3AD203B41FA5}">
                      <a16:colId xmlns:a16="http://schemas.microsoft.com/office/drawing/2014/main" val="166126738"/>
                    </a:ext>
                  </a:extLst>
                </a:gridCol>
              </a:tblGrid>
              <a:tr h="370840">
                <a:tc>
                  <a:txBody>
                    <a:bodyPr/>
                    <a:lstStyle/>
                    <a:p>
                      <a:pPr algn="ctr"/>
                      <a:r>
                        <a:rPr lang="en-US" dirty="0">
                          <a:solidFill>
                            <a:schemeClr val="tx1"/>
                          </a:solidFill>
                          <a:latin typeface="Amazon Ember" panose="020B0603020204020204" pitchFamily="34" charset="0"/>
                          <a:ea typeface="Amazon Ember" panose="020B0603020204020204" pitchFamily="34" charset="0"/>
                          <a:cs typeface="Amazon Ember" panose="020B0603020204020204" pitchFamily="34" charset="0"/>
                        </a:rPr>
                        <a:t>Source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Description</a:t>
                      </a:r>
                    </a:p>
                  </a:txBody>
                  <a:tcPr>
                    <a:solidFill>
                      <a:schemeClr val="accent2"/>
                    </a:solidFill>
                  </a:tcPr>
                </a:tc>
                <a:extLst>
                  <a:ext uri="{0D108BD9-81ED-4DB2-BD59-A6C34878D82A}">
                    <a16:rowId xmlns:a16="http://schemas.microsoft.com/office/drawing/2014/main" val="14650053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sg-</a:t>
                      </a:r>
                      <a:r>
                        <a:rPr lang="en-US" i="1" err="1"/>
                        <a:t>xxxxxxxx</a:t>
                      </a:r>
                      <a:endParaRPr lang="en-US"/>
                    </a:p>
                  </a:txBody>
                  <a:tcPr/>
                </a:tc>
                <a:tc>
                  <a:txBody>
                    <a:bodyPr/>
                    <a:lstStyle/>
                    <a:p>
                      <a:pPr algn="ctr"/>
                      <a:r>
                        <a:rPr lang="en-US"/>
                        <a:t>All</a:t>
                      </a:r>
                    </a:p>
                  </a:txBody>
                  <a:tcPr/>
                </a:tc>
                <a:tc>
                  <a:txBody>
                    <a:bodyPr/>
                    <a:lstStyle/>
                    <a:p>
                      <a:pPr algn="ctr"/>
                      <a:r>
                        <a:rPr lang="en-US"/>
                        <a:t>All</a:t>
                      </a:r>
                    </a:p>
                  </a:txBody>
                  <a:tcPr/>
                </a:tc>
                <a:tc>
                  <a:txBody>
                    <a:bodyPr/>
                    <a:lstStyle/>
                    <a:p>
                      <a:pPr algn="l"/>
                      <a:r>
                        <a:rPr lang="en-US" dirty="0"/>
                        <a:t>Allow inbound traffic from network interfaces assigned to the same security group. </a:t>
                      </a:r>
                    </a:p>
                  </a:txBody>
                  <a:tcPr/>
                </a:tc>
                <a:extLst>
                  <a:ext uri="{0D108BD9-81ED-4DB2-BD59-A6C34878D82A}">
                    <a16:rowId xmlns:a16="http://schemas.microsoft.com/office/drawing/2014/main" val="149808920"/>
                  </a:ext>
                </a:extLst>
              </a:tr>
            </a:tbl>
          </a:graphicData>
        </a:graphic>
      </p:graphicFrame>
      <p:sp>
        <p:nvSpPr>
          <p:cNvPr id="15" name="TextBox 14">
            <a:extLst>
              <a:ext uri="{FF2B5EF4-FFF2-40B4-BE49-F238E27FC236}">
                <a16:creationId xmlns:a16="http://schemas.microsoft.com/office/drawing/2014/main" id="{9C9F0F9B-582F-1F54-1F08-0FFEB35BB15F}"/>
              </a:ext>
            </a:extLst>
          </p:cNvPr>
          <p:cNvSpPr txBox="1"/>
          <p:nvPr/>
        </p:nvSpPr>
        <p:spPr>
          <a:xfrm>
            <a:off x="672395" y="4282867"/>
            <a:ext cx="10847211" cy="366210"/>
          </a:xfrm>
          <a:prstGeom prst="rect">
            <a:avLst/>
          </a:prstGeom>
          <a:solidFill>
            <a:schemeClr val="tx1"/>
          </a:solidFill>
        </p:spPr>
        <p:txBody>
          <a:bodyPr wrap="square" rtlCol="0">
            <a:spAutoFit/>
          </a:bodyPr>
          <a:lstStyle/>
          <a:p>
            <a:pPr algn="ctr"/>
            <a:r>
              <a:rPr lang="en-US">
                <a:solidFill>
                  <a:schemeClr val="bg1"/>
                </a:solidFill>
              </a:rPr>
              <a:t>Outbound</a:t>
            </a:r>
          </a:p>
        </p:txBody>
      </p:sp>
      <p:graphicFrame>
        <p:nvGraphicFramePr>
          <p:cNvPr id="16" name="Table 15">
            <a:extLst>
              <a:ext uri="{FF2B5EF4-FFF2-40B4-BE49-F238E27FC236}">
                <a16:creationId xmlns:a16="http://schemas.microsoft.com/office/drawing/2014/main" id="{3E4567D0-E3E1-FC6C-665B-BCBDED558F28}"/>
              </a:ext>
            </a:extLst>
          </p:cNvPr>
          <p:cNvGraphicFramePr>
            <a:graphicFrameLocks noGrp="1"/>
          </p:cNvGraphicFramePr>
          <p:nvPr>
            <p:extLst>
              <p:ext uri="{D42A27DB-BD31-4B8C-83A1-F6EECF244321}">
                <p14:modId xmlns:p14="http://schemas.microsoft.com/office/powerpoint/2010/main" val="3297390992"/>
              </p:ext>
            </p:extLst>
          </p:nvPr>
        </p:nvGraphicFramePr>
        <p:xfrm>
          <a:off x="655462" y="4648331"/>
          <a:ext cx="10847211" cy="1112520"/>
        </p:xfrm>
        <a:graphic>
          <a:graphicData uri="http://schemas.openxmlformats.org/drawingml/2006/table">
            <a:tbl>
              <a:tblPr firstRow="1">
                <a:tableStyleId>{5C22544A-7EE6-4342-B048-85BDC9FD1C3A}</a:tableStyleId>
              </a:tblPr>
              <a:tblGrid>
                <a:gridCol w="1856214">
                  <a:extLst>
                    <a:ext uri="{9D8B030D-6E8A-4147-A177-3AD203B41FA5}">
                      <a16:colId xmlns:a16="http://schemas.microsoft.com/office/drawing/2014/main" val="1178131056"/>
                    </a:ext>
                  </a:extLst>
                </a:gridCol>
                <a:gridCol w="1262106">
                  <a:extLst>
                    <a:ext uri="{9D8B030D-6E8A-4147-A177-3AD203B41FA5}">
                      <a16:colId xmlns:a16="http://schemas.microsoft.com/office/drawing/2014/main" val="470111755"/>
                    </a:ext>
                  </a:extLst>
                </a:gridCol>
                <a:gridCol w="1358265">
                  <a:extLst>
                    <a:ext uri="{9D8B030D-6E8A-4147-A177-3AD203B41FA5}">
                      <a16:colId xmlns:a16="http://schemas.microsoft.com/office/drawing/2014/main" val="672005831"/>
                    </a:ext>
                  </a:extLst>
                </a:gridCol>
                <a:gridCol w="6370626">
                  <a:extLst>
                    <a:ext uri="{9D8B030D-6E8A-4147-A177-3AD203B41FA5}">
                      <a16:colId xmlns:a16="http://schemas.microsoft.com/office/drawing/2014/main" val="166126738"/>
                    </a:ext>
                  </a:extLst>
                </a:gridCol>
              </a:tblGrid>
              <a:tr h="370840">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Destination</a:t>
                      </a:r>
                    </a:p>
                  </a:txBody>
                  <a:tcPr>
                    <a:solidFill>
                      <a:schemeClr val="accent2"/>
                    </a:solidFill>
                  </a:tcPr>
                </a:tc>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solidFill>
                      <a:schemeClr val="accent2"/>
                    </a:solidFill>
                  </a:tcPr>
                </a:tc>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solidFill>
                      <a:schemeClr val="accent2"/>
                    </a:solidFill>
                  </a:tcPr>
                </a:tc>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Description</a:t>
                      </a:r>
                    </a:p>
                  </a:txBody>
                  <a:tcPr>
                    <a:solidFill>
                      <a:schemeClr val="accent2"/>
                    </a:solidFill>
                  </a:tcPr>
                </a:tc>
                <a:extLst>
                  <a:ext uri="{0D108BD9-81ED-4DB2-BD59-A6C34878D82A}">
                    <a16:rowId xmlns:a16="http://schemas.microsoft.com/office/drawing/2014/main" val="14650053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0.0.0.0/0</a:t>
                      </a:r>
                    </a:p>
                  </a:txBody>
                  <a:tcPr/>
                </a:tc>
                <a:tc>
                  <a:txBody>
                    <a:bodyPr/>
                    <a:lstStyle/>
                    <a:p>
                      <a:pPr algn="ctr"/>
                      <a:r>
                        <a:rPr lang="en-US"/>
                        <a:t>All</a:t>
                      </a:r>
                    </a:p>
                  </a:txBody>
                  <a:tcPr/>
                </a:tc>
                <a:tc>
                  <a:txBody>
                    <a:bodyPr/>
                    <a:lstStyle/>
                    <a:p>
                      <a:pPr algn="ctr"/>
                      <a:r>
                        <a:rPr lang="en-US"/>
                        <a:t>All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Allow all outbound IPv4 traffic.</a:t>
                      </a:r>
                    </a:p>
                  </a:txBody>
                  <a:tcPr/>
                </a:tc>
                <a:extLst>
                  <a:ext uri="{0D108BD9-81ED-4DB2-BD59-A6C34878D82A}">
                    <a16:rowId xmlns:a16="http://schemas.microsoft.com/office/drawing/2014/main" val="14980892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a:t>
                      </a:r>
                    </a:p>
                  </a:txBody>
                  <a:tcPr/>
                </a:tc>
                <a:tc>
                  <a:txBody>
                    <a:bodyPr/>
                    <a:lstStyle/>
                    <a:p>
                      <a:pPr algn="ctr"/>
                      <a:r>
                        <a:rPr lang="en-US"/>
                        <a:t>All</a:t>
                      </a:r>
                    </a:p>
                  </a:txBody>
                  <a:tcPr/>
                </a:tc>
                <a:tc>
                  <a:txBody>
                    <a:bodyPr/>
                    <a:lstStyle/>
                    <a:p>
                      <a:pPr algn="ctr"/>
                      <a:r>
                        <a:rPr lang="en-US"/>
                        <a:t>All</a:t>
                      </a:r>
                    </a:p>
                  </a:txBody>
                  <a:tcPr/>
                </a:tc>
                <a:tc>
                  <a:txBody>
                    <a:bodyPr/>
                    <a:lstStyle/>
                    <a:p>
                      <a:pPr algn="l"/>
                      <a:r>
                        <a:rPr lang="en-US"/>
                        <a:t>Allow all outbound IPv6 traffic. </a:t>
                      </a:r>
                    </a:p>
                  </a:txBody>
                  <a:tcPr/>
                </a:tc>
                <a:extLst>
                  <a:ext uri="{0D108BD9-81ED-4DB2-BD59-A6C34878D82A}">
                    <a16:rowId xmlns:a16="http://schemas.microsoft.com/office/drawing/2014/main" val="1153191234"/>
                  </a:ext>
                </a:extLst>
              </a:tr>
            </a:tbl>
          </a:graphicData>
        </a:graphic>
      </p:graphicFrame>
    </p:spTree>
    <p:extLst>
      <p:ext uri="{BB962C8B-B14F-4D97-AF65-F5344CB8AC3E}">
        <p14:creationId xmlns:p14="http://schemas.microsoft.com/office/powerpoint/2010/main" val="2588228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0BD31-4B33-47EF-8D34-06A5378F533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0BD578E-6573-B694-B8D1-C151D4E1B8AC}"/>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Custom security group examples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B8CBCF60-9AE7-93EF-65A0-C7DF041D3FF5}"/>
              </a:ext>
            </a:extLst>
          </p:cNvPr>
          <p:cNvSpPr/>
          <p:nvPr/>
        </p:nvSpPr>
        <p:spPr>
          <a:xfrm>
            <a:off x="658368" y="1003136"/>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FB034EDF-D4BC-BF7D-BC28-814321EDE137}"/>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8138397-4CC0-1131-3041-0B86087D2912}"/>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D06DAB84-9347-2FB8-12D7-9F8F01C2108B}"/>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8</a:t>
            </a:r>
          </a:p>
        </p:txBody>
      </p:sp>
      <p:sp>
        <p:nvSpPr>
          <p:cNvPr id="4" name="TextBox 6">
            <a:extLst>
              <a:ext uri="{FF2B5EF4-FFF2-40B4-BE49-F238E27FC236}">
                <a16:creationId xmlns:a16="http://schemas.microsoft.com/office/drawing/2014/main" id="{44215F0D-A3DF-2C1F-AA1E-BD03ACB59A86}"/>
              </a:ext>
            </a:extLst>
          </p:cNvPr>
          <p:cNvSpPr txBox="1"/>
          <p:nvPr/>
        </p:nvSpPr>
        <p:spPr>
          <a:xfrm>
            <a:off x="556895" y="1284022"/>
            <a:ext cx="10864850"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Clr>
                <a:schemeClr val="tx1"/>
              </a:buClr>
              <a:buFont typeface="Arial" panose="020B0604020202020204" pitchFamily="34" charset="0"/>
              <a:buChar char="•"/>
            </a:pP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You can </a:t>
            </a:r>
            <a:r>
              <a:rPr lang="en-US" sz="2400" b="1"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specify allow </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rules, but not deny rules.</a:t>
            </a:r>
          </a:p>
          <a:p>
            <a:pPr marL="342900" indent="-342900">
              <a:buClr>
                <a:schemeClr val="tx1"/>
              </a:buClr>
              <a:buFont typeface="Arial" panose="020B0604020202020204" pitchFamily="34" charset="0"/>
              <a:buChar char="•"/>
            </a:pPr>
            <a:r>
              <a:rPr lang="en-US" sz="2400" b="1" dirty="0">
                <a:solidFill>
                  <a:schemeClr val="accent6"/>
                </a:solidFill>
                <a:latin typeface="Amazon Ember Light" panose="020B0403020204020204" pitchFamily="34" charset="0"/>
                <a:ea typeface="Amazon Ember Light" panose="020B0403020204020204" pitchFamily="34" charset="0"/>
                <a:cs typeface="Amazon Ember Light" panose="020B0403020204020204" pitchFamily="34" charset="0"/>
              </a:rPr>
              <a:t>All rules are evaluated </a:t>
            </a:r>
            <a:r>
              <a:rPr lang="en-US" sz="2400" dirty="0">
                <a:latin typeface="Amazon Ember Light" panose="020B0403020204020204" pitchFamily="34" charset="0"/>
                <a:ea typeface="Amazon Ember Light" panose="020B0403020204020204" pitchFamily="34" charset="0"/>
                <a:cs typeface="Amazon Ember Light" panose="020B0403020204020204" pitchFamily="34" charset="0"/>
              </a:rPr>
              <a:t>before the decision to allow traffic.</a:t>
            </a:r>
            <a:endParaRPr lang="en-US" sz="2800" dirty="0">
              <a:latin typeface="Amazon Ember Light" panose="020B0403020204020204" pitchFamily="34" charset="0"/>
              <a:ea typeface="Amazon Ember Light" panose="020B0403020204020204" pitchFamily="34" charset="0"/>
              <a:cs typeface="Amazon Ember Light" panose="020B0403020204020204" pitchFamily="34" charset="0"/>
            </a:endParaRPr>
          </a:p>
        </p:txBody>
      </p:sp>
      <p:sp>
        <p:nvSpPr>
          <p:cNvPr id="8" name="TextBox 7">
            <a:extLst>
              <a:ext uri="{FF2B5EF4-FFF2-40B4-BE49-F238E27FC236}">
                <a16:creationId xmlns:a16="http://schemas.microsoft.com/office/drawing/2014/main" id="{61FE5ECD-64E8-2970-861B-B4F2FFF35997}"/>
              </a:ext>
            </a:extLst>
          </p:cNvPr>
          <p:cNvSpPr txBox="1"/>
          <p:nvPr/>
        </p:nvSpPr>
        <p:spPr>
          <a:xfrm>
            <a:off x="556895" y="2145687"/>
            <a:ext cx="10864850" cy="369332"/>
          </a:xfrm>
          <a:prstGeom prst="rect">
            <a:avLst/>
          </a:prstGeom>
          <a:solidFill>
            <a:schemeClr val="tx1"/>
          </a:solidFill>
        </p:spPr>
        <p:txBody>
          <a:bodyPr wrap="square" rtlCol="0">
            <a:spAutoFit/>
          </a:bodyPr>
          <a:lstStyle/>
          <a:p>
            <a:pPr algn="ctr"/>
            <a:r>
              <a:rPr lang="en-US">
                <a:solidFill>
                  <a:schemeClr val="bg1"/>
                </a:solidFill>
              </a:rPr>
              <a:t>Inbound</a:t>
            </a:r>
          </a:p>
        </p:txBody>
      </p:sp>
      <p:graphicFrame>
        <p:nvGraphicFramePr>
          <p:cNvPr id="9" name="Table 8">
            <a:extLst>
              <a:ext uri="{FF2B5EF4-FFF2-40B4-BE49-F238E27FC236}">
                <a16:creationId xmlns:a16="http://schemas.microsoft.com/office/drawing/2014/main" id="{A9E2104D-3C8A-E30C-43D7-A5479926AA0C}"/>
              </a:ext>
            </a:extLst>
          </p:cNvPr>
          <p:cNvGraphicFramePr>
            <a:graphicFrameLocks noGrp="1"/>
          </p:cNvGraphicFramePr>
          <p:nvPr>
            <p:extLst>
              <p:ext uri="{D42A27DB-BD31-4B8C-83A1-F6EECF244321}">
                <p14:modId xmlns:p14="http://schemas.microsoft.com/office/powerpoint/2010/main" val="3471908039"/>
              </p:ext>
            </p:extLst>
          </p:nvPr>
        </p:nvGraphicFramePr>
        <p:xfrm>
          <a:off x="548781" y="2501718"/>
          <a:ext cx="10881078" cy="1752600"/>
        </p:xfrm>
        <a:graphic>
          <a:graphicData uri="http://schemas.openxmlformats.org/drawingml/2006/table">
            <a:tbl>
              <a:tblPr firstRow="1" bandRow="1">
                <a:tableStyleId>{5C22544A-7EE6-4342-B048-85BDC9FD1C3A}</a:tableStyleId>
              </a:tblPr>
              <a:tblGrid>
                <a:gridCol w="2353028">
                  <a:extLst>
                    <a:ext uri="{9D8B030D-6E8A-4147-A177-3AD203B41FA5}">
                      <a16:colId xmlns:a16="http://schemas.microsoft.com/office/drawing/2014/main" val="1178131056"/>
                    </a:ext>
                  </a:extLst>
                </a:gridCol>
                <a:gridCol w="1174044">
                  <a:extLst>
                    <a:ext uri="{9D8B030D-6E8A-4147-A177-3AD203B41FA5}">
                      <a16:colId xmlns:a16="http://schemas.microsoft.com/office/drawing/2014/main" val="470111755"/>
                    </a:ext>
                  </a:extLst>
                </a:gridCol>
                <a:gridCol w="1512711">
                  <a:extLst>
                    <a:ext uri="{9D8B030D-6E8A-4147-A177-3AD203B41FA5}">
                      <a16:colId xmlns:a16="http://schemas.microsoft.com/office/drawing/2014/main" val="672005831"/>
                    </a:ext>
                  </a:extLst>
                </a:gridCol>
                <a:gridCol w="5841295">
                  <a:extLst>
                    <a:ext uri="{9D8B030D-6E8A-4147-A177-3AD203B41FA5}">
                      <a16:colId xmlns:a16="http://schemas.microsoft.com/office/drawing/2014/main" val="166126738"/>
                    </a:ext>
                  </a:extLst>
                </a:gridCol>
              </a:tblGrid>
              <a:tr h="370840">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Source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solidFill>
                      <a:schemeClr val="accent2"/>
                    </a:solidFill>
                  </a:tcPr>
                </a:tc>
                <a:tc>
                  <a:txBody>
                    <a:bodyPr/>
                    <a:lstStyle/>
                    <a:p>
                      <a:pPr algn="ctr"/>
                      <a:r>
                        <a:rPr lang="en-US">
                          <a:solidFill>
                            <a:schemeClr val="tx1"/>
                          </a:solidFill>
                          <a:latin typeface="Amazon Ember" panose="020B0603020204020204" pitchFamily="34" charset="0"/>
                          <a:ea typeface="Amazon Ember" panose="020B0603020204020204" pitchFamily="34" charset="0"/>
                          <a:cs typeface="Amazon Ember" panose="020B0603020204020204" pitchFamily="34" charset="0"/>
                        </a:rPr>
                        <a:t>Description</a:t>
                      </a:r>
                    </a:p>
                  </a:txBody>
                  <a:tcPr>
                    <a:solidFill>
                      <a:schemeClr val="accent2"/>
                    </a:solidFill>
                  </a:tcPr>
                </a:tc>
                <a:extLst>
                  <a:ext uri="{0D108BD9-81ED-4DB2-BD59-A6C34878D82A}">
                    <a16:rowId xmlns:a16="http://schemas.microsoft.com/office/drawing/2014/main" val="14650053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0.0.0.0/0</a:t>
                      </a:r>
                    </a:p>
                  </a:txBody>
                  <a:tcPr/>
                </a:tc>
                <a:tc>
                  <a:txBody>
                    <a:bodyPr/>
                    <a:lstStyle/>
                    <a:p>
                      <a:pPr algn="ctr"/>
                      <a:r>
                        <a:rPr lang="en-US"/>
                        <a:t>TCP</a:t>
                      </a:r>
                    </a:p>
                  </a:txBody>
                  <a:tcPr/>
                </a:tc>
                <a:tc>
                  <a:txBody>
                    <a:bodyPr/>
                    <a:lstStyle/>
                    <a:p>
                      <a:pPr algn="ctr"/>
                      <a:r>
                        <a:rPr lang="en-US"/>
                        <a:t>80</a:t>
                      </a:r>
                    </a:p>
                  </a:txBody>
                  <a:tcPr/>
                </a:tc>
                <a:tc>
                  <a:txBody>
                    <a:bodyPr/>
                    <a:lstStyle/>
                    <a:p>
                      <a:pPr algn="l"/>
                      <a:r>
                        <a:rPr lang="en-US"/>
                        <a:t>Allow inbound HTTP access from all IPv4 addresses</a:t>
                      </a:r>
                    </a:p>
                  </a:txBody>
                  <a:tcPr/>
                </a:tc>
                <a:extLst>
                  <a:ext uri="{0D108BD9-81ED-4DB2-BD59-A6C34878D82A}">
                    <a16:rowId xmlns:a16="http://schemas.microsoft.com/office/drawing/2014/main" val="14980892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0.0.0.0/0</a:t>
                      </a:r>
                    </a:p>
                  </a:txBody>
                  <a:tcPr/>
                </a:tc>
                <a:tc>
                  <a:txBody>
                    <a:bodyPr/>
                    <a:lstStyle/>
                    <a:p>
                      <a:pPr algn="ctr"/>
                      <a:r>
                        <a:rPr lang="en-US"/>
                        <a:t>TCP</a:t>
                      </a:r>
                    </a:p>
                  </a:txBody>
                  <a:tcPr/>
                </a:tc>
                <a:tc>
                  <a:txBody>
                    <a:bodyPr/>
                    <a:lstStyle/>
                    <a:p>
                      <a:pPr algn="ctr"/>
                      <a:r>
                        <a:rPr lang="en-US"/>
                        <a:t>443</a:t>
                      </a:r>
                    </a:p>
                  </a:txBody>
                  <a:tcPr/>
                </a:tc>
                <a:tc>
                  <a:txBody>
                    <a:bodyPr/>
                    <a:lstStyle/>
                    <a:p>
                      <a:pPr algn="l"/>
                      <a:r>
                        <a:rPr lang="en-US"/>
                        <a:t>Allow inbound HTTPS access from all IPv4 addresses</a:t>
                      </a:r>
                    </a:p>
                  </a:txBody>
                  <a:tcPr/>
                </a:tc>
                <a:extLst>
                  <a:ext uri="{0D108BD9-81ED-4DB2-BD59-A6C34878D82A}">
                    <a16:rowId xmlns:a16="http://schemas.microsoft.com/office/drawing/2014/main" val="232955505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Your network's public IPv4 address range</a:t>
                      </a:r>
                    </a:p>
                  </a:txBody>
                  <a:tcPr/>
                </a:tc>
                <a:tc>
                  <a:txBody>
                    <a:bodyPr/>
                    <a:lstStyle/>
                    <a:p>
                      <a:pPr algn="ctr"/>
                      <a:r>
                        <a:rPr lang="en-US"/>
                        <a:t>TCP</a:t>
                      </a:r>
                    </a:p>
                  </a:txBody>
                  <a:tcPr/>
                </a:tc>
                <a:tc>
                  <a:txBody>
                    <a:bodyPr/>
                    <a:lstStyle/>
                    <a:p>
                      <a:pPr algn="ctr"/>
                      <a:r>
                        <a:rPr lang="en-US"/>
                        <a:t>22</a:t>
                      </a:r>
                    </a:p>
                  </a:txBody>
                  <a:tcPr/>
                </a:tc>
                <a:tc>
                  <a:txBody>
                    <a:bodyPr/>
                    <a:lstStyle/>
                    <a:p>
                      <a:pPr algn="l"/>
                      <a:r>
                        <a:rPr lang="en-US"/>
                        <a:t>Allow inbound SSH access to Linux instances from IPv4 IP addresses in your network (over the internet gateway) </a:t>
                      </a:r>
                    </a:p>
                  </a:txBody>
                  <a:tcPr/>
                </a:tc>
                <a:extLst>
                  <a:ext uri="{0D108BD9-81ED-4DB2-BD59-A6C34878D82A}">
                    <a16:rowId xmlns:a16="http://schemas.microsoft.com/office/drawing/2014/main" val="1219165995"/>
                  </a:ext>
                </a:extLst>
              </a:tr>
            </a:tbl>
          </a:graphicData>
        </a:graphic>
      </p:graphicFrame>
      <p:sp>
        <p:nvSpPr>
          <p:cNvPr id="10" name="TextBox 9">
            <a:extLst>
              <a:ext uri="{FF2B5EF4-FFF2-40B4-BE49-F238E27FC236}">
                <a16:creationId xmlns:a16="http://schemas.microsoft.com/office/drawing/2014/main" id="{91CFD4CA-3A1A-7771-52DA-3B31064CF6DA}"/>
              </a:ext>
            </a:extLst>
          </p:cNvPr>
          <p:cNvSpPr txBox="1"/>
          <p:nvPr/>
        </p:nvSpPr>
        <p:spPr>
          <a:xfrm>
            <a:off x="548781" y="4549127"/>
            <a:ext cx="10847211" cy="366210"/>
          </a:xfrm>
          <a:prstGeom prst="rect">
            <a:avLst/>
          </a:prstGeom>
          <a:solidFill>
            <a:schemeClr val="tx1"/>
          </a:solidFill>
        </p:spPr>
        <p:txBody>
          <a:bodyPr wrap="square" rtlCol="0">
            <a:spAutoFit/>
          </a:bodyPr>
          <a:lstStyle/>
          <a:p>
            <a:pPr algn="ctr"/>
            <a:r>
              <a:rPr lang="en-US">
                <a:solidFill>
                  <a:schemeClr val="bg1"/>
                </a:solidFill>
              </a:rPr>
              <a:t>Outbound</a:t>
            </a:r>
          </a:p>
        </p:txBody>
      </p:sp>
      <p:graphicFrame>
        <p:nvGraphicFramePr>
          <p:cNvPr id="11" name="Table 10">
            <a:extLst>
              <a:ext uri="{FF2B5EF4-FFF2-40B4-BE49-F238E27FC236}">
                <a16:creationId xmlns:a16="http://schemas.microsoft.com/office/drawing/2014/main" id="{F810B62F-B772-ABA1-E466-4B2FB59A5BA6}"/>
              </a:ext>
            </a:extLst>
          </p:cNvPr>
          <p:cNvGraphicFramePr>
            <a:graphicFrameLocks noGrp="1"/>
          </p:cNvGraphicFramePr>
          <p:nvPr>
            <p:extLst>
              <p:ext uri="{D42A27DB-BD31-4B8C-83A1-F6EECF244321}">
                <p14:modId xmlns:p14="http://schemas.microsoft.com/office/powerpoint/2010/main" val="3542874240"/>
              </p:ext>
            </p:extLst>
          </p:nvPr>
        </p:nvGraphicFramePr>
        <p:xfrm>
          <a:off x="565009" y="4915337"/>
          <a:ext cx="10864850" cy="1285240"/>
        </p:xfrm>
        <a:graphic>
          <a:graphicData uri="http://schemas.openxmlformats.org/drawingml/2006/table">
            <a:tbl>
              <a:tblPr firstRow="1">
                <a:tableStyleId>{5C22544A-7EE6-4342-B048-85BDC9FD1C3A}</a:tableStyleId>
              </a:tblPr>
              <a:tblGrid>
                <a:gridCol w="3131961">
                  <a:extLst>
                    <a:ext uri="{9D8B030D-6E8A-4147-A177-3AD203B41FA5}">
                      <a16:colId xmlns:a16="http://schemas.microsoft.com/office/drawing/2014/main" val="1178131056"/>
                    </a:ext>
                  </a:extLst>
                </a:gridCol>
                <a:gridCol w="1162755">
                  <a:extLst>
                    <a:ext uri="{9D8B030D-6E8A-4147-A177-3AD203B41FA5}">
                      <a16:colId xmlns:a16="http://schemas.microsoft.com/office/drawing/2014/main" val="470111755"/>
                    </a:ext>
                  </a:extLst>
                </a:gridCol>
                <a:gridCol w="1456267">
                  <a:extLst>
                    <a:ext uri="{9D8B030D-6E8A-4147-A177-3AD203B41FA5}">
                      <a16:colId xmlns:a16="http://schemas.microsoft.com/office/drawing/2014/main" val="672005831"/>
                    </a:ext>
                  </a:extLst>
                </a:gridCol>
                <a:gridCol w="5113867">
                  <a:extLst>
                    <a:ext uri="{9D8B030D-6E8A-4147-A177-3AD203B41FA5}">
                      <a16:colId xmlns:a16="http://schemas.microsoft.com/office/drawing/2014/main" val="166126738"/>
                    </a:ext>
                  </a:extLst>
                </a:gridCol>
              </a:tblGrid>
              <a:tr h="370840">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Destination</a:t>
                      </a:r>
                    </a:p>
                  </a:txBody>
                  <a:tcPr>
                    <a:solidFill>
                      <a:schemeClr val="accent2"/>
                    </a:solidFill>
                  </a:tcPr>
                </a:tc>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Protocol</a:t>
                      </a:r>
                    </a:p>
                  </a:txBody>
                  <a:tcPr>
                    <a:solidFill>
                      <a:schemeClr val="accent2"/>
                    </a:solidFill>
                  </a:tcPr>
                </a:tc>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Port Range</a:t>
                      </a:r>
                    </a:p>
                  </a:txBody>
                  <a:tcPr>
                    <a:solidFill>
                      <a:schemeClr val="accent2"/>
                    </a:solidFill>
                  </a:tcPr>
                </a:tc>
                <a:tc>
                  <a:txBody>
                    <a:bodyPr/>
                    <a:lstStyle/>
                    <a:p>
                      <a:pPr algn="ctr"/>
                      <a:r>
                        <a:rPr lang="en-US" b="0">
                          <a:solidFill>
                            <a:schemeClr val="tx1"/>
                          </a:solidFill>
                          <a:latin typeface="Amazon Ember" panose="020B0603020204020204" pitchFamily="34" charset="0"/>
                          <a:ea typeface="Amazon Ember" panose="020B0603020204020204" pitchFamily="34" charset="0"/>
                          <a:cs typeface="Amazon Ember" panose="020B0603020204020204" pitchFamily="34" charset="0"/>
                        </a:rPr>
                        <a:t>Description</a:t>
                      </a:r>
                    </a:p>
                  </a:txBody>
                  <a:tcPr>
                    <a:solidFill>
                      <a:schemeClr val="accent2"/>
                    </a:solidFill>
                  </a:tcPr>
                </a:tc>
                <a:extLst>
                  <a:ext uri="{0D108BD9-81ED-4DB2-BD59-A6C34878D82A}">
                    <a16:rowId xmlns:a16="http://schemas.microsoft.com/office/drawing/2014/main" val="1465005308"/>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t>The ID of the security group for your Microsoft SQL Server database servers</a:t>
                      </a:r>
                    </a:p>
                  </a:txBody>
                  <a:tcPr/>
                </a:tc>
                <a:tc>
                  <a:txBody>
                    <a:bodyPr/>
                    <a:lstStyle/>
                    <a:p>
                      <a:pPr algn="ctr"/>
                      <a:r>
                        <a:rPr lang="en-US"/>
                        <a:t>TCP</a:t>
                      </a:r>
                    </a:p>
                  </a:txBody>
                  <a:tcPr/>
                </a:tc>
                <a:tc>
                  <a:txBody>
                    <a:bodyPr/>
                    <a:lstStyle/>
                    <a:p>
                      <a:pPr algn="ctr"/>
                      <a:r>
                        <a:rPr lang="en-US"/>
                        <a:t>1433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Allow outbound Microsoft SQL Server access to instances in the specified security group </a:t>
                      </a:r>
                    </a:p>
                  </a:txBody>
                  <a:tcPr/>
                </a:tc>
                <a:extLst>
                  <a:ext uri="{0D108BD9-81ED-4DB2-BD59-A6C34878D82A}">
                    <a16:rowId xmlns:a16="http://schemas.microsoft.com/office/drawing/2014/main" val="149808920"/>
                  </a:ext>
                </a:extLst>
              </a:tr>
            </a:tbl>
          </a:graphicData>
        </a:graphic>
      </p:graphicFrame>
    </p:spTree>
    <p:extLst>
      <p:ext uri="{BB962C8B-B14F-4D97-AF65-F5344CB8AC3E}">
        <p14:creationId xmlns:p14="http://schemas.microsoft.com/office/powerpoint/2010/main" val="20715694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EDD19-471D-0769-05F2-6F67DF8E8C5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0833C61-F344-A2E6-E549-5202F844C3B5}"/>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Security groups and network ACL scope</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5B0A2C3C-BA48-FE64-17AA-B7A6729F40BE}"/>
              </a:ext>
            </a:extLst>
          </p:cNvPr>
          <p:cNvSpPr/>
          <p:nvPr/>
        </p:nvSpPr>
        <p:spPr>
          <a:xfrm>
            <a:off x="658368" y="1003136"/>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8491F136-C22D-B1C9-47EF-D46915D1CA69}"/>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657BF63D-5773-9B56-5F51-445C0E476064}"/>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C2203A0D-1C7D-1FCE-A08E-D071F7E63637}"/>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8</a:t>
            </a:r>
          </a:p>
        </p:txBody>
      </p:sp>
      <p:grpSp>
        <p:nvGrpSpPr>
          <p:cNvPr id="8" name="FlattenSecvsACL" descr="Network ACL and security group protecting an EC2 instance in a private subnet.&#10;">
            <a:extLst>
              <a:ext uri="{FF2B5EF4-FFF2-40B4-BE49-F238E27FC236}">
                <a16:creationId xmlns:a16="http://schemas.microsoft.com/office/drawing/2014/main" id="{16EBCE14-9C6C-72DB-B7F7-DACCA12348D5}"/>
              </a:ext>
            </a:extLst>
          </p:cNvPr>
          <p:cNvGrpSpPr/>
          <p:nvPr/>
        </p:nvGrpSpPr>
        <p:grpSpPr>
          <a:xfrm>
            <a:off x="-344392" y="1218891"/>
            <a:ext cx="11696665" cy="5406162"/>
            <a:chOff x="-344392" y="1218891"/>
            <a:chExt cx="11696665" cy="5406162"/>
          </a:xfrm>
        </p:grpSpPr>
        <p:pic>
          <p:nvPicPr>
            <p:cNvPr id="9" name="Graphic 8">
              <a:extLst>
                <a:ext uri="{FF2B5EF4-FFF2-40B4-BE49-F238E27FC236}">
                  <a16:creationId xmlns:a16="http://schemas.microsoft.com/office/drawing/2014/main" id="{4B81A188-24E8-3AA5-576E-267691D297D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4392" y="1218891"/>
              <a:ext cx="5082767" cy="5406162"/>
            </a:xfrm>
            <a:prstGeom prst="rect">
              <a:avLst/>
            </a:prstGeom>
          </p:spPr>
        </p:pic>
        <p:sp>
          <p:nvSpPr>
            <p:cNvPr id="10" name="Rectangle 9">
              <a:extLst>
                <a:ext uri="{FF2B5EF4-FFF2-40B4-BE49-F238E27FC236}">
                  <a16:creationId xmlns:a16="http://schemas.microsoft.com/office/drawing/2014/main" id="{E0BE7DB5-6A7E-F423-4708-259D0B013835}"/>
                </a:ext>
              </a:extLst>
            </p:cNvPr>
            <p:cNvSpPr/>
            <p:nvPr/>
          </p:nvSpPr>
          <p:spPr>
            <a:xfrm>
              <a:off x="1993269" y="3182103"/>
              <a:ext cx="356455" cy="372484"/>
            </a:xfrm>
            <a:prstGeom prst="rect">
              <a:avLst/>
            </a:prstGeom>
            <a:solidFill>
              <a:srgbClr val="DD344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2FAF66B-CA8F-86DC-3364-2982FDB45691}"/>
                </a:ext>
              </a:extLst>
            </p:cNvPr>
            <p:cNvSpPr/>
            <p:nvPr/>
          </p:nvSpPr>
          <p:spPr>
            <a:xfrm>
              <a:off x="1993269" y="5057826"/>
              <a:ext cx="400231" cy="545423"/>
            </a:xfrm>
            <a:prstGeom prst="rect">
              <a:avLst/>
            </a:prstGeom>
            <a:solidFill>
              <a:srgbClr val="7C5AE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3517B47-74D3-EA33-6E10-9528962C149D}"/>
                </a:ext>
              </a:extLst>
            </p:cNvPr>
            <p:cNvSpPr/>
            <p:nvPr/>
          </p:nvSpPr>
          <p:spPr>
            <a:xfrm>
              <a:off x="8061821" y="1706880"/>
              <a:ext cx="3290452" cy="4353665"/>
            </a:xfrm>
            <a:prstGeom prst="rect">
              <a:avLst/>
            </a:prstGeom>
            <a:noFill/>
            <a:ln w="15875">
              <a:solidFill>
                <a:srgbClr val="00A4A6"/>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02920" tIns="91440" bIns="45720"/>
            <a:lstStyle/>
            <a:p>
              <a:pP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Private subnet</a:t>
              </a:r>
            </a:p>
          </p:txBody>
        </p:sp>
        <p:sp>
          <p:nvSpPr>
            <p:cNvPr id="13" name="Rectangle 12">
              <a:extLst>
                <a:ext uri="{FF2B5EF4-FFF2-40B4-BE49-F238E27FC236}">
                  <a16:creationId xmlns:a16="http://schemas.microsoft.com/office/drawing/2014/main" id="{66B6A2AA-7936-4862-971C-3E5664B28A54}"/>
                </a:ext>
              </a:extLst>
            </p:cNvPr>
            <p:cNvSpPr/>
            <p:nvPr/>
          </p:nvSpPr>
          <p:spPr>
            <a:xfrm>
              <a:off x="7237228" y="3916653"/>
              <a:ext cx="156909" cy="10358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AA96F82A-7E3F-D56E-8B58-2643451BD9B3}"/>
                </a:ext>
              </a:extLst>
            </p:cNvPr>
            <p:cNvSpPr/>
            <p:nvPr/>
          </p:nvSpPr>
          <p:spPr>
            <a:xfrm>
              <a:off x="8791181" y="2930995"/>
              <a:ext cx="2199063" cy="2424082"/>
            </a:xfrm>
            <a:prstGeom prst="rect">
              <a:avLst/>
            </a:prstGeom>
            <a:noFill/>
            <a:ln w="15875">
              <a:solidFill>
                <a:srgbClr val="DD344C"/>
              </a:solidFill>
              <a:miter lim="800000"/>
            </a:ln>
          </p:spPr>
          <p:style>
            <a:lnRef idx="2">
              <a:schemeClr val="accent1">
                <a:shade val="50000"/>
              </a:schemeClr>
            </a:lnRef>
            <a:fillRef idx="1">
              <a:schemeClr val="accent1"/>
            </a:fillRef>
            <a:effectRef idx="0">
              <a:schemeClr val="accent1"/>
            </a:effectRef>
            <a:fontRef idx="minor">
              <a:schemeClr val="lt1"/>
            </a:fontRef>
          </p:style>
          <p:txBody>
            <a:bodyPr tIns="91440" anchorCtr="1"/>
            <a:lstStyle/>
            <a:p>
              <a:pP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Security group</a:t>
              </a:r>
            </a:p>
          </p:txBody>
        </p:sp>
        <p:sp>
          <p:nvSpPr>
            <p:cNvPr id="15" name="TextBox 16">
              <a:extLst>
                <a:ext uri="{FF2B5EF4-FFF2-40B4-BE49-F238E27FC236}">
                  <a16:creationId xmlns:a16="http://schemas.microsoft.com/office/drawing/2014/main" id="{DCA64B0D-38AA-440A-695F-231B313442AB}"/>
                </a:ext>
              </a:extLst>
            </p:cNvPr>
            <p:cNvSpPr txBox="1">
              <a:spLocks noChangeArrowheads="1"/>
            </p:cNvSpPr>
            <p:nvPr/>
          </p:nvSpPr>
          <p:spPr bwMode="auto">
            <a:xfrm>
              <a:off x="9054691" y="4546247"/>
              <a:ext cx="180123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EC2 application instance</a:t>
              </a:r>
            </a:p>
          </p:txBody>
        </p:sp>
        <p:pic>
          <p:nvPicPr>
            <p:cNvPr id="16" name="Graphic 15">
              <a:extLst>
                <a:ext uri="{FF2B5EF4-FFF2-40B4-BE49-F238E27FC236}">
                  <a16:creationId xmlns:a16="http://schemas.microsoft.com/office/drawing/2014/main" id="{8E5CFAFB-AB5F-C166-3B8D-2265213567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577048" y="3927843"/>
              <a:ext cx="682626" cy="682626"/>
            </a:xfrm>
            <a:prstGeom prst="rect">
              <a:avLst/>
            </a:prstGeom>
          </p:spPr>
        </p:pic>
        <p:pic>
          <p:nvPicPr>
            <p:cNvPr id="17" name="Graphic 16">
              <a:extLst>
                <a:ext uri="{FF2B5EF4-FFF2-40B4-BE49-F238E27FC236}">
                  <a16:creationId xmlns:a16="http://schemas.microsoft.com/office/drawing/2014/main" id="{E9D37821-1CFF-060E-1F93-FEF1F5EB664A}"/>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061821" y="1706880"/>
              <a:ext cx="381000" cy="381000"/>
            </a:xfrm>
            <a:prstGeom prst="rect">
              <a:avLst/>
            </a:prstGeom>
          </p:spPr>
        </p:pic>
        <p:sp>
          <p:nvSpPr>
            <p:cNvPr id="18" name="TextBox 17">
              <a:extLst>
                <a:ext uri="{FF2B5EF4-FFF2-40B4-BE49-F238E27FC236}">
                  <a16:creationId xmlns:a16="http://schemas.microsoft.com/office/drawing/2014/main" id="{562505CC-446B-ED73-5804-8349951CE3DC}"/>
                </a:ext>
              </a:extLst>
            </p:cNvPr>
            <p:cNvSpPr txBox="1"/>
            <p:nvPr/>
          </p:nvSpPr>
          <p:spPr>
            <a:xfrm>
              <a:off x="6476750" y="4613938"/>
              <a:ext cx="1760487" cy="338554"/>
            </a:xfrm>
            <a:prstGeom prst="rect">
              <a:avLst/>
            </a:prstGeom>
            <a:noFill/>
          </p:spPr>
          <p:txBody>
            <a:bodyPr wrap="square" rtlCol="0">
              <a:spAutoFit/>
            </a:bodyPr>
            <a:lstStyle/>
            <a:p>
              <a:pPr algn="ctr"/>
              <a:r>
                <a:rPr lang="en-US" sz="1600" dirty="0">
                  <a:ea typeface="Amazon Ember Light" panose="020B0403020204020204" pitchFamily="34" charset="0"/>
                  <a:cs typeface="Amazon Ember Light" panose="020B0403020204020204" pitchFamily="34" charset="0"/>
                </a:rPr>
                <a:t>Network ACL</a:t>
              </a:r>
            </a:p>
          </p:txBody>
        </p:sp>
        <p:pic>
          <p:nvPicPr>
            <p:cNvPr id="19" name="Graphic 18">
              <a:extLst>
                <a:ext uri="{FF2B5EF4-FFF2-40B4-BE49-F238E27FC236}">
                  <a16:creationId xmlns:a16="http://schemas.microsoft.com/office/drawing/2014/main" id="{56CA466F-873C-B648-273A-16D709FC81B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45286" y="3920514"/>
              <a:ext cx="697285" cy="697285"/>
            </a:xfrm>
            <a:prstGeom prst="rect">
              <a:avLst/>
            </a:prstGeom>
          </p:spPr>
        </p:pic>
        <p:cxnSp>
          <p:nvCxnSpPr>
            <p:cNvPr id="20" name="Straight Arrow Connector 19">
              <a:extLst>
                <a:ext uri="{FF2B5EF4-FFF2-40B4-BE49-F238E27FC236}">
                  <a16:creationId xmlns:a16="http://schemas.microsoft.com/office/drawing/2014/main" id="{DE5F82AD-C8AC-8B27-3E79-84115C5D466A}"/>
                </a:ext>
              </a:extLst>
            </p:cNvPr>
            <p:cNvCxnSpPr>
              <a:cxnSpLocks/>
              <a:stCxn id="19" idx="3"/>
              <a:endCxn id="16" idx="1"/>
            </p:cNvCxnSpPr>
            <p:nvPr/>
          </p:nvCxnSpPr>
          <p:spPr>
            <a:xfrm flipV="1">
              <a:off x="7742571" y="4269156"/>
              <a:ext cx="1834477" cy="1"/>
            </a:xfrm>
            <a:prstGeom prst="straightConnector1">
              <a:avLst/>
            </a:prstGeom>
            <a:ln w="25400" cmpd="sng">
              <a:solidFill>
                <a:schemeClr val="tx2"/>
              </a:solidFill>
              <a:prstDash val="solid"/>
              <a:headEnd type="arrow" w="lg" len="sm"/>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21" name="Graphic 20">
              <a:extLst>
                <a:ext uri="{FF2B5EF4-FFF2-40B4-BE49-F238E27FC236}">
                  <a16:creationId xmlns:a16="http://schemas.microsoft.com/office/drawing/2014/main" id="{43B57341-7A38-F3C7-481D-3E76D2056DD2}"/>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165735" y="4332720"/>
              <a:ext cx="1121255" cy="1121255"/>
            </a:xfrm>
            <a:prstGeom prst="rect">
              <a:avLst/>
            </a:prstGeom>
          </p:spPr>
        </p:pic>
        <p:pic>
          <p:nvPicPr>
            <p:cNvPr id="22" name="Graphic 21">
              <a:extLst>
                <a:ext uri="{FF2B5EF4-FFF2-40B4-BE49-F238E27FC236}">
                  <a16:creationId xmlns:a16="http://schemas.microsoft.com/office/drawing/2014/main" id="{2F0786D0-3EDC-C8A3-B8FB-960A5C4002EE}"/>
                </a:ext>
                <a:ext uri="{C183D7F6-B498-43B3-948B-1728B52AA6E4}">
                  <adec:decorative xmlns:adec="http://schemas.microsoft.com/office/drawing/2017/decorative" val="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310572" y="2510130"/>
              <a:ext cx="918870" cy="918870"/>
            </a:xfrm>
            <a:prstGeom prst="rect">
              <a:avLst/>
            </a:prstGeom>
          </p:spPr>
        </p:pic>
        <p:cxnSp>
          <p:nvCxnSpPr>
            <p:cNvPr id="23" name="Straight Arrow Connector 22">
              <a:extLst>
                <a:ext uri="{FF2B5EF4-FFF2-40B4-BE49-F238E27FC236}">
                  <a16:creationId xmlns:a16="http://schemas.microsoft.com/office/drawing/2014/main" id="{78AF8C1D-B3B4-7555-725E-02B74E4F00EB}"/>
                </a:ext>
              </a:extLst>
            </p:cNvPr>
            <p:cNvCxnSpPr>
              <a:cxnSpLocks/>
            </p:cNvCxnSpPr>
            <p:nvPr/>
          </p:nvCxnSpPr>
          <p:spPr>
            <a:xfrm>
              <a:off x="6492066" y="3312268"/>
              <a:ext cx="2299115" cy="0"/>
            </a:xfrm>
            <a:prstGeom prst="straightConnector1">
              <a:avLst/>
            </a:prstGeom>
            <a:ln w="44450">
              <a:solidFill>
                <a:schemeClr val="accent5"/>
              </a:solidFill>
              <a:headEnd type="none"/>
              <a:tailEnd type="arrow"/>
            </a:ln>
            <a:effectLst>
              <a:outerShdw blurRad="63500" dist="53340" dir="2700000" algn="ctr" rotWithShape="0">
                <a:srgbClr val="000000">
                  <a:alpha val="25000"/>
                </a:srgbClr>
              </a:outerShdw>
            </a:effectLst>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2D64B6C-E92A-C623-47BE-F80ED9D5A1F4}"/>
                </a:ext>
              </a:extLst>
            </p:cNvPr>
            <p:cNvCxnSpPr>
              <a:cxnSpLocks/>
            </p:cNvCxnSpPr>
            <p:nvPr/>
          </p:nvCxnSpPr>
          <p:spPr>
            <a:xfrm>
              <a:off x="6554602" y="5453975"/>
              <a:ext cx="1507219" cy="0"/>
            </a:xfrm>
            <a:prstGeom prst="straightConnector1">
              <a:avLst/>
            </a:prstGeom>
            <a:ln w="44450">
              <a:solidFill>
                <a:schemeClr val="accent5"/>
              </a:solidFill>
              <a:headEnd type="none"/>
              <a:tailEnd type="arrow"/>
            </a:ln>
            <a:effectLst>
              <a:outerShdw blurRad="63500" dist="53340" dir="2700000" algn="ctr" rotWithShape="0">
                <a:srgbClr val="000000">
                  <a:alpha val="25000"/>
                </a:srgbClr>
              </a:outerShdw>
            </a:effectLst>
          </p:spPr>
          <p:style>
            <a:lnRef idx="1">
              <a:schemeClr val="accent1"/>
            </a:lnRef>
            <a:fillRef idx="0">
              <a:schemeClr val="accent1"/>
            </a:fillRef>
            <a:effectRef idx="0">
              <a:schemeClr val="accent1"/>
            </a:effectRef>
            <a:fontRef idx="minor">
              <a:schemeClr val="tx1"/>
            </a:fontRef>
          </p:style>
        </p:cxnSp>
      </p:grpSp>
      <p:sp>
        <p:nvSpPr>
          <p:cNvPr id="25" name="Callout: Colors menu">
            <a:extLst>
              <a:ext uri="{FF2B5EF4-FFF2-40B4-BE49-F238E27FC236}">
                <a16:creationId xmlns:a16="http://schemas.microsoft.com/office/drawing/2014/main" id="{2E3A7309-5898-7848-A131-56828DE0FA04}"/>
              </a:ext>
              <a:ext uri="{C183D7F6-B498-43B3-948B-1728B52AA6E4}">
                <adec:decorative xmlns:adec="http://schemas.microsoft.com/office/drawing/2017/decorative" val="1"/>
              </a:ext>
            </a:extLst>
          </p:cNvPr>
          <p:cNvSpPr/>
          <p:nvPr/>
        </p:nvSpPr>
        <p:spPr>
          <a:xfrm>
            <a:off x="4229442" y="2197452"/>
            <a:ext cx="2247308" cy="1569660"/>
          </a:xfrm>
          <a:prstGeom prst="borderCallout1">
            <a:avLst>
              <a:gd name="adj1" fmla="val 73485"/>
              <a:gd name="adj2" fmla="val 3338"/>
              <a:gd name="adj3" fmla="val 74628"/>
              <a:gd name="adj4" fmla="val -88861"/>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600" dirty="0">
                <a:solidFill>
                  <a:schemeClr val="bg1"/>
                </a:solidFill>
              </a:rPr>
              <a:t>Security groups protect resources in the same way an apartment door only lets in the apartment tenant using a key.</a:t>
            </a:r>
          </a:p>
        </p:txBody>
      </p:sp>
      <p:sp>
        <p:nvSpPr>
          <p:cNvPr id="26" name="Callout: Colors menu">
            <a:extLst>
              <a:ext uri="{FF2B5EF4-FFF2-40B4-BE49-F238E27FC236}">
                <a16:creationId xmlns:a16="http://schemas.microsoft.com/office/drawing/2014/main" id="{03500658-0AB5-5806-C939-1663EC0CA4DD}"/>
              </a:ext>
              <a:ext uri="{C183D7F6-B498-43B3-948B-1728B52AA6E4}">
                <adec:decorative xmlns:adec="http://schemas.microsoft.com/office/drawing/2017/decorative" val="1"/>
              </a:ext>
            </a:extLst>
          </p:cNvPr>
          <p:cNvSpPr/>
          <p:nvPr/>
        </p:nvSpPr>
        <p:spPr>
          <a:xfrm>
            <a:off x="4322614" y="4272996"/>
            <a:ext cx="2231988" cy="1569660"/>
          </a:xfrm>
          <a:prstGeom prst="borderCallout1">
            <a:avLst>
              <a:gd name="adj1" fmla="val 76478"/>
              <a:gd name="adj2" fmla="val 235"/>
              <a:gd name="adj3" fmla="val 76161"/>
              <a:gd name="adj4" fmla="val -92331"/>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600" dirty="0">
                <a:solidFill>
                  <a:schemeClr val="bg1"/>
                </a:solidFill>
              </a:rPr>
              <a:t>Network ACLs protect subnets in the same way an apartment doorman only lets in tenants living in the building.</a:t>
            </a:r>
          </a:p>
        </p:txBody>
      </p:sp>
    </p:spTree>
    <p:extLst>
      <p:ext uri="{BB962C8B-B14F-4D97-AF65-F5344CB8AC3E}">
        <p14:creationId xmlns:p14="http://schemas.microsoft.com/office/powerpoint/2010/main" val="3955560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6ABAA-B3A4-8DD5-5E4E-B479BEA028C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246B6CA-1205-9071-99A2-C6CD696FDEEE}"/>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Network access control lists (network ACLs)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9DBBD0B2-3916-6E80-9858-9F005DF47819}"/>
              </a:ext>
            </a:extLst>
          </p:cNvPr>
          <p:cNvSpPr/>
          <p:nvPr/>
        </p:nvSpPr>
        <p:spPr>
          <a:xfrm>
            <a:off x="658368" y="1003136"/>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188898C5-DB7F-08D2-F6BB-A680441D6F62}"/>
              </a:ext>
            </a:extLst>
          </p:cNvPr>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2B3269A-942F-C888-6E99-2510AEAE88D6}"/>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a:extLst>
              <a:ext uri="{FF2B5EF4-FFF2-40B4-BE49-F238E27FC236}">
                <a16:creationId xmlns:a16="http://schemas.microsoft.com/office/drawing/2014/main" id="{4950A349-0FA7-666D-5E42-90AD667A3F6E}"/>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8</a:t>
            </a:r>
          </a:p>
        </p:txBody>
      </p:sp>
      <p:sp>
        <p:nvSpPr>
          <p:cNvPr id="4" name="TextBox 3">
            <a:extLst>
              <a:ext uri="{FF2B5EF4-FFF2-40B4-BE49-F238E27FC236}">
                <a16:creationId xmlns:a16="http://schemas.microsoft.com/office/drawing/2014/main" id="{A9FA970F-891C-53C6-9E63-9A6C3DD3EE5E}"/>
              </a:ext>
            </a:extLst>
          </p:cNvPr>
          <p:cNvSpPr txBox="1"/>
          <p:nvPr/>
        </p:nvSpPr>
        <p:spPr>
          <a:xfrm>
            <a:off x="7987615" y="3914477"/>
            <a:ext cx="3565400" cy="954107"/>
          </a:xfrm>
          <a:prstGeom prst="rect">
            <a:avLst/>
          </a:prstGeom>
          <a:noFill/>
        </p:spPr>
        <p:txBody>
          <a:bodyPr wrap="none" rtlCol="0">
            <a:spAutoFit/>
          </a:bodyPr>
          <a:lstStyle/>
          <a:p>
            <a:r>
              <a:rPr lang="en-US" sz="2800">
                <a:ea typeface="Amazon Ember Light" panose="020B0403020204020204" pitchFamily="34" charset="0"/>
                <a:cs typeface="Amazon Ember Light" panose="020B0403020204020204" pitchFamily="34" charset="0"/>
              </a:rPr>
              <a:t>Network ACLs act at </a:t>
            </a:r>
            <a:br>
              <a:rPr lang="en-US" sz="2800">
                <a:ea typeface="Amazon Ember Light" panose="020B0403020204020204" pitchFamily="34" charset="0"/>
                <a:cs typeface="Amazon Ember Light" panose="020B0403020204020204" pitchFamily="34" charset="0"/>
              </a:rPr>
            </a:br>
            <a:r>
              <a:rPr lang="en-US" sz="2800">
                <a:ea typeface="Amazon Ember Light" panose="020B0403020204020204" pitchFamily="34" charset="0"/>
                <a:cs typeface="Amazon Ember Light" panose="020B0403020204020204" pitchFamily="34" charset="0"/>
              </a:rPr>
              <a:t>the </a:t>
            </a:r>
            <a:r>
              <a:rPr lang="en-US" sz="2800" b="1">
                <a:solidFill>
                  <a:schemeClr val="accent6"/>
                </a:solidFill>
                <a:ea typeface="Amazon Ember Light" panose="020B0403020204020204" pitchFamily="34" charset="0"/>
                <a:cs typeface="Amazon Ember Light" panose="020B0403020204020204" pitchFamily="34" charset="0"/>
              </a:rPr>
              <a:t>subnet level</a:t>
            </a:r>
            <a:r>
              <a:rPr lang="en-US" sz="2800">
                <a:ea typeface="Amazon Ember Light" panose="020B0403020204020204" pitchFamily="34" charset="0"/>
                <a:cs typeface="Amazon Ember Light" panose="020B0403020204020204" pitchFamily="34" charset="0"/>
              </a:rPr>
              <a:t>.</a:t>
            </a:r>
          </a:p>
        </p:txBody>
      </p:sp>
      <p:grpSp>
        <p:nvGrpSpPr>
          <p:cNvPr id="8" name="Group 7" descr="Architecture diagram of a VPC with two subnets. Each subnet has an instance and a network access control list attached to it.">
            <a:extLst>
              <a:ext uri="{FF2B5EF4-FFF2-40B4-BE49-F238E27FC236}">
                <a16:creationId xmlns:a16="http://schemas.microsoft.com/office/drawing/2014/main" id="{44217AD1-05F0-D0CD-BC03-ED32C39EC6B8}"/>
              </a:ext>
            </a:extLst>
          </p:cNvPr>
          <p:cNvGrpSpPr/>
          <p:nvPr/>
        </p:nvGrpSpPr>
        <p:grpSpPr>
          <a:xfrm>
            <a:off x="505797" y="1168985"/>
            <a:ext cx="5403273" cy="5191619"/>
            <a:chOff x="152401" y="1273546"/>
            <a:chExt cx="5403273" cy="5191619"/>
          </a:xfrm>
        </p:grpSpPr>
        <p:pic>
          <p:nvPicPr>
            <p:cNvPr id="9" name="Graphic 8">
              <a:extLst>
                <a:ext uri="{FF2B5EF4-FFF2-40B4-BE49-F238E27FC236}">
                  <a16:creationId xmlns:a16="http://schemas.microsoft.com/office/drawing/2014/main" id="{308B74F9-BF61-6B15-C23A-6C33BB93214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42346" y="3433722"/>
              <a:ext cx="469900" cy="469900"/>
            </a:xfrm>
            <a:prstGeom prst="rect">
              <a:avLst/>
            </a:prstGeom>
          </p:spPr>
        </p:pic>
        <p:pic>
          <p:nvPicPr>
            <p:cNvPr id="10" name="Graphic 9">
              <a:extLst>
                <a:ext uri="{FF2B5EF4-FFF2-40B4-BE49-F238E27FC236}">
                  <a16:creationId xmlns:a16="http://schemas.microsoft.com/office/drawing/2014/main" id="{B352C4E5-60E6-5CA3-1B7D-4AF478524CC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42346" y="4961579"/>
              <a:ext cx="469900" cy="469900"/>
            </a:xfrm>
            <a:prstGeom prst="rect">
              <a:avLst/>
            </a:prstGeom>
          </p:spPr>
        </p:pic>
        <p:grpSp>
          <p:nvGrpSpPr>
            <p:cNvPr id="11" name="Group 10">
              <a:extLst>
                <a:ext uri="{FF2B5EF4-FFF2-40B4-BE49-F238E27FC236}">
                  <a16:creationId xmlns:a16="http://schemas.microsoft.com/office/drawing/2014/main" id="{25ABF410-F0C2-AC17-6004-83F964B31E56}"/>
                </a:ext>
              </a:extLst>
            </p:cNvPr>
            <p:cNvGrpSpPr/>
            <p:nvPr/>
          </p:nvGrpSpPr>
          <p:grpSpPr>
            <a:xfrm>
              <a:off x="152401" y="1273546"/>
              <a:ext cx="5403273" cy="5191619"/>
              <a:chOff x="152401" y="1273546"/>
              <a:chExt cx="5403273" cy="5191619"/>
            </a:xfrm>
          </p:grpSpPr>
          <p:sp>
            <p:nvSpPr>
              <p:cNvPr id="12" name="Rectangle 11">
                <a:extLst>
                  <a:ext uri="{FF2B5EF4-FFF2-40B4-BE49-F238E27FC236}">
                    <a16:creationId xmlns:a16="http://schemas.microsoft.com/office/drawing/2014/main" id="{76A6ED1C-BA23-964B-0BCA-8E38789251CC}"/>
                  </a:ext>
                </a:extLst>
              </p:cNvPr>
              <p:cNvSpPr/>
              <p:nvPr/>
            </p:nvSpPr>
            <p:spPr>
              <a:xfrm>
                <a:off x="152402" y="1273546"/>
                <a:ext cx="5403272" cy="5191619"/>
              </a:xfrm>
              <a:prstGeom prst="rect">
                <a:avLst/>
              </a:prstGeom>
              <a:noFill/>
              <a:ln w="12700" cap="flat" cmpd="sng" algn="ctr">
                <a:solidFill>
                  <a:srgbClr val="232F3D"/>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a:ln>
                      <a:noFill/>
                    </a:ln>
                    <a:solidFill>
                      <a:sysClr val="windowText" lastClr="000000"/>
                    </a:solidFill>
                    <a:effectLst/>
                    <a:uLnTx/>
                    <a:uFillTx/>
                    <a:ea typeface="+mn-ea"/>
                    <a:cs typeface="+mn-cs"/>
                  </a:rPr>
                  <a:t> </a:t>
                </a:r>
                <a:r>
                  <a:rPr kumimoji="0" lang="en-US" sz="1600" b="0" i="0" u="none" strike="noStrike" kern="0" cap="none" spc="0" normalizeH="0" baseline="0" noProof="0">
                    <a:ln>
                      <a:noFill/>
                    </a:ln>
                    <a:solidFill>
                      <a:sysClr val="windowText" lastClr="000000"/>
                    </a:solidFill>
                    <a:effectLst/>
                    <a:uLnTx/>
                    <a:uFillTx/>
                    <a:ea typeface="+mn-ea"/>
                    <a:cs typeface="+mn-cs"/>
                  </a:rPr>
                  <a:t>AWS Cloud</a:t>
                </a:r>
              </a:p>
            </p:txBody>
          </p:sp>
          <p:pic>
            <p:nvPicPr>
              <p:cNvPr id="13" name="Graphic 12">
                <a:extLst>
                  <a:ext uri="{FF2B5EF4-FFF2-40B4-BE49-F238E27FC236}">
                    <a16:creationId xmlns:a16="http://schemas.microsoft.com/office/drawing/2014/main" id="{5E0C2ACD-A307-3A48-4E4A-950E1493978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2401" y="1273546"/>
                <a:ext cx="457200" cy="457200"/>
              </a:xfrm>
              <a:prstGeom prst="rect">
                <a:avLst/>
              </a:prstGeom>
            </p:spPr>
          </p:pic>
          <p:grpSp>
            <p:nvGrpSpPr>
              <p:cNvPr id="14" name="Group 13">
                <a:extLst>
                  <a:ext uri="{FF2B5EF4-FFF2-40B4-BE49-F238E27FC236}">
                    <a16:creationId xmlns:a16="http://schemas.microsoft.com/office/drawing/2014/main" id="{FF3DD3A8-D218-5135-6768-6A2EEC273132}"/>
                  </a:ext>
                </a:extLst>
              </p:cNvPr>
              <p:cNvGrpSpPr/>
              <p:nvPr/>
            </p:nvGrpSpPr>
            <p:grpSpPr>
              <a:xfrm>
                <a:off x="280551" y="1888174"/>
                <a:ext cx="4984176" cy="4460804"/>
                <a:chOff x="280551" y="1888174"/>
                <a:chExt cx="4984176" cy="4460804"/>
              </a:xfrm>
            </p:grpSpPr>
            <p:sp>
              <p:nvSpPr>
                <p:cNvPr id="15" name="Rectangle 14">
                  <a:extLst>
                    <a:ext uri="{FF2B5EF4-FFF2-40B4-BE49-F238E27FC236}">
                      <a16:creationId xmlns:a16="http://schemas.microsoft.com/office/drawing/2014/main" id="{CCBF7F9E-2CE6-07FD-CECD-CA1325F53497}"/>
                    </a:ext>
                  </a:extLst>
                </p:cNvPr>
                <p:cNvSpPr/>
                <p:nvPr/>
              </p:nvSpPr>
              <p:spPr>
                <a:xfrm>
                  <a:off x="280551" y="1888174"/>
                  <a:ext cx="4984176" cy="4328548"/>
                </a:xfrm>
                <a:prstGeom prst="rect">
                  <a:avLst/>
                </a:prstGeom>
                <a:noFill/>
                <a:ln w="12700" cap="flat" cmpd="sng" algn="ctr">
                  <a:solidFill>
                    <a:srgbClr val="007CBC"/>
                  </a:solidFill>
                  <a:prstDash val="sysDash"/>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Region</a:t>
                  </a:r>
                </a:p>
              </p:txBody>
            </p:sp>
            <p:pic>
              <p:nvPicPr>
                <p:cNvPr id="16" name="Graphic 15">
                  <a:extLst>
                    <a:ext uri="{FF2B5EF4-FFF2-40B4-BE49-F238E27FC236}">
                      <a16:creationId xmlns:a16="http://schemas.microsoft.com/office/drawing/2014/main" id="{951B4268-A0D0-24B2-93E5-CE2D31881D08}"/>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80551" y="1888174"/>
                  <a:ext cx="457200" cy="457200"/>
                </a:xfrm>
                <a:prstGeom prst="rect">
                  <a:avLst/>
                </a:prstGeom>
              </p:spPr>
            </p:pic>
            <p:grpSp>
              <p:nvGrpSpPr>
                <p:cNvPr id="17" name="Group 16">
                  <a:extLst>
                    <a:ext uri="{FF2B5EF4-FFF2-40B4-BE49-F238E27FC236}">
                      <a16:creationId xmlns:a16="http://schemas.microsoft.com/office/drawing/2014/main" id="{01A7CC53-79C8-BC82-BC2B-7CF1D24A5946}"/>
                    </a:ext>
                  </a:extLst>
                </p:cNvPr>
                <p:cNvGrpSpPr/>
                <p:nvPr/>
              </p:nvGrpSpPr>
              <p:grpSpPr>
                <a:xfrm>
                  <a:off x="581948" y="2244988"/>
                  <a:ext cx="4364125" cy="4103990"/>
                  <a:chOff x="581948" y="2244988"/>
                  <a:chExt cx="4364125" cy="4103990"/>
                </a:xfrm>
              </p:grpSpPr>
              <p:sp>
                <p:nvSpPr>
                  <p:cNvPr id="18" name="Rectangle 17">
                    <a:extLst>
                      <a:ext uri="{FF2B5EF4-FFF2-40B4-BE49-F238E27FC236}">
                        <a16:creationId xmlns:a16="http://schemas.microsoft.com/office/drawing/2014/main" id="{33E10961-1B39-0786-894F-E7E3AED0A3FD}"/>
                      </a:ext>
                    </a:extLst>
                  </p:cNvPr>
                  <p:cNvSpPr/>
                  <p:nvPr/>
                </p:nvSpPr>
                <p:spPr>
                  <a:xfrm>
                    <a:off x="581948" y="2624640"/>
                    <a:ext cx="4364125" cy="3443417"/>
                  </a:xfrm>
                  <a:prstGeom prst="rect">
                    <a:avLst/>
                  </a:prstGeom>
                  <a:noFill/>
                  <a:ln w="12700" cap="flat" cmpd="sng" algn="ctr">
                    <a:solidFill>
                      <a:srgbClr val="1D8900"/>
                    </a:solidFill>
                    <a:prstDash val="solid"/>
                    <a:miter lim="800000"/>
                  </a:ln>
                  <a:effectLst/>
                </p:spPr>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r>
                      <a:rPr kumimoji="0" lang="en-US" sz="1600" b="0" i="0" u="none" strike="noStrike" kern="0" cap="none" spc="0" normalizeH="0" baseline="0" noProof="0">
                        <a:ln w="0"/>
                        <a:solidFill>
                          <a:srgbClr val="1D8900"/>
                        </a:solidFill>
                        <a:effectLst/>
                        <a:uLnTx/>
                        <a:uFillTx/>
                      </a:rPr>
                      <a:t> VPC: </a:t>
                    </a:r>
                    <a:r>
                      <a:rPr lang="en-US" sz="1600">
                        <a:solidFill>
                          <a:srgbClr val="1D8900"/>
                        </a:solidFill>
                      </a:rPr>
                      <a:t>10.0.0.0/16</a:t>
                    </a:r>
                  </a:p>
                </p:txBody>
              </p:sp>
              <p:pic>
                <p:nvPicPr>
                  <p:cNvPr id="19" name="Graphic 18">
                    <a:extLst>
                      <a:ext uri="{FF2B5EF4-FFF2-40B4-BE49-F238E27FC236}">
                        <a16:creationId xmlns:a16="http://schemas.microsoft.com/office/drawing/2014/main" id="{1104F3D7-FC6B-7EDF-A26E-4D1E21B6061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1948" y="2624640"/>
                    <a:ext cx="457200" cy="457200"/>
                  </a:xfrm>
                  <a:prstGeom prst="rect">
                    <a:avLst/>
                  </a:prstGeom>
                </p:spPr>
              </p:pic>
              <p:grpSp>
                <p:nvGrpSpPr>
                  <p:cNvPr id="20" name="Group 19">
                    <a:extLst>
                      <a:ext uri="{FF2B5EF4-FFF2-40B4-BE49-F238E27FC236}">
                        <a16:creationId xmlns:a16="http://schemas.microsoft.com/office/drawing/2014/main" id="{7B9D6AA0-C3BD-1793-FF3D-DD177BF2F83B}"/>
                      </a:ext>
                    </a:extLst>
                  </p:cNvPr>
                  <p:cNvGrpSpPr/>
                  <p:nvPr/>
                </p:nvGrpSpPr>
                <p:grpSpPr>
                  <a:xfrm>
                    <a:off x="1063615" y="2244988"/>
                    <a:ext cx="3591473" cy="4103990"/>
                    <a:chOff x="1063615" y="2244988"/>
                    <a:chExt cx="3591473" cy="4103990"/>
                  </a:xfrm>
                </p:grpSpPr>
                <p:sp>
                  <p:nvSpPr>
                    <p:cNvPr id="21" name="Rectangle 20">
                      <a:extLst>
                        <a:ext uri="{FF2B5EF4-FFF2-40B4-BE49-F238E27FC236}">
                          <a16:creationId xmlns:a16="http://schemas.microsoft.com/office/drawing/2014/main" id="{A0B498A6-B3DE-DDC8-CA7B-A606188EB828}"/>
                        </a:ext>
                      </a:extLst>
                    </p:cNvPr>
                    <p:cNvSpPr/>
                    <p:nvPr/>
                  </p:nvSpPr>
                  <p:spPr>
                    <a:xfrm>
                      <a:off x="1063615" y="2244988"/>
                      <a:ext cx="3591473" cy="4103990"/>
                    </a:xfrm>
                    <a:prstGeom prst="rect">
                      <a:avLst/>
                    </a:prstGeom>
                    <a:noFill/>
                    <a:ln w="12700" cap="flat" cmpd="sng" algn="ctr">
                      <a:solidFill>
                        <a:srgbClr val="007CBC"/>
                      </a:solidFill>
                      <a:prstDash val="dash"/>
                      <a:miter lim="800000"/>
                    </a:ln>
                    <a:effectLst/>
                  </p:spPr>
                  <p:txBody>
                    <a:bodyPr rot="0" spcFirstLastPara="0" vertOverflow="overflow" horzOverflow="overflow" vert="horz" wrap="square" lIns="91440" tIns="91440" rIns="91440" bIns="45720" numCol="1" spcCol="0" rtlCol="0" fromWordArt="0" anchor="t"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Availability Zone</a:t>
                      </a:r>
                    </a:p>
                  </p:txBody>
                </p:sp>
                <p:grpSp>
                  <p:nvGrpSpPr>
                    <p:cNvPr id="22" name="Group 21">
                      <a:extLst>
                        <a:ext uri="{FF2B5EF4-FFF2-40B4-BE49-F238E27FC236}">
                          <a16:creationId xmlns:a16="http://schemas.microsoft.com/office/drawing/2014/main" id="{2588F1C1-44F3-21CA-9392-C35546772154}"/>
                        </a:ext>
                      </a:extLst>
                    </p:cNvPr>
                    <p:cNvGrpSpPr/>
                    <p:nvPr/>
                  </p:nvGrpSpPr>
                  <p:grpSpPr>
                    <a:xfrm>
                      <a:off x="1315652" y="2980513"/>
                      <a:ext cx="3108961" cy="2901816"/>
                      <a:chOff x="1315652" y="2980513"/>
                      <a:chExt cx="3108961" cy="2901816"/>
                    </a:xfrm>
                  </p:grpSpPr>
                  <p:grpSp>
                    <p:nvGrpSpPr>
                      <p:cNvPr id="23" name="Group 22">
                        <a:extLst>
                          <a:ext uri="{FF2B5EF4-FFF2-40B4-BE49-F238E27FC236}">
                            <a16:creationId xmlns:a16="http://schemas.microsoft.com/office/drawing/2014/main" id="{BD46E373-8F54-76EC-2920-A053DE54A1FA}"/>
                          </a:ext>
                        </a:extLst>
                      </p:cNvPr>
                      <p:cNvGrpSpPr/>
                      <p:nvPr/>
                    </p:nvGrpSpPr>
                    <p:grpSpPr>
                      <a:xfrm>
                        <a:off x="1315652" y="2980513"/>
                        <a:ext cx="3108961" cy="2901816"/>
                        <a:chOff x="1315652" y="2980513"/>
                        <a:chExt cx="3108961" cy="2901816"/>
                      </a:xfrm>
                    </p:grpSpPr>
                    <p:grpSp>
                      <p:nvGrpSpPr>
                        <p:cNvPr id="26" name="Group 25">
                          <a:extLst>
                            <a:ext uri="{FF2B5EF4-FFF2-40B4-BE49-F238E27FC236}">
                              <a16:creationId xmlns:a16="http://schemas.microsoft.com/office/drawing/2014/main" id="{0AD79309-668E-1AC1-0AC4-2E3C1716A6F5}"/>
                            </a:ext>
                          </a:extLst>
                        </p:cNvPr>
                        <p:cNvGrpSpPr/>
                        <p:nvPr/>
                      </p:nvGrpSpPr>
                      <p:grpSpPr>
                        <a:xfrm>
                          <a:off x="1315653" y="2980513"/>
                          <a:ext cx="3108960" cy="1381792"/>
                          <a:chOff x="1315653" y="2980513"/>
                          <a:chExt cx="3108960" cy="1381792"/>
                        </a:xfrm>
                      </p:grpSpPr>
                      <p:sp>
                        <p:nvSpPr>
                          <p:cNvPr id="30" name="Rectangle 29">
                            <a:extLst>
                              <a:ext uri="{FF2B5EF4-FFF2-40B4-BE49-F238E27FC236}">
                                <a16:creationId xmlns:a16="http://schemas.microsoft.com/office/drawing/2014/main" id="{48CCF9EA-9783-375B-1464-800AA1AC1F66}"/>
                              </a:ext>
                            </a:extLst>
                          </p:cNvPr>
                          <p:cNvSpPr/>
                          <p:nvPr/>
                        </p:nvSpPr>
                        <p:spPr>
                          <a:xfrm>
                            <a:off x="1315653" y="2990705"/>
                            <a:ext cx="3108960" cy="1371600"/>
                          </a:xfrm>
                          <a:prstGeom prst="rect">
                            <a:avLst/>
                          </a:prstGeom>
                          <a:solidFill>
                            <a:srgbClr val="1D8900">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1D8900"/>
                                </a:solidFill>
                                <a:effectLst/>
                                <a:uLnTx/>
                                <a:uFillTx/>
                                <a:ea typeface="+mn-ea"/>
                                <a:cs typeface="+mn-cs"/>
                              </a:rPr>
                              <a:t>   Public subnet:10.0.0.0/24</a:t>
                            </a:r>
                          </a:p>
                        </p:txBody>
                      </p:sp>
                      <p:pic>
                        <p:nvPicPr>
                          <p:cNvPr id="31" name="Graphic 30">
                            <a:extLst>
                              <a:ext uri="{FF2B5EF4-FFF2-40B4-BE49-F238E27FC236}">
                                <a16:creationId xmlns:a16="http://schemas.microsoft.com/office/drawing/2014/main" id="{C798AF96-993A-494E-8862-DA080327280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315654" y="2980513"/>
                            <a:ext cx="457200" cy="457200"/>
                          </a:xfrm>
                          <a:prstGeom prst="rect">
                            <a:avLst/>
                          </a:prstGeom>
                        </p:spPr>
                      </p:pic>
                    </p:grpSp>
                    <p:grpSp>
                      <p:nvGrpSpPr>
                        <p:cNvPr id="27" name="Group 26">
                          <a:extLst>
                            <a:ext uri="{FF2B5EF4-FFF2-40B4-BE49-F238E27FC236}">
                              <a16:creationId xmlns:a16="http://schemas.microsoft.com/office/drawing/2014/main" id="{706FB9FD-59E0-5E5C-89AB-56BE3A035A8A}"/>
                            </a:ext>
                          </a:extLst>
                        </p:cNvPr>
                        <p:cNvGrpSpPr/>
                        <p:nvPr/>
                      </p:nvGrpSpPr>
                      <p:grpSpPr>
                        <a:xfrm>
                          <a:off x="1315652" y="4508371"/>
                          <a:ext cx="3108960" cy="1373958"/>
                          <a:chOff x="1315652" y="4508371"/>
                          <a:chExt cx="3108960" cy="1373958"/>
                        </a:xfrm>
                      </p:grpSpPr>
                      <p:sp>
                        <p:nvSpPr>
                          <p:cNvPr id="28" name="Rectangle 27">
                            <a:extLst>
                              <a:ext uri="{FF2B5EF4-FFF2-40B4-BE49-F238E27FC236}">
                                <a16:creationId xmlns:a16="http://schemas.microsoft.com/office/drawing/2014/main" id="{DCED064C-3ECA-AA14-B38C-28E9F4482041}"/>
                              </a:ext>
                            </a:extLst>
                          </p:cNvPr>
                          <p:cNvSpPr/>
                          <p:nvPr/>
                        </p:nvSpPr>
                        <p:spPr>
                          <a:xfrm>
                            <a:off x="1315652" y="4510729"/>
                            <a:ext cx="3108960" cy="1371600"/>
                          </a:xfrm>
                          <a:prstGeom prst="rect">
                            <a:avLst/>
                          </a:prstGeom>
                          <a:solidFill>
                            <a:srgbClr val="007CBC">
                              <a:alpha val="9804"/>
                            </a:srgbClr>
                          </a:solidFill>
                          <a:ln w="12700" cap="flat" cmpd="sng" algn="ctr">
                            <a:noFill/>
                            <a:prstDash val="dash"/>
                            <a:miter lim="800000"/>
                          </a:ln>
                          <a:effectLst/>
                        </p:spPr>
                        <p:txBody>
                          <a:bodyPr rot="0" spcFirstLastPara="0" vertOverflow="overflow" horzOverflow="overflow" vert="horz" wrap="square" lIns="338328" tIns="45720" rIns="91440" bIns="45720" numCol="1" spcCol="0" rtlCol="0" fromWordArt="0" anchor="t" anchorCtr="0" forceAA="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a:ln>
                                  <a:noFill/>
                                </a:ln>
                                <a:solidFill>
                                  <a:srgbClr val="007CBC"/>
                                </a:solidFill>
                                <a:effectLst/>
                                <a:uLnTx/>
                                <a:uFillTx/>
                                <a:ea typeface="+mn-ea"/>
                                <a:cs typeface="+mn-cs"/>
                              </a:rPr>
                              <a:t>   Private subnet: 10.0.4.0/22</a:t>
                            </a:r>
                          </a:p>
                        </p:txBody>
                      </p:sp>
                      <p:pic>
                        <p:nvPicPr>
                          <p:cNvPr id="29" name="Graphic 28">
                            <a:extLst>
                              <a:ext uri="{FF2B5EF4-FFF2-40B4-BE49-F238E27FC236}">
                                <a16:creationId xmlns:a16="http://schemas.microsoft.com/office/drawing/2014/main" id="{2DE1A184-A64A-C1C8-A405-40252DCB98B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315653" y="4508371"/>
                            <a:ext cx="457200" cy="457200"/>
                          </a:xfrm>
                          <a:prstGeom prst="rect">
                            <a:avLst/>
                          </a:prstGeom>
                        </p:spPr>
                      </p:pic>
                    </p:grpSp>
                  </p:grpSp>
                  <p:pic>
                    <p:nvPicPr>
                      <p:cNvPr id="24" name="Graphic 23">
                        <a:extLst>
                          <a:ext uri="{FF2B5EF4-FFF2-40B4-BE49-F238E27FC236}">
                            <a16:creationId xmlns:a16="http://schemas.microsoft.com/office/drawing/2014/main" id="{1B28974A-FAFB-A3BA-3E93-06BD45B0623E}"/>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799541" y="3519064"/>
                        <a:ext cx="457200" cy="457200"/>
                      </a:xfrm>
                      <a:prstGeom prst="rect">
                        <a:avLst/>
                      </a:prstGeom>
                    </p:spPr>
                  </p:pic>
                  <p:pic>
                    <p:nvPicPr>
                      <p:cNvPr id="25" name="Graphic 24">
                        <a:extLst>
                          <a:ext uri="{FF2B5EF4-FFF2-40B4-BE49-F238E27FC236}">
                            <a16:creationId xmlns:a16="http://schemas.microsoft.com/office/drawing/2014/main" id="{3F3D2D10-0F3F-5574-0C51-59842C4E006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799541" y="5196529"/>
                        <a:ext cx="457200" cy="457200"/>
                      </a:xfrm>
                      <a:prstGeom prst="rect">
                        <a:avLst/>
                      </a:prstGeom>
                    </p:spPr>
                  </p:pic>
                </p:grpSp>
              </p:grpSp>
            </p:grpSp>
          </p:grpSp>
        </p:grpSp>
      </p:grpSp>
      <p:cxnSp>
        <p:nvCxnSpPr>
          <p:cNvPr id="32" name="Elbow Connector 26">
            <a:extLst>
              <a:ext uri="{FF2B5EF4-FFF2-40B4-BE49-F238E27FC236}">
                <a16:creationId xmlns:a16="http://schemas.microsoft.com/office/drawing/2014/main" id="{9AFE053B-0316-4910-9722-732CE2BC065A}"/>
              </a:ext>
              <a:ext uri="{C183D7F6-B498-43B3-948B-1728B52AA6E4}">
                <adec:decorative xmlns:adec="http://schemas.microsoft.com/office/drawing/2017/decorative" val="1"/>
              </a:ext>
            </a:extLst>
          </p:cNvPr>
          <p:cNvCxnSpPr>
            <a:stCxn id="4" idx="1"/>
          </p:cNvCxnSpPr>
          <p:nvPr/>
        </p:nvCxnSpPr>
        <p:spPr>
          <a:xfrm rot="10800000">
            <a:off x="5030045" y="3564111"/>
            <a:ext cx="2957570" cy="827420"/>
          </a:xfrm>
          <a:prstGeom prst="bentConnector3">
            <a:avLst/>
          </a:prstGeom>
        </p:spPr>
        <p:style>
          <a:lnRef idx="1">
            <a:schemeClr val="accent1"/>
          </a:lnRef>
          <a:fillRef idx="0">
            <a:schemeClr val="accent1"/>
          </a:fillRef>
          <a:effectRef idx="0">
            <a:schemeClr val="accent1"/>
          </a:effectRef>
          <a:fontRef idx="minor">
            <a:schemeClr val="tx1"/>
          </a:fontRef>
        </p:style>
      </p:cxnSp>
      <p:cxnSp>
        <p:nvCxnSpPr>
          <p:cNvPr id="33" name="Elbow Connector 30">
            <a:extLst>
              <a:ext uri="{FF2B5EF4-FFF2-40B4-BE49-F238E27FC236}">
                <a16:creationId xmlns:a16="http://schemas.microsoft.com/office/drawing/2014/main" id="{6CEBEF4B-C1F8-285B-C31E-3E86A1761B87}"/>
              </a:ext>
              <a:ext uri="{C183D7F6-B498-43B3-948B-1728B52AA6E4}">
                <adec:decorative xmlns:adec="http://schemas.microsoft.com/office/drawing/2017/decorative" val="1"/>
              </a:ext>
            </a:extLst>
          </p:cNvPr>
          <p:cNvCxnSpPr>
            <a:stCxn id="4" idx="1"/>
            <a:endCxn id="10" idx="3"/>
          </p:cNvCxnSpPr>
          <p:nvPr/>
        </p:nvCxnSpPr>
        <p:spPr>
          <a:xfrm rot="10800000" flipV="1">
            <a:off x="4965643" y="4391530"/>
            <a:ext cx="3021973" cy="700437"/>
          </a:xfrm>
          <a:prstGeom prst="bentConnector3">
            <a:avLst>
              <a:gd name="adj1" fmla="val 48900"/>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41364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The design's security groups</a:t>
            </a:r>
          </a:p>
          <a:p>
            <a:pPr>
              <a:spcBef>
                <a:spcPts val="200"/>
              </a:spcBef>
            </a:pPr>
            <a:r>
              <a:rPr sz="1800" b="0" i="1">
                <a:solidFill>
                  <a:srgbClr val="D68E10"/>
                </a:solidFill>
                <a:latin typeface="Roboto Light"/>
              </a:rPr>
              <a:t>least-privilege, chained tier-to-tier</a:t>
            </a:r>
          </a:p>
        </p:txBody>
      </p:sp>
      <p:sp>
        <p:nvSpPr>
          <p:cNvPr id="3" name="Rectangle 2"/>
          <p:cNvSpPr/>
          <p:nvPr/>
        </p:nvSpPr>
        <p:spPr>
          <a:xfrm>
            <a:off x="658368" y="1371600"/>
            <a:ext cx="1463040" cy="508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658368" y="1828800"/>
          <a:ext cx="10881360" cy="1828800"/>
        </p:xfrm>
        <a:graphic>
          <a:graphicData uri="http://schemas.openxmlformats.org/drawingml/2006/table">
            <a:tbl>
              <a:tblPr>
                <a:tableStyleId>{5C22544A-7EE6-4342-B048-85BDC9FD1C3A}</a:tableStyleId>
              </a:tblPr>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tblGrid>
              <a:tr h="457200">
                <a:tc>
                  <a:txBody>
                    <a:bodyPr/>
                    <a:lstStyle/>
                    <a:p>
                      <a:r>
                        <a:rPr sz="1400" b="1" i="0">
                          <a:solidFill>
                            <a:srgbClr val="FFFFFF"/>
                          </a:solidFill>
                          <a:latin typeface="Roboto"/>
                        </a:rPr>
                        <a:t>Security group</a:t>
                      </a:r>
                    </a:p>
                  </a:txBody>
                  <a:tcPr marL="76200" marR="76200">
                    <a:solidFill>
                      <a:srgbClr val="27B5CE"/>
                    </a:solidFill>
                  </a:tcPr>
                </a:tc>
                <a:tc>
                  <a:txBody>
                    <a:bodyPr/>
                    <a:lstStyle/>
                    <a:p>
                      <a:r>
                        <a:rPr sz="1400" b="1" i="0">
                          <a:solidFill>
                            <a:srgbClr val="FFFFFF"/>
                          </a:solidFill>
                          <a:latin typeface="Roboto"/>
                        </a:rPr>
                        <a:t>Inbound (allow)</a:t>
                      </a:r>
                    </a:p>
                  </a:txBody>
                  <a:tcPr marL="76200" marR="76200">
                    <a:solidFill>
                      <a:srgbClr val="27B5CE"/>
                    </a:solidFill>
                  </a:tcPr>
                </a:tc>
                <a:tc>
                  <a:txBody>
                    <a:bodyPr/>
                    <a:lstStyle/>
                    <a:p>
                      <a:r>
                        <a:rPr sz="1400" b="1" i="0">
                          <a:solidFill>
                            <a:srgbClr val="FFFFFF"/>
                          </a:solidFill>
                          <a:latin typeface="Roboto"/>
                        </a:rPr>
                        <a:t>Outbound (allow)</a:t>
                      </a:r>
                    </a:p>
                  </a:txBody>
                  <a:tcPr marL="76200" marR="76200">
                    <a:solidFill>
                      <a:srgbClr val="27B5CE"/>
                    </a:solidFill>
                  </a:tcPr>
                </a:tc>
                <a:extLst>
                  <a:ext uri="{0D108BD9-81ED-4DB2-BD59-A6C34878D82A}">
                    <a16:rowId xmlns:a16="http://schemas.microsoft.com/office/drawing/2014/main" val="10000"/>
                  </a:ext>
                </a:extLst>
              </a:tr>
              <a:tr h="457200">
                <a:tc>
                  <a:txBody>
                    <a:bodyPr/>
                    <a:lstStyle/>
                    <a:p>
                      <a:r>
                        <a:rPr sz="1300" b="0" i="0">
                          <a:solidFill>
                            <a:srgbClr val="2A2929"/>
                          </a:solidFill>
                          <a:latin typeface="Roboto"/>
                        </a:rPr>
                        <a:t>sg-alb</a:t>
                      </a:r>
                    </a:p>
                  </a:txBody>
                  <a:tcPr marL="76200" marR="76200" marT="50800" marB="50800">
                    <a:solidFill>
                      <a:srgbClr val="FFFFFF"/>
                    </a:solidFill>
                  </a:tcPr>
                </a:tc>
                <a:tc>
                  <a:txBody>
                    <a:bodyPr/>
                    <a:lstStyle/>
                    <a:p>
                      <a:r>
                        <a:rPr sz="1300" b="0" i="0">
                          <a:solidFill>
                            <a:srgbClr val="2A2929"/>
                          </a:solidFill>
                          <a:latin typeface="Roboto"/>
                        </a:rPr>
                        <a:t>HTTPS 443 from staff CIDR / VPN</a:t>
                      </a:r>
                    </a:p>
                  </a:txBody>
                  <a:tcPr marL="76200" marR="76200" marT="50800" marB="50800">
                    <a:solidFill>
                      <a:srgbClr val="FFFFFF"/>
                    </a:solidFill>
                  </a:tcPr>
                </a:tc>
                <a:tc>
                  <a:txBody>
                    <a:bodyPr/>
                    <a:lstStyle/>
                    <a:p>
                      <a:r>
                        <a:rPr sz="1300" b="0" i="0">
                          <a:solidFill>
                            <a:srgbClr val="2A2929"/>
                          </a:solidFill>
                          <a:latin typeface="Roboto"/>
                        </a:rPr>
                        <a:t>to sg-app</a:t>
                      </a:r>
                    </a:p>
                  </a:txBody>
                  <a:tcPr marL="76200" marR="76200" marT="50800" marB="50800">
                    <a:solidFill>
                      <a:srgbClr val="FFFFFF"/>
                    </a:solidFill>
                  </a:tcPr>
                </a:tc>
                <a:extLst>
                  <a:ext uri="{0D108BD9-81ED-4DB2-BD59-A6C34878D82A}">
                    <a16:rowId xmlns:a16="http://schemas.microsoft.com/office/drawing/2014/main" val="10001"/>
                  </a:ext>
                </a:extLst>
              </a:tr>
              <a:tr h="457200">
                <a:tc>
                  <a:txBody>
                    <a:bodyPr/>
                    <a:lstStyle/>
                    <a:p>
                      <a:r>
                        <a:rPr sz="1300" b="0" i="0">
                          <a:solidFill>
                            <a:srgbClr val="2A2929"/>
                          </a:solidFill>
                          <a:latin typeface="Roboto"/>
                        </a:rPr>
                        <a:t>sg-app</a:t>
                      </a:r>
                    </a:p>
                  </a:txBody>
                  <a:tcPr marL="76200" marR="76200" marT="50800" marB="50800">
                    <a:solidFill>
                      <a:srgbClr val="F9F9F9"/>
                    </a:solidFill>
                  </a:tcPr>
                </a:tc>
                <a:tc>
                  <a:txBody>
                    <a:bodyPr/>
                    <a:lstStyle/>
                    <a:p>
                      <a:r>
                        <a:rPr sz="1300" b="0" i="0">
                          <a:solidFill>
                            <a:srgbClr val="2A2929"/>
                          </a:solidFill>
                          <a:latin typeface="Roboto"/>
                        </a:rPr>
                        <a:t>from sg-alb · RDP 3389 from MTS bastion</a:t>
                      </a:r>
                    </a:p>
                  </a:txBody>
                  <a:tcPr marL="76200" marR="76200" marT="50800" marB="50800">
                    <a:solidFill>
                      <a:srgbClr val="F9F9F9"/>
                    </a:solidFill>
                  </a:tcPr>
                </a:tc>
                <a:tc>
                  <a:txBody>
                    <a:bodyPr/>
                    <a:lstStyle/>
                    <a:p>
                      <a:r>
                        <a:rPr sz="1300" b="0" i="0">
                          <a:solidFill>
                            <a:srgbClr val="2A2929"/>
                          </a:solidFill>
                          <a:latin typeface="Roboto"/>
                        </a:rPr>
                        <a:t>SQL 1433 to sg-db · HTTPS via NAT · LDAPS to AD</a:t>
                      </a:r>
                    </a:p>
                  </a:txBody>
                  <a:tcPr marL="76200" marR="76200" marT="50800" marB="50800">
                    <a:solidFill>
                      <a:srgbClr val="F9F9F9"/>
                    </a:solidFill>
                  </a:tcPr>
                </a:tc>
                <a:extLst>
                  <a:ext uri="{0D108BD9-81ED-4DB2-BD59-A6C34878D82A}">
                    <a16:rowId xmlns:a16="http://schemas.microsoft.com/office/drawing/2014/main" val="10002"/>
                  </a:ext>
                </a:extLst>
              </a:tr>
              <a:tr h="457200">
                <a:tc>
                  <a:txBody>
                    <a:bodyPr/>
                    <a:lstStyle/>
                    <a:p>
                      <a:r>
                        <a:rPr sz="1300" b="0" i="0">
                          <a:solidFill>
                            <a:srgbClr val="2A2929"/>
                          </a:solidFill>
                          <a:latin typeface="Roboto"/>
                        </a:rPr>
                        <a:t>sg-db</a:t>
                      </a:r>
                    </a:p>
                  </a:txBody>
                  <a:tcPr marL="76200" marR="76200" marT="50800" marB="50800">
                    <a:solidFill>
                      <a:srgbClr val="FFFFFF"/>
                    </a:solidFill>
                  </a:tcPr>
                </a:tc>
                <a:tc>
                  <a:txBody>
                    <a:bodyPr/>
                    <a:lstStyle/>
                    <a:p>
                      <a:r>
                        <a:rPr sz="1300" b="0" i="0">
                          <a:solidFill>
                            <a:srgbClr val="2A2929"/>
                          </a:solidFill>
                          <a:latin typeface="Roboto"/>
                        </a:rPr>
                        <a:t>SQL 1433 from sg-app</a:t>
                      </a:r>
                    </a:p>
                  </a:txBody>
                  <a:tcPr marL="76200" marR="76200" marT="50800" marB="50800">
                    <a:solidFill>
                      <a:srgbClr val="FFFFFF"/>
                    </a:solidFill>
                  </a:tcPr>
                </a:tc>
                <a:tc>
                  <a:txBody>
                    <a:bodyPr/>
                    <a:lstStyle/>
                    <a:p>
                      <a:r>
                        <a:rPr sz="1300" b="0" i="0">
                          <a:solidFill>
                            <a:srgbClr val="2A2929"/>
                          </a:solidFill>
                          <a:latin typeface="Roboto"/>
                        </a:rPr>
                        <a:t>(none needed)</a:t>
                      </a:r>
                    </a:p>
                  </a:txBody>
                  <a:tcPr marL="76200" marR="76200" marT="50800" marB="50800">
                    <a:solidFill>
                      <a:srgbClr val="FFFFFF"/>
                    </a:solidFill>
                  </a:tcPr>
                </a:tc>
                <a:extLst>
                  <a:ext uri="{0D108BD9-81ED-4DB2-BD59-A6C34878D82A}">
                    <a16:rowId xmlns:a16="http://schemas.microsoft.com/office/drawing/2014/main" val="10003"/>
                  </a:ext>
                </a:extLst>
              </a:tr>
            </a:tbl>
          </a:graphicData>
        </a:graphic>
      </p:graphicFrame>
      <p:sp>
        <p:nvSpPr>
          <p:cNvPr id="5" name="TextBox 4"/>
          <p:cNvSpPr txBox="1"/>
          <p:nvPr/>
        </p:nvSpPr>
        <p:spPr>
          <a:xfrm>
            <a:off x="658368" y="5943600"/>
            <a:ext cx="10881360" cy="457200"/>
          </a:xfrm>
          <a:prstGeom prst="rect">
            <a:avLst/>
          </a:prstGeom>
          <a:noFill/>
        </p:spPr>
        <p:txBody>
          <a:bodyPr wrap="square" lIns="0" tIns="0" rIns="0" bIns="0" anchor="t">
            <a:spAutoFit/>
          </a:bodyPr>
          <a:lstStyle/>
          <a:p>
            <a:r>
              <a:rPr sz="1500" b="0" i="1">
                <a:solidFill>
                  <a:srgbClr val="484848"/>
                </a:solidFill>
                <a:latin typeface="Roboto Light"/>
              </a:rPr>
              <a:t>Source = another security group, not an IP range — the tiers chain. The targets (ALB, EC2, RDS) are launched in Topic 8; here you build the rule shells.</a:t>
            </a:r>
          </a:p>
        </p:txBody>
      </p:sp>
      <p:sp>
        <p:nvSpPr>
          <p:cNvPr id="6" name="Rectangle 5"/>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8" name="TextBox 7"/>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2331720" cy="457200"/>
          </a:xfrm>
          <a:prstGeom prst="round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2A2929"/>
                </a:solidFill>
                <a:latin typeface="Roboto"/>
              </a:rPr>
              <a:t>RECORDED DEMO</a:t>
            </a:r>
          </a:p>
        </p:txBody>
      </p:sp>
      <p:sp>
        <p:nvSpPr>
          <p:cNvPr id="4" name="TextBox 3"/>
          <p:cNvSpPr txBox="1"/>
          <p:nvPr/>
        </p:nvSpPr>
        <p:spPr>
          <a:xfrm>
            <a:off x="3200400" y="310896"/>
            <a:ext cx="8321040" cy="685800"/>
          </a:xfrm>
          <a:prstGeom prst="rect">
            <a:avLst/>
          </a:prstGeom>
          <a:noFill/>
        </p:spPr>
        <p:txBody>
          <a:bodyPr wrap="square" lIns="0" tIns="0" rIns="0" bIns="0" anchor="ctr">
            <a:spAutoFit/>
          </a:bodyPr>
          <a:lstStyle/>
          <a:p>
            <a:r>
              <a:rPr sz="2500" b="1" i="0">
                <a:solidFill>
                  <a:srgbClr val="FFFFFF"/>
                </a:solidFill>
                <a:latin typeface="Roboto"/>
              </a:rPr>
              <a:t>Build a VPC and its security groups</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Create a public and a private subnet, each with its own route table.</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Create an Internet Gateway, attach it to the VPC, and configure the internet route.</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Create a NAT gateway, assign an Elastic IP, and add the private-subnet route.</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Create a web-server security group and a database security group.</a:t>
            </a:r>
          </a:p>
        </p:txBody>
      </p:sp>
      <p:sp>
        <p:nvSpPr>
          <p:cNvPr id="6" name="Rounded Rectangle 5"/>
          <p:cNvSpPr/>
          <p:nvPr/>
        </p:nvSpPr>
        <p:spPr>
          <a:xfrm>
            <a:off x="640080" y="5897880"/>
            <a:ext cx="786384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7498080" cy="365760"/>
          </a:xfrm>
          <a:prstGeom prst="rect">
            <a:avLst/>
          </a:prstGeom>
          <a:noFill/>
        </p:spPr>
        <p:txBody>
          <a:bodyPr wrap="square" lIns="0" tIns="0" rIns="0" bIns="0" anchor="ctr">
            <a:spAutoFit/>
          </a:bodyPr>
          <a:lstStyle/>
          <a:p>
            <a:r>
              <a:rPr sz="1400" b="1" i="0">
                <a:solidFill>
                  <a:srgbClr val="2A2929"/>
                </a:solidFill>
                <a:latin typeface="Roboto"/>
              </a:rPr>
              <a:t>▶  Play the AWS recorded demo (ACA M07 · Creating a VPC (S30)) — you do this next</a:t>
            </a:r>
          </a:p>
        </p:txBody>
      </p:sp>
      <p:sp>
        <p:nvSpPr>
          <p:cNvPr id="8" name="Rectangle 7"/>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lIns="0" tIns="0" rIns="0" bIns="0" anchor="ctr">
            <a:spAutoFit/>
          </a:bodyPr>
          <a:lstStyle/>
          <a:p>
            <a:r>
              <a:rPr sz="2600" b="1" i="0">
                <a:solidFill>
                  <a:srgbClr val="FFFFFF"/>
                </a:solidFill>
                <a:latin typeface="Roboto"/>
              </a:rPr>
              <a:t>Build the network fabric</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1" i="0">
                <a:solidFill>
                  <a:srgbClr val="2A2929"/>
                </a:solidFill>
                <a:latin typeface="Roboto"/>
              </a:rPr>
              <a:t>In the AWS Academy lab, per the supplied Accounting design, build the network tier:</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VPC 10.0.0.0/16; the three subnets (public-egress / private-app / private-data)</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Internet Gateway + NAT gateway + per-tier route tables (egress-only)</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the sg-alb → sg-app → sg-db security-group chain</a:t>
            </a:r>
          </a:p>
          <a:p>
            <a:pPr marL="0" indent="0">
              <a:lnSpc>
                <a:spcPct val="105000"/>
              </a:lnSpc>
              <a:spcBef>
                <a:spcPts val="0"/>
              </a:spcBef>
              <a:spcAft>
                <a:spcPts val="1000"/>
              </a:spcAft>
            </a:pPr>
            <a:r>
              <a:rPr sz="1700" b="1" i="0">
                <a:solidFill>
                  <a:srgbClr val="27B5CE"/>
                </a:solidFill>
                <a:latin typeface="Roboto"/>
              </a:rPr>
              <a:t>■  Capture named evidence as you go — VPC, subnets, route tables, SG rules — Region visible.</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3657600" cy="365760"/>
          </a:xfrm>
          <a:prstGeom prst="rect">
            <a:avLst/>
          </a:prstGeom>
          <a:noFill/>
        </p:spPr>
        <p:txBody>
          <a:bodyPr wrap="square" lIns="0" tIns="0" rIns="0" bIns="0" anchor="ctr">
            <a:spAutoFit/>
          </a:bodyPr>
          <a:lstStyle/>
          <a:p>
            <a:r>
              <a:rPr sz="1500" b="1" i="0">
                <a:solidFill>
                  <a:srgbClr val="2A2929"/>
                </a:solidFill>
                <a:latin typeface="Roboto"/>
              </a:rPr>
              <a:t>⏱  ~25 min</a:t>
            </a:r>
          </a:p>
        </p:txBody>
      </p:sp>
      <p:sp>
        <p:nvSpPr>
          <p:cNvPr id="8" name="Rectangle 7"/>
          <p:cNvSpPr/>
          <p:nvPr/>
        </p:nvSpPr>
        <p:spPr>
          <a:xfrm>
            <a:off x="0" y="6565392"/>
            <a:ext cx="12191695" cy="38100"/>
          </a:xfrm>
          <a:prstGeom prst="rect">
            <a:avLst/>
          </a:prstGeom>
          <a:solidFill>
            <a:srgbClr val="27B5C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3931920" cy="68580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2103120"/>
            <a:ext cx="3291840" cy="2194560"/>
          </a:xfrm>
          <a:prstGeom prst="rect">
            <a:avLst/>
          </a:prstGeom>
          <a:noFill/>
        </p:spPr>
        <p:txBody>
          <a:bodyPr wrap="square" lIns="0" tIns="0" rIns="0" bIns="0" anchor="t">
            <a:spAutoFit/>
          </a:bodyPr>
          <a:lstStyle/>
          <a:p>
            <a:r>
              <a:rPr sz="13000" b="1" i="0">
                <a:solidFill>
                  <a:srgbClr val="FFFFFF"/>
                </a:solidFill>
                <a:latin typeface="Roboto"/>
              </a:rPr>
              <a:t>03</a:t>
            </a:r>
          </a:p>
        </p:txBody>
      </p:sp>
      <p:sp>
        <p:nvSpPr>
          <p:cNvPr id="4" name="TextBox 3"/>
          <p:cNvSpPr txBox="1"/>
          <p:nvPr/>
        </p:nvSpPr>
        <p:spPr>
          <a:xfrm>
            <a:off x="4480560" y="2468880"/>
            <a:ext cx="7132320" cy="2194560"/>
          </a:xfrm>
          <a:prstGeom prst="rect">
            <a:avLst/>
          </a:prstGeom>
          <a:noFill/>
        </p:spPr>
        <p:txBody>
          <a:bodyPr wrap="square" lIns="0" tIns="0" rIns="0" bIns="0" anchor="t">
            <a:spAutoFit/>
          </a:bodyPr>
          <a:lstStyle/>
          <a:p>
            <a:r>
              <a:rPr sz="1600" b="1" i="0">
                <a:solidFill>
                  <a:srgbClr val="205F61"/>
                </a:solidFill>
                <a:latin typeface="Roboto"/>
              </a:rPr>
              <a:t>SECTION</a:t>
            </a:r>
          </a:p>
          <a:p>
            <a:pPr>
              <a:spcBef>
                <a:spcPts val="600"/>
              </a:spcBef>
            </a:pPr>
            <a:r>
              <a:rPr sz="3800" b="1" i="0">
                <a:solidFill>
                  <a:srgbClr val="2A2929"/>
                </a:solidFill>
                <a:latin typeface="Roboto"/>
              </a:rPr>
              <a:t>Found by name &amp; proven to work</a:t>
            </a:r>
          </a:p>
          <a:p>
            <a:pPr>
              <a:spcBef>
                <a:spcPts val="1000"/>
              </a:spcBef>
            </a:pPr>
            <a:r>
              <a:rPr sz="2000" b="0" i="1">
                <a:solidFill>
                  <a:srgbClr val="484848"/>
                </a:solidFill>
                <a:latin typeface="Roboto Light"/>
              </a:rPr>
              <a:t>DNS · connectivity testing</a:t>
            </a:r>
          </a:p>
        </p:txBody>
      </p:sp>
      <p:sp>
        <p:nvSpPr>
          <p:cNvPr id="5" name="Rectangle 4"/>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How DNS works — and Route 53</a:t>
            </a:r>
          </a:p>
          <a:p>
            <a:pPr>
              <a:spcBef>
                <a:spcPts val="200"/>
              </a:spcBef>
            </a:pPr>
            <a:r>
              <a:rPr sz="1800" b="0" i="1">
                <a:solidFill>
                  <a:srgbClr val="D68E10"/>
                </a:solidFill>
                <a:latin typeface="Roboto Light"/>
              </a:rPr>
              <a:t>AWS · ACF M05 S49–S50</a:t>
            </a:r>
          </a:p>
        </p:txBody>
      </p:sp>
      <p:sp>
        <p:nvSpPr>
          <p:cNvPr id="3" name="Rectangle 2"/>
          <p:cNvSpPr/>
          <p:nvPr/>
        </p:nvSpPr>
        <p:spPr>
          <a:xfrm>
            <a:off x="658368" y="137160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737360"/>
            <a:ext cx="11196748" cy="1743298"/>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dirty="0">
                <a:solidFill>
                  <a:srgbClr val="EDAB0C"/>
                </a:solidFill>
                <a:latin typeface="Roboto"/>
              </a:rPr>
              <a:t>■  </a:t>
            </a:r>
            <a:r>
              <a:rPr sz="1700" b="0" i="0" dirty="0">
                <a:solidFill>
                  <a:srgbClr val="2A2929"/>
                </a:solidFill>
                <a:latin typeface="Roboto"/>
              </a:rPr>
              <a:t>DNS translates a name (</a:t>
            </a:r>
            <a:r>
              <a:rPr sz="1700" b="0" i="0" dirty="0" err="1">
                <a:solidFill>
                  <a:srgbClr val="2A2929"/>
                </a:solidFill>
                <a:latin typeface="Roboto"/>
              </a:rPr>
              <a:t>ledgerline.yat.internal</a:t>
            </a:r>
            <a:r>
              <a:rPr sz="1700" b="0" i="0" dirty="0">
                <a:solidFill>
                  <a:srgbClr val="2A2929"/>
                </a:solidFill>
                <a:latin typeface="Roboto"/>
              </a:rPr>
              <a:t>) into the IP address computers actually use.</a:t>
            </a:r>
          </a:p>
          <a:p>
            <a:pPr marL="0" indent="0">
              <a:lnSpc>
                <a:spcPct val="105000"/>
              </a:lnSpc>
              <a:spcBef>
                <a:spcPts val="0"/>
              </a:spcBef>
              <a:spcAft>
                <a:spcPts val="1000"/>
              </a:spcAft>
            </a:pPr>
            <a:r>
              <a:rPr sz="1700" b="1" i="0" dirty="0">
                <a:solidFill>
                  <a:srgbClr val="EDAB0C"/>
                </a:solidFill>
                <a:latin typeface="Roboto"/>
              </a:rPr>
              <a:t>■  </a:t>
            </a:r>
            <a:r>
              <a:rPr sz="1700" b="0" i="0" dirty="0">
                <a:solidFill>
                  <a:srgbClr val="2A2929"/>
                </a:solidFill>
                <a:latin typeface="Roboto"/>
              </a:rPr>
              <a:t>A resolver asks the DNS hierarchy and gets the address back — we use names, not IPs, because addresses change.</a:t>
            </a:r>
          </a:p>
          <a:p>
            <a:pPr marL="0" indent="0">
              <a:lnSpc>
                <a:spcPct val="105000"/>
              </a:lnSpc>
              <a:spcBef>
                <a:spcPts val="0"/>
              </a:spcBef>
              <a:spcAft>
                <a:spcPts val="1000"/>
              </a:spcAft>
            </a:pPr>
            <a:r>
              <a:rPr sz="1700" b="1" i="0" dirty="0">
                <a:solidFill>
                  <a:srgbClr val="205F61"/>
                </a:solidFill>
                <a:latin typeface="Roboto"/>
              </a:rPr>
              <a:t>■  Amazon Route 53 is AWS's highly available DNS service.</a:t>
            </a:r>
          </a:p>
          <a:p>
            <a:pPr marL="0" indent="0">
              <a:lnSpc>
                <a:spcPct val="105000"/>
              </a:lnSpc>
              <a:spcBef>
                <a:spcPts val="0"/>
              </a:spcBef>
              <a:spcAft>
                <a:spcPts val="1000"/>
              </a:spcAft>
            </a:pPr>
            <a:r>
              <a:rPr sz="1700" b="1" i="0" dirty="0">
                <a:solidFill>
                  <a:srgbClr val="EDAB0C"/>
                </a:solidFill>
                <a:latin typeface="Roboto"/>
              </a:rPr>
              <a:t>■  </a:t>
            </a:r>
            <a:r>
              <a:rPr sz="1700" b="0" i="0" dirty="0">
                <a:solidFill>
                  <a:srgbClr val="2A2929"/>
                </a:solidFill>
                <a:latin typeface="Roboto"/>
              </a:rPr>
              <a:t>Public hosted zone = internet-facing names; private hosted zone = names that resolve only inside your VPC.</a:t>
            </a:r>
          </a:p>
        </p:txBody>
      </p:sp>
      <p:sp>
        <p:nvSpPr>
          <p:cNvPr id="7" name="Rectangle 6"/>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9" name="TextBox 8"/>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14EA4-5587-52D7-59BF-7263CCC1FBD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DA24E20-811A-4439-5011-71A3211157D9}"/>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Route 53 DNS resolution</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A34A2D91-F209-3493-03BE-6BC65FE121BD}"/>
              </a:ext>
            </a:extLst>
          </p:cNvPr>
          <p:cNvSpPr/>
          <p:nvPr/>
        </p:nvSpPr>
        <p:spPr>
          <a:xfrm>
            <a:off x="658368" y="970704"/>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EA83E308-04F7-2089-B447-5682C72EB35C}"/>
              </a:ext>
            </a:extLst>
          </p:cNvPr>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F2F5D700-347D-BA70-87E6-6587B19CE660}"/>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9" name="TextBox 8">
            <a:extLst>
              <a:ext uri="{FF2B5EF4-FFF2-40B4-BE49-F238E27FC236}">
                <a16:creationId xmlns:a16="http://schemas.microsoft.com/office/drawing/2014/main" id="{F9CFC041-A231-2468-9501-A2A1EDB5717F}"/>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13</a:t>
            </a:r>
          </a:p>
        </p:txBody>
      </p:sp>
      <p:grpSp>
        <p:nvGrpSpPr>
          <p:cNvPr id="10" name="Group 9" descr="User initiates a DNS request. the DNS resolver checks with your domain in Route 53, gets the IP address, and returns it to the user.">
            <a:extLst>
              <a:ext uri="{FF2B5EF4-FFF2-40B4-BE49-F238E27FC236}">
                <a16:creationId xmlns:a16="http://schemas.microsoft.com/office/drawing/2014/main" id="{77696BC2-3FA9-2043-A417-BFBCCB2D002A}"/>
              </a:ext>
            </a:extLst>
          </p:cNvPr>
          <p:cNvGrpSpPr/>
          <p:nvPr/>
        </p:nvGrpSpPr>
        <p:grpSpPr>
          <a:xfrm>
            <a:off x="1536718" y="2131836"/>
            <a:ext cx="9088084" cy="2594328"/>
            <a:chOff x="1671037" y="2188851"/>
            <a:chExt cx="8486735" cy="2028643"/>
          </a:xfrm>
        </p:grpSpPr>
        <p:sp>
          <p:nvSpPr>
            <p:cNvPr id="11" name="TextBox 10">
              <a:extLst>
                <a:ext uri="{FF2B5EF4-FFF2-40B4-BE49-F238E27FC236}">
                  <a16:creationId xmlns:a16="http://schemas.microsoft.com/office/drawing/2014/main" id="{954B72B3-C539-70B6-249E-06DC8EA9169D}"/>
                </a:ext>
              </a:extLst>
            </p:cNvPr>
            <p:cNvSpPr txBox="1"/>
            <p:nvPr/>
          </p:nvSpPr>
          <p:spPr>
            <a:xfrm>
              <a:off x="1671037" y="3725051"/>
              <a:ext cx="1104053" cy="246221"/>
            </a:xfrm>
            <a:prstGeom prst="rect">
              <a:avLst/>
            </a:prstGeom>
            <a:noFill/>
          </p:spPr>
          <p:txBody>
            <a:bodyPr wrap="square" lIns="0" tIns="0" rIns="0" bIns="0" rtlCol="0">
              <a:spAutoFit/>
            </a:bodyPr>
            <a:lstStyle/>
            <a:p>
              <a:pPr algn="ctr"/>
              <a:r>
                <a:rPr lang="en-US" sz="1600">
                  <a:latin typeface="+mj-lt"/>
                  <a:cs typeface="Helvetica Neue"/>
                </a:rPr>
                <a:t>User</a:t>
              </a:r>
            </a:p>
          </p:txBody>
        </p:sp>
        <p:sp>
          <p:nvSpPr>
            <p:cNvPr id="12" name="TextBox 11">
              <a:extLst>
                <a:ext uri="{FF2B5EF4-FFF2-40B4-BE49-F238E27FC236}">
                  <a16:creationId xmlns:a16="http://schemas.microsoft.com/office/drawing/2014/main" id="{0E181E59-D3A0-DE27-879E-2B2BFD59E041}"/>
                </a:ext>
              </a:extLst>
            </p:cNvPr>
            <p:cNvSpPr txBox="1"/>
            <p:nvPr/>
          </p:nvSpPr>
          <p:spPr>
            <a:xfrm>
              <a:off x="5092837" y="3725051"/>
              <a:ext cx="1427472" cy="246221"/>
            </a:xfrm>
            <a:prstGeom prst="rect">
              <a:avLst/>
            </a:prstGeom>
            <a:noFill/>
          </p:spPr>
          <p:txBody>
            <a:bodyPr wrap="square" lIns="0" tIns="0" rIns="0" bIns="0" rtlCol="0">
              <a:spAutoFit/>
            </a:bodyPr>
            <a:lstStyle/>
            <a:p>
              <a:pPr algn="ctr"/>
              <a:r>
                <a:rPr lang="en-US" sz="1600">
                  <a:latin typeface="+mj-lt"/>
                  <a:cs typeface="Helvetica Neue"/>
                </a:rPr>
                <a:t>DNS resolver</a:t>
              </a:r>
            </a:p>
          </p:txBody>
        </p:sp>
        <p:sp>
          <p:nvSpPr>
            <p:cNvPr id="13" name="TextBox 12">
              <a:extLst>
                <a:ext uri="{FF2B5EF4-FFF2-40B4-BE49-F238E27FC236}">
                  <a16:creationId xmlns:a16="http://schemas.microsoft.com/office/drawing/2014/main" id="{0CC2C7D7-6994-4635-76CC-A8BB0BA3E5BB}"/>
                </a:ext>
              </a:extLst>
            </p:cNvPr>
            <p:cNvSpPr txBox="1"/>
            <p:nvPr/>
          </p:nvSpPr>
          <p:spPr>
            <a:xfrm>
              <a:off x="8946892" y="3725051"/>
              <a:ext cx="1210880" cy="492443"/>
            </a:xfrm>
            <a:prstGeom prst="rect">
              <a:avLst/>
            </a:prstGeom>
            <a:noFill/>
          </p:spPr>
          <p:txBody>
            <a:bodyPr wrap="square" lIns="0" tIns="0" rIns="0" bIns="0" rtlCol="0">
              <a:spAutoFit/>
            </a:bodyPr>
            <a:lstStyle/>
            <a:p>
              <a:pPr algn="ctr"/>
              <a:r>
                <a:rPr lang="en-US" sz="1600">
                  <a:latin typeface="+mj-lt"/>
                  <a:cs typeface="Helvetica Neue"/>
                </a:rPr>
                <a:t>Amazon Route 53</a:t>
              </a:r>
            </a:p>
          </p:txBody>
        </p:sp>
        <p:sp>
          <p:nvSpPr>
            <p:cNvPr id="14" name="Right Arrow 14">
              <a:extLst>
                <a:ext uri="{FF2B5EF4-FFF2-40B4-BE49-F238E27FC236}">
                  <a16:creationId xmlns:a16="http://schemas.microsoft.com/office/drawing/2014/main" id="{60B66CE3-5CFA-F6BF-1F6F-E0019A44F3D0}"/>
                </a:ext>
              </a:extLst>
            </p:cNvPr>
            <p:cNvSpPr/>
            <p:nvPr/>
          </p:nvSpPr>
          <p:spPr>
            <a:xfrm>
              <a:off x="3021814" y="2664954"/>
              <a:ext cx="2067135" cy="3140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5" name="Right Arrow 19">
              <a:extLst>
                <a:ext uri="{FF2B5EF4-FFF2-40B4-BE49-F238E27FC236}">
                  <a16:creationId xmlns:a16="http://schemas.microsoft.com/office/drawing/2014/main" id="{C2482591-A507-F3E5-C80C-C02DACB7028B}"/>
                </a:ext>
              </a:extLst>
            </p:cNvPr>
            <p:cNvSpPr/>
            <p:nvPr/>
          </p:nvSpPr>
          <p:spPr>
            <a:xfrm>
              <a:off x="6664148" y="2664954"/>
              <a:ext cx="2067135" cy="314029"/>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6" name="Right Arrow 20">
              <a:extLst>
                <a:ext uri="{FF2B5EF4-FFF2-40B4-BE49-F238E27FC236}">
                  <a16:creationId xmlns:a16="http://schemas.microsoft.com/office/drawing/2014/main" id="{FEC6DB65-4892-22EC-248C-E3CF61373FC1}"/>
                </a:ext>
              </a:extLst>
            </p:cNvPr>
            <p:cNvSpPr/>
            <p:nvPr/>
          </p:nvSpPr>
          <p:spPr>
            <a:xfrm flipH="1">
              <a:off x="3021814" y="3348855"/>
              <a:ext cx="2067135" cy="314029"/>
            </a:xfrm>
            <a:prstGeom prst="rightArrow">
              <a:avLst/>
            </a:prstGeom>
            <a:solidFill>
              <a:schemeClr val="accent6"/>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7" name="Right Arrow 21">
              <a:extLst>
                <a:ext uri="{FF2B5EF4-FFF2-40B4-BE49-F238E27FC236}">
                  <a16:creationId xmlns:a16="http://schemas.microsoft.com/office/drawing/2014/main" id="{0162B676-F5EA-45F1-65C8-27B2B0C610EB}"/>
                </a:ext>
              </a:extLst>
            </p:cNvPr>
            <p:cNvSpPr/>
            <p:nvPr/>
          </p:nvSpPr>
          <p:spPr>
            <a:xfrm flipH="1">
              <a:off x="6664148" y="3348855"/>
              <a:ext cx="2067135" cy="314029"/>
            </a:xfrm>
            <a:prstGeom prst="rightArrow">
              <a:avLst/>
            </a:prstGeom>
            <a:solidFill>
              <a:schemeClr val="accent6"/>
            </a:solidFill>
            <a:ln>
              <a:solidFill>
                <a:schemeClr val="accent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8" name="TextBox 17">
              <a:extLst>
                <a:ext uri="{FF2B5EF4-FFF2-40B4-BE49-F238E27FC236}">
                  <a16:creationId xmlns:a16="http://schemas.microsoft.com/office/drawing/2014/main" id="{1A0E01A0-1F0F-B228-CA22-F89DCD39C795}"/>
                </a:ext>
              </a:extLst>
            </p:cNvPr>
            <p:cNvSpPr txBox="1"/>
            <p:nvPr/>
          </p:nvSpPr>
          <p:spPr>
            <a:xfrm>
              <a:off x="3004552" y="2192011"/>
              <a:ext cx="1905793" cy="492443"/>
            </a:xfrm>
            <a:prstGeom prst="rect">
              <a:avLst/>
            </a:prstGeom>
            <a:noFill/>
          </p:spPr>
          <p:txBody>
            <a:bodyPr wrap="square" lIns="0" tIns="0" rIns="0" bIns="0" rtlCol="0">
              <a:spAutoFit/>
            </a:bodyPr>
            <a:lstStyle/>
            <a:p>
              <a:pPr algn="ctr"/>
              <a:r>
                <a:rPr lang="en-US" sz="1600" i="1">
                  <a:cs typeface="Helvetica Neue"/>
                </a:rPr>
                <a:t>Requests www.example.com</a:t>
              </a:r>
              <a:endParaRPr lang="en-US" sz="1200" i="1">
                <a:cs typeface="Helvetica Neue"/>
              </a:endParaRPr>
            </a:p>
          </p:txBody>
        </p:sp>
        <p:sp>
          <p:nvSpPr>
            <p:cNvPr id="19" name="TextBox 18">
              <a:extLst>
                <a:ext uri="{FF2B5EF4-FFF2-40B4-BE49-F238E27FC236}">
                  <a16:creationId xmlns:a16="http://schemas.microsoft.com/office/drawing/2014/main" id="{C6B2F9A1-AB0B-DCCF-EEAA-EFBF15D10918}"/>
                </a:ext>
              </a:extLst>
            </p:cNvPr>
            <p:cNvSpPr txBox="1"/>
            <p:nvPr/>
          </p:nvSpPr>
          <p:spPr>
            <a:xfrm>
              <a:off x="6665849" y="2188851"/>
              <a:ext cx="1905793" cy="492443"/>
            </a:xfrm>
            <a:prstGeom prst="rect">
              <a:avLst/>
            </a:prstGeom>
            <a:noFill/>
          </p:spPr>
          <p:txBody>
            <a:bodyPr wrap="square" lIns="0" tIns="0" rIns="0" bIns="0" rtlCol="0">
              <a:spAutoFit/>
            </a:bodyPr>
            <a:lstStyle/>
            <a:p>
              <a:pPr algn="ctr"/>
              <a:r>
                <a:rPr lang="en-US" sz="1600" i="1">
                  <a:cs typeface="Helvetica Neue"/>
                </a:rPr>
                <a:t>Checks with Route 53 for IP address</a:t>
              </a:r>
            </a:p>
          </p:txBody>
        </p:sp>
        <p:sp>
          <p:nvSpPr>
            <p:cNvPr id="20" name="TextBox 19">
              <a:extLst>
                <a:ext uri="{FF2B5EF4-FFF2-40B4-BE49-F238E27FC236}">
                  <a16:creationId xmlns:a16="http://schemas.microsoft.com/office/drawing/2014/main" id="{911C2DA6-DD28-AE8A-3E5B-1D30D8D94901}"/>
                </a:ext>
              </a:extLst>
            </p:cNvPr>
            <p:cNvSpPr txBox="1"/>
            <p:nvPr/>
          </p:nvSpPr>
          <p:spPr>
            <a:xfrm>
              <a:off x="6702801" y="3704227"/>
              <a:ext cx="1905793" cy="492443"/>
            </a:xfrm>
            <a:prstGeom prst="rect">
              <a:avLst/>
            </a:prstGeom>
            <a:noFill/>
          </p:spPr>
          <p:txBody>
            <a:bodyPr wrap="square" lIns="0" tIns="0" rIns="0" bIns="0" rtlCol="0">
              <a:spAutoFit/>
            </a:bodyPr>
            <a:lstStyle/>
            <a:p>
              <a:pPr algn="ctr"/>
              <a:r>
                <a:rPr lang="en-US" sz="1600" i="1">
                  <a:solidFill>
                    <a:schemeClr val="accent6"/>
                  </a:solidFill>
                  <a:latin typeface="+mj-lt"/>
                  <a:cs typeface="Helvetica Neue"/>
                </a:rPr>
                <a:t>Returns IP address 192.0.2.0</a:t>
              </a:r>
            </a:p>
          </p:txBody>
        </p:sp>
        <p:sp>
          <p:nvSpPr>
            <p:cNvPr id="21" name="TextBox 20">
              <a:extLst>
                <a:ext uri="{FF2B5EF4-FFF2-40B4-BE49-F238E27FC236}">
                  <a16:creationId xmlns:a16="http://schemas.microsoft.com/office/drawing/2014/main" id="{B3724DA6-A7E1-717D-5FAC-F311B4EB6EA2}"/>
                </a:ext>
              </a:extLst>
            </p:cNvPr>
            <p:cNvSpPr txBox="1"/>
            <p:nvPr/>
          </p:nvSpPr>
          <p:spPr>
            <a:xfrm>
              <a:off x="3063997" y="3704226"/>
              <a:ext cx="1905793" cy="492443"/>
            </a:xfrm>
            <a:prstGeom prst="rect">
              <a:avLst/>
            </a:prstGeom>
            <a:noFill/>
          </p:spPr>
          <p:txBody>
            <a:bodyPr wrap="square" lIns="0" tIns="0" rIns="0" bIns="0" rtlCol="0">
              <a:spAutoFit/>
            </a:bodyPr>
            <a:lstStyle/>
            <a:p>
              <a:pPr algn="ctr"/>
              <a:r>
                <a:rPr lang="en-US" sz="1600" i="1">
                  <a:solidFill>
                    <a:schemeClr val="accent6"/>
                  </a:solidFill>
                  <a:latin typeface="+mj-lt"/>
                  <a:cs typeface="Helvetica Neue"/>
                </a:rPr>
                <a:t>Returns IP address 192.0.2.0</a:t>
              </a:r>
            </a:p>
          </p:txBody>
        </p:sp>
        <p:pic>
          <p:nvPicPr>
            <p:cNvPr id="22" name="Graphic 21">
              <a:extLst>
                <a:ext uri="{FF2B5EF4-FFF2-40B4-BE49-F238E27FC236}">
                  <a16:creationId xmlns:a16="http://schemas.microsoft.com/office/drawing/2014/main" id="{E647AFA6-FDF4-6A55-61F7-39DA0E1A723D}"/>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095132" y="2664954"/>
              <a:ext cx="914400" cy="914400"/>
            </a:xfrm>
            <a:prstGeom prst="rect">
              <a:avLst/>
            </a:prstGeom>
          </p:spPr>
        </p:pic>
        <p:pic>
          <p:nvPicPr>
            <p:cNvPr id="23" name="Graphic 22">
              <a:extLst>
                <a:ext uri="{FF2B5EF4-FFF2-40B4-BE49-F238E27FC236}">
                  <a16:creationId xmlns:a16="http://schemas.microsoft.com/office/drawing/2014/main" id="{F33C890D-C4B3-9923-7B2A-05AA6C53486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5864" y="2785376"/>
              <a:ext cx="914400" cy="914400"/>
            </a:xfrm>
            <a:prstGeom prst="rect">
              <a:avLst/>
            </a:prstGeom>
          </p:spPr>
        </p:pic>
        <p:pic>
          <p:nvPicPr>
            <p:cNvPr id="24" name="Graphic 23">
              <a:extLst>
                <a:ext uri="{FF2B5EF4-FFF2-40B4-BE49-F238E27FC236}">
                  <a16:creationId xmlns:a16="http://schemas.microsoft.com/office/drawing/2014/main" id="{1B43614F-77BC-B3C0-DEF7-F0F54906D47A}"/>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430498" y="2684454"/>
              <a:ext cx="914400" cy="914400"/>
            </a:xfrm>
            <a:prstGeom prst="rect">
              <a:avLst/>
            </a:prstGeom>
          </p:spPr>
        </p:pic>
      </p:grpSp>
    </p:spTree>
    <p:extLst>
      <p:ext uri="{BB962C8B-B14F-4D97-AF65-F5344CB8AC3E}">
        <p14:creationId xmlns:p14="http://schemas.microsoft.com/office/powerpoint/2010/main" val="20934586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The design's name &amp; certificate</a:t>
            </a:r>
          </a:p>
          <a:p>
            <a:pPr>
              <a:spcBef>
                <a:spcPts val="200"/>
              </a:spcBef>
            </a:pPr>
            <a:r>
              <a:rPr sz="1800" b="0" i="1">
                <a:solidFill>
                  <a:srgbClr val="D68E10"/>
                </a:solidFill>
                <a:latin typeface="Roboto Light"/>
              </a:rPr>
              <a:t>the supplied design · decision C8</a:t>
            </a:r>
          </a:p>
        </p:txBody>
      </p:sp>
      <p:sp>
        <p:nvSpPr>
          <p:cNvPr id="3" name="Rectangle 2"/>
          <p:cNvSpPr/>
          <p:nvPr/>
        </p:nvSpPr>
        <p:spPr>
          <a:xfrm>
            <a:off x="658368" y="137160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Ledgerline gets an internal hostname in a private hosted zone — staff-only, over the VPN; no public internet name.</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An ACM TLS certificate secures HTTPS to that name.</a:t>
            </a:r>
          </a:p>
          <a:p>
            <a:pPr marL="0" indent="0">
              <a:lnSpc>
                <a:spcPct val="105000"/>
              </a:lnSpc>
              <a:spcBef>
                <a:spcPts val="0"/>
              </a:spcBef>
              <a:spcAft>
                <a:spcPts val="1000"/>
              </a:spcAft>
            </a:pPr>
            <a:r>
              <a:rPr sz="1800" b="1" i="0">
                <a:solidFill>
                  <a:srgbClr val="205F61"/>
                </a:solidFill>
                <a:latin typeface="Roboto"/>
              </a:rPr>
              <a:t>■  The exact hostname + certificate domain is implementer decision C8 — confirm it with YAT ICT.</a:t>
            </a:r>
          </a:p>
        </p:txBody>
      </p:sp>
      <p:sp>
        <p:nvSpPr>
          <p:cNvPr id="5" name="Rectangle 4"/>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40080" y="457200"/>
            <a:ext cx="10881360" cy="960120"/>
          </a:xfrm>
          <a:prstGeom prst="rect">
            <a:avLst/>
          </a:prstGeom>
          <a:noFill/>
        </p:spPr>
        <p:txBody>
          <a:bodyPr wrap="square" lIns="0" tIns="0" rIns="0" bIns="0" anchor="t">
            <a:spAutoFit/>
          </a:bodyPr>
          <a:lstStyle/>
          <a:p>
            <a:r>
              <a:rPr sz="2800" b="1" i="0">
                <a:solidFill>
                  <a:srgbClr val="2A2929"/>
                </a:solidFill>
                <a:latin typeface="Roboto"/>
              </a:rPr>
              <a:t>Prove it works — test connectivity</a:t>
            </a:r>
          </a:p>
          <a:p>
            <a:pPr>
              <a:spcBef>
                <a:spcPts val="200"/>
              </a:spcBef>
            </a:pPr>
            <a:r>
              <a:rPr sz="1800" b="0" i="1">
                <a:solidFill>
                  <a:srgbClr val="D68E10"/>
                </a:solidFill>
                <a:latin typeface="Roboto Light"/>
              </a:rPr>
              <a:t>AWS · ACA M07 S45, S41 · PC 2.6</a:t>
            </a:r>
          </a:p>
        </p:txBody>
      </p:sp>
      <p:sp>
        <p:nvSpPr>
          <p:cNvPr id="3" name="Rectangle 2"/>
          <p:cNvSpPr/>
          <p:nvPr/>
        </p:nvSpPr>
        <p:spPr>
          <a:xfrm>
            <a:off x="658368" y="137160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1691640"/>
            <a:ext cx="10881360" cy="4480560"/>
          </a:xfrm>
          <a:prstGeom prst="rect">
            <a:avLst/>
          </a:prstGeom>
          <a:noFill/>
        </p:spPr>
        <p:txBody>
          <a:bodyPr wrap="square" lIns="0" tIns="0" rIns="0" bIns="0" anchor="t">
            <a:spAutoFit/>
          </a:bodyPr>
          <a:lstStyle/>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After building, confirm reachability: external access in (reach the service over the VPN) and access between tiers (app → db).</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Reachability Analyzer traces the path and names the blocking component when something can't connect.</a:t>
            </a:r>
          </a:p>
          <a:p>
            <a:pPr marL="0" indent="0">
              <a:lnSpc>
                <a:spcPct val="105000"/>
              </a:lnSpc>
              <a:spcBef>
                <a:spcPts val="0"/>
              </a:spcBef>
              <a:spcAft>
                <a:spcPts val="1000"/>
              </a:spcAft>
            </a:pPr>
            <a:r>
              <a:rPr sz="1800" b="1" i="0">
                <a:solidFill>
                  <a:srgbClr val="205F61"/>
                </a:solidFill>
                <a:latin typeface="Roboto"/>
              </a:rPr>
              <a:t>■  VPC flow logs show ACCEPT / REJECT — a REJECT is usually a security-group rule or a missing route.</a:t>
            </a:r>
          </a:p>
          <a:p>
            <a:pPr marL="0" indent="0">
              <a:lnSpc>
                <a:spcPct val="105000"/>
              </a:lnSpc>
              <a:spcBef>
                <a:spcPts val="0"/>
              </a:spcBef>
              <a:spcAft>
                <a:spcPts val="1000"/>
              </a:spcAft>
            </a:pPr>
            <a:r>
              <a:rPr sz="1800" b="1" i="0">
                <a:solidFill>
                  <a:srgbClr val="EDAB0C"/>
                </a:solidFill>
                <a:latin typeface="Roboto"/>
              </a:rPr>
              <a:t>■  </a:t>
            </a:r>
            <a:r>
              <a:rPr sz="1800" b="0" i="0">
                <a:solidFill>
                  <a:srgbClr val="2A2929"/>
                </a:solidFill>
                <a:latin typeface="Roboto"/>
              </a:rPr>
              <a:t>Fix it and retest; capture the test as evidence. (Full app → db testing completes in Topic 8, once compute exists.)</a:t>
            </a:r>
          </a:p>
        </p:txBody>
      </p:sp>
      <p:sp>
        <p:nvSpPr>
          <p:cNvPr id="5" name="Rectangle 4"/>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7" name="TextBox 6"/>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6AD89-28A2-0F03-7C1F-13CC683BD2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33DE474-EE80-EF27-FB7D-2A23F8528E4A}"/>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Amazon VPC flow logs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9B0EBBFE-8520-8766-341A-CC4C1A51F9AA}"/>
              </a:ext>
            </a:extLst>
          </p:cNvPr>
          <p:cNvSpPr/>
          <p:nvPr/>
        </p:nvSpPr>
        <p:spPr>
          <a:xfrm>
            <a:off x="658368" y="970704"/>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7FC04E0-14AA-FFE4-4A61-ECB250B6E794}"/>
              </a:ext>
            </a:extLst>
          </p:cNvPr>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DCD1B6D8-40C9-2F80-BA4D-E1A42CC65FDA}"/>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9" name="TextBox 8">
            <a:extLst>
              <a:ext uri="{FF2B5EF4-FFF2-40B4-BE49-F238E27FC236}">
                <a16:creationId xmlns:a16="http://schemas.microsoft.com/office/drawing/2014/main" id="{7F85E860-6EA7-DCB2-4190-144F1443E717}"/>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13</a:t>
            </a:r>
          </a:p>
        </p:txBody>
      </p:sp>
      <p:grpSp>
        <p:nvGrpSpPr>
          <p:cNvPr id="41" name="FlattenFL" descr="VPC flow log diagram. See detail in notes.&#10;">
            <a:extLst>
              <a:ext uri="{FF2B5EF4-FFF2-40B4-BE49-F238E27FC236}">
                <a16:creationId xmlns:a16="http://schemas.microsoft.com/office/drawing/2014/main" id="{59DF9777-185E-4111-2073-788ED5F1DB79}"/>
              </a:ext>
            </a:extLst>
          </p:cNvPr>
          <p:cNvGrpSpPr/>
          <p:nvPr/>
        </p:nvGrpSpPr>
        <p:grpSpPr>
          <a:xfrm>
            <a:off x="864405" y="1438131"/>
            <a:ext cx="10536833" cy="4728470"/>
            <a:chOff x="745955" y="1425682"/>
            <a:chExt cx="10536833" cy="4728470"/>
          </a:xfrm>
        </p:grpSpPr>
        <p:sp>
          <p:nvSpPr>
            <p:cNvPr id="42" name="Rectangle 41">
              <a:extLst>
                <a:ext uri="{FF2B5EF4-FFF2-40B4-BE49-F238E27FC236}">
                  <a16:creationId xmlns:a16="http://schemas.microsoft.com/office/drawing/2014/main" id="{850851DA-0D8E-0286-522F-79E928696444}"/>
                </a:ext>
              </a:extLst>
            </p:cNvPr>
            <p:cNvSpPr/>
            <p:nvPr/>
          </p:nvSpPr>
          <p:spPr>
            <a:xfrm>
              <a:off x="1057387" y="2839453"/>
              <a:ext cx="2399685" cy="3031958"/>
            </a:xfrm>
            <a:prstGeom prst="rect">
              <a:avLst/>
            </a:prstGeom>
            <a:noFill/>
            <a:ln w="15875">
              <a:solidFill>
                <a:srgbClr val="00A4A6"/>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02920" tIns="91440" bIns="45720"/>
            <a:lstStyle/>
            <a:p>
              <a:pPr eaLnBrk="1" fontAlgn="auto" hangingPunct="1">
                <a:spcBef>
                  <a:spcPts val="0"/>
                </a:spcBef>
                <a:spcAft>
                  <a:spcPts val="0"/>
                </a:spcAft>
                <a:defRPr/>
              </a:pPr>
              <a:r>
                <a:rPr lang="en-US" sz="1600" dirty="0">
                  <a:solidFill>
                    <a:schemeClr val="tx1"/>
                  </a:solidFill>
                  <a:latin typeface="Amazon Ember Display" panose="020F0603020204020204" pitchFamily="34" charset="0"/>
                  <a:ea typeface="Amazon Ember Display" panose="020F0603020204020204" pitchFamily="34" charset="0"/>
                  <a:cs typeface="Amazon Ember Display" panose="020F0603020204020204" pitchFamily="34" charset="0"/>
                </a:rPr>
                <a:t>Private subnet</a:t>
              </a:r>
            </a:p>
          </p:txBody>
        </p:sp>
        <p:sp>
          <p:nvSpPr>
            <p:cNvPr id="43" name="TextBox 20">
              <a:extLst>
                <a:ext uri="{FF2B5EF4-FFF2-40B4-BE49-F238E27FC236}">
                  <a16:creationId xmlns:a16="http://schemas.microsoft.com/office/drawing/2014/main" id="{634AEA5D-F295-7285-9A41-54E3D7990318}"/>
                </a:ext>
              </a:extLst>
            </p:cNvPr>
            <p:cNvSpPr txBox="1">
              <a:spLocks noChangeArrowheads="1"/>
            </p:cNvSpPr>
            <p:nvPr/>
          </p:nvSpPr>
          <p:spPr bwMode="auto">
            <a:xfrm>
              <a:off x="4221835" y="4095475"/>
              <a:ext cx="14335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Flow logs</a:t>
              </a:r>
            </a:p>
          </p:txBody>
        </p:sp>
        <p:pic>
          <p:nvPicPr>
            <p:cNvPr id="44" name="Graphic 43">
              <a:extLst>
                <a:ext uri="{FF2B5EF4-FFF2-40B4-BE49-F238E27FC236}">
                  <a16:creationId xmlns:a16="http://schemas.microsoft.com/office/drawing/2014/main" id="{F4F30E92-7766-73B4-770C-6C7E4271A35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05118" y="2908982"/>
              <a:ext cx="1195454" cy="1195454"/>
            </a:xfrm>
            <a:prstGeom prst="rect">
              <a:avLst/>
            </a:prstGeom>
          </p:spPr>
        </p:pic>
        <p:sp>
          <p:nvSpPr>
            <p:cNvPr id="45" name="TextBox 9">
              <a:extLst>
                <a:ext uri="{FF2B5EF4-FFF2-40B4-BE49-F238E27FC236}">
                  <a16:creationId xmlns:a16="http://schemas.microsoft.com/office/drawing/2014/main" id="{FB5411E9-62C7-3714-E835-D33511B14045}"/>
                </a:ext>
              </a:extLst>
            </p:cNvPr>
            <p:cNvSpPr txBox="1">
              <a:spLocks noChangeArrowheads="1"/>
            </p:cNvSpPr>
            <p:nvPr/>
          </p:nvSpPr>
          <p:spPr bwMode="auto">
            <a:xfrm>
              <a:off x="5957937" y="2309065"/>
              <a:ext cx="27209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Amazon CloudWatch logs</a:t>
              </a:r>
            </a:p>
          </p:txBody>
        </p:sp>
        <p:sp>
          <p:nvSpPr>
            <p:cNvPr id="46" name="Rectangle 45">
              <a:extLst>
                <a:ext uri="{FF2B5EF4-FFF2-40B4-BE49-F238E27FC236}">
                  <a16:creationId xmlns:a16="http://schemas.microsoft.com/office/drawing/2014/main" id="{4E668F2E-551A-908E-31A3-8C8DD30541D7}"/>
                </a:ext>
              </a:extLst>
            </p:cNvPr>
            <p:cNvSpPr/>
            <p:nvPr/>
          </p:nvSpPr>
          <p:spPr bwMode="auto">
            <a:xfrm>
              <a:off x="745955" y="1873249"/>
              <a:ext cx="2876483" cy="4280903"/>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600" dirty="0">
                  <a:ln w="0"/>
                  <a:solidFill>
                    <a:schemeClr val="tx1"/>
                  </a:solidFill>
                  <a:cs typeface="Arial" panose="020B0604020202020204" pitchFamily="34" charset="0"/>
                </a:rPr>
                <a:t>Amazon VPC</a:t>
              </a:r>
            </a:p>
          </p:txBody>
        </p:sp>
        <p:pic>
          <p:nvPicPr>
            <p:cNvPr id="47" name="Graphic 46">
              <a:extLst>
                <a:ext uri="{FF2B5EF4-FFF2-40B4-BE49-F238E27FC236}">
                  <a16:creationId xmlns:a16="http://schemas.microsoft.com/office/drawing/2014/main" id="{EAE40999-94F4-559A-F0BE-606AC14A9603}"/>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45955" y="1873250"/>
              <a:ext cx="381000" cy="381000"/>
            </a:xfrm>
            <a:prstGeom prst="rect">
              <a:avLst/>
            </a:prstGeom>
          </p:spPr>
        </p:pic>
        <p:pic>
          <p:nvPicPr>
            <p:cNvPr id="48" name="Graphic 47">
              <a:extLst>
                <a:ext uri="{FF2B5EF4-FFF2-40B4-BE49-F238E27FC236}">
                  <a16:creationId xmlns:a16="http://schemas.microsoft.com/office/drawing/2014/main" id="{5753C432-2B04-2761-37CD-4756E58B226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77520" y="1425682"/>
              <a:ext cx="967522" cy="967522"/>
            </a:xfrm>
            <a:prstGeom prst="rect">
              <a:avLst/>
            </a:prstGeom>
          </p:spPr>
        </p:pic>
        <p:sp>
          <p:nvSpPr>
            <p:cNvPr id="49" name="TextBox 20">
              <a:extLst>
                <a:ext uri="{FF2B5EF4-FFF2-40B4-BE49-F238E27FC236}">
                  <a16:creationId xmlns:a16="http://schemas.microsoft.com/office/drawing/2014/main" id="{6D0B366C-3AA6-E720-86FE-EBF1100E58C2}"/>
                </a:ext>
              </a:extLst>
            </p:cNvPr>
            <p:cNvSpPr txBox="1">
              <a:spLocks noChangeArrowheads="1"/>
            </p:cNvSpPr>
            <p:nvPr/>
          </p:nvSpPr>
          <p:spPr bwMode="auto">
            <a:xfrm>
              <a:off x="6111720" y="3909016"/>
              <a:ext cx="220390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Amazon S3 bucket</a:t>
              </a:r>
            </a:p>
          </p:txBody>
        </p:sp>
        <p:pic>
          <p:nvPicPr>
            <p:cNvPr id="50" name="Graphic 49">
              <a:extLst>
                <a:ext uri="{FF2B5EF4-FFF2-40B4-BE49-F238E27FC236}">
                  <a16:creationId xmlns:a16="http://schemas.microsoft.com/office/drawing/2014/main" id="{5CB8BE09-482F-641A-342C-E07AB9992EB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03101" y="3097672"/>
              <a:ext cx="811344" cy="811344"/>
            </a:xfrm>
            <a:prstGeom prst="rect">
              <a:avLst/>
            </a:prstGeom>
          </p:spPr>
        </p:pic>
        <p:pic>
          <p:nvPicPr>
            <p:cNvPr id="51" name="Graphic 12">
              <a:extLst>
                <a:ext uri="{FF2B5EF4-FFF2-40B4-BE49-F238E27FC236}">
                  <a16:creationId xmlns:a16="http://schemas.microsoft.com/office/drawing/2014/main" id="{1E16A0C1-4C17-27B9-0DE8-A7CD6EC7B298}"/>
                </a:ext>
              </a:extLst>
            </p:cNvPr>
            <p:cNvPicPr>
              <a:picLocks noChangeAspect="1" noChangeArrowheads="1"/>
            </p:cNvPicPr>
            <p:nvPr/>
          </p:nvPicPr>
          <p:blipFill>
            <a:blip>
              <a:extLst>
                <a:ext uri="{96DAC541-7B7A-43D3-8B79-37D633B846F1}">
                  <asvg:svgBlip xmlns:asvg="http://schemas.microsoft.com/office/drawing/2016/SVG/main" r:embed="rId7"/>
                </a:ext>
              </a:extLst>
            </a:blip>
            <a:srcRect/>
            <a:stretch/>
          </p:blipFill>
          <p:spPr bwMode="auto">
            <a:xfrm>
              <a:off x="6800924" y="4719638"/>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Box 19">
              <a:extLst>
                <a:ext uri="{FF2B5EF4-FFF2-40B4-BE49-F238E27FC236}">
                  <a16:creationId xmlns:a16="http://schemas.microsoft.com/office/drawing/2014/main" id="{66CD110F-AC7C-26E7-828E-C586DB2FD668}"/>
                </a:ext>
              </a:extLst>
            </p:cNvPr>
            <p:cNvSpPr txBox="1">
              <a:spLocks noChangeArrowheads="1"/>
            </p:cNvSpPr>
            <p:nvPr/>
          </p:nvSpPr>
          <p:spPr bwMode="auto">
            <a:xfrm>
              <a:off x="6064324" y="5483225"/>
              <a:ext cx="22796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Amazon Kinesis</a:t>
              </a:r>
              <a:b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br>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Data Firehose stream</a:t>
              </a:r>
            </a:p>
          </p:txBody>
        </p:sp>
        <p:cxnSp>
          <p:nvCxnSpPr>
            <p:cNvPr id="53" name="Straight Arrow Connector 35">
              <a:extLst>
                <a:ext uri="{FF2B5EF4-FFF2-40B4-BE49-F238E27FC236}">
                  <a16:creationId xmlns:a16="http://schemas.microsoft.com/office/drawing/2014/main" id="{D1056EFA-8513-06F8-F43B-188337535113}"/>
                </a:ext>
              </a:extLst>
            </p:cNvPr>
            <p:cNvCxnSpPr>
              <a:cxnSpLocks/>
              <a:stCxn id="59" idx="3"/>
            </p:cNvCxnSpPr>
            <p:nvPr/>
          </p:nvCxnSpPr>
          <p:spPr>
            <a:xfrm flipV="1">
              <a:off x="2560112" y="3295972"/>
              <a:ext cx="1895141" cy="422081"/>
            </a:xfrm>
            <a:prstGeom prst="bentConnector3">
              <a:avLst>
                <a:gd name="adj1" fmla="val 65292"/>
              </a:avLst>
            </a:prstGeom>
            <a:ln w="25400" cmpd="sng">
              <a:solidFill>
                <a:schemeClr val="tx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54" name="Straight Arrow Connector 35">
              <a:extLst>
                <a:ext uri="{FF2B5EF4-FFF2-40B4-BE49-F238E27FC236}">
                  <a16:creationId xmlns:a16="http://schemas.microsoft.com/office/drawing/2014/main" id="{49B94990-8ACB-7259-9E01-E27976CC83EB}"/>
                </a:ext>
              </a:extLst>
            </p:cNvPr>
            <p:cNvCxnSpPr>
              <a:cxnSpLocks/>
              <a:stCxn id="44" idx="3"/>
              <a:endCxn id="48" idx="1"/>
            </p:cNvCxnSpPr>
            <p:nvPr/>
          </p:nvCxnSpPr>
          <p:spPr>
            <a:xfrm flipV="1">
              <a:off x="5600572" y="1909443"/>
              <a:ext cx="1276948" cy="1597266"/>
            </a:xfrm>
            <a:prstGeom prst="bentConnector3">
              <a:avLst>
                <a:gd name="adj1" fmla="val 27387"/>
              </a:avLst>
            </a:prstGeom>
            <a:ln w="25400" cmpd="sng">
              <a:solidFill>
                <a:schemeClr val="tx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55" name="Straight Arrow Connector 35">
              <a:extLst>
                <a:ext uri="{FF2B5EF4-FFF2-40B4-BE49-F238E27FC236}">
                  <a16:creationId xmlns:a16="http://schemas.microsoft.com/office/drawing/2014/main" id="{616E5DFB-2951-D1DE-A039-B35D77EEA2F7}"/>
                </a:ext>
              </a:extLst>
            </p:cNvPr>
            <p:cNvCxnSpPr>
              <a:cxnSpLocks/>
            </p:cNvCxnSpPr>
            <p:nvPr/>
          </p:nvCxnSpPr>
          <p:spPr>
            <a:xfrm>
              <a:off x="5950783" y="3503986"/>
              <a:ext cx="850141" cy="0"/>
            </a:xfrm>
            <a:prstGeom prst="straightConnector1">
              <a:avLst/>
            </a:prstGeom>
            <a:ln w="25400" cmpd="sng">
              <a:solidFill>
                <a:schemeClr val="tx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56" name="Straight Arrow Connector 35">
              <a:extLst>
                <a:ext uri="{FF2B5EF4-FFF2-40B4-BE49-F238E27FC236}">
                  <a16:creationId xmlns:a16="http://schemas.microsoft.com/office/drawing/2014/main" id="{394A8044-6AD2-67F4-CE0E-DA8FFC8CCBE2}"/>
                </a:ext>
              </a:extLst>
            </p:cNvPr>
            <p:cNvCxnSpPr>
              <a:cxnSpLocks/>
              <a:endCxn id="51" idx="1"/>
            </p:cNvCxnSpPr>
            <p:nvPr/>
          </p:nvCxnSpPr>
          <p:spPr>
            <a:xfrm rot="16200000" flipH="1">
              <a:off x="5578296" y="3878010"/>
              <a:ext cx="1597292" cy="847963"/>
            </a:xfrm>
            <a:prstGeom prst="bentConnector2">
              <a:avLst/>
            </a:prstGeom>
            <a:ln w="25400" cmpd="sng">
              <a:solidFill>
                <a:schemeClr val="tx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57" name="Graphic 56">
              <a:extLst>
                <a:ext uri="{FF2B5EF4-FFF2-40B4-BE49-F238E27FC236}">
                  <a16:creationId xmlns:a16="http://schemas.microsoft.com/office/drawing/2014/main" id="{E9EE33D6-736C-AC50-83B9-14C69D6409C0}"/>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1057387" y="2840776"/>
              <a:ext cx="381000" cy="381000"/>
            </a:xfrm>
            <a:prstGeom prst="rect">
              <a:avLst/>
            </a:prstGeom>
          </p:spPr>
        </p:pic>
        <p:sp>
          <p:nvSpPr>
            <p:cNvPr id="58" name="TextBox 18">
              <a:extLst>
                <a:ext uri="{FF2B5EF4-FFF2-40B4-BE49-F238E27FC236}">
                  <a16:creationId xmlns:a16="http://schemas.microsoft.com/office/drawing/2014/main" id="{8D1D21A0-3FCA-4CC6-68C7-EE3B410E7297}"/>
                </a:ext>
              </a:extLst>
            </p:cNvPr>
            <p:cNvSpPr txBox="1">
              <a:spLocks noChangeArrowheads="1"/>
            </p:cNvSpPr>
            <p:nvPr/>
          </p:nvSpPr>
          <p:spPr bwMode="auto">
            <a:xfrm>
              <a:off x="1187563" y="3967155"/>
              <a:ext cx="2039064"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Elastic network interface</a:t>
              </a:r>
            </a:p>
          </p:txBody>
        </p:sp>
        <p:pic>
          <p:nvPicPr>
            <p:cNvPr id="59" name="Graphic 58">
              <a:extLst>
                <a:ext uri="{FF2B5EF4-FFF2-40B4-BE49-F238E27FC236}">
                  <a16:creationId xmlns:a16="http://schemas.microsoft.com/office/drawing/2014/main" id="{6783994E-0401-A0FA-00EE-C43C3A7C453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893339" y="3384666"/>
              <a:ext cx="666773" cy="666773"/>
            </a:xfrm>
            <a:prstGeom prst="rect">
              <a:avLst/>
            </a:prstGeom>
          </p:spPr>
        </p:pic>
        <p:cxnSp>
          <p:nvCxnSpPr>
            <p:cNvPr id="60" name="Straight Arrow Connector 35">
              <a:extLst>
                <a:ext uri="{FF2B5EF4-FFF2-40B4-BE49-F238E27FC236}">
                  <a16:creationId xmlns:a16="http://schemas.microsoft.com/office/drawing/2014/main" id="{83F522EA-7329-4360-AD25-158910B7A609}"/>
                </a:ext>
              </a:extLst>
            </p:cNvPr>
            <p:cNvCxnSpPr>
              <a:cxnSpLocks/>
              <a:stCxn id="42" idx="3"/>
            </p:cNvCxnSpPr>
            <p:nvPr/>
          </p:nvCxnSpPr>
          <p:spPr>
            <a:xfrm flipV="1">
              <a:off x="3457072" y="3735142"/>
              <a:ext cx="965008" cy="620290"/>
            </a:xfrm>
            <a:prstGeom prst="bentConnector3">
              <a:avLst>
                <a:gd name="adj1" fmla="val 65016"/>
              </a:avLst>
            </a:prstGeom>
            <a:ln w="25400" cmpd="sng">
              <a:solidFill>
                <a:schemeClr val="tx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cxnSp>
          <p:nvCxnSpPr>
            <p:cNvPr id="61" name="Straight Arrow Connector 35">
              <a:extLst>
                <a:ext uri="{FF2B5EF4-FFF2-40B4-BE49-F238E27FC236}">
                  <a16:creationId xmlns:a16="http://schemas.microsoft.com/office/drawing/2014/main" id="{10746407-8079-DE86-D117-6271481BDA99}"/>
                </a:ext>
              </a:extLst>
            </p:cNvPr>
            <p:cNvCxnSpPr>
              <a:cxnSpLocks/>
              <a:endCxn id="44" idx="0"/>
            </p:cNvCxnSpPr>
            <p:nvPr/>
          </p:nvCxnSpPr>
          <p:spPr>
            <a:xfrm>
              <a:off x="3637203" y="1920794"/>
              <a:ext cx="1365642" cy="988188"/>
            </a:xfrm>
            <a:prstGeom prst="bentConnector2">
              <a:avLst/>
            </a:prstGeom>
            <a:ln w="25400" cmpd="sng">
              <a:solidFill>
                <a:schemeClr val="tx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62" name="Graphic 13">
              <a:extLst>
                <a:ext uri="{FF2B5EF4-FFF2-40B4-BE49-F238E27FC236}">
                  <a16:creationId xmlns:a16="http://schemas.microsoft.com/office/drawing/2014/main" id="{189F761A-BE4D-BB33-6740-6516E03E01B9}"/>
                </a:ext>
              </a:extLst>
            </p:cNvPr>
            <p:cNvPicPr>
              <a:picLocks noChangeAspect="1" noChangeArrowheads="1"/>
            </p:cNvPicPr>
            <p:nvPr/>
          </p:nvPicPr>
          <p:blipFill>
            <a:blip>
              <a:extLst>
                <a:ext uri="{96DAC541-7B7A-43D3-8B79-37D633B846F1}">
                  <asvg:svgBlip xmlns:asvg="http://schemas.microsoft.com/office/drawing/2016/SVG/main" r:embed="rId10"/>
                </a:ext>
              </a:extLst>
            </a:blip>
            <a:srcRect/>
            <a:stretch/>
          </p:blipFill>
          <p:spPr bwMode="auto">
            <a:xfrm>
              <a:off x="9649730" y="1461711"/>
              <a:ext cx="913445" cy="913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 name="TextBox 30">
              <a:extLst>
                <a:ext uri="{FF2B5EF4-FFF2-40B4-BE49-F238E27FC236}">
                  <a16:creationId xmlns:a16="http://schemas.microsoft.com/office/drawing/2014/main" id="{33722D71-EC83-A257-5D38-501D79564843}"/>
                </a:ext>
              </a:extLst>
            </p:cNvPr>
            <p:cNvSpPr txBox="1">
              <a:spLocks noChangeArrowheads="1"/>
            </p:cNvSpPr>
            <p:nvPr/>
          </p:nvSpPr>
          <p:spPr bwMode="auto">
            <a:xfrm>
              <a:off x="9208825" y="2340264"/>
              <a:ext cx="1969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AWS Management Console</a:t>
              </a:r>
            </a:p>
          </p:txBody>
        </p:sp>
        <p:cxnSp>
          <p:nvCxnSpPr>
            <p:cNvPr id="64" name="Straight Arrow Connector 35">
              <a:extLst>
                <a:ext uri="{FF2B5EF4-FFF2-40B4-BE49-F238E27FC236}">
                  <a16:creationId xmlns:a16="http://schemas.microsoft.com/office/drawing/2014/main" id="{C0CD15A1-A9C8-6676-E485-3F89DEA511EB}"/>
                </a:ext>
              </a:extLst>
            </p:cNvPr>
            <p:cNvCxnSpPr>
              <a:cxnSpLocks/>
              <a:stCxn id="62" idx="1"/>
              <a:endCxn id="48" idx="3"/>
            </p:cNvCxnSpPr>
            <p:nvPr/>
          </p:nvCxnSpPr>
          <p:spPr>
            <a:xfrm flipH="1" flipV="1">
              <a:off x="7845042" y="1909443"/>
              <a:ext cx="1804688" cy="8991"/>
            </a:xfrm>
            <a:prstGeom prst="straightConnector1">
              <a:avLst/>
            </a:prstGeom>
            <a:ln w="25400" cmpd="sng">
              <a:solidFill>
                <a:schemeClr val="tx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65" name="Graphic 14">
              <a:extLst>
                <a:ext uri="{FF2B5EF4-FFF2-40B4-BE49-F238E27FC236}">
                  <a16:creationId xmlns:a16="http://schemas.microsoft.com/office/drawing/2014/main" id="{7C36AD2A-170A-E678-041E-B42710DFC6D8}"/>
                </a:ext>
              </a:extLst>
            </p:cNvPr>
            <p:cNvPicPr>
              <a:picLocks noChangeAspect="1" noChangeArrowheads="1"/>
            </p:cNvPicPr>
            <p:nvPr/>
          </p:nvPicPr>
          <p:blipFill>
            <a:blip>
              <a:extLst>
                <a:ext uri="{96DAC541-7B7A-43D3-8B79-37D633B846F1}">
                  <asvg:svgBlip xmlns:asvg="http://schemas.microsoft.com/office/drawing/2016/SVG/main" r:embed="rId11"/>
                </a:ext>
              </a:extLst>
            </a:blip>
            <a:srcRect/>
            <a:stretch/>
          </p:blipFill>
          <p:spPr bwMode="auto">
            <a:xfrm>
              <a:off x="9757944" y="313306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TextBox 17">
              <a:extLst>
                <a:ext uri="{FF2B5EF4-FFF2-40B4-BE49-F238E27FC236}">
                  <a16:creationId xmlns:a16="http://schemas.microsoft.com/office/drawing/2014/main" id="{F5056AEE-FBC7-5F14-EC8A-591E7F592B0A}"/>
                </a:ext>
              </a:extLst>
            </p:cNvPr>
            <p:cNvSpPr txBox="1">
              <a:spLocks noChangeArrowheads="1"/>
            </p:cNvSpPr>
            <p:nvPr/>
          </p:nvSpPr>
          <p:spPr bwMode="auto">
            <a:xfrm>
              <a:off x="8990438" y="3895065"/>
              <a:ext cx="229235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Amazon Athena</a:t>
              </a:r>
            </a:p>
          </p:txBody>
        </p:sp>
        <p:cxnSp>
          <p:nvCxnSpPr>
            <p:cNvPr id="67" name="Straight Arrow Connector 35">
              <a:extLst>
                <a:ext uri="{FF2B5EF4-FFF2-40B4-BE49-F238E27FC236}">
                  <a16:creationId xmlns:a16="http://schemas.microsoft.com/office/drawing/2014/main" id="{885EE166-A08B-31E7-40E5-A52840CE2498}"/>
                </a:ext>
              </a:extLst>
            </p:cNvPr>
            <p:cNvCxnSpPr>
              <a:cxnSpLocks/>
              <a:stCxn id="65" idx="1"/>
              <a:endCxn id="50" idx="3"/>
            </p:cNvCxnSpPr>
            <p:nvPr/>
          </p:nvCxnSpPr>
          <p:spPr>
            <a:xfrm flipH="1" flipV="1">
              <a:off x="7614445" y="3503344"/>
              <a:ext cx="2143499" cy="10721"/>
            </a:xfrm>
            <a:prstGeom prst="straightConnector1">
              <a:avLst/>
            </a:prstGeom>
            <a:ln w="25400" cmpd="sng">
              <a:solidFill>
                <a:schemeClr val="tx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pic>
          <p:nvPicPr>
            <p:cNvPr id="68" name="Graphic 14">
              <a:extLst>
                <a:ext uri="{FF2B5EF4-FFF2-40B4-BE49-F238E27FC236}">
                  <a16:creationId xmlns:a16="http://schemas.microsoft.com/office/drawing/2014/main" id="{A0243DD5-710C-D3D7-8A6F-D84A527051D0}"/>
                </a:ext>
              </a:extLst>
            </p:cNvPr>
            <p:cNvPicPr>
              <a:picLocks noChangeAspect="1" noChangeArrowheads="1"/>
            </p:cNvPicPr>
            <p:nvPr/>
          </p:nvPicPr>
          <p:blipFill>
            <a:blip>
              <a:extLst>
                <a:ext uri="{96DAC541-7B7A-43D3-8B79-37D633B846F1}">
                  <asvg:svgBlip xmlns:asvg="http://schemas.microsoft.com/office/drawing/2016/SVG/main" r:embed="rId12"/>
                </a:ext>
              </a:extLst>
            </a:blip>
            <a:srcRect/>
            <a:stretch/>
          </p:blipFill>
          <p:spPr bwMode="auto">
            <a:xfrm>
              <a:off x="9757944" y="4713955"/>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 name="TextBox 17">
              <a:extLst>
                <a:ext uri="{FF2B5EF4-FFF2-40B4-BE49-F238E27FC236}">
                  <a16:creationId xmlns:a16="http://schemas.microsoft.com/office/drawing/2014/main" id="{AC532A26-11AA-B6CF-47EE-BED504A83475}"/>
                </a:ext>
              </a:extLst>
            </p:cNvPr>
            <p:cNvSpPr txBox="1">
              <a:spLocks noChangeArrowheads="1"/>
            </p:cNvSpPr>
            <p:nvPr/>
          </p:nvSpPr>
          <p:spPr bwMode="auto">
            <a:xfrm>
              <a:off x="8990438" y="5475955"/>
              <a:ext cx="22923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Amazon OpenSearch Service</a:t>
              </a:r>
            </a:p>
          </p:txBody>
        </p:sp>
        <p:cxnSp>
          <p:nvCxnSpPr>
            <p:cNvPr id="70" name="Straight Arrow Connector 35">
              <a:extLst>
                <a:ext uri="{FF2B5EF4-FFF2-40B4-BE49-F238E27FC236}">
                  <a16:creationId xmlns:a16="http://schemas.microsoft.com/office/drawing/2014/main" id="{35DD4F92-7221-EEB6-3A0B-08446F4FA127}"/>
                </a:ext>
              </a:extLst>
            </p:cNvPr>
            <p:cNvCxnSpPr>
              <a:cxnSpLocks/>
              <a:stCxn id="51" idx="3"/>
              <a:endCxn id="68" idx="1"/>
            </p:cNvCxnSpPr>
            <p:nvPr/>
          </p:nvCxnSpPr>
          <p:spPr>
            <a:xfrm flipV="1">
              <a:off x="7562924" y="5094955"/>
              <a:ext cx="2195020" cy="5683"/>
            </a:xfrm>
            <a:prstGeom prst="straightConnector1">
              <a:avLst/>
            </a:prstGeom>
            <a:ln w="25400" cmpd="sng">
              <a:solidFill>
                <a:schemeClr val="tx2"/>
              </a:solidFill>
              <a:prstDash val="solid"/>
              <a:headEnd type="none" w="med" len="med"/>
              <a:tailEnd type="arrow" w="lg" len="sm"/>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sp>
          <p:nvSpPr>
            <p:cNvPr id="71" name="TextBox 16">
              <a:extLst>
                <a:ext uri="{FF2B5EF4-FFF2-40B4-BE49-F238E27FC236}">
                  <a16:creationId xmlns:a16="http://schemas.microsoft.com/office/drawing/2014/main" id="{24F1AC6C-5477-BEA1-AEB3-D9515F5E020D}"/>
                </a:ext>
              </a:extLst>
            </p:cNvPr>
            <p:cNvSpPr txBox="1">
              <a:spLocks noChangeArrowheads="1"/>
            </p:cNvSpPr>
            <p:nvPr/>
          </p:nvSpPr>
          <p:spPr bwMode="auto">
            <a:xfrm>
              <a:off x="1490674" y="5424448"/>
              <a:ext cx="138704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r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altLang="en-US" sz="1600" dirty="0">
                  <a:latin typeface="Amazon Ember Display" panose="020F0603020204020204" pitchFamily="34" charset="0"/>
                  <a:ea typeface="Amazon Ember Display" panose="020F0603020204020204" pitchFamily="34" charset="0"/>
                  <a:cs typeface="Amazon Ember Display" panose="020F0603020204020204" pitchFamily="34" charset="0"/>
                </a:rPr>
                <a:t>EC2 instance</a:t>
              </a:r>
            </a:p>
          </p:txBody>
        </p:sp>
        <p:pic>
          <p:nvPicPr>
            <p:cNvPr id="72" name="Graphic 71">
              <a:extLst>
                <a:ext uri="{FF2B5EF4-FFF2-40B4-BE49-F238E27FC236}">
                  <a16:creationId xmlns:a16="http://schemas.microsoft.com/office/drawing/2014/main" id="{F7801089-9169-9A90-8FA7-9AD012ED995E}"/>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860857" y="4796532"/>
              <a:ext cx="692476" cy="692476"/>
            </a:xfrm>
            <a:prstGeom prst="rect">
              <a:avLst/>
            </a:prstGeom>
          </p:spPr>
        </p:pic>
        <p:cxnSp>
          <p:nvCxnSpPr>
            <p:cNvPr id="73" name="Straight Arrow Connector 35">
              <a:extLst>
                <a:ext uri="{FF2B5EF4-FFF2-40B4-BE49-F238E27FC236}">
                  <a16:creationId xmlns:a16="http://schemas.microsoft.com/office/drawing/2014/main" id="{E570F548-30D6-4442-0B12-0AB9E6DE5E0E}"/>
                </a:ext>
              </a:extLst>
            </p:cNvPr>
            <p:cNvCxnSpPr>
              <a:cxnSpLocks/>
              <a:stCxn id="72" idx="0"/>
              <a:endCxn id="58" idx="2"/>
            </p:cNvCxnSpPr>
            <p:nvPr/>
          </p:nvCxnSpPr>
          <p:spPr>
            <a:xfrm flipV="1">
              <a:off x="2207095" y="4551930"/>
              <a:ext cx="0" cy="244602"/>
            </a:xfrm>
            <a:prstGeom prst="straightConnector1">
              <a:avLst/>
            </a:prstGeom>
            <a:ln w="25400" cmpd="sng">
              <a:solidFill>
                <a:schemeClr val="tx2"/>
              </a:solidFill>
              <a:prstDash val="solid"/>
              <a:headEnd type="none" w="med" len="med"/>
              <a:tailEnd type="none" w="med" len="med"/>
            </a:ln>
            <a:effectLst>
              <a:outerShdw blurRad="63500" dist="37357" dir="2700000" sx="0" sy="0" rotWithShape="0">
                <a:scrgbClr r="0" g="0" b="0"/>
              </a:outerShdw>
              <a:reflection endPos="0" dir="5400000" sy="-100000" algn="bl" rotWithShape="0"/>
            </a:effectLst>
          </p:spPr>
          <p:style>
            <a:lnRef idx="1">
              <a:schemeClr val="accent1"/>
            </a:lnRef>
            <a:fillRef idx="0">
              <a:schemeClr val="accent1"/>
            </a:fillRef>
            <a:effectRef idx="0">
              <a:schemeClr val="accent1"/>
            </a:effectRef>
            <a:fontRef idx="minor">
              <a:schemeClr val="tx1"/>
            </a:fontRef>
          </p:style>
        </p:cxnSp>
      </p:grpSp>
      <p:sp>
        <p:nvSpPr>
          <p:cNvPr id="74" name="Callout: Colors menu">
            <a:extLst>
              <a:ext uri="{FF2B5EF4-FFF2-40B4-BE49-F238E27FC236}">
                <a16:creationId xmlns:a16="http://schemas.microsoft.com/office/drawing/2014/main" id="{5E4195A0-1881-AC0E-819A-CDFEEB27BCE7}"/>
              </a:ext>
              <a:ext uri="{C183D7F6-B498-43B3-948B-1728B52AA6E4}">
                <adec:decorative xmlns:adec="http://schemas.microsoft.com/office/drawing/2017/decorative" val="1"/>
              </a:ext>
            </a:extLst>
          </p:cNvPr>
          <p:cNvSpPr/>
          <p:nvPr/>
        </p:nvSpPr>
        <p:spPr>
          <a:xfrm>
            <a:off x="3658462" y="1191574"/>
            <a:ext cx="1532820" cy="353943"/>
          </a:xfrm>
          <a:prstGeom prst="borderCallout1">
            <a:avLst>
              <a:gd name="adj1" fmla="val 104157"/>
              <a:gd name="adj2" fmla="val 50335"/>
              <a:gd name="adj3" fmla="val 204772"/>
              <a:gd name="adj4" fmla="val 50353"/>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700" dirty="0">
                <a:solidFill>
                  <a:schemeClr val="bg1"/>
                </a:solidFill>
              </a:rPr>
              <a:t>VPC flow logs</a:t>
            </a:r>
          </a:p>
        </p:txBody>
      </p:sp>
      <p:sp>
        <p:nvSpPr>
          <p:cNvPr id="75" name="Callout: Colors menu">
            <a:extLst>
              <a:ext uri="{FF2B5EF4-FFF2-40B4-BE49-F238E27FC236}">
                <a16:creationId xmlns:a16="http://schemas.microsoft.com/office/drawing/2014/main" id="{565996B0-A282-BCCD-A00D-A28BF12908CE}"/>
              </a:ext>
              <a:ext uri="{C183D7F6-B498-43B3-948B-1728B52AA6E4}">
                <adec:decorative xmlns:adec="http://schemas.microsoft.com/office/drawing/2017/decorative" val="1"/>
              </a:ext>
            </a:extLst>
          </p:cNvPr>
          <p:cNvSpPr/>
          <p:nvPr/>
        </p:nvSpPr>
        <p:spPr>
          <a:xfrm>
            <a:off x="3046181" y="2039206"/>
            <a:ext cx="1940491" cy="615553"/>
          </a:xfrm>
          <a:prstGeom prst="borderCallout1">
            <a:avLst>
              <a:gd name="adj1" fmla="val 104157"/>
              <a:gd name="adj2" fmla="val 50335"/>
              <a:gd name="adj3" fmla="val 204588"/>
              <a:gd name="adj4" fmla="val 50329"/>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700" dirty="0">
                <a:solidFill>
                  <a:schemeClr val="bg1"/>
                </a:solidFill>
              </a:rPr>
              <a:t>Elastic network interface flow logs</a:t>
            </a:r>
          </a:p>
        </p:txBody>
      </p:sp>
      <p:sp>
        <p:nvSpPr>
          <p:cNvPr id="76" name="Callout: Colors menu">
            <a:extLst>
              <a:ext uri="{FF2B5EF4-FFF2-40B4-BE49-F238E27FC236}">
                <a16:creationId xmlns:a16="http://schemas.microsoft.com/office/drawing/2014/main" id="{E14CDE49-1ACA-AAC5-E1EC-CEB12FA00E55}"/>
              </a:ext>
              <a:ext uri="{C183D7F6-B498-43B3-948B-1728B52AA6E4}">
                <adec:decorative xmlns:adec="http://schemas.microsoft.com/office/drawing/2017/decorative" val="1"/>
              </a:ext>
            </a:extLst>
          </p:cNvPr>
          <p:cNvSpPr/>
          <p:nvPr/>
        </p:nvSpPr>
        <p:spPr>
          <a:xfrm>
            <a:off x="3959983" y="5172508"/>
            <a:ext cx="1488563" cy="615553"/>
          </a:xfrm>
          <a:prstGeom prst="borderCallout1">
            <a:avLst>
              <a:gd name="adj1" fmla="val -2535"/>
              <a:gd name="adj2" fmla="val 8012"/>
              <a:gd name="adj3" fmla="val -129232"/>
              <a:gd name="adj4" fmla="val 8560"/>
            </a:avLst>
          </a:prstGeom>
          <a:solidFill>
            <a:schemeClr val="accent5"/>
          </a:solidFill>
          <a:ln w="44450">
            <a:solidFill>
              <a:schemeClr val="accent5"/>
            </a:solidFill>
            <a:headEnd type="none" w="med" len="med"/>
            <a:tailEnd type="arrow" w="med" len="med"/>
          </a:ln>
          <a:effectLst>
            <a:outerShdw blurRad="63500" dist="53881" dir="2700016" rotWithShape="0">
              <a:scrgbClr r="0" g="0" b="0">
                <a:alpha val="25000"/>
              </a:scrgbClr>
            </a:outerShdw>
          </a:effectLst>
        </p:spPr>
        <p:style>
          <a:lnRef idx="3">
            <a:schemeClr val="lt1"/>
          </a:lnRef>
          <a:fillRef idx="1">
            <a:schemeClr val="accent6"/>
          </a:fillRef>
          <a:effectRef idx="1">
            <a:schemeClr val="accent6"/>
          </a:effectRef>
          <a:fontRef idx="minor">
            <a:schemeClr val="lt1"/>
          </a:fontRef>
        </p:style>
        <p:txBody>
          <a:bodyPr wrap="square" lIns="45720" rIns="45720" rtlCol="0" anchor="ctr">
            <a:spAutoFit/>
          </a:bodyPr>
          <a:lstStyle/>
          <a:p>
            <a:pPr algn="ctr"/>
            <a:r>
              <a:rPr lang="en-US" sz="1700" dirty="0">
                <a:solidFill>
                  <a:schemeClr val="bg1"/>
                </a:solidFill>
              </a:rPr>
              <a:t>Subnet flow logs</a:t>
            </a:r>
          </a:p>
        </p:txBody>
      </p:sp>
    </p:spTree>
    <p:extLst>
      <p:ext uri="{BB962C8B-B14F-4D97-AF65-F5344CB8AC3E}">
        <p14:creationId xmlns:p14="http://schemas.microsoft.com/office/powerpoint/2010/main" val="1270731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CD4D4-036A-16E2-0DB3-6570BC54C81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B396865-B24D-6A86-5F67-69217794FA43}"/>
              </a:ext>
            </a:extLst>
          </p:cNvPr>
          <p:cNvSpPr txBox="1"/>
          <p:nvPr/>
        </p:nvSpPr>
        <p:spPr>
          <a:xfrm>
            <a:off x="640080" y="457200"/>
            <a:ext cx="10881360" cy="430887"/>
          </a:xfrm>
          <a:prstGeom prst="rect">
            <a:avLst/>
          </a:prstGeom>
          <a:noFill/>
        </p:spPr>
        <p:txBody>
          <a:bodyPr wrap="square" lIns="0" tIns="0" rIns="0" bIns="0" anchor="t">
            <a:spAutoFit/>
          </a:bodyPr>
          <a:lstStyle/>
          <a:p>
            <a:r>
              <a:rPr lang="en-US" sz="2800" b="1" i="0" dirty="0">
                <a:solidFill>
                  <a:srgbClr val="2A2929"/>
                </a:solidFill>
                <a:latin typeface="Roboto"/>
              </a:rPr>
              <a:t>More VPC troubleshooting tools</a:t>
            </a:r>
            <a:endParaRPr sz="2800" b="1" i="0" dirty="0">
              <a:solidFill>
                <a:srgbClr val="2A2929"/>
              </a:solidFill>
              <a:latin typeface="Roboto"/>
            </a:endParaRPr>
          </a:p>
        </p:txBody>
      </p:sp>
      <p:sp>
        <p:nvSpPr>
          <p:cNvPr id="3" name="Rectangle 2">
            <a:extLst>
              <a:ext uri="{FF2B5EF4-FFF2-40B4-BE49-F238E27FC236}">
                <a16:creationId xmlns:a16="http://schemas.microsoft.com/office/drawing/2014/main" id="{0B79C1D3-D3A6-4E4C-9460-DA88046D8CA5}"/>
              </a:ext>
            </a:extLst>
          </p:cNvPr>
          <p:cNvSpPr/>
          <p:nvPr/>
        </p:nvSpPr>
        <p:spPr>
          <a:xfrm>
            <a:off x="658368" y="970704"/>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a:extLst>
              <a:ext uri="{FF2B5EF4-FFF2-40B4-BE49-F238E27FC236}">
                <a16:creationId xmlns:a16="http://schemas.microsoft.com/office/drawing/2014/main" id="{A7DD3509-344B-4F16-B295-EE3AC196A4F1}"/>
              </a:ext>
            </a:extLst>
          </p:cNvPr>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4AAE65E5-0753-F99F-586D-B1E68E4859A5}"/>
              </a:ext>
            </a:extLst>
          </p:cNvPr>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9" name="TextBox 8">
            <a:extLst>
              <a:ext uri="{FF2B5EF4-FFF2-40B4-BE49-F238E27FC236}">
                <a16:creationId xmlns:a16="http://schemas.microsoft.com/office/drawing/2014/main" id="{3DEE2FA1-D9FE-1086-8702-882AA78E98C2}"/>
              </a:ext>
            </a:extLst>
          </p:cNvPr>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13</a:t>
            </a:r>
          </a:p>
        </p:txBody>
      </p:sp>
      <p:pic>
        <p:nvPicPr>
          <p:cNvPr id="4" name="Picture Placeholder 31">
            <a:extLst>
              <a:ext uri="{FF2B5EF4-FFF2-40B4-BE49-F238E27FC236}">
                <a16:creationId xmlns:a16="http://schemas.microsoft.com/office/drawing/2014/main" id="{32CE4376-FCE8-2BF5-4F15-6422F21F965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rcRect/>
          <a:stretch>
            <a:fillRect/>
          </a:stretch>
        </p:blipFill>
        <p:spPr>
          <a:xfrm>
            <a:off x="365125" y="1201024"/>
            <a:ext cx="1555750" cy="1555750"/>
          </a:xfrm>
          <a:prstGeom prst="rect">
            <a:avLst/>
          </a:prstGeom>
        </p:spPr>
      </p:pic>
      <p:sp>
        <p:nvSpPr>
          <p:cNvPr id="5" name="Text Placeholder 2">
            <a:extLst>
              <a:ext uri="{FF2B5EF4-FFF2-40B4-BE49-F238E27FC236}">
                <a16:creationId xmlns:a16="http://schemas.microsoft.com/office/drawing/2014/main" id="{0A8C06D2-F7F5-9CE3-BAA1-1E04B1A88A93}"/>
              </a:ext>
            </a:extLst>
          </p:cNvPr>
          <p:cNvSpPr txBox="1">
            <a:spLocks/>
          </p:cNvSpPr>
          <p:nvPr/>
        </p:nvSpPr>
        <p:spPr>
          <a:xfrm>
            <a:off x="2045043" y="1286804"/>
            <a:ext cx="9781197" cy="173736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en-US" sz="2800" dirty="0">
                <a:latin typeface="Roboto" panose="02000000000000000000" pitchFamily="2" charset="0"/>
                <a:ea typeface="Roboto" panose="02000000000000000000" pitchFamily="2" charset="0"/>
                <a:cs typeface="Roboto" panose="02000000000000000000" pitchFamily="2" charset="0"/>
              </a:rPr>
              <a:t>Reachability Analyzer</a:t>
            </a:r>
          </a:p>
          <a:p>
            <a:pPr>
              <a:buFont typeface="Arial" panose="020B0604020202020204" pitchFamily="34" charset="0"/>
              <a:buChar char="•"/>
            </a:pPr>
            <a:r>
              <a:rPr lang="en-US" altLang="en-US" sz="2800" dirty="0">
                <a:latin typeface="Roboto" panose="02000000000000000000" pitchFamily="2" charset="0"/>
                <a:ea typeface="Roboto" panose="02000000000000000000" pitchFamily="2" charset="0"/>
                <a:cs typeface="Roboto" panose="02000000000000000000" pitchFamily="2" charset="0"/>
              </a:rPr>
              <a:t>Test connectivity between a source and destination resources in a VPC.</a:t>
            </a:r>
          </a:p>
        </p:txBody>
      </p:sp>
      <p:pic>
        <p:nvPicPr>
          <p:cNvPr id="6" name="Picture Placeholder 32">
            <a:extLst>
              <a:ext uri="{FF2B5EF4-FFF2-40B4-BE49-F238E27FC236}">
                <a16:creationId xmlns:a16="http://schemas.microsoft.com/office/drawing/2014/main" id="{4CEB4011-CD1F-626C-A2E8-AC41ABBA36F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rcRect/>
          <a:stretch>
            <a:fillRect/>
          </a:stretch>
        </p:blipFill>
        <p:spPr>
          <a:xfrm>
            <a:off x="365125" y="2971087"/>
            <a:ext cx="1555750" cy="1555750"/>
          </a:xfrm>
          <a:prstGeom prst="rect">
            <a:avLst/>
          </a:prstGeom>
        </p:spPr>
      </p:pic>
      <p:sp>
        <p:nvSpPr>
          <p:cNvPr id="10" name="Text Placeholder 3">
            <a:extLst>
              <a:ext uri="{FF2B5EF4-FFF2-40B4-BE49-F238E27FC236}">
                <a16:creationId xmlns:a16="http://schemas.microsoft.com/office/drawing/2014/main" id="{B8A4BBB9-6730-1BC5-38AC-4D7F399AED88}"/>
              </a:ext>
            </a:extLst>
          </p:cNvPr>
          <p:cNvSpPr txBox="1">
            <a:spLocks/>
          </p:cNvSpPr>
          <p:nvPr/>
        </p:nvSpPr>
        <p:spPr>
          <a:xfrm>
            <a:off x="2045043" y="3073633"/>
            <a:ext cx="9781197" cy="173736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en-US" sz="2800" dirty="0">
                <a:latin typeface="Roboto" panose="02000000000000000000" pitchFamily="2" charset="0"/>
                <a:ea typeface="Roboto" panose="02000000000000000000" pitchFamily="2" charset="0"/>
                <a:cs typeface="Roboto" panose="02000000000000000000" pitchFamily="2" charset="0"/>
              </a:rPr>
              <a:t>Network Access Analyzer</a:t>
            </a:r>
          </a:p>
          <a:p>
            <a:pPr>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Identify unintended network access to your resources on AWS.</a:t>
            </a:r>
          </a:p>
        </p:txBody>
      </p:sp>
      <p:pic>
        <p:nvPicPr>
          <p:cNvPr id="11" name="Picture Placeholder 39">
            <a:extLst>
              <a:ext uri="{FF2B5EF4-FFF2-40B4-BE49-F238E27FC236}">
                <a16:creationId xmlns:a16="http://schemas.microsoft.com/office/drawing/2014/main" id="{BA7773D8-1CBC-18C7-532D-B6A1FA78038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rcRect t="51" b="51"/>
          <a:stretch>
            <a:fillRect/>
          </a:stretch>
        </p:blipFill>
        <p:spPr>
          <a:xfrm>
            <a:off x="365125" y="4648761"/>
            <a:ext cx="1555750" cy="1554162"/>
          </a:xfrm>
          <a:prstGeom prst="rect">
            <a:avLst/>
          </a:prstGeom>
        </p:spPr>
      </p:pic>
      <p:sp>
        <p:nvSpPr>
          <p:cNvPr id="12" name="Text Placeholder 5">
            <a:extLst>
              <a:ext uri="{FF2B5EF4-FFF2-40B4-BE49-F238E27FC236}">
                <a16:creationId xmlns:a16="http://schemas.microsoft.com/office/drawing/2014/main" id="{07ED50C0-A503-A844-DF97-A7668CA0CC56}"/>
              </a:ext>
            </a:extLst>
          </p:cNvPr>
          <p:cNvSpPr txBox="1">
            <a:spLocks/>
          </p:cNvSpPr>
          <p:nvPr/>
        </p:nvSpPr>
        <p:spPr>
          <a:xfrm>
            <a:off x="2045042" y="4729094"/>
            <a:ext cx="9781197" cy="1737360"/>
          </a:xfrm>
          <a:prstGeom prst="rect">
            <a:avLst/>
          </a:prstGeom>
        </p:spPr>
        <p:txBody>
          <a:bodyPr/>
          <a:lst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altLang="en-US" sz="2800" dirty="0">
                <a:latin typeface="Roboto" panose="02000000000000000000" pitchFamily="2" charset="0"/>
                <a:ea typeface="Roboto" panose="02000000000000000000" pitchFamily="2" charset="0"/>
                <a:cs typeface="Roboto" panose="02000000000000000000" pitchFamily="2" charset="0"/>
              </a:rPr>
              <a:t>Traffic Mirroring</a:t>
            </a:r>
          </a:p>
          <a:p>
            <a:pPr>
              <a:buFont typeface="Arial" panose="020B0604020202020204" pitchFamily="34" charset="0"/>
              <a:buChar char="•"/>
            </a:pPr>
            <a:r>
              <a:rPr lang="en-US" sz="2800" dirty="0">
                <a:latin typeface="Roboto" panose="02000000000000000000" pitchFamily="2" charset="0"/>
                <a:ea typeface="Roboto" panose="02000000000000000000" pitchFamily="2" charset="0"/>
                <a:cs typeface="Roboto" panose="02000000000000000000" pitchFamily="2" charset="0"/>
              </a:rPr>
              <a:t>Make a copy of network traffic to send to security and monitoring appliances.</a:t>
            </a:r>
          </a:p>
        </p:txBody>
      </p:sp>
    </p:spTree>
    <p:extLst>
      <p:ext uri="{BB962C8B-B14F-4D97-AF65-F5344CB8AC3E}">
        <p14:creationId xmlns:p14="http://schemas.microsoft.com/office/powerpoint/2010/main" val="344402086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2240280" cy="457200"/>
          </a:xfrm>
          <a:prstGeom prst="round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i="0">
                <a:solidFill>
                  <a:srgbClr val="2A2929"/>
                </a:solidFill>
                <a:latin typeface="Roboto"/>
              </a:rPr>
              <a:t>DEMONSTRATION</a:t>
            </a:r>
          </a:p>
        </p:txBody>
      </p:sp>
      <p:sp>
        <p:nvSpPr>
          <p:cNvPr id="4" name="TextBox 3"/>
          <p:cNvSpPr txBox="1"/>
          <p:nvPr/>
        </p:nvSpPr>
        <p:spPr>
          <a:xfrm>
            <a:off x="3200400" y="310896"/>
            <a:ext cx="8321040" cy="685800"/>
          </a:xfrm>
          <a:prstGeom prst="rect">
            <a:avLst/>
          </a:prstGeom>
          <a:noFill/>
        </p:spPr>
        <p:txBody>
          <a:bodyPr wrap="square" lIns="0" tIns="0" rIns="0" bIns="0" anchor="ctr">
            <a:spAutoFit/>
          </a:bodyPr>
          <a:lstStyle/>
          <a:p>
            <a:r>
              <a:rPr sz="2500" b="1" i="0">
                <a:solidFill>
                  <a:srgbClr val="FFFFFF"/>
                </a:solidFill>
                <a:latin typeface="Roboto"/>
              </a:rPr>
              <a:t>Create a DNS record &amp; test reachability</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In Route 53, create / confirm the private hosted zone for the internal domain.</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Add the record for the Ledgerline name (and note the ACM certificate).</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From a test point, resolve the name and check reachability.</a:t>
            </a:r>
          </a:p>
          <a:p>
            <a:pPr marL="0" indent="0">
              <a:lnSpc>
                <a:spcPct val="105000"/>
              </a:lnSpc>
              <a:spcBef>
                <a:spcPts val="0"/>
              </a:spcBef>
              <a:spcAft>
                <a:spcPts val="1000"/>
              </a:spcAft>
            </a:pPr>
            <a:r>
              <a:rPr sz="1700" b="1" i="0">
                <a:solidFill>
                  <a:srgbClr val="EDAB0C"/>
                </a:solidFill>
                <a:latin typeface="Roboto"/>
              </a:rPr>
              <a:t>■  </a:t>
            </a:r>
            <a:r>
              <a:rPr sz="1700" b="0" i="0">
                <a:solidFill>
                  <a:srgbClr val="2A2929"/>
                </a:solidFill>
                <a:latin typeface="Roboto"/>
              </a:rPr>
              <a:t>If it's blocked, read the flow logs / Reachability Analyzer and fix the SG or route.</a:t>
            </a:r>
          </a:p>
        </p:txBody>
      </p:sp>
      <p:sp>
        <p:nvSpPr>
          <p:cNvPr id="6" name="Rounded Rectangle 5"/>
          <p:cNvSpPr/>
          <p:nvPr/>
        </p:nvSpPr>
        <p:spPr>
          <a:xfrm>
            <a:off x="640080" y="5897880"/>
            <a:ext cx="658368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6217920" cy="365760"/>
          </a:xfrm>
          <a:prstGeom prst="rect">
            <a:avLst/>
          </a:prstGeom>
          <a:noFill/>
        </p:spPr>
        <p:txBody>
          <a:bodyPr wrap="square" lIns="0" tIns="0" rIns="0" bIns="0" anchor="ctr">
            <a:spAutoFit/>
          </a:bodyPr>
          <a:lstStyle/>
          <a:p>
            <a:r>
              <a:rPr sz="1400" b="1" i="0">
                <a:solidFill>
                  <a:srgbClr val="2A2929"/>
                </a:solidFill>
                <a:latin typeface="Roboto"/>
              </a:rPr>
              <a:t>▶  Instructor demonstrates live (no recorded demo) — you do this next</a:t>
            </a:r>
          </a:p>
        </p:txBody>
      </p:sp>
      <p:sp>
        <p:nvSpPr>
          <p:cNvPr id="8" name="Rectangle 7"/>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16</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3444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0080" y="384048"/>
            <a:ext cx="1691640" cy="457200"/>
          </a:xfrm>
          <a:prstGeom prst="roundRect">
            <a:avLst/>
          </a:prstGeom>
          <a:solidFill>
            <a:srgbClr val="2A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i="0">
                <a:solidFill>
                  <a:srgbClr val="FBB900"/>
                </a:solidFill>
                <a:latin typeface="Roboto"/>
              </a:rPr>
              <a:t>ACTIVITY</a:t>
            </a:r>
          </a:p>
        </p:txBody>
      </p:sp>
      <p:sp>
        <p:nvSpPr>
          <p:cNvPr id="4" name="TextBox 3"/>
          <p:cNvSpPr txBox="1"/>
          <p:nvPr/>
        </p:nvSpPr>
        <p:spPr>
          <a:xfrm>
            <a:off x="2560320" y="310896"/>
            <a:ext cx="8961120" cy="685800"/>
          </a:xfrm>
          <a:prstGeom prst="rect">
            <a:avLst/>
          </a:prstGeom>
          <a:noFill/>
        </p:spPr>
        <p:txBody>
          <a:bodyPr wrap="square" lIns="0" tIns="0" rIns="0" bIns="0" anchor="ctr">
            <a:spAutoFit/>
          </a:bodyPr>
          <a:lstStyle/>
          <a:p>
            <a:r>
              <a:rPr sz="2600" b="1" i="0">
                <a:solidFill>
                  <a:srgbClr val="FFFFFF"/>
                </a:solidFill>
                <a:latin typeface="Roboto"/>
              </a:rPr>
              <a:t>Configure DNS + test connectivity</a:t>
            </a:r>
          </a:p>
        </p:txBody>
      </p:sp>
      <p:sp>
        <p:nvSpPr>
          <p:cNvPr id="5" name="TextBox 4"/>
          <p:cNvSpPr txBox="1"/>
          <p:nvPr/>
        </p:nvSpPr>
        <p:spPr>
          <a:xfrm>
            <a:off x="658368" y="1554480"/>
            <a:ext cx="10881360" cy="4297680"/>
          </a:xfrm>
          <a:prstGeom prst="rect">
            <a:avLst/>
          </a:prstGeom>
          <a:noFill/>
        </p:spPr>
        <p:txBody>
          <a:bodyPr wrap="square" lIns="0" tIns="0" rIns="0" bIns="0" anchor="t">
            <a:spAutoFit/>
          </a:bodyPr>
          <a:lstStyle/>
          <a:p>
            <a:pPr marL="0" indent="0">
              <a:lnSpc>
                <a:spcPct val="105000"/>
              </a:lnSpc>
              <a:spcBef>
                <a:spcPts val="0"/>
              </a:spcBef>
              <a:spcAft>
                <a:spcPts val="1000"/>
              </a:spcAft>
            </a:pPr>
            <a:r>
              <a:rPr sz="1700" b="1" i="0">
                <a:solidFill>
                  <a:srgbClr val="EDAB0C"/>
                </a:solidFill>
                <a:latin typeface="Roboto"/>
              </a:rPr>
              <a:t>■  </a:t>
            </a:r>
            <a:r>
              <a:rPr sz="1700" b="1" i="0">
                <a:solidFill>
                  <a:srgbClr val="2A2929"/>
                </a:solidFill>
                <a:latin typeface="Roboto"/>
              </a:rPr>
              <a:t>In the lab, finish the network tier:</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create the private hosted zone + record for the internal hostname (note the ACM cert)</a:t>
            </a:r>
          </a:p>
          <a:p>
            <a:pPr marL="365760" indent="0">
              <a:lnSpc>
                <a:spcPct val="105000"/>
              </a:lnSpc>
              <a:spcBef>
                <a:spcPts val="0"/>
              </a:spcBef>
              <a:spcAft>
                <a:spcPts val="500"/>
              </a:spcAft>
            </a:pPr>
            <a:r>
              <a:rPr sz="1400" b="0" i="0">
                <a:solidFill>
                  <a:srgbClr val="7A7A7A"/>
                </a:solidFill>
                <a:latin typeface="Roboto"/>
              </a:rPr>
              <a:t>–  </a:t>
            </a:r>
            <a:r>
              <a:rPr sz="1400" b="0" i="0">
                <a:solidFill>
                  <a:srgbClr val="2A2929"/>
                </a:solidFill>
                <a:latin typeface="Roboto"/>
              </a:rPr>
              <a:t>run reachability tests for what exists so far; record the result and any fix you made</a:t>
            </a:r>
          </a:p>
          <a:p>
            <a:pPr marL="0" indent="0">
              <a:lnSpc>
                <a:spcPct val="105000"/>
              </a:lnSpc>
              <a:spcBef>
                <a:spcPts val="0"/>
              </a:spcBef>
              <a:spcAft>
                <a:spcPts val="1000"/>
              </a:spcAft>
            </a:pPr>
            <a:r>
              <a:rPr sz="1700" b="1" i="0">
                <a:solidFill>
                  <a:srgbClr val="205F61"/>
                </a:solidFill>
                <a:latin typeface="Roboto"/>
              </a:rPr>
              <a:t>■  Capture the DNS config and the test result as evidence.</a:t>
            </a:r>
          </a:p>
        </p:txBody>
      </p:sp>
      <p:sp>
        <p:nvSpPr>
          <p:cNvPr id="6" name="Rounded Rectangle 5"/>
          <p:cNvSpPr/>
          <p:nvPr/>
        </p:nvSpPr>
        <p:spPr>
          <a:xfrm>
            <a:off x="640080" y="5897880"/>
            <a:ext cx="4023360" cy="457200"/>
          </a:xfrm>
          <a:prstGeom prst="roundRect">
            <a:avLst/>
          </a:prstGeom>
          <a:solidFill>
            <a:srgbClr val="F9F9F9"/>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5943600"/>
            <a:ext cx="3657600" cy="365760"/>
          </a:xfrm>
          <a:prstGeom prst="rect">
            <a:avLst/>
          </a:prstGeom>
          <a:noFill/>
        </p:spPr>
        <p:txBody>
          <a:bodyPr wrap="square" lIns="0" tIns="0" rIns="0" bIns="0" anchor="ctr">
            <a:spAutoFit/>
          </a:bodyPr>
          <a:lstStyle/>
          <a:p>
            <a:r>
              <a:rPr sz="1500" b="1" i="0">
                <a:solidFill>
                  <a:srgbClr val="2A2929"/>
                </a:solidFill>
                <a:latin typeface="Roboto"/>
              </a:rPr>
              <a:t>⏱  ~15 min</a:t>
            </a:r>
          </a:p>
        </p:txBody>
      </p:sp>
      <p:sp>
        <p:nvSpPr>
          <p:cNvPr id="8" name="Rectangle 7"/>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0" name="TextBox 9"/>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17</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205F61"/>
                </a:solidFill>
                <a:latin typeface="Roboto"/>
              </a:rPr>
              <a:t>Section 3 · Names &amp; connectivity</a:t>
            </a:r>
          </a:p>
        </p:txBody>
      </p:sp>
      <p:sp>
        <p:nvSpPr>
          <p:cNvPr id="3" name="Rectangle 2"/>
          <p:cNvSpPr/>
          <p:nvPr/>
        </p:nvSpPr>
        <p:spPr>
          <a:xfrm>
            <a:off x="658368" y="1600200"/>
            <a:ext cx="1463040" cy="508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DNS maps names → addresses; use a Route 53 private hosted zone for an internal name.</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Always test reachability and fix errors — flow logs + Reachability Analyzer show why traffic is blocked.</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The network tier is now ready for the workload to move in.</a:t>
            </a:r>
          </a:p>
        </p:txBody>
      </p:sp>
      <p:sp>
        <p:nvSpPr>
          <p:cNvPr id="13" name="Rectangle 12"/>
          <p:cNvSpPr/>
          <p:nvPr/>
        </p:nvSpPr>
        <p:spPr>
          <a:xfrm>
            <a:off x="0" y="6565392"/>
            <a:ext cx="12191695" cy="38100"/>
          </a:xfrm>
          <a:prstGeom prst="rect">
            <a:avLst/>
          </a:prstGeom>
          <a:solidFill>
            <a:srgbClr val="205F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15" name="TextBox 14"/>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18</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
        <p:nvSpPr>
          <p:cNvPr id="2" name="TextBox 1"/>
          <p:cNvSpPr txBox="1"/>
          <p:nvPr/>
        </p:nvSpPr>
        <p:spPr>
          <a:xfrm>
            <a:off x="640080" y="548640"/>
            <a:ext cx="10881360" cy="1097280"/>
          </a:xfrm>
          <a:prstGeom prst="rect">
            <a:avLst/>
          </a:prstGeom>
          <a:noFill/>
        </p:spPr>
        <p:txBody>
          <a:bodyPr wrap="square" lIns="0" tIns="0" rIns="0" bIns="0" anchor="t">
            <a:spAutoFit/>
          </a:bodyPr>
          <a:lstStyle/>
          <a:p>
            <a:r>
              <a:rPr sz="3200" b="1" i="0">
                <a:solidFill>
                  <a:srgbClr val="2A2929"/>
                </a:solidFill>
                <a:latin typeface="Roboto"/>
              </a:rPr>
              <a:t>Key takeaways</a:t>
            </a:r>
          </a:p>
          <a:p>
            <a:pPr>
              <a:spcBef>
                <a:spcPts val="200"/>
              </a:spcBef>
            </a:pPr>
            <a:r>
              <a:rPr sz="1800" b="1" i="0">
                <a:solidFill>
                  <a:srgbClr val="EDAB0C"/>
                </a:solidFill>
                <a:latin typeface="Roboto"/>
              </a:rPr>
              <a:t>Topic 7 · Key takeaways</a:t>
            </a:r>
          </a:p>
        </p:txBody>
      </p:sp>
      <p:sp>
        <p:nvSpPr>
          <p:cNvPr id="3" name="Rectangle 2"/>
          <p:cNvSpPr/>
          <p:nvPr/>
        </p:nvSpPr>
        <p:spPr>
          <a:xfrm>
            <a:off x="658368" y="1600200"/>
            <a:ext cx="1463040" cy="508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40080" y="1965960"/>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40080" y="1965960"/>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1965960"/>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A VPC is your isolated network, split into tiered subnets across an AZ.</a:t>
            </a:r>
          </a:p>
        </p:txBody>
      </p:sp>
      <p:sp>
        <p:nvSpPr>
          <p:cNvPr id="7" name="Rectangle 6"/>
          <p:cNvSpPr/>
          <p:nvPr/>
        </p:nvSpPr>
        <p:spPr>
          <a:xfrm>
            <a:off x="640080" y="2916936"/>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2916936"/>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2916936"/>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Routing + IGW/NAT control internet reach — this design is egress-only.</a:t>
            </a:r>
          </a:p>
        </p:txBody>
      </p:sp>
      <p:sp>
        <p:nvSpPr>
          <p:cNvPr id="10" name="Rectangle 9"/>
          <p:cNvSpPr/>
          <p:nvPr/>
        </p:nvSpPr>
        <p:spPr>
          <a:xfrm>
            <a:off x="640080" y="3867912"/>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 y="3867912"/>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867912"/>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Security groups are stateful, least-privilege firewalls, chained tier-to-tier.</a:t>
            </a:r>
          </a:p>
        </p:txBody>
      </p:sp>
      <p:sp>
        <p:nvSpPr>
          <p:cNvPr id="13" name="Rectangle 12"/>
          <p:cNvSpPr/>
          <p:nvPr/>
        </p:nvSpPr>
        <p:spPr>
          <a:xfrm>
            <a:off x="640080" y="4818888"/>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 y="4818888"/>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60120" y="4818888"/>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DNS makes resources findable by name — a private hosted zone here.</a:t>
            </a:r>
          </a:p>
        </p:txBody>
      </p:sp>
      <p:sp>
        <p:nvSpPr>
          <p:cNvPr id="16" name="Rectangle 15"/>
          <p:cNvSpPr/>
          <p:nvPr/>
        </p:nvSpPr>
        <p:spPr>
          <a:xfrm>
            <a:off x="640080" y="5769864"/>
            <a:ext cx="10927080" cy="841248"/>
          </a:xfrm>
          <a:prstGeom prst="rect">
            <a:avLst/>
          </a:prstGeom>
          <a:solidFill>
            <a:srgbClr val="FFFFFF"/>
          </a:solidFill>
          <a:ln w="12700">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0080" y="5769864"/>
            <a:ext cx="109728" cy="841248"/>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5769864"/>
            <a:ext cx="10424160" cy="841248"/>
          </a:xfrm>
          <a:prstGeom prst="rect">
            <a:avLst/>
          </a:prstGeom>
          <a:noFill/>
        </p:spPr>
        <p:txBody>
          <a:bodyPr wrap="square" lIns="0" tIns="0" rIns="0" bIns="0" anchor="ctr">
            <a:spAutoFit/>
          </a:bodyPr>
          <a:lstStyle/>
          <a:p>
            <a:pPr>
              <a:lnSpc>
                <a:spcPct val="100000"/>
              </a:lnSpc>
            </a:pPr>
            <a:r>
              <a:rPr sz="1700" b="0" i="0">
                <a:solidFill>
                  <a:srgbClr val="2A2929"/>
                </a:solidFill>
                <a:latin typeface="Roboto"/>
              </a:rPr>
              <a:t>Build to the supplied design, test it, and evidence everything.</a:t>
            </a:r>
          </a:p>
        </p:txBody>
      </p:sp>
      <p:sp>
        <p:nvSpPr>
          <p:cNvPr id="19" name="Rectangle 18"/>
          <p:cNvSpPr/>
          <p:nvPr/>
        </p:nvSpPr>
        <p:spPr>
          <a:xfrm>
            <a:off x="0" y="6565392"/>
            <a:ext cx="12191695" cy="381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920" y="6400800"/>
            <a:ext cx="5486400" cy="320040"/>
          </a:xfrm>
          <a:prstGeom prst="rect">
            <a:avLst/>
          </a:prstGeom>
          <a:noFill/>
        </p:spPr>
        <p:txBody>
          <a:bodyPr wrap="square" lIns="0" tIns="0" rIns="0" bIns="0" anchor="t">
            <a:spAutoFit/>
          </a:bodyPr>
          <a:lstStyle/>
          <a:p>
            <a:r>
              <a:rPr sz="1100" b="1" i="0">
                <a:solidFill>
                  <a:srgbClr val="2A2929"/>
                </a:solidFill>
                <a:latin typeface="Roboto"/>
              </a:rPr>
              <a:t>Kangan </a:t>
            </a:r>
            <a:r>
              <a:rPr sz="1100" b="1" i="0">
                <a:solidFill>
                  <a:srgbClr val="D68E10"/>
                </a:solidFill>
                <a:latin typeface="Roboto"/>
              </a:rPr>
              <a:t>Institute</a:t>
            </a:r>
          </a:p>
        </p:txBody>
      </p:sp>
      <p:sp>
        <p:nvSpPr>
          <p:cNvPr id="21" name="TextBox 20"/>
          <p:cNvSpPr txBox="1"/>
          <p:nvPr/>
        </p:nvSpPr>
        <p:spPr>
          <a:xfrm>
            <a:off x="10515600" y="6400800"/>
            <a:ext cx="1188720" cy="320040"/>
          </a:xfrm>
          <a:prstGeom prst="rect">
            <a:avLst/>
          </a:prstGeom>
          <a:noFill/>
        </p:spPr>
        <p:txBody>
          <a:bodyPr wrap="square" lIns="0" tIns="0" rIns="0" bIns="0" anchor="t">
            <a:spAutoFit/>
          </a:bodyPr>
          <a:lstStyle/>
          <a:p>
            <a:pPr algn="r"/>
            <a:r>
              <a:rPr sz="1100" b="0" i="0">
                <a:solidFill>
                  <a:srgbClr val="7A7A7A"/>
                </a:solidFill>
                <a:latin typeface="Roboto"/>
              </a:rPr>
              <a:t>19</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2A2929"/>
        </a:solidFill>
        <a:effectLst/>
      </p:bgPr>
    </p:bg>
    <p:spTree>
      <p:nvGrpSpPr>
        <p:cNvPr id="1" name=""/>
        <p:cNvGrpSpPr/>
        <p:nvPr/>
      </p:nvGrpSpPr>
      <p:grpSpPr>
        <a:xfrm>
          <a:off x="0" y="0"/>
          <a:ext cx="0" cy="0"/>
          <a:chOff x="0" y="0"/>
          <a:chExt cx="0" cy="0"/>
        </a:xfrm>
      </p:grpSpPr>
      <p:sp>
        <p:nvSpPr>
          <p:cNvPr id="2" name="Rectangle 1"/>
          <p:cNvSpPr/>
          <p:nvPr/>
        </p:nvSpPr>
        <p:spPr>
          <a:xfrm>
            <a:off x="0" y="0"/>
            <a:ext cx="411480" cy="6858000"/>
          </a:xfrm>
          <a:prstGeom prst="rect">
            <a:avLst/>
          </a:prstGeom>
          <a:solidFill>
            <a:srgbClr val="EDAB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463040"/>
            <a:ext cx="10515600" cy="4023360"/>
          </a:xfrm>
          <a:prstGeom prst="rect">
            <a:avLst/>
          </a:prstGeom>
          <a:noFill/>
        </p:spPr>
        <p:txBody>
          <a:bodyPr wrap="square" lIns="0" tIns="0" rIns="0" bIns="0" anchor="t">
            <a:spAutoFit/>
          </a:bodyPr>
          <a:lstStyle/>
          <a:p>
            <a:r>
              <a:rPr sz="4000" b="1" i="0">
                <a:solidFill>
                  <a:srgbClr val="FFFFFF"/>
                </a:solidFill>
                <a:latin typeface="Roboto"/>
              </a:rPr>
              <a:t>Next: Topic 8 — the workload tier</a:t>
            </a:r>
          </a:p>
          <a:p>
            <a:pPr>
              <a:lnSpc>
                <a:spcPct val="105000"/>
              </a:lnSpc>
              <a:spcBef>
                <a:spcPts val="1200"/>
              </a:spcBef>
            </a:pPr>
            <a:r>
              <a:rPr sz="1900" b="0" i="0">
                <a:solidFill>
                  <a:srgbClr val="E8E8E8"/>
                </a:solidFill>
                <a:latin typeface="Roboto Light"/>
              </a:rPr>
              <a:t>EC2 + EBS, the load balancer + Auto Scaling group, RDS and S3 — the workload that moves into the network you just built.</a:t>
            </a:r>
          </a:p>
          <a:p>
            <a:pPr>
              <a:lnSpc>
                <a:spcPct val="105000"/>
              </a:lnSpc>
              <a:spcBef>
                <a:spcPts val="1200"/>
              </a:spcBef>
            </a:pPr>
            <a:r>
              <a:rPr sz="1900" b="0" i="0">
                <a:solidFill>
                  <a:srgbClr val="E8E8E8"/>
                </a:solidFill>
                <a:latin typeface="Roboto Light"/>
              </a:rPr>
              <a:t>Bring your evidence 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TotalTime>
  <Words>6058</Words>
  <Application>Microsoft Office PowerPoint</Application>
  <PresentationFormat>Widescreen</PresentationFormat>
  <Paragraphs>624</Paragraphs>
  <Slides>43</Slides>
  <Notes>22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43</vt:i4>
      </vt:variant>
    </vt:vector>
  </HeadingPairs>
  <TitlesOfParts>
    <vt:vector size="53" baseType="lpstr">
      <vt:lpstr>Amazon Ember</vt:lpstr>
      <vt:lpstr>Amazon Ember Display</vt:lpstr>
      <vt:lpstr>Amazon Ember Light</vt:lpstr>
      <vt:lpstr>Aptos</vt:lpstr>
      <vt:lpstr>Arial</vt:lpstr>
      <vt:lpstr>Calibri</vt:lpstr>
      <vt:lpstr>Helvetica Neue</vt:lpstr>
      <vt:lpstr>Roboto</vt:lpstr>
      <vt:lpstr>Roboto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Timothy Baird</cp:lastModifiedBy>
  <cp:revision>20</cp:revision>
  <dcterms:created xsi:type="dcterms:W3CDTF">2013-01-27T09:14:16Z</dcterms:created>
  <dcterms:modified xsi:type="dcterms:W3CDTF">2026-06-03T03:16:56Z</dcterms:modified>
  <cp:category/>
</cp:coreProperties>
</file>