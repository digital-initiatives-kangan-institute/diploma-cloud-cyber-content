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90" y="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06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Build foundations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Implement the supplied design in AWS — account, identity, and the shared-responsibility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advising to building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AT1 was advice; now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You implement a supplied design in the AWS lab — and evidence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New mode: work to a design you didn't write — read it, build it faithfully.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New discipline: capture evidence as you go — the Deployment Report is built from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Topic — the foundation tier: account &amp; Region, identity &amp; access, shared responsibility.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For every AWS task: watch the demo, then do it yourself.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Working to a supplied design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account · Region ·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architecture: requirements → design →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ACA M02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architecture turns requirements into a structure: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the customer sets the requirements · the architect produces the design · the delivery crew builds it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In AT2 you're the delivery crew — the design is already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385032-5F6F-2F3C-C937-D2D4B8C7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352674" y="1800787"/>
            <a:ext cx="5272840" cy="2466900"/>
            <a:chOff x="2049403" y="2636108"/>
            <a:chExt cx="7224671" cy="3138291"/>
          </a:xfrm>
        </p:grpSpPr>
        <p:sp>
          <p:nvSpPr>
            <p:cNvPr id="23" name="Rounded Rectangle 25">
              <a:extLst>
                <a:ext uri="{FF2B5EF4-FFF2-40B4-BE49-F238E27FC236}">
                  <a16:creationId xmlns:a16="http://schemas.microsoft.com/office/drawing/2014/main" id="{A9FDE3AF-89E2-7AB9-2214-A9F60E600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049403" y="2636108"/>
              <a:ext cx="7224671" cy="3138291"/>
            </a:xfrm>
            <a:prstGeom prst="roundRect">
              <a:avLst>
                <a:gd name="adj" fmla="val 10132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24" name="Picture 8" descr="On Demand costs.">
              <a:extLst>
                <a:ext uri="{FF2B5EF4-FFF2-40B4-BE49-F238E27FC236}">
                  <a16:creationId xmlns:a16="http://schemas.microsoft.com/office/drawing/2014/main" id="{14DBE19C-4BF5-9104-0BBB-9F65D39305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7806" y="2759221"/>
              <a:ext cx="7143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151DAA-28C9-F1CD-A566-94C4A7DACD7E}"/>
                </a:ext>
              </a:extLst>
            </p:cNvPr>
            <p:cNvSpPr txBox="1"/>
            <p:nvPr/>
          </p:nvSpPr>
          <p:spPr>
            <a:xfrm>
              <a:off x="4183285" y="4819156"/>
              <a:ext cx="1278234" cy="794064"/>
            </a:xfrm>
            <a:prstGeom prst="rect">
              <a:avLst/>
            </a:prstGeom>
            <a:noFill/>
          </p:spPr>
          <p:txBody>
            <a:bodyPr wrap="non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On</a:t>
              </a:r>
              <a:br>
                <a:rPr lang="en-US" sz="1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en-US" sz="18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Demand</a:t>
              </a:r>
            </a:p>
          </p:txBody>
        </p:sp>
        <p:pic>
          <p:nvPicPr>
            <p:cNvPr id="26" name="Picture 25" descr="No upfront payments.">
              <a:extLst>
                <a:ext uri="{FF2B5EF4-FFF2-40B4-BE49-F238E27FC236}">
                  <a16:creationId xmlns:a16="http://schemas.microsoft.com/office/drawing/2014/main" id="{A4F6D1D8-4B8D-4111-486B-3A9D070E32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6593" y="2738340"/>
              <a:ext cx="7143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CDC9B06-4C76-1572-0A52-8BA305EB01E8}"/>
                </a:ext>
              </a:extLst>
            </p:cNvPr>
            <p:cNvSpPr txBox="1"/>
            <p:nvPr/>
          </p:nvSpPr>
          <p:spPr>
            <a:xfrm>
              <a:off x="5677217" y="4819156"/>
              <a:ext cx="927177" cy="544765"/>
            </a:xfrm>
            <a:prstGeom prst="rect">
              <a:avLst/>
            </a:prstGeom>
            <a:noFill/>
          </p:spPr>
          <p:txBody>
            <a:bodyPr wrap="non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b="1" dirty="0">
                  <a:solidFill>
                    <a:srgbClr val="DB4949"/>
                  </a:solidFill>
                </a:rPr>
                <a:t>NURI</a:t>
              </a:r>
            </a:p>
          </p:txBody>
        </p:sp>
        <p:pic>
          <p:nvPicPr>
            <p:cNvPr id="28" name="Picture 12" descr="Partial upfront reserved instance.">
              <a:extLst>
                <a:ext uri="{FF2B5EF4-FFF2-40B4-BE49-F238E27FC236}">
                  <a16:creationId xmlns:a16="http://schemas.microsoft.com/office/drawing/2014/main" id="{C1696E4F-EED1-63B5-9066-68ADA02B7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9325" y="2738340"/>
              <a:ext cx="7143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F9F7824-B521-B0FA-C71D-BD53CD452739}"/>
                </a:ext>
              </a:extLst>
            </p:cNvPr>
            <p:cNvSpPr txBox="1"/>
            <p:nvPr/>
          </p:nvSpPr>
          <p:spPr>
            <a:xfrm>
              <a:off x="6851993" y="4819156"/>
              <a:ext cx="927177" cy="544765"/>
            </a:xfrm>
            <a:prstGeom prst="rect">
              <a:avLst/>
            </a:prstGeom>
            <a:noFill/>
          </p:spPr>
          <p:txBody>
            <a:bodyPr wrap="non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b="1" dirty="0">
                  <a:solidFill>
                    <a:srgbClr val="F98E13"/>
                  </a:solidFill>
                </a:rPr>
                <a:t>PURI</a:t>
              </a:r>
            </a:p>
          </p:txBody>
        </p:sp>
        <p:pic>
          <p:nvPicPr>
            <p:cNvPr id="30" name="Picture 14" descr="All upfront reserved instance.">
              <a:extLst>
                <a:ext uri="{FF2B5EF4-FFF2-40B4-BE49-F238E27FC236}">
                  <a16:creationId xmlns:a16="http://schemas.microsoft.com/office/drawing/2014/main" id="{770CC490-FAEE-EB98-B32B-DA181CCD2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2057" y="2738339"/>
              <a:ext cx="7143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5B917B-79C5-9138-361D-60BF3C642035}"/>
                </a:ext>
              </a:extLst>
            </p:cNvPr>
            <p:cNvSpPr txBox="1"/>
            <p:nvPr/>
          </p:nvSpPr>
          <p:spPr>
            <a:xfrm>
              <a:off x="8045655" y="4819156"/>
              <a:ext cx="927177" cy="544765"/>
            </a:xfrm>
            <a:prstGeom prst="rect">
              <a:avLst/>
            </a:prstGeom>
            <a:noFill/>
          </p:spPr>
          <p:txBody>
            <a:bodyPr wrap="non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b="1" dirty="0">
                  <a:solidFill>
                    <a:srgbClr val="577AFB"/>
                  </a:solidFill>
                </a:rPr>
                <a:t>AURI</a:t>
              </a:r>
            </a:p>
          </p:txBody>
        </p:sp>
        <p:pic>
          <p:nvPicPr>
            <p:cNvPr id="32" name="Graphic 135" descr="EC2 instance.">
              <a:extLst>
                <a:ext uri="{FF2B5EF4-FFF2-40B4-BE49-F238E27FC236}">
                  <a16:creationId xmlns:a16="http://schemas.microsoft.com/office/drawing/2014/main" id="{E68C8D9A-3A0E-CD13-575D-BD940AE91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60735" y="3155099"/>
              <a:ext cx="1632947" cy="1632947"/>
            </a:xfrm>
            <a:prstGeom prst="rect">
              <a:avLst/>
            </a:prstGeom>
          </p:spPr>
        </p:pic>
        <p:sp>
          <p:nvSpPr>
            <p:cNvPr id="33" name="TextBox 32" descr="EC2 instance.">
              <a:extLst>
                <a:ext uri="{FF2B5EF4-FFF2-40B4-BE49-F238E27FC236}">
                  <a16:creationId xmlns:a16="http://schemas.microsoft.com/office/drawing/2014/main" id="{6301DAEF-9D30-A742-AE57-B2A4D964F84D}"/>
                </a:ext>
              </a:extLst>
            </p:cNvPr>
            <p:cNvSpPr txBox="1"/>
            <p:nvPr/>
          </p:nvSpPr>
          <p:spPr>
            <a:xfrm>
              <a:off x="2420555" y="3648406"/>
              <a:ext cx="15133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EC2</a:t>
              </a:r>
            </a:p>
            <a:p>
              <a:pPr algn="ctr"/>
              <a:r>
                <a:rPr lang="en-US" dirty="0"/>
                <a:t>instance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Working to a supplied design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faithful implementation, not redesign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Read the design end to end before you touch the console.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Build what it specifies; make and justify only the decisions it leaves open (C1–C8).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“Implementer decision” = where your judgement is assessed.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Choose your Region — data residency first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(applied from Topic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Region is the first build decision — and it's compliance, not preference.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 design mandates ap-southeast-2 (Sydney): financial records + PII stay onshore.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Set the console Region before creating anything — resources are Region-scoped.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Wrong-Region resources are wrong evidence — the assessor checks the Region in every screenshot.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Evidence discipline — capture as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 Deployment Report is evidenced from what you capture live — you can't reconstruct it later.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Capture each named screenshot the template lists, as you build that resource (Region + the named resource visible).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Export configs (IAM policies, SG rules, VPC) as you go → Appendix 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Build → capture → move on. Evidence is part of the build, not a write-up afterwards.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4028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Set up the build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Sign in to the AWS Academy lab; set the Region to ap-southeast-2.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identity you're building as.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Capture the first named screenshot (the Region selector) into the evidence log.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Show where configuration exports come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658368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Instructor demonstrates live (no recorded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Set up your build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the AWS Academy lab, set up to build the Accounting System foundation: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set the Region to ap-southeast-2 (confirm it — data residency)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confirm your build identity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capture your first named evidence screenshot (Region visible) into your evidence log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Open the supplied Accounting Baseline Solution Design and skim it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Working to a supplied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Architecture = requirements → design → build; in AT2 you're the builder, to a supplied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Region first — ap-southeast-2 for data residency; visible in all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Capture evidence live as you build — the report is made from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Identity &amp; access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who can do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IAM — the essential components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ACF M04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DCB293-464F-D113-7F36-0EE5670D04EE}"/>
              </a:ext>
            </a:extLst>
          </p:cNvPr>
          <p:cNvSpPr txBox="1"/>
          <p:nvPr/>
        </p:nvSpPr>
        <p:spPr>
          <a:xfrm>
            <a:off x="1211049" y="2252198"/>
            <a:ext cx="1315104" cy="544765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b="1">
                <a:solidFill>
                  <a:srgbClr val="504BAB"/>
                </a:solidFill>
              </a:rPr>
              <a:t>IAM user</a:t>
            </a:r>
            <a:endParaRPr lang="en-US" b="1">
              <a:solidFill>
                <a:srgbClr val="504BAB"/>
              </a:solidFill>
              <a:latin typeface="Amazon Ember Light" panose="020B0403020204020204"/>
            </a:endParaRP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EE025352-A04D-913D-6B4C-227C0F1B5EF7}"/>
              </a:ext>
            </a:extLst>
          </p:cNvPr>
          <p:cNvSpPr txBox="1">
            <a:spLocks/>
          </p:cNvSpPr>
          <p:nvPr/>
        </p:nvSpPr>
        <p:spPr>
          <a:xfrm>
            <a:off x="2754426" y="1694509"/>
            <a:ext cx="7761174" cy="863795"/>
          </a:xfrm>
          <a:prstGeom prst="rect">
            <a:avLst/>
          </a:prstGeom>
        </p:spPr>
        <p:txBody>
          <a:bodyPr/>
          <a:lstStyle>
            <a:lvl1pPr marL="0" marR="0" indent="0" algn="l" defTabSz="91436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667" b="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336143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560238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784334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1008429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494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5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6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>
                <a:latin typeface="+mn-lt"/>
              </a:rPr>
              <a:t>A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person</a:t>
            </a:r>
            <a:r>
              <a:rPr lang="en-US" sz="2400">
                <a:latin typeface="+mn-lt"/>
              </a:rPr>
              <a:t> </a:t>
            </a:r>
            <a:r>
              <a:rPr lang="en-US" sz="2400" i="1">
                <a:latin typeface="+mn-lt"/>
              </a:rPr>
              <a:t>or</a:t>
            </a:r>
            <a:r>
              <a:rPr lang="en-US" sz="2400">
                <a:latin typeface="+mn-lt"/>
              </a:rPr>
              <a:t>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application</a:t>
            </a:r>
            <a:r>
              <a:rPr lang="en-US" sz="2400">
                <a:latin typeface="+mn-lt"/>
              </a:rPr>
              <a:t> that can authenticate with an AWS account.</a:t>
            </a:r>
            <a:endParaRPr lang="en-US" sz="2400">
              <a:solidFill>
                <a:srgbClr val="000000"/>
              </a:solidFill>
              <a:latin typeface="Amazon Ember Light" panose="020B0403020204020204"/>
            </a:endParaRPr>
          </a:p>
        </p:txBody>
      </p:sp>
      <p:pic>
        <p:nvPicPr>
          <p:cNvPr id="24" name="Graphic 39">
            <a:extLst>
              <a:ext uri="{FF2B5EF4-FFF2-40B4-BE49-F238E27FC236}">
                <a16:creationId xmlns:a16="http://schemas.microsoft.com/office/drawing/2014/main" id="{76B0BC0A-32A9-5F6C-D1B4-CD15E967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2964" y="1694509"/>
            <a:ext cx="651502" cy="65150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A1C0D0-8179-5930-7B2A-8AD198EE46C9}"/>
              </a:ext>
            </a:extLst>
          </p:cNvPr>
          <p:cNvSpPr txBox="1"/>
          <p:nvPr/>
        </p:nvSpPr>
        <p:spPr>
          <a:xfrm>
            <a:off x="1126557" y="3448612"/>
            <a:ext cx="1505861" cy="544765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b="1">
                <a:solidFill>
                  <a:srgbClr val="504BAB"/>
                </a:solidFill>
              </a:rPr>
              <a:t>IAM group</a:t>
            </a:r>
            <a:endParaRPr lang="en-US" b="1">
              <a:solidFill>
                <a:srgbClr val="504BAB"/>
              </a:solidFill>
              <a:latin typeface="Amazon Ember Light" panose="020B0403020204020204"/>
            </a:endParaRP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B43C407E-E2F0-A0C7-7263-8473ADB0ACA8}"/>
              </a:ext>
            </a:extLst>
          </p:cNvPr>
          <p:cNvSpPr txBox="1">
            <a:spLocks/>
          </p:cNvSpPr>
          <p:nvPr/>
        </p:nvSpPr>
        <p:spPr>
          <a:xfrm>
            <a:off x="2754426" y="2796963"/>
            <a:ext cx="7350034" cy="888701"/>
          </a:xfrm>
          <a:prstGeom prst="rect">
            <a:avLst/>
          </a:prstGeom>
        </p:spPr>
        <p:txBody>
          <a:bodyPr/>
          <a:lstStyle>
            <a:lvl1pPr marL="0" marR="0" indent="0" algn="l" defTabSz="91436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667" b="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336143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560238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784334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1008429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494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5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6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>
                <a:latin typeface="+mn-lt"/>
              </a:rPr>
              <a:t>A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collection</a:t>
            </a:r>
            <a:r>
              <a:rPr lang="en-US" sz="2400">
                <a:solidFill>
                  <a:srgbClr val="504BAB"/>
                </a:solidFill>
                <a:latin typeface="+mn-lt"/>
              </a:rPr>
              <a:t>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of IAM users </a:t>
            </a:r>
            <a:r>
              <a:rPr lang="en-US" sz="2400">
                <a:latin typeface="+mn-lt"/>
              </a:rPr>
              <a:t>that are granted identical authorization.</a:t>
            </a:r>
          </a:p>
        </p:txBody>
      </p:sp>
      <p:pic>
        <p:nvPicPr>
          <p:cNvPr id="27" name="Graphic 41">
            <a:extLst>
              <a:ext uri="{FF2B5EF4-FFF2-40B4-BE49-F238E27FC236}">
                <a16:creationId xmlns:a16="http://schemas.microsoft.com/office/drawing/2014/main" id="{88AEC283-3492-D2B1-A3F3-AF4B0BBE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60196" y="2849569"/>
            <a:ext cx="717038" cy="6967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37CFDDE-E015-4C75-24BE-067E73912249}"/>
              </a:ext>
            </a:extLst>
          </p:cNvPr>
          <p:cNvSpPr txBox="1"/>
          <p:nvPr/>
        </p:nvSpPr>
        <p:spPr>
          <a:xfrm>
            <a:off x="1128915" y="4645026"/>
            <a:ext cx="1579600" cy="572464"/>
          </a:xfrm>
          <a:prstGeom prst="rect">
            <a:avLst/>
          </a:prstGeom>
          <a:noFill/>
          <a:effectLst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sz="2000" b="1">
                <a:solidFill>
                  <a:srgbClr val="504BAB"/>
                </a:solidFill>
              </a:rPr>
              <a:t>IAM p</a:t>
            </a:r>
            <a:r>
              <a:rPr lang="en-US" b="1">
                <a:solidFill>
                  <a:srgbClr val="504BAB"/>
                </a:solidFill>
              </a:rPr>
              <a:t>olicy</a:t>
            </a:r>
            <a:endParaRPr lang="en-US" sz="2000" b="1">
              <a:solidFill>
                <a:srgbClr val="504BAB"/>
              </a:solidFill>
              <a:latin typeface="Amazon Ember Light" panose="020B0403020204020204"/>
            </a:endParaRP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D88EEBBB-1810-CC1A-14B7-6EB90A9DD7F1}"/>
              </a:ext>
            </a:extLst>
          </p:cNvPr>
          <p:cNvSpPr txBox="1">
            <a:spLocks/>
          </p:cNvSpPr>
          <p:nvPr/>
        </p:nvSpPr>
        <p:spPr>
          <a:xfrm>
            <a:off x="2754426" y="3977120"/>
            <a:ext cx="7350034" cy="888701"/>
          </a:xfrm>
          <a:prstGeom prst="rect">
            <a:avLst/>
          </a:prstGeom>
        </p:spPr>
        <p:txBody>
          <a:bodyPr/>
          <a:lstStyle>
            <a:lvl1pPr marL="0" marR="0" indent="0" algn="l" defTabSz="91436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667" b="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336143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560238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784334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1008429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494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5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6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>
                <a:latin typeface="+mn-lt"/>
              </a:rPr>
              <a:t>The document that defines</a:t>
            </a:r>
            <a:r>
              <a:rPr lang="en-US" sz="2400" b="1">
                <a:solidFill>
                  <a:schemeClr val="accent5"/>
                </a:solidFill>
                <a:latin typeface="+mn-lt"/>
              </a:rPr>
              <a:t>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which resources can be accessed</a:t>
            </a:r>
            <a:r>
              <a:rPr lang="en-US" sz="2400">
                <a:latin typeface="+mn-lt"/>
              </a:rPr>
              <a:t> and the </a:t>
            </a:r>
            <a:r>
              <a:rPr lang="en-US" sz="2400" b="1">
                <a:solidFill>
                  <a:srgbClr val="504BAB"/>
                </a:solidFill>
                <a:latin typeface="+mn-lt"/>
              </a:rPr>
              <a:t>level of access</a:t>
            </a:r>
            <a:r>
              <a:rPr lang="en-US" sz="2400">
                <a:solidFill>
                  <a:srgbClr val="504BAB"/>
                </a:solidFill>
                <a:latin typeface="+mn-lt"/>
              </a:rPr>
              <a:t> </a:t>
            </a:r>
            <a:r>
              <a:rPr lang="en-US" sz="2400">
                <a:latin typeface="+mn-lt"/>
              </a:rPr>
              <a:t>to each resource.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3CD5E06-9254-87F7-A638-0794EE47D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063" y="4049872"/>
            <a:ext cx="677304" cy="677304"/>
          </a:xfrm>
          <a:prstGeom prst="rect">
            <a:avLst/>
          </a:prstGeom>
          <a:noFill/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0CB20FD-ABE1-8D8E-8114-D9704E3E1885}"/>
              </a:ext>
            </a:extLst>
          </p:cNvPr>
          <p:cNvSpPr txBox="1"/>
          <p:nvPr/>
        </p:nvSpPr>
        <p:spPr>
          <a:xfrm>
            <a:off x="1206651" y="5618221"/>
            <a:ext cx="1351973" cy="572464"/>
          </a:xfrm>
          <a:prstGeom prst="rect">
            <a:avLst/>
          </a:prstGeom>
          <a:noFill/>
          <a:effectLst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sz="2000" b="1">
                <a:solidFill>
                  <a:srgbClr val="504BAB"/>
                </a:solidFill>
              </a:rPr>
              <a:t>IAM r</a:t>
            </a:r>
            <a:r>
              <a:rPr lang="en-US" b="1">
                <a:solidFill>
                  <a:srgbClr val="504BAB"/>
                </a:solidFill>
              </a:rPr>
              <a:t>ole</a:t>
            </a:r>
            <a:endParaRPr lang="en-US" sz="2000" b="1">
              <a:solidFill>
                <a:srgbClr val="504BAB"/>
              </a:solidFill>
              <a:latin typeface="Amazon Ember Light" panose="020B0403020204020204"/>
            </a:endParaRP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CEC4AC02-840F-BC8F-8533-3F00A3BDF196}"/>
              </a:ext>
            </a:extLst>
          </p:cNvPr>
          <p:cNvSpPr txBox="1">
            <a:spLocks/>
          </p:cNvSpPr>
          <p:nvPr/>
        </p:nvSpPr>
        <p:spPr>
          <a:xfrm>
            <a:off x="2754426" y="5217490"/>
            <a:ext cx="7350034" cy="888701"/>
          </a:xfrm>
          <a:prstGeom prst="rect">
            <a:avLst/>
          </a:prstGeom>
        </p:spPr>
        <p:txBody>
          <a:bodyPr/>
          <a:lstStyle>
            <a:lvl1pPr marL="0" marR="0" indent="0" algn="l" defTabSz="91436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667" b="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336143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 marL="560238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784334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1008429" marR="0" indent="0" algn="l" defTabSz="91436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67" kern="1200" spc="0" baseline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514494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5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6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1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>
                <a:latin typeface="+mn-lt"/>
              </a:rPr>
              <a:t>Useful mechanism to grant a set of permissions for making AWS service requests. </a:t>
            </a:r>
          </a:p>
        </p:txBody>
      </p:sp>
      <p:pic>
        <p:nvPicPr>
          <p:cNvPr id="33" name="Graphic 54">
            <a:extLst>
              <a:ext uri="{FF2B5EF4-FFF2-40B4-BE49-F238E27FC236}">
                <a16:creationId xmlns:a16="http://schemas.microsoft.com/office/drawing/2014/main" id="{E4245FA7-378A-D421-01DB-7EA8FF2F4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5189" y="5230734"/>
            <a:ext cx="707053" cy="642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Securing access — the best practices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ACF M04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Attach policies to groups; assign users to groups (don't attach policies to individuals).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Least privilege — grant only the permissions the task needs; all access is denied by default.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MFA on human users; protect the root user (use it only when you must).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Roles, not long-lived keys, for services — an EC2 instance assumes a role to reach RDS / S3.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design's IAM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build these groups +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YAT-ICT-Admins — read-only infra + console post-handover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MTS-Consultants — build admin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Application-Service — EC2 instance role (RDS + S3 + CloudWatch)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Finance-Auditors — read-only on logs / metrics / configs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Enforce MFA on the human groups (Essential Eight).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Build an IAM group, user &amp; MFA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group; attach a least-privilege policy.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user; add to the group; enable MFA.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EC2 instance role (Application-Service) and attach its policy.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Capture the IAM evidence screenshot (groups list + a user with MFA).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(ACF M04 · IAM)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IAM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Per the Accounting Baseline Design, build the IAM foundation in the lab: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create the groups + the application-service role, with least-privilege policies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create at least one user per human group; enforce MFA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capture the IAM evidence (groups, a user with MFA, the role)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Identity &amp;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IAM = users + groups (people), roles (services, temporary creds), policies (JSON permissions).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Attach policies to groups; least privilege; MFA on humans; roles for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the design's groups + role, and evidence it as you 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Shared responsibility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who secures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B59B-1181-4A2B-2AB2-CFCF929F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CF0B4-2148-B86C-D201-8D93D25EE4F9}"/>
              </a:ext>
            </a:extLst>
          </p:cNvPr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shared responsibility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ACF M04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EBCECC-B5E0-6289-BCF5-F0CD966E6D19}"/>
              </a:ext>
            </a:extLst>
          </p:cNvPr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ABDED-6450-7293-C04E-5FC1C84DBBE2}"/>
              </a:ext>
            </a:extLst>
          </p:cNvPr>
          <p:cNvSpPr txBox="1"/>
          <p:nvPr/>
        </p:nvSpPr>
        <p:spPr>
          <a:xfrm>
            <a:off x="658368" y="1737360"/>
            <a:ext cx="11533632" cy="1340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 dirty="0">
                <a:solidFill>
                  <a:srgbClr val="2A2929"/>
                </a:solidFill>
                <a:latin typeface="Roboto"/>
              </a:rPr>
              <a:t>AWS — security OF the cloud: physical data </a:t>
            </a:r>
            <a:r>
              <a:rPr sz="1700" b="0" i="0" dirty="0" err="1">
                <a:solidFill>
                  <a:srgbClr val="2A2929"/>
                </a:solidFill>
                <a:latin typeface="Roboto"/>
              </a:rPr>
              <a:t>centres</a:t>
            </a:r>
            <a:r>
              <a:rPr sz="1700" b="0" i="0" dirty="0">
                <a:solidFill>
                  <a:srgbClr val="2A2929"/>
                </a:solidFill>
                <a:latin typeface="Roboto"/>
              </a:rPr>
              <a:t>, hardware, network, virtualization infrastructure.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 dirty="0">
                <a:solidFill>
                  <a:srgbClr val="2A2929"/>
                </a:solidFill>
                <a:latin typeface="Roboto"/>
              </a:rPr>
              <a:t>You — security IN the cloud: the EC2 OS (patching), applications, security-group config, IAM, account management, and your data.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 dirty="0">
                <a:solidFill>
                  <a:srgbClr val="205F61"/>
                </a:solidFill>
                <a:latin typeface="Roboto"/>
              </a:rPr>
              <a:t>■  Knowing the line tells you what you must configure — and what you can rely 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934D3-1D0C-A2FB-468E-6FAB6C8F3D2E}"/>
              </a:ext>
            </a:extLst>
          </p:cNvPr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B69C2-4D10-EEB9-494B-CD8E46D5FF2F}"/>
              </a:ext>
            </a:extLst>
          </p:cNvPr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0A2AE-7AF6-423E-BA72-7E5D742F4E9D}"/>
              </a:ext>
            </a:extLst>
          </p:cNvPr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58303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shared responsibility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ACF M04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  <p:pic>
        <p:nvPicPr>
          <p:cNvPr id="10" name="Picture 9" descr="Table showing AWS and customer responsibilities outlines in the notes.">
            <a:extLst>
              <a:ext uri="{FF2B5EF4-FFF2-40B4-BE49-F238E27FC236}">
                <a16:creationId xmlns:a16="http://schemas.microsoft.com/office/drawing/2014/main" id="{4481B9B0-712B-01A6-8685-B12A90D6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0" y="1523190"/>
            <a:ext cx="8941774" cy="49248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line shifts with the service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ACF M04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IaaS (EC2) — you manage more: the OS, patching, security groups, access controls.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PaaS (RDS) — AWS handles the OS, database patching, firewall, DR; you manage your data + access.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More managed = more on AWS. The service type sets where the line falls.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Assigning responsibility on this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Map each layer of the Accounting build to its owner — AWS · YAT ICT · MTS (build) · end-users.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 supplied design's security section names the split; your job is to apply it: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AWS patches the RDS host · YAT patches the EC2 OS · MTS sets the IAM + SG config at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Complete the shared-responsibility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1">
                <a:solidFill>
                  <a:srgbClr val="484848"/>
                </a:solidFill>
                <a:latin typeface="Roboto"/>
              </a:rPr>
              <a:t>No console build — an analysis task (in the style of the AWS scenario).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For each part of the Accounting foundation, name who is responsible — AWS or you (YAT/MTS):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EC2 OS patching · security-group settings · application config · IAM / MFA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SQL Server patching on RDS · physical data-centre security · S3 bucket access config · data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Per the supplied design + the shared-responsibility model. ~½ page — feeds your Deployment Report's security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Shared responsibility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AWS secures the cloud; you secure what's in it — OS, apps, IAM, config,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line shifts by service: IaaS = more on you; PaaS = more on AWS.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Map every component to its owner — that's what you configure vs rely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Foundation down — next, the network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set the build mode (work to the design, evidence as you go) and stood up the foundation: account/Region, IAM, shared responsibility.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Everything else sits on this identity + access base.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the network &amp; security base — VPC, subnets, security groups, DNS.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1537</Words>
  <Application>Microsoft Office PowerPoint</Application>
  <PresentationFormat>Widescreen</PresentationFormat>
  <Paragraphs>188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Amazon Ember Light</vt:lpstr>
      <vt:lpstr>Arial</vt:lpstr>
      <vt:lpstr>Calibri</vt:lpstr>
      <vt:lpstr>Roboto</vt:lpstr>
      <vt:lpstr>Roboto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Baird</cp:lastModifiedBy>
  <cp:revision>4</cp:revision>
  <dcterms:created xsi:type="dcterms:W3CDTF">2013-01-27T09:14:16Z</dcterms:created>
  <dcterms:modified xsi:type="dcterms:W3CDTF">2026-06-02T04:35:30Z</dcterms:modified>
  <cp:category/>
</cp:coreProperties>
</file>