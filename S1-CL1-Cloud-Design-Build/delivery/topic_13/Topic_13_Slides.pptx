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4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13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HA implementation &amp; simulation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Build your HA design — then break it on purpose to prove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Build it, then break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AT3 Part B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In Topic 12 you designed the HA upgrade; now you implement it on the running baseline.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Then you simulate failures and resizes — to prove the design is actually fault tolerant.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Build → demonstrate connectivity → simulate → compare to your design → improve → document.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For the build: watch the recorded demo, then do it. The simulations you drive yourself.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Implement the design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harden in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Implementation approaches</a:t>
            </a:r>
            <a:endParaRPr lang="en-AU" sz="2800" b="1" i="0" dirty="0">
              <a:solidFill>
                <a:srgbClr val="2A2929"/>
              </a:solidFill>
              <a:latin typeface="Robot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8368" y="976987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Big-bang / cutover — switch over all at once: fastest, but high 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Incremental — adopt in phases: easier to adapt and troubleshoot; slower.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Parallel — run old and new together: safest fall-back, but highest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In-place HA hardening is incremental — add redundancy without taking the service 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Build it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83083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Deploy with scripts (infrastructure as code) — repeatable, documented, fewer errors.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Right-size with the Auto Scaling group instead of guessing capacity.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Automate security and monitoring (IAM, CloudWatch, alarms).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Demonstrate connectivity at all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33883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After implementing, confirm each tier works — and only talks to what it should: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client → application; application → database; database reachable only from the app tier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92268F"/>
                </a:solidFill>
                <a:latin typeface="Roboto"/>
              </a:rPr>
              <a:t>■  Confirm failover works — and that you can fail back to the primary.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This is the evidence that the build is correct, not just present.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Build a highly available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an Auto Scaling group spread across two Availability Zones, behind a load balancer.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Add a Multi-AZ database with an automatic-failover standby.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the load balancer routes only to healthy targets across both AZs.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(ACA M10 · Creating a Highly Available Application (S44))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Implement your HA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On the running Accounting baseline, implement the hardening from your Topic 12 design: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add the second AZ + mirrored subnets; extend the ASG and ALB across both AZs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convert the database to Multi-AZ; add the second NAT gateway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92268F"/>
                </a:solidFill>
                <a:latin typeface="Roboto"/>
              </a:rPr>
              <a:t>■  Demonstrate connectivity at all tiers and capture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Implement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In-place HA hardening is incremental — no outage.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Deploy with IaC; right-size with the ASG; automate security + monitoring.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Demonstrate connectivity at every tier, including failover and fail-back.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Capture the evidence as you build.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Simulate failures &amp; resizes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break it on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Why simulate?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1879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239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An untested backup plan isn't a plan.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27B5CE"/>
                </a:solidFill>
                <a:latin typeface="Roboto"/>
              </a:rPr>
              <a:t>■  In 2016 Delta Air Lines had an outage when failed equipment exposed a backup that had never been tested — about US$100 million.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You simulate failures to confirm every part of the HA design actually works.</a:t>
            </a:r>
            <a:endParaRPr lang="en-US" sz="1800" b="0" i="0" dirty="0">
              <a:solidFill>
                <a:srgbClr val="2A2929"/>
              </a:solidFill>
              <a:latin typeface="Roboto"/>
            </a:endParaRPr>
          </a:p>
          <a:p>
            <a:r>
              <a:rPr lang="en-AU" sz="2000" b="1" dirty="0">
                <a:solidFill>
                  <a:srgbClr val="EDAB0C"/>
                </a:solidFill>
                <a:latin typeface="Roboto"/>
              </a:rPr>
              <a:t>■ </a:t>
            </a:r>
            <a:r>
              <a:rPr lang="en-AU" sz="2000" dirty="0"/>
              <a:t>Many ways to simulate a failure to confirm all elements of an HA design are working:</a:t>
            </a:r>
          </a:p>
          <a:p>
            <a:pPr lvl="1"/>
            <a:r>
              <a:rPr lang="en-AU" b="1" dirty="0"/>
              <a:t>Disabling assets</a:t>
            </a:r>
            <a:r>
              <a:rPr lang="en-AU" dirty="0"/>
              <a:t>: turn off a server, simulating an outage.  Does the system respond correctly?</a:t>
            </a:r>
          </a:p>
          <a:p>
            <a:pPr lvl="1"/>
            <a:r>
              <a:rPr lang="en-AU" b="1" dirty="0"/>
              <a:t>Network disruption</a:t>
            </a:r>
            <a:r>
              <a:rPr lang="en-AU" dirty="0"/>
              <a:t>: Block all traffic into subnet/from one connection. Does system fail over to secondary assets?</a:t>
            </a:r>
          </a:p>
          <a:p>
            <a:pPr lvl="1"/>
            <a:r>
              <a:rPr lang="en-AU" b="1" dirty="0"/>
              <a:t>Scaling</a:t>
            </a:r>
            <a:r>
              <a:rPr lang="en-AU" dirty="0"/>
              <a:t>: perform load testing and confirm scaling up/down works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endParaRPr sz="1800" b="0" i="0" dirty="0">
              <a:solidFill>
                <a:srgbClr val="2A2929"/>
              </a:solidFill>
              <a:latin typeface="Robo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Simulate resizes &amp; 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76987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Load testing — does it work under the expected workload (e.g. month-end peak)?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Stress testing — where's the breaking point, and does it fail gracefully (queued / busy messages, data safe)?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7B5CE"/>
                </a:solidFill>
                <a:latin typeface="Roboto"/>
              </a:rPr>
              <a:t>■  Resize a component and measure the availability impact — vertical resizes often take a brief outage.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  <p:pic>
        <p:nvPicPr>
          <p:cNvPr id="8" name="Picture 4" descr="Image for changelog">
            <a:extLst>
              <a:ext uri="{FF2B5EF4-FFF2-40B4-BE49-F238E27FC236}">
                <a16:creationId xmlns:a16="http://schemas.microsoft.com/office/drawing/2014/main" id="{FF6CE51B-E77B-B22A-5477-7707F9B1C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0" t="7634" r="6000" b="39352"/>
          <a:stretch>
            <a:fillRect/>
          </a:stretch>
        </p:blipFill>
        <p:spPr bwMode="auto">
          <a:xfrm>
            <a:off x="2716218" y="3713602"/>
            <a:ext cx="6232125" cy="213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Monitor &amp; measure availability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7279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581912"/>
            <a:ext cx="10881360" cy="1823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Watch uptime, errors and latency throughout the simulation — you can't prove availability you didn't measure.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Use CloudWatch metrics + alarms and the AWS Health Dashboard.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27B5CE"/>
                </a:solidFill>
                <a:latin typeface="Roboto"/>
              </a:rPr>
              <a:t>■  Record the numbers before, during and after each simulated failure.</a:t>
            </a:r>
            <a:endParaRPr lang="en-US" sz="1800" b="1" i="0" dirty="0">
              <a:solidFill>
                <a:srgbClr val="27B5CE"/>
              </a:solidFill>
              <a:latin typeface="Roboto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endParaRPr sz="1800" b="1" i="0" dirty="0">
              <a:solidFill>
                <a:srgbClr val="27B5CE"/>
              </a:solidFill>
              <a:latin typeface="Robo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the simulations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Per your simulation plan, with monitoring on: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fail an instance / an AZ — confirm the service stays up (fault tolerant)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trigger a database failover, then fail back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resize under load and measure the availability impact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7B5CE"/>
                </a:solidFill>
                <a:latin typeface="Roboto"/>
              </a:rPr>
              <a:t>■  Record the availability impact of each, with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Simulate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Untested HA isn't HA — simulate to prove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Measure availability (CloudWatch) throughout each simulation.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Simulate failures (disable assets / block a subnet) and confirm failover.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Load/stress test and measure the impact of a resize.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Compare, improve &amp; document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did it meet the design?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Compare findings to the design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your documented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Measure what the simulations showed against your documented recovery objectives.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205F61"/>
                </a:solidFill>
                <a:latin typeface="Roboto"/>
              </a:rPr>
              <a:t>■  Did the build meet its RPO/RTO? Did each SPOF's fix actually hold under failure?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Note any gap between the design's intent and the simulated reality.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2A2929"/>
                </a:solidFill>
                <a:latin typeface="Roboto"/>
              </a:rPr>
              <a:t>Improve availability if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1879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3772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 dirty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 dirty="0">
                <a:solidFill>
                  <a:srgbClr val="2A2929"/>
                </a:solidFill>
                <a:latin typeface="Roboto"/>
              </a:rPr>
              <a:t>If a simulation shows a prolonged outage or poor availability, adjust the design: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 dirty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 dirty="0">
                <a:solidFill>
                  <a:srgbClr val="2A2929"/>
                </a:solidFill>
                <a:latin typeface="Roboto"/>
              </a:rPr>
              <a:t>more redundancy · Multi-AZ · managed services with built-in HA · monitoring with auto-triggered recovery</a:t>
            </a:r>
          </a:p>
          <a:p>
            <a:r>
              <a:rPr lang="en-AU" b="1" dirty="0">
                <a:solidFill>
                  <a:srgbClr val="EDAB0C"/>
                </a:solidFill>
                <a:latin typeface="Roboto"/>
              </a:rPr>
              <a:t>■ </a:t>
            </a:r>
            <a:r>
              <a:rPr lang="en-AU" dirty="0"/>
              <a:t>Consider making changes to your design:</a:t>
            </a:r>
          </a:p>
          <a:p>
            <a:pPr lvl="1"/>
            <a:r>
              <a:rPr lang="en-AU" b="1" dirty="0"/>
              <a:t>Multi-AZ and Multi-Region Deployment</a:t>
            </a:r>
            <a:r>
              <a:rPr lang="en-AU" dirty="0"/>
              <a:t>: If workload fails due to outage, services elsewhere take over. e.g. Amazon RDS Multi-AZ.</a:t>
            </a:r>
          </a:p>
          <a:p>
            <a:pPr lvl="1"/>
            <a:r>
              <a:rPr lang="en-AU" b="1" dirty="0"/>
              <a:t>Load Balancing</a:t>
            </a:r>
            <a:r>
              <a:rPr lang="en-AU" dirty="0"/>
              <a:t>: Distribute workload across resources. E.g. ALB Balancer for web traffic, or third-party LBs (e.g. F5 BIG-IP)</a:t>
            </a:r>
          </a:p>
          <a:p>
            <a:pPr lvl="1"/>
            <a:r>
              <a:rPr lang="en-AU" b="1" dirty="0"/>
              <a:t>Extra Redundancy</a:t>
            </a:r>
            <a:r>
              <a:rPr lang="en-AU" dirty="0"/>
              <a:t>: key resources (servers, databases, network links) replicated so failure of one doesn’t cause downtime.</a:t>
            </a:r>
          </a:p>
          <a:p>
            <a:pPr lvl="1"/>
            <a:r>
              <a:rPr lang="en-AU" b="1" dirty="0"/>
              <a:t>Managed Services with Built-In HA</a:t>
            </a:r>
            <a:r>
              <a:rPr lang="en-AU" dirty="0"/>
              <a:t>: Use services with built-in HA features. e.g. Amazon S3, DynamoDB.</a:t>
            </a:r>
          </a:p>
          <a:p>
            <a:pPr lvl="1"/>
            <a:r>
              <a:rPr lang="en-AU" b="1" dirty="0"/>
              <a:t>Monitoring with auto-triggered actions</a:t>
            </a:r>
            <a:r>
              <a:rPr lang="en-AU" dirty="0"/>
              <a:t>: Utilise monitoring alarms that trigger automated recovery actions</a:t>
            </a:r>
          </a:p>
          <a:p>
            <a:pPr lvl="1"/>
            <a:endParaRPr lang="en-AU" b="1" dirty="0">
              <a:solidFill>
                <a:srgbClr val="205F61"/>
              </a:solidFill>
              <a:latin typeface="Roboto"/>
            </a:endParaRPr>
          </a:p>
          <a:p>
            <a:r>
              <a:rPr lang="en-US" b="1" dirty="0">
                <a:solidFill>
                  <a:srgbClr val="205F61"/>
                </a:solidFill>
                <a:latin typeface="Roboto"/>
              </a:rPr>
              <a:t>■ Make the change, then re-test to confirm the improvement.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Compare, adjust &amp;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1" i="0">
                <a:solidFill>
                  <a:srgbClr val="2A2929"/>
                </a:solidFill>
                <a:latin typeface="Roboto"/>
              </a:rPr>
              <a:t>Finalise the implementation: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compare your simulation findings against your documented design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make any improvements the simulations call for, and re-test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205F61"/>
                </a:solidFill>
                <a:latin typeface="Roboto"/>
              </a:rPr>
              <a:t>■  Document the simulation findings against the design — this feeds the HA Deployment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Compare &amp; improve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Compare simulation findings to the documented recovery objectives.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Improve where the simulations show gaps — then re-test.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Document the findings against the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What you record here becomes the HA Deployment Report.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EDAB0C"/>
                </a:solidFill>
                <a:latin typeface="Roboto"/>
              </a:rPr>
              <a:t>Topic 13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Implement incrementally — harden in place with no outage.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Demonstrate connectivity at all tiers, including failover.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Simulate failures and resizes to *prove* fault tolerance; measure availability.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Compare to the design, improve where needed, and document the findings.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 implemented and proved your own design.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14 — Closure &amp; documentation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Write the HA Deployment Report from your evidence and findings, seek and respond to feedback, and obtain final sign-off — closing the engagement.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Bring your simulation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1317</Words>
  <Application>Microsoft Office PowerPoint</Application>
  <PresentationFormat>Widescreen</PresentationFormat>
  <Paragraphs>161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Roboto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Timothy Baird</cp:lastModifiedBy>
  <cp:revision>3</cp:revision>
  <dcterms:created xsi:type="dcterms:W3CDTF">2013-01-27T09:14:16Z</dcterms:created>
  <dcterms:modified xsi:type="dcterms:W3CDTF">2026-06-04T04:08:42Z</dcterms:modified>
  <cp:category/>
</cp:coreProperties>
</file>