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78" r:id="rId7"/>
    <p:sldId id="261" r:id="rId8"/>
    <p:sldId id="262" r:id="rId9"/>
    <p:sldId id="263" r:id="rId10"/>
    <p:sldId id="264" r:id="rId11"/>
    <p:sldId id="265" r:id="rId12"/>
    <p:sldId id="266" r:id="rId13"/>
    <p:sldId id="267" r:id="rId14"/>
    <p:sldId id="268" r:id="rId15"/>
    <p:sldId id="269" r:id="rId16"/>
    <p:sldId id="270" r:id="rId17"/>
    <p:sldId id="279" r:id="rId18"/>
    <p:sldId id="280" r:id="rId19"/>
    <p:sldId id="281" r:id="rId20"/>
    <p:sldId id="282" r:id="rId21"/>
    <p:sldId id="271" r:id="rId22"/>
    <p:sldId id="272" r:id="rId23"/>
    <p:sldId id="273" r:id="rId24"/>
    <p:sldId id="283" r:id="rId25"/>
    <p:sldId id="285" r:id="rId26"/>
    <p:sldId id="274" r:id="rId27"/>
    <p:sldId id="275" r:id="rId28"/>
    <p:sldId id="276" r:id="rId29"/>
    <p:sldId id="277"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1480" autoAdjust="0"/>
  </p:normalViewPr>
  <p:slideViewPr>
    <p:cSldViewPr snapToGrid="0" snapToObjects="1">
      <p:cViewPr varScale="1">
        <p:scale>
          <a:sx n="55" d="100"/>
          <a:sy n="55" d="100"/>
        </p:scale>
        <p:origin x="90" y="300"/>
      </p:cViewPr>
      <p:guideLst>
        <p:guide orient="horz" pos="2160"/>
        <p:guide pos="2880"/>
      </p:guideLst>
    </p:cSldViewPr>
  </p:slideViewPr>
  <p:notesTextViewPr>
    <p:cViewPr>
      <p:scale>
        <a:sx n="100" d="100"/>
        <a:sy n="100" d="100"/>
      </p:scale>
      <p:origin x="0" y="-93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diagrams/_rels/data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s>
</file>

<file path=ppt/diagrams/_rels/data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s>
</file>

<file path=ppt/diagrams/_rels/drawing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dgm:fillClrLst>
    <dgm:linClrLst meth="repeat">
      <a:schemeClr val="lt1">
        <a:alpha val="0"/>
      </a:schemeClr>
    </dgm:linClrLst>
    <dgm:effectClrLst/>
    <dgm:txLinClrLst/>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CF40D9E-B485-48F0-875D-F8CE754AA2B2}" type="doc">
      <dgm:prSet loTypeId="urn:microsoft.com/office/officeart/2018/2/layout/IconLabelDescriptionList" loCatId="icon" qsTypeId="urn:microsoft.com/office/officeart/2005/8/quickstyle/simple1" qsCatId="simple" csTypeId="urn:microsoft.com/office/officeart/2005/8/colors/accent1_2" csCatId="accent1" phldr="1"/>
      <dgm:spPr/>
      <dgm:t>
        <a:bodyPr/>
        <a:lstStyle/>
        <a:p>
          <a:endParaRPr lang="en-US"/>
        </a:p>
      </dgm:t>
    </dgm:pt>
    <dgm:pt modelId="{27106ABF-3040-47DC-8B02-85790ABB72DD}">
      <dgm:prSet custT="1"/>
      <dgm:spPr/>
      <dgm:t>
        <a:bodyPr/>
        <a:lstStyle/>
        <a:p>
          <a:pPr>
            <a:lnSpc>
              <a:spcPct val="100000"/>
            </a:lnSpc>
            <a:defRPr b="1"/>
          </a:pPr>
          <a:r>
            <a:rPr lang="en-AU" sz="1800" b="1" dirty="0">
              <a:latin typeface="Roboto" panose="02000000000000000000" pitchFamily="2" charset="0"/>
              <a:ea typeface="Roboto" panose="02000000000000000000" pitchFamily="2" charset="0"/>
              <a:cs typeface="Roboto" panose="02000000000000000000" pitchFamily="2" charset="0"/>
            </a:rPr>
            <a:t>Business Impact Analysis (BIA) </a:t>
          </a:r>
          <a:r>
            <a:rPr lang="en-AU" sz="1800" dirty="0">
              <a:latin typeface="Roboto" panose="02000000000000000000" pitchFamily="2" charset="0"/>
              <a:ea typeface="Roboto" panose="02000000000000000000" pitchFamily="2" charset="0"/>
              <a:cs typeface="Roboto" panose="02000000000000000000" pitchFamily="2" charset="0"/>
            </a:rPr>
            <a:t>– </a:t>
          </a:r>
          <a:r>
            <a:rPr lang="en-AU" sz="1800" b="0" dirty="0">
              <a:latin typeface="Roboto" panose="02000000000000000000" pitchFamily="2" charset="0"/>
              <a:ea typeface="Roboto" panose="02000000000000000000" pitchFamily="2" charset="0"/>
              <a:cs typeface="Roboto" panose="02000000000000000000" pitchFamily="2" charset="0"/>
            </a:rPr>
            <a:t>Formal assessment of how downtime or data loss affects operations, revenue, etc.</a:t>
          </a:r>
          <a:endParaRPr lang="en-US" sz="1800" b="0" dirty="0">
            <a:latin typeface="Roboto" panose="02000000000000000000" pitchFamily="2" charset="0"/>
            <a:ea typeface="Roboto" panose="02000000000000000000" pitchFamily="2" charset="0"/>
            <a:cs typeface="Roboto" panose="02000000000000000000" pitchFamily="2" charset="0"/>
          </a:endParaRPr>
        </a:p>
      </dgm:t>
    </dgm:pt>
    <dgm:pt modelId="{DFE5AC35-77FD-4999-AEA0-C025CAF3041D}" type="parTrans" cxnId="{EBBCC0A0-8F0A-49DF-8D2C-856EC879E03A}">
      <dgm:prSet/>
      <dgm:spPr/>
      <dgm:t>
        <a:bodyPr/>
        <a:lstStyle/>
        <a:p>
          <a:endParaRPr lang="en-US"/>
        </a:p>
      </dgm:t>
    </dgm:pt>
    <dgm:pt modelId="{BBD5E198-000A-40FD-88C1-A467B2099B18}" type="sibTrans" cxnId="{EBBCC0A0-8F0A-49DF-8D2C-856EC879E03A}">
      <dgm:prSet/>
      <dgm:spPr/>
      <dgm:t>
        <a:bodyPr/>
        <a:lstStyle/>
        <a:p>
          <a:endParaRPr lang="en-US"/>
        </a:p>
      </dgm:t>
    </dgm:pt>
    <dgm:pt modelId="{7F785EDB-F295-4835-943E-D00FE45EEA05}">
      <dgm:prSet custT="1"/>
      <dgm:spPr/>
      <dgm:t>
        <a:bodyPr/>
        <a:lstStyle/>
        <a:p>
          <a:pPr>
            <a:lnSpc>
              <a:spcPct val="100000"/>
            </a:lnSpc>
            <a:defRPr b="1"/>
          </a:pPr>
          <a:r>
            <a:rPr lang="en-AU" sz="1800" b="1" dirty="0">
              <a:latin typeface="Roboto" panose="02000000000000000000" pitchFamily="2" charset="0"/>
              <a:ea typeface="Roboto" panose="02000000000000000000" pitchFamily="2" charset="0"/>
              <a:cs typeface="Roboto" panose="02000000000000000000" pitchFamily="2" charset="0"/>
            </a:rPr>
            <a:t>Regulatory and Compliance Requirements </a:t>
          </a:r>
          <a:r>
            <a:rPr lang="en-AU" sz="1800" dirty="0">
              <a:latin typeface="Roboto" panose="02000000000000000000" pitchFamily="2" charset="0"/>
              <a:ea typeface="Roboto" panose="02000000000000000000" pitchFamily="2" charset="0"/>
              <a:cs typeface="Roboto" panose="02000000000000000000" pitchFamily="2" charset="0"/>
            </a:rPr>
            <a:t>– </a:t>
          </a:r>
          <a:r>
            <a:rPr lang="en-AU" sz="1800" b="0" dirty="0">
              <a:latin typeface="Roboto" panose="02000000000000000000" pitchFamily="2" charset="0"/>
              <a:ea typeface="Roboto" panose="02000000000000000000" pitchFamily="2" charset="0"/>
              <a:cs typeface="Roboto" panose="02000000000000000000" pitchFamily="2" charset="0"/>
            </a:rPr>
            <a:t>Legal or industry standards may state uptime/data protection obligations.</a:t>
          </a:r>
          <a:endParaRPr lang="en-US" sz="1800" b="0" dirty="0">
            <a:latin typeface="Roboto" panose="02000000000000000000" pitchFamily="2" charset="0"/>
            <a:ea typeface="Roboto" panose="02000000000000000000" pitchFamily="2" charset="0"/>
            <a:cs typeface="Roboto" panose="02000000000000000000" pitchFamily="2" charset="0"/>
          </a:endParaRPr>
        </a:p>
      </dgm:t>
    </dgm:pt>
    <dgm:pt modelId="{6CCCCC4F-FD6C-49F5-991C-898AAFABCB43}" type="parTrans" cxnId="{033D748C-9A8E-481C-ADEB-88998A246E11}">
      <dgm:prSet/>
      <dgm:spPr/>
      <dgm:t>
        <a:bodyPr/>
        <a:lstStyle/>
        <a:p>
          <a:endParaRPr lang="en-US"/>
        </a:p>
      </dgm:t>
    </dgm:pt>
    <dgm:pt modelId="{214B9599-FBE4-4031-8A5B-3D38B2929DF1}" type="sibTrans" cxnId="{033D748C-9A8E-481C-ADEB-88998A246E11}">
      <dgm:prSet/>
      <dgm:spPr/>
      <dgm:t>
        <a:bodyPr/>
        <a:lstStyle/>
        <a:p>
          <a:endParaRPr lang="en-US"/>
        </a:p>
      </dgm:t>
    </dgm:pt>
    <dgm:pt modelId="{AB5E9ABF-C576-4EC8-9B7C-9B873230A21B}">
      <dgm:prSet custT="1"/>
      <dgm:spPr/>
      <dgm:t>
        <a:bodyPr/>
        <a:lstStyle/>
        <a:p>
          <a:pPr>
            <a:lnSpc>
              <a:spcPct val="100000"/>
            </a:lnSpc>
          </a:pPr>
          <a:endParaRPr lang="en-US" sz="1400" dirty="0"/>
        </a:p>
      </dgm:t>
    </dgm:pt>
    <dgm:pt modelId="{987A4C7F-A57E-4BD1-B129-0846345B984A}" type="parTrans" cxnId="{87AD3671-98FA-4757-9BBA-89C0FD475085}">
      <dgm:prSet/>
      <dgm:spPr/>
      <dgm:t>
        <a:bodyPr/>
        <a:lstStyle/>
        <a:p>
          <a:endParaRPr lang="en-US"/>
        </a:p>
      </dgm:t>
    </dgm:pt>
    <dgm:pt modelId="{AE468EEE-145F-41B3-932D-0BCA148DB732}" type="sibTrans" cxnId="{87AD3671-98FA-4757-9BBA-89C0FD475085}">
      <dgm:prSet/>
      <dgm:spPr/>
      <dgm:t>
        <a:bodyPr/>
        <a:lstStyle/>
        <a:p>
          <a:endParaRPr lang="en-US"/>
        </a:p>
      </dgm:t>
    </dgm:pt>
    <dgm:pt modelId="{66BC8E6F-2FCC-4881-AC5C-4E03DC062CE0}">
      <dgm:prSet custT="1"/>
      <dgm:spPr/>
      <dgm:t>
        <a:bodyPr/>
        <a:lstStyle/>
        <a:p>
          <a:pPr>
            <a:lnSpc>
              <a:spcPct val="100000"/>
            </a:lnSpc>
            <a:defRPr b="1"/>
          </a:pPr>
          <a:r>
            <a:rPr lang="en-AU" sz="1800" b="1" dirty="0">
              <a:latin typeface="Roboto" panose="02000000000000000000" pitchFamily="2" charset="0"/>
              <a:ea typeface="Roboto" panose="02000000000000000000" pitchFamily="2" charset="0"/>
              <a:cs typeface="Roboto" panose="02000000000000000000" pitchFamily="2" charset="0"/>
            </a:rPr>
            <a:t>Existing Commitments </a:t>
          </a:r>
          <a:r>
            <a:rPr lang="en-AU" sz="1800" dirty="0">
              <a:latin typeface="Roboto" panose="02000000000000000000" pitchFamily="2" charset="0"/>
              <a:ea typeface="Roboto" panose="02000000000000000000" pitchFamily="2" charset="0"/>
              <a:cs typeface="Roboto" panose="02000000000000000000" pitchFamily="2" charset="0"/>
            </a:rPr>
            <a:t>– </a:t>
          </a:r>
          <a:r>
            <a:rPr lang="en-AU" sz="1800" b="0" dirty="0">
              <a:latin typeface="Roboto" panose="02000000000000000000" pitchFamily="2" charset="0"/>
              <a:ea typeface="Roboto" panose="02000000000000000000" pitchFamily="2" charset="0"/>
              <a:cs typeface="Roboto" panose="02000000000000000000" pitchFamily="2" charset="0"/>
            </a:rPr>
            <a:t>customer contracts, SLAs, or brand promises may set reliability and recovery targets.</a:t>
          </a:r>
          <a:endParaRPr lang="en-US" sz="1800" b="0" dirty="0">
            <a:latin typeface="Roboto" panose="02000000000000000000" pitchFamily="2" charset="0"/>
            <a:ea typeface="Roboto" panose="02000000000000000000" pitchFamily="2" charset="0"/>
            <a:cs typeface="Roboto" panose="02000000000000000000" pitchFamily="2" charset="0"/>
          </a:endParaRPr>
        </a:p>
      </dgm:t>
    </dgm:pt>
    <dgm:pt modelId="{34908B93-B701-47AC-9BC1-3602B4024B44}" type="parTrans" cxnId="{04AD6DF4-1BA4-4A3A-ACF4-443E869728DC}">
      <dgm:prSet/>
      <dgm:spPr/>
      <dgm:t>
        <a:bodyPr/>
        <a:lstStyle/>
        <a:p>
          <a:endParaRPr lang="en-US"/>
        </a:p>
      </dgm:t>
    </dgm:pt>
    <dgm:pt modelId="{61E741B9-2905-46DD-885B-00743D52851D}" type="sibTrans" cxnId="{04AD6DF4-1BA4-4A3A-ACF4-443E869728DC}">
      <dgm:prSet/>
      <dgm:spPr/>
      <dgm:t>
        <a:bodyPr/>
        <a:lstStyle/>
        <a:p>
          <a:endParaRPr lang="en-US"/>
        </a:p>
      </dgm:t>
    </dgm:pt>
    <dgm:pt modelId="{76BAF196-DB74-4F68-98AD-A412F2BFFDB6}" type="pres">
      <dgm:prSet presAssocID="{3CF40D9E-B485-48F0-875D-F8CE754AA2B2}" presName="root" presStyleCnt="0">
        <dgm:presLayoutVars>
          <dgm:dir/>
          <dgm:resizeHandles val="exact"/>
        </dgm:presLayoutVars>
      </dgm:prSet>
      <dgm:spPr/>
    </dgm:pt>
    <dgm:pt modelId="{3888AB52-4CCF-4F7D-BB5A-1436BC0CA355}" type="pres">
      <dgm:prSet presAssocID="{27106ABF-3040-47DC-8B02-85790ABB72DD}" presName="compNode" presStyleCnt="0"/>
      <dgm:spPr/>
    </dgm:pt>
    <dgm:pt modelId="{15CD5B39-F1B2-4F04-955D-B76DF9963C08}" type="pres">
      <dgm:prSet presAssocID="{27106ABF-3040-47DC-8B02-85790ABB72DD}"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Downward trend"/>
        </a:ext>
      </dgm:extLst>
    </dgm:pt>
    <dgm:pt modelId="{D426AA90-FE21-4301-B856-AD0DF2BBB77C}" type="pres">
      <dgm:prSet presAssocID="{27106ABF-3040-47DC-8B02-85790ABB72DD}" presName="iconSpace" presStyleCnt="0"/>
      <dgm:spPr/>
    </dgm:pt>
    <dgm:pt modelId="{862589CA-007A-40B5-A926-C6780E174E35}" type="pres">
      <dgm:prSet presAssocID="{27106ABF-3040-47DC-8B02-85790ABB72DD}" presName="parTx" presStyleLbl="revTx" presStyleIdx="0" presStyleCnt="6">
        <dgm:presLayoutVars>
          <dgm:chMax val="0"/>
          <dgm:chPref val="0"/>
        </dgm:presLayoutVars>
      </dgm:prSet>
      <dgm:spPr/>
    </dgm:pt>
    <dgm:pt modelId="{8C16557B-0470-4AA5-BF24-9A41E0AD02C8}" type="pres">
      <dgm:prSet presAssocID="{27106ABF-3040-47DC-8B02-85790ABB72DD}" presName="txSpace" presStyleCnt="0"/>
      <dgm:spPr/>
    </dgm:pt>
    <dgm:pt modelId="{15BA2A09-5065-4CCD-A602-8E94FF1EA63A}" type="pres">
      <dgm:prSet presAssocID="{27106ABF-3040-47DC-8B02-85790ABB72DD}" presName="desTx" presStyleLbl="revTx" presStyleIdx="1" presStyleCnt="6">
        <dgm:presLayoutVars/>
      </dgm:prSet>
      <dgm:spPr/>
    </dgm:pt>
    <dgm:pt modelId="{8E7E20E7-0EC5-4924-B512-EEC07E5A627A}" type="pres">
      <dgm:prSet presAssocID="{BBD5E198-000A-40FD-88C1-A467B2099B18}" presName="sibTrans" presStyleCnt="0"/>
      <dgm:spPr/>
    </dgm:pt>
    <dgm:pt modelId="{19E27151-426B-4866-94E8-7CAD916D1438}" type="pres">
      <dgm:prSet presAssocID="{7F785EDB-F295-4835-943E-D00FE45EEA05}" presName="compNode" presStyleCnt="0"/>
      <dgm:spPr/>
    </dgm:pt>
    <dgm:pt modelId="{053612B0-3401-4169-B6EA-3769C65B1AC3}" type="pres">
      <dgm:prSet presAssocID="{7F785EDB-F295-4835-943E-D00FE45EEA05}"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Gavel"/>
        </a:ext>
      </dgm:extLst>
    </dgm:pt>
    <dgm:pt modelId="{8214C713-3AB0-4F0C-B210-79679D1A21BD}" type="pres">
      <dgm:prSet presAssocID="{7F785EDB-F295-4835-943E-D00FE45EEA05}" presName="iconSpace" presStyleCnt="0"/>
      <dgm:spPr/>
    </dgm:pt>
    <dgm:pt modelId="{1AF43BA2-776A-48C4-A4CE-CFD3D2F05C36}" type="pres">
      <dgm:prSet presAssocID="{7F785EDB-F295-4835-943E-D00FE45EEA05}" presName="parTx" presStyleLbl="revTx" presStyleIdx="2" presStyleCnt="6" custScaleY="91913">
        <dgm:presLayoutVars>
          <dgm:chMax val="0"/>
          <dgm:chPref val="0"/>
        </dgm:presLayoutVars>
      </dgm:prSet>
      <dgm:spPr/>
    </dgm:pt>
    <dgm:pt modelId="{DFE8EFA2-9F5F-4FFE-B9D0-5E85EAD61A19}" type="pres">
      <dgm:prSet presAssocID="{7F785EDB-F295-4835-943E-D00FE45EEA05}" presName="txSpace" presStyleCnt="0"/>
      <dgm:spPr/>
    </dgm:pt>
    <dgm:pt modelId="{6A510C57-B8B5-472C-A0C9-1D4B6C48B49A}" type="pres">
      <dgm:prSet presAssocID="{7F785EDB-F295-4835-943E-D00FE45EEA05}" presName="desTx" presStyleLbl="revTx" presStyleIdx="3" presStyleCnt="6" custScaleX="109489">
        <dgm:presLayoutVars/>
      </dgm:prSet>
      <dgm:spPr/>
    </dgm:pt>
    <dgm:pt modelId="{EE5F1997-FAAC-47B7-B7CB-87800B00D93D}" type="pres">
      <dgm:prSet presAssocID="{214B9599-FBE4-4031-8A5B-3D38B2929DF1}" presName="sibTrans" presStyleCnt="0"/>
      <dgm:spPr/>
    </dgm:pt>
    <dgm:pt modelId="{35176CDB-906E-4ADC-8AAC-AED1643518F0}" type="pres">
      <dgm:prSet presAssocID="{66BC8E6F-2FCC-4881-AC5C-4E03DC062CE0}" presName="compNode" presStyleCnt="0"/>
      <dgm:spPr/>
    </dgm:pt>
    <dgm:pt modelId="{294E88AD-88D1-4AA6-BE39-23238026747C}" type="pres">
      <dgm:prSet presAssocID="{66BC8E6F-2FCC-4881-AC5C-4E03DC062CE0}"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Handshake"/>
        </a:ext>
      </dgm:extLst>
    </dgm:pt>
    <dgm:pt modelId="{B60A3E9D-1912-4B09-A5DA-17FA334E42D9}" type="pres">
      <dgm:prSet presAssocID="{66BC8E6F-2FCC-4881-AC5C-4E03DC062CE0}" presName="iconSpace" presStyleCnt="0"/>
      <dgm:spPr/>
    </dgm:pt>
    <dgm:pt modelId="{6A5563AA-1A59-4FBA-BB6E-27148FD9BE05}" type="pres">
      <dgm:prSet presAssocID="{66BC8E6F-2FCC-4881-AC5C-4E03DC062CE0}" presName="parTx" presStyleLbl="revTx" presStyleIdx="4" presStyleCnt="6">
        <dgm:presLayoutVars>
          <dgm:chMax val="0"/>
          <dgm:chPref val="0"/>
        </dgm:presLayoutVars>
      </dgm:prSet>
      <dgm:spPr/>
    </dgm:pt>
    <dgm:pt modelId="{7C4F51C9-FB60-472F-B278-71B3DCA02ABE}" type="pres">
      <dgm:prSet presAssocID="{66BC8E6F-2FCC-4881-AC5C-4E03DC062CE0}" presName="txSpace" presStyleCnt="0"/>
      <dgm:spPr/>
    </dgm:pt>
    <dgm:pt modelId="{B68ADB6E-9FF8-4C27-A426-13EBC23842B5}" type="pres">
      <dgm:prSet presAssocID="{66BC8E6F-2FCC-4881-AC5C-4E03DC062CE0}" presName="desTx" presStyleLbl="revTx" presStyleIdx="5" presStyleCnt="6">
        <dgm:presLayoutVars/>
      </dgm:prSet>
      <dgm:spPr/>
    </dgm:pt>
  </dgm:ptLst>
  <dgm:cxnLst>
    <dgm:cxn modelId="{4AD36A1D-BB8C-40E7-920D-861A9A368F04}" type="presOf" srcId="{66BC8E6F-2FCC-4881-AC5C-4E03DC062CE0}" destId="{6A5563AA-1A59-4FBA-BB6E-27148FD9BE05}" srcOrd="0" destOrd="0" presId="urn:microsoft.com/office/officeart/2018/2/layout/IconLabelDescriptionList"/>
    <dgm:cxn modelId="{87AD3671-98FA-4757-9BBA-89C0FD475085}" srcId="{7F785EDB-F295-4835-943E-D00FE45EEA05}" destId="{AB5E9ABF-C576-4EC8-9B7C-9B873230A21B}" srcOrd="0" destOrd="0" parTransId="{987A4C7F-A57E-4BD1-B129-0846345B984A}" sibTransId="{AE468EEE-145F-41B3-932D-0BCA148DB732}"/>
    <dgm:cxn modelId="{033D748C-9A8E-481C-ADEB-88998A246E11}" srcId="{3CF40D9E-B485-48F0-875D-F8CE754AA2B2}" destId="{7F785EDB-F295-4835-943E-D00FE45EEA05}" srcOrd="1" destOrd="0" parTransId="{6CCCCC4F-FD6C-49F5-991C-898AAFABCB43}" sibTransId="{214B9599-FBE4-4031-8A5B-3D38B2929DF1}"/>
    <dgm:cxn modelId="{569BA78C-C4C3-4C95-AC3F-81AEB354CFBA}" type="presOf" srcId="{AB5E9ABF-C576-4EC8-9B7C-9B873230A21B}" destId="{6A510C57-B8B5-472C-A0C9-1D4B6C48B49A}" srcOrd="0" destOrd="0" presId="urn:microsoft.com/office/officeart/2018/2/layout/IconLabelDescriptionList"/>
    <dgm:cxn modelId="{EBBCC0A0-8F0A-49DF-8D2C-856EC879E03A}" srcId="{3CF40D9E-B485-48F0-875D-F8CE754AA2B2}" destId="{27106ABF-3040-47DC-8B02-85790ABB72DD}" srcOrd="0" destOrd="0" parTransId="{DFE5AC35-77FD-4999-AEA0-C025CAF3041D}" sibTransId="{BBD5E198-000A-40FD-88C1-A467B2099B18}"/>
    <dgm:cxn modelId="{F9F028AF-CDC3-4875-B8F4-65167D3148C5}" type="presOf" srcId="{7F785EDB-F295-4835-943E-D00FE45EEA05}" destId="{1AF43BA2-776A-48C4-A4CE-CFD3D2F05C36}" srcOrd="0" destOrd="0" presId="urn:microsoft.com/office/officeart/2018/2/layout/IconLabelDescriptionList"/>
    <dgm:cxn modelId="{FD105EAF-30C6-46DB-B442-73422A3157D1}" type="presOf" srcId="{27106ABF-3040-47DC-8B02-85790ABB72DD}" destId="{862589CA-007A-40B5-A926-C6780E174E35}" srcOrd="0" destOrd="0" presId="urn:microsoft.com/office/officeart/2018/2/layout/IconLabelDescriptionList"/>
    <dgm:cxn modelId="{ECFB9CCF-CB8F-46A3-940E-E189CC352BCE}" type="presOf" srcId="{3CF40D9E-B485-48F0-875D-F8CE754AA2B2}" destId="{76BAF196-DB74-4F68-98AD-A412F2BFFDB6}" srcOrd="0" destOrd="0" presId="urn:microsoft.com/office/officeart/2018/2/layout/IconLabelDescriptionList"/>
    <dgm:cxn modelId="{04AD6DF4-1BA4-4A3A-ACF4-443E869728DC}" srcId="{3CF40D9E-B485-48F0-875D-F8CE754AA2B2}" destId="{66BC8E6F-2FCC-4881-AC5C-4E03DC062CE0}" srcOrd="2" destOrd="0" parTransId="{34908B93-B701-47AC-9BC1-3602B4024B44}" sibTransId="{61E741B9-2905-46DD-885B-00743D52851D}"/>
    <dgm:cxn modelId="{A61092C1-3575-4E4B-9853-6642D998922F}" type="presParOf" srcId="{76BAF196-DB74-4F68-98AD-A412F2BFFDB6}" destId="{3888AB52-4CCF-4F7D-BB5A-1436BC0CA355}" srcOrd="0" destOrd="0" presId="urn:microsoft.com/office/officeart/2018/2/layout/IconLabelDescriptionList"/>
    <dgm:cxn modelId="{807AB4B3-6564-4C2F-B9D1-4365160203C5}" type="presParOf" srcId="{3888AB52-4CCF-4F7D-BB5A-1436BC0CA355}" destId="{15CD5B39-F1B2-4F04-955D-B76DF9963C08}" srcOrd="0" destOrd="0" presId="urn:microsoft.com/office/officeart/2018/2/layout/IconLabelDescriptionList"/>
    <dgm:cxn modelId="{E092160A-01BF-4E27-865D-C18B2BA25EBA}" type="presParOf" srcId="{3888AB52-4CCF-4F7D-BB5A-1436BC0CA355}" destId="{D426AA90-FE21-4301-B856-AD0DF2BBB77C}" srcOrd="1" destOrd="0" presId="urn:microsoft.com/office/officeart/2018/2/layout/IconLabelDescriptionList"/>
    <dgm:cxn modelId="{A29D0B64-33DD-4A16-A963-599BE1FD9A67}" type="presParOf" srcId="{3888AB52-4CCF-4F7D-BB5A-1436BC0CA355}" destId="{862589CA-007A-40B5-A926-C6780E174E35}" srcOrd="2" destOrd="0" presId="urn:microsoft.com/office/officeart/2018/2/layout/IconLabelDescriptionList"/>
    <dgm:cxn modelId="{59F281DF-564A-4689-95B2-E9D086714105}" type="presParOf" srcId="{3888AB52-4CCF-4F7D-BB5A-1436BC0CA355}" destId="{8C16557B-0470-4AA5-BF24-9A41E0AD02C8}" srcOrd="3" destOrd="0" presId="urn:microsoft.com/office/officeart/2018/2/layout/IconLabelDescriptionList"/>
    <dgm:cxn modelId="{FE92FE0E-7AD7-46FF-9B14-D41E9B69CC11}" type="presParOf" srcId="{3888AB52-4CCF-4F7D-BB5A-1436BC0CA355}" destId="{15BA2A09-5065-4CCD-A602-8E94FF1EA63A}" srcOrd="4" destOrd="0" presId="urn:microsoft.com/office/officeart/2018/2/layout/IconLabelDescriptionList"/>
    <dgm:cxn modelId="{06549FFD-9D30-4989-B0ED-B978311BDCF8}" type="presParOf" srcId="{76BAF196-DB74-4F68-98AD-A412F2BFFDB6}" destId="{8E7E20E7-0EC5-4924-B512-EEC07E5A627A}" srcOrd="1" destOrd="0" presId="urn:microsoft.com/office/officeart/2018/2/layout/IconLabelDescriptionList"/>
    <dgm:cxn modelId="{B4E4C0E5-12FE-4EE9-B5D5-1EFA0F45EABA}" type="presParOf" srcId="{76BAF196-DB74-4F68-98AD-A412F2BFFDB6}" destId="{19E27151-426B-4866-94E8-7CAD916D1438}" srcOrd="2" destOrd="0" presId="urn:microsoft.com/office/officeart/2018/2/layout/IconLabelDescriptionList"/>
    <dgm:cxn modelId="{678C2D00-40BC-44BA-8B02-126488C03698}" type="presParOf" srcId="{19E27151-426B-4866-94E8-7CAD916D1438}" destId="{053612B0-3401-4169-B6EA-3769C65B1AC3}" srcOrd="0" destOrd="0" presId="urn:microsoft.com/office/officeart/2018/2/layout/IconLabelDescriptionList"/>
    <dgm:cxn modelId="{CDB301D0-ECE2-41D8-B380-30C7C889D5BB}" type="presParOf" srcId="{19E27151-426B-4866-94E8-7CAD916D1438}" destId="{8214C713-3AB0-4F0C-B210-79679D1A21BD}" srcOrd="1" destOrd="0" presId="urn:microsoft.com/office/officeart/2018/2/layout/IconLabelDescriptionList"/>
    <dgm:cxn modelId="{99FA01E5-C381-43EC-8703-AA4F72D170F4}" type="presParOf" srcId="{19E27151-426B-4866-94E8-7CAD916D1438}" destId="{1AF43BA2-776A-48C4-A4CE-CFD3D2F05C36}" srcOrd="2" destOrd="0" presId="urn:microsoft.com/office/officeart/2018/2/layout/IconLabelDescriptionList"/>
    <dgm:cxn modelId="{941B90FC-955C-4782-9006-C75264C77290}" type="presParOf" srcId="{19E27151-426B-4866-94E8-7CAD916D1438}" destId="{DFE8EFA2-9F5F-4FFE-B9D0-5E85EAD61A19}" srcOrd="3" destOrd="0" presId="urn:microsoft.com/office/officeart/2018/2/layout/IconLabelDescriptionList"/>
    <dgm:cxn modelId="{D2C65F68-735D-4D93-900E-91FB3AD82403}" type="presParOf" srcId="{19E27151-426B-4866-94E8-7CAD916D1438}" destId="{6A510C57-B8B5-472C-A0C9-1D4B6C48B49A}" srcOrd="4" destOrd="0" presId="urn:microsoft.com/office/officeart/2018/2/layout/IconLabelDescriptionList"/>
    <dgm:cxn modelId="{0F858010-A098-4463-8B7F-95610547B9EC}" type="presParOf" srcId="{76BAF196-DB74-4F68-98AD-A412F2BFFDB6}" destId="{EE5F1997-FAAC-47B7-B7CB-87800B00D93D}" srcOrd="3" destOrd="0" presId="urn:microsoft.com/office/officeart/2018/2/layout/IconLabelDescriptionList"/>
    <dgm:cxn modelId="{E2A7E130-E43F-40E5-861C-1A55F7602A33}" type="presParOf" srcId="{76BAF196-DB74-4F68-98AD-A412F2BFFDB6}" destId="{35176CDB-906E-4ADC-8AAC-AED1643518F0}" srcOrd="4" destOrd="0" presId="urn:microsoft.com/office/officeart/2018/2/layout/IconLabelDescriptionList"/>
    <dgm:cxn modelId="{C089EAD2-6F8B-4783-B684-E90F8682EA7A}" type="presParOf" srcId="{35176CDB-906E-4ADC-8AAC-AED1643518F0}" destId="{294E88AD-88D1-4AA6-BE39-23238026747C}" srcOrd="0" destOrd="0" presId="urn:microsoft.com/office/officeart/2018/2/layout/IconLabelDescriptionList"/>
    <dgm:cxn modelId="{E00FC51D-6C79-4F0B-908C-56B567916E77}" type="presParOf" srcId="{35176CDB-906E-4ADC-8AAC-AED1643518F0}" destId="{B60A3E9D-1912-4B09-A5DA-17FA334E42D9}" srcOrd="1" destOrd="0" presId="urn:microsoft.com/office/officeart/2018/2/layout/IconLabelDescriptionList"/>
    <dgm:cxn modelId="{2320BF5D-D610-4746-8A18-5CD0625561AB}" type="presParOf" srcId="{35176CDB-906E-4ADC-8AAC-AED1643518F0}" destId="{6A5563AA-1A59-4FBA-BB6E-27148FD9BE05}" srcOrd="2" destOrd="0" presId="urn:microsoft.com/office/officeart/2018/2/layout/IconLabelDescriptionList"/>
    <dgm:cxn modelId="{5C9455B1-9AA6-49A8-8585-23A9B8CD0502}" type="presParOf" srcId="{35176CDB-906E-4ADC-8AAC-AED1643518F0}" destId="{7C4F51C9-FB60-472F-B278-71B3DCA02ABE}" srcOrd="3" destOrd="0" presId="urn:microsoft.com/office/officeart/2018/2/layout/IconLabelDescriptionList"/>
    <dgm:cxn modelId="{B3A697B9-0218-403E-A650-BA21C44D8EF4}" type="presParOf" srcId="{35176CDB-906E-4ADC-8AAC-AED1643518F0}" destId="{B68ADB6E-9FF8-4C27-A426-13EBC23842B5}" srcOrd="4" destOrd="0" presId="urn:microsoft.com/office/officeart/2018/2/layout/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B75593E-AA31-4F81-A930-C09E8EB813F5}" type="doc">
      <dgm:prSet loTypeId="urn:microsoft.com/office/officeart/2018/2/layout/IconVerticalSolidList" loCatId="icon" qsTypeId="urn:microsoft.com/office/officeart/2005/8/quickstyle/simple1" qsCatId="simple" csTypeId="urn:microsoft.com/office/officeart/2018/5/colors/Iconchunking_neutralicontext_accent2_2" csCatId="accent2" phldr="1"/>
      <dgm:spPr/>
      <dgm:t>
        <a:bodyPr/>
        <a:lstStyle/>
        <a:p>
          <a:endParaRPr lang="en-US"/>
        </a:p>
      </dgm:t>
    </dgm:pt>
    <dgm:pt modelId="{81B6B1B6-672F-4E4E-AE6F-45EE58734DD8}">
      <dgm:prSet/>
      <dgm:spPr/>
      <dgm:t>
        <a:bodyPr/>
        <a:lstStyle/>
        <a:p>
          <a:r>
            <a:rPr lang="en-AU" b="1" dirty="0">
              <a:solidFill>
                <a:schemeClr val="tx1"/>
              </a:solidFill>
            </a:rPr>
            <a:t>Reliability</a:t>
          </a:r>
          <a:r>
            <a:rPr lang="en-AU" dirty="0">
              <a:solidFill>
                <a:schemeClr val="tx1"/>
              </a:solidFill>
            </a:rPr>
            <a:t>: Preventing/quickly recovering from failures. </a:t>
          </a:r>
          <a:r>
            <a:rPr lang="en-AU" b="1" dirty="0">
              <a:solidFill>
                <a:schemeClr val="tx1"/>
              </a:solidFill>
            </a:rPr>
            <a:t>Most HA principles documented here</a:t>
          </a:r>
          <a:r>
            <a:rPr lang="en-AU" dirty="0">
              <a:solidFill>
                <a:schemeClr val="tx1"/>
              </a:solidFill>
            </a:rPr>
            <a:t>.</a:t>
          </a:r>
          <a:endParaRPr lang="en-US" dirty="0">
            <a:solidFill>
              <a:schemeClr val="tx1"/>
            </a:solidFill>
          </a:endParaRPr>
        </a:p>
      </dgm:t>
    </dgm:pt>
    <dgm:pt modelId="{7897E4F9-9162-4F39-B154-7CE2E94FD26C}" type="parTrans" cxnId="{4BCB072C-711C-4FCD-BB8B-09D47241E6BE}">
      <dgm:prSet/>
      <dgm:spPr/>
      <dgm:t>
        <a:bodyPr/>
        <a:lstStyle/>
        <a:p>
          <a:endParaRPr lang="en-US">
            <a:solidFill>
              <a:schemeClr val="tx1"/>
            </a:solidFill>
          </a:endParaRPr>
        </a:p>
      </dgm:t>
    </dgm:pt>
    <dgm:pt modelId="{ECD8870D-B50C-4F22-A526-D4C6D8422717}" type="sibTrans" cxnId="{4BCB072C-711C-4FCD-BB8B-09D47241E6BE}">
      <dgm:prSet/>
      <dgm:spPr/>
      <dgm:t>
        <a:bodyPr/>
        <a:lstStyle/>
        <a:p>
          <a:endParaRPr lang="en-US">
            <a:solidFill>
              <a:schemeClr val="tx1"/>
            </a:solidFill>
          </a:endParaRPr>
        </a:p>
      </dgm:t>
    </dgm:pt>
    <dgm:pt modelId="{6C7653BA-21CE-4BDF-BA89-4D29D223EA7B}">
      <dgm:prSet/>
      <dgm:spPr/>
      <dgm:t>
        <a:bodyPr/>
        <a:lstStyle/>
        <a:p>
          <a:r>
            <a:rPr lang="en-AU" b="1" dirty="0">
              <a:solidFill>
                <a:schemeClr val="tx1"/>
              </a:solidFill>
            </a:rPr>
            <a:t>Operational Excellence</a:t>
          </a:r>
          <a:r>
            <a:rPr lang="en-AU" dirty="0">
              <a:solidFill>
                <a:schemeClr val="tx1"/>
              </a:solidFill>
            </a:rPr>
            <a:t>: Running/managing systems to deliver business value</a:t>
          </a:r>
          <a:endParaRPr lang="en-US" dirty="0">
            <a:solidFill>
              <a:schemeClr val="tx1"/>
            </a:solidFill>
          </a:endParaRPr>
        </a:p>
      </dgm:t>
    </dgm:pt>
    <dgm:pt modelId="{EF90C124-98AE-4BCB-8086-611F6AFD4FC6}" type="parTrans" cxnId="{61E96289-C869-492B-9FD5-DA5BAB22D984}">
      <dgm:prSet/>
      <dgm:spPr/>
      <dgm:t>
        <a:bodyPr/>
        <a:lstStyle/>
        <a:p>
          <a:endParaRPr lang="en-US">
            <a:solidFill>
              <a:schemeClr val="tx1"/>
            </a:solidFill>
          </a:endParaRPr>
        </a:p>
      </dgm:t>
    </dgm:pt>
    <dgm:pt modelId="{530D4A2C-5073-4B6A-8527-2F565E781F1E}" type="sibTrans" cxnId="{61E96289-C869-492B-9FD5-DA5BAB22D984}">
      <dgm:prSet/>
      <dgm:spPr/>
      <dgm:t>
        <a:bodyPr/>
        <a:lstStyle/>
        <a:p>
          <a:endParaRPr lang="en-US">
            <a:solidFill>
              <a:schemeClr val="tx1"/>
            </a:solidFill>
          </a:endParaRPr>
        </a:p>
      </dgm:t>
    </dgm:pt>
    <dgm:pt modelId="{9A1FDC80-A004-41F3-9F72-D2CC514B41D4}">
      <dgm:prSet/>
      <dgm:spPr/>
      <dgm:t>
        <a:bodyPr/>
        <a:lstStyle/>
        <a:p>
          <a:r>
            <a:rPr lang="en-AU" b="1">
              <a:solidFill>
                <a:schemeClr val="tx1"/>
              </a:solidFill>
            </a:rPr>
            <a:t>Security</a:t>
          </a:r>
          <a:r>
            <a:rPr lang="en-AU">
              <a:solidFill>
                <a:schemeClr val="tx1"/>
              </a:solidFill>
            </a:rPr>
            <a:t>: Protecting information and systems</a:t>
          </a:r>
          <a:endParaRPr lang="en-US">
            <a:solidFill>
              <a:schemeClr val="tx1"/>
            </a:solidFill>
          </a:endParaRPr>
        </a:p>
      </dgm:t>
    </dgm:pt>
    <dgm:pt modelId="{02333BC6-F460-4951-A7FE-FA6C77E5ED25}" type="parTrans" cxnId="{488CE744-44BF-46A2-9DC7-BF360306EC56}">
      <dgm:prSet/>
      <dgm:spPr/>
      <dgm:t>
        <a:bodyPr/>
        <a:lstStyle/>
        <a:p>
          <a:endParaRPr lang="en-US">
            <a:solidFill>
              <a:schemeClr val="tx1"/>
            </a:solidFill>
          </a:endParaRPr>
        </a:p>
      </dgm:t>
    </dgm:pt>
    <dgm:pt modelId="{0E0B4D64-E075-471C-8DA0-BA42E296F768}" type="sibTrans" cxnId="{488CE744-44BF-46A2-9DC7-BF360306EC56}">
      <dgm:prSet/>
      <dgm:spPr/>
      <dgm:t>
        <a:bodyPr/>
        <a:lstStyle/>
        <a:p>
          <a:endParaRPr lang="en-US">
            <a:solidFill>
              <a:schemeClr val="tx1"/>
            </a:solidFill>
          </a:endParaRPr>
        </a:p>
      </dgm:t>
    </dgm:pt>
    <dgm:pt modelId="{F01BCF25-FDF9-42ED-81FD-DDA1B61CB935}">
      <dgm:prSet/>
      <dgm:spPr/>
      <dgm:t>
        <a:bodyPr/>
        <a:lstStyle/>
        <a:p>
          <a:r>
            <a:rPr lang="en-AU" b="1">
              <a:solidFill>
                <a:schemeClr val="tx1"/>
              </a:solidFill>
            </a:rPr>
            <a:t>Performance Efficiency</a:t>
          </a:r>
          <a:r>
            <a:rPr lang="en-AU">
              <a:solidFill>
                <a:schemeClr val="tx1"/>
              </a:solidFill>
            </a:rPr>
            <a:t>: Using IT resources efficiently</a:t>
          </a:r>
          <a:endParaRPr lang="en-US">
            <a:solidFill>
              <a:schemeClr val="tx1"/>
            </a:solidFill>
          </a:endParaRPr>
        </a:p>
      </dgm:t>
    </dgm:pt>
    <dgm:pt modelId="{4E530D3C-B0D1-46E0-859B-35D6FA4B3B58}" type="parTrans" cxnId="{179AF004-63DC-475B-A6E6-1C2C8512BFF2}">
      <dgm:prSet/>
      <dgm:spPr/>
      <dgm:t>
        <a:bodyPr/>
        <a:lstStyle/>
        <a:p>
          <a:endParaRPr lang="en-US">
            <a:solidFill>
              <a:schemeClr val="tx1"/>
            </a:solidFill>
          </a:endParaRPr>
        </a:p>
      </dgm:t>
    </dgm:pt>
    <dgm:pt modelId="{1C06E4C2-FA37-4DDD-82EA-FF2F9C0378D2}" type="sibTrans" cxnId="{179AF004-63DC-475B-A6E6-1C2C8512BFF2}">
      <dgm:prSet/>
      <dgm:spPr/>
      <dgm:t>
        <a:bodyPr/>
        <a:lstStyle/>
        <a:p>
          <a:endParaRPr lang="en-US">
            <a:solidFill>
              <a:schemeClr val="tx1"/>
            </a:solidFill>
          </a:endParaRPr>
        </a:p>
      </dgm:t>
    </dgm:pt>
    <dgm:pt modelId="{A56A6AC4-9B41-46C9-9D54-3B9D921E05A8}">
      <dgm:prSet/>
      <dgm:spPr/>
      <dgm:t>
        <a:bodyPr/>
        <a:lstStyle/>
        <a:p>
          <a:r>
            <a:rPr lang="en-AU" b="1" dirty="0">
              <a:solidFill>
                <a:schemeClr val="tx1"/>
              </a:solidFill>
            </a:rPr>
            <a:t>Cost Optimization</a:t>
          </a:r>
          <a:r>
            <a:rPr lang="en-AU" dirty="0">
              <a:solidFill>
                <a:schemeClr val="tx1"/>
              </a:solidFill>
            </a:rPr>
            <a:t>: Avoiding un-needed costs</a:t>
          </a:r>
          <a:endParaRPr lang="en-US" dirty="0">
            <a:solidFill>
              <a:schemeClr val="tx1"/>
            </a:solidFill>
          </a:endParaRPr>
        </a:p>
      </dgm:t>
    </dgm:pt>
    <dgm:pt modelId="{7D686E1C-89E3-42EE-8E9E-4E4120ACFAFA}" type="parTrans" cxnId="{BABB0F80-FB5E-4E78-9E87-0AE758A8B612}">
      <dgm:prSet/>
      <dgm:spPr/>
      <dgm:t>
        <a:bodyPr/>
        <a:lstStyle/>
        <a:p>
          <a:endParaRPr lang="en-US">
            <a:solidFill>
              <a:schemeClr val="tx1"/>
            </a:solidFill>
          </a:endParaRPr>
        </a:p>
      </dgm:t>
    </dgm:pt>
    <dgm:pt modelId="{A9613D08-2CC0-4246-915B-90D760C1ADB3}" type="sibTrans" cxnId="{BABB0F80-FB5E-4E78-9E87-0AE758A8B612}">
      <dgm:prSet/>
      <dgm:spPr/>
      <dgm:t>
        <a:bodyPr/>
        <a:lstStyle/>
        <a:p>
          <a:endParaRPr lang="en-US">
            <a:solidFill>
              <a:schemeClr val="tx1"/>
            </a:solidFill>
          </a:endParaRPr>
        </a:p>
      </dgm:t>
    </dgm:pt>
    <dgm:pt modelId="{48ECFB6B-04E1-4635-AFE6-2993A6152145}">
      <dgm:prSet/>
      <dgm:spPr/>
      <dgm:t>
        <a:bodyPr/>
        <a:lstStyle/>
        <a:p>
          <a:r>
            <a:rPr lang="en-AU" b="1" dirty="0">
              <a:solidFill>
                <a:schemeClr val="tx1"/>
              </a:solidFill>
            </a:rPr>
            <a:t>Sustainability</a:t>
          </a:r>
          <a:r>
            <a:rPr lang="en-AU" dirty="0">
              <a:solidFill>
                <a:schemeClr val="tx1"/>
              </a:solidFill>
            </a:rPr>
            <a:t>: Minimising environmental impact</a:t>
          </a:r>
          <a:endParaRPr lang="en-US" dirty="0">
            <a:solidFill>
              <a:schemeClr val="tx1"/>
            </a:solidFill>
          </a:endParaRPr>
        </a:p>
      </dgm:t>
    </dgm:pt>
    <dgm:pt modelId="{52739A00-043A-4193-B1CA-4A4623E00C44}" type="parTrans" cxnId="{1012EEC5-1B65-4AE5-A7E0-833051257527}">
      <dgm:prSet/>
      <dgm:spPr/>
      <dgm:t>
        <a:bodyPr/>
        <a:lstStyle/>
        <a:p>
          <a:endParaRPr lang="en-US">
            <a:solidFill>
              <a:schemeClr val="tx1"/>
            </a:solidFill>
          </a:endParaRPr>
        </a:p>
      </dgm:t>
    </dgm:pt>
    <dgm:pt modelId="{6265B6F7-DF26-46DF-9735-A04CD4B3AD47}" type="sibTrans" cxnId="{1012EEC5-1B65-4AE5-A7E0-833051257527}">
      <dgm:prSet/>
      <dgm:spPr/>
      <dgm:t>
        <a:bodyPr/>
        <a:lstStyle/>
        <a:p>
          <a:endParaRPr lang="en-US">
            <a:solidFill>
              <a:schemeClr val="tx1"/>
            </a:solidFill>
          </a:endParaRPr>
        </a:p>
      </dgm:t>
    </dgm:pt>
    <dgm:pt modelId="{14B4A6E2-E34E-41A5-B595-CBB21A291180}" type="pres">
      <dgm:prSet presAssocID="{5B75593E-AA31-4F81-A930-C09E8EB813F5}" presName="root" presStyleCnt="0">
        <dgm:presLayoutVars>
          <dgm:dir/>
          <dgm:resizeHandles val="exact"/>
        </dgm:presLayoutVars>
      </dgm:prSet>
      <dgm:spPr/>
    </dgm:pt>
    <dgm:pt modelId="{2C9AFFC6-0215-4045-AC77-19254124C09D}" type="pres">
      <dgm:prSet presAssocID="{81B6B1B6-672F-4E4E-AE6F-45EE58734DD8}" presName="compNode" presStyleCnt="0"/>
      <dgm:spPr/>
    </dgm:pt>
    <dgm:pt modelId="{E38B3AE2-EE25-4B40-96B5-D08168C0F740}" type="pres">
      <dgm:prSet presAssocID="{81B6B1B6-672F-4E4E-AE6F-45EE58734DD8}" presName="bgRect" presStyleLbl="bgShp" presStyleIdx="0" presStyleCnt="6"/>
      <dgm:spPr>
        <a:solidFill>
          <a:schemeClr val="accent5">
            <a:lumMod val="60000"/>
            <a:lumOff val="40000"/>
          </a:schemeClr>
        </a:solidFill>
      </dgm:spPr>
    </dgm:pt>
    <dgm:pt modelId="{F91588BB-A53C-49BE-903D-EBA41352B869}" type="pres">
      <dgm:prSet presAssocID="{81B6B1B6-672F-4E4E-AE6F-45EE58734DD8}"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Gauge"/>
        </a:ext>
      </dgm:extLst>
    </dgm:pt>
    <dgm:pt modelId="{05E0A02B-043F-400F-A311-B4CBB7C20994}" type="pres">
      <dgm:prSet presAssocID="{81B6B1B6-672F-4E4E-AE6F-45EE58734DD8}" presName="spaceRect" presStyleCnt="0"/>
      <dgm:spPr/>
    </dgm:pt>
    <dgm:pt modelId="{36F8044F-D3C4-4A72-8CFE-D83ABA491B70}" type="pres">
      <dgm:prSet presAssocID="{81B6B1B6-672F-4E4E-AE6F-45EE58734DD8}" presName="parTx" presStyleLbl="revTx" presStyleIdx="0" presStyleCnt="6">
        <dgm:presLayoutVars>
          <dgm:chMax val="0"/>
          <dgm:chPref val="0"/>
        </dgm:presLayoutVars>
      </dgm:prSet>
      <dgm:spPr/>
    </dgm:pt>
    <dgm:pt modelId="{9C764DB6-EF6B-4B5A-91E6-8A1A12E5B71A}" type="pres">
      <dgm:prSet presAssocID="{ECD8870D-B50C-4F22-A526-D4C6D8422717}" presName="sibTrans" presStyleCnt="0"/>
      <dgm:spPr/>
    </dgm:pt>
    <dgm:pt modelId="{69E38588-0021-4BE8-B3A8-89306E3A9C41}" type="pres">
      <dgm:prSet presAssocID="{6C7653BA-21CE-4BDF-BA89-4D29D223EA7B}" presName="compNode" presStyleCnt="0"/>
      <dgm:spPr/>
    </dgm:pt>
    <dgm:pt modelId="{75E77B88-7490-48EB-A9B3-56A3B90CCC56}" type="pres">
      <dgm:prSet presAssocID="{6C7653BA-21CE-4BDF-BA89-4D29D223EA7B}" presName="bgRect" presStyleLbl="bgShp" presStyleIdx="1" presStyleCnt="6"/>
      <dgm:spPr>
        <a:solidFill>
          <a:schemeClr val="accent5">
            <a:lumMod val="60000"/>
            <a:lumOff val="40000"/>
          </a:schemeClr>
        </a:solidFill>
      </dgm:spPr>
    </dgm:pt>
    <dgm:pt modelId="{ED6BE755-DC1A-4583-9855-F2396A7E6ACD}" type="pres">
      <dgm:prSet presAssocID="{6C7653BA-21CE-4BDF-BA89-4D29D223EA7B}" presName="iconRect" presStyleLbl="node1" presStyleIdx="1"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ullseye"/>
        </a:ext>
      </dgm:extLst>
    </dgm:pt>
    <dgm:pt modelId="{4ABD66EE-0F27-4F70-A181-E5647DA0BCF7}" type="pres">
      <dgm:prSet presAssocID="{6C7653BA-21CE-4BDF-BA89-4D29D223EA7B}" presName="spaceRect" presStyleCnt="0"/>
      <dgm:spPr/>
    </dgm:pt>
    <dgm:pt modelId="{D2411878-A931-4EDC-8686-A496BA043839}" type="pres">
      <dgm:prSet presAssocID="{6C7653BA-21CE-4BDF-BA89-4D29D223EA7B}" presName="parTx" presStyleLbl="revTx" presStyleIdx="1" presStyleCnt="6" custLinFactNeighborY="0">
        <dgm:presLayoutVars>
          <dgm:chMax val="0"/>
          <dgm:chPref val="0"/>
        </dgm:presLayoutVars>
      </dgm:prSet>
      <dgm:spPr/>
    </dgm:pt>
    <dgm:pt modelId="{BD70E86C-E5A4-4059-908B-9FDF5ACAB137}" type="pres">
      <dgm:prSet presAssocID="{530D4A2C-5073-4B6A-8527-2F565E781F1E}" presName="sibTrans" presStyleCnt="0"/>
      <dgm:spPr/>
    </dgm:pt>
    <dgm:pt modelId="{46086482-5D18-407C-B29C-F4DEE5CDE087}" type="pres">
      <dgm:prSet presAssocID="{9A1FDC80-A004-41F3-9F72-D2CC514B41D4}" presName="compNode" presStyleCnt="0"/>
      <dgm:spPr/>
    </dgm:pt>
    <dgm:pt modelId="{A831BFBD-7B65-4A43-A0B6-9F9A93AFFCD8}" type="pres">
      <dgm:prSet presAssocID="{9A1FDC80-A004-41F3-9F72-D2CC514B41D4}" presName="bgRect" presStyleLbl="bgShp" presStyleIdx="2" presStyleCnt="6"/>
      <dgm:spPr>
        <a:solidFill>
          <a:schemeClr val="accent5">
            <a:lumMod val="60000"/>
            <a:lumOff val="40000"/>
          </a:schemeClr>
        </a:solidFill>
      </dgm:spPr>
    </dgm:pt>
    <dgm:pt modelId="{69B2DEB7-3656-4724-BCA0-162EB894ED62}" type="pres">
      <dgm:prSet presAssocID="{9A1FDC80-A004-41F3-9F72-D2CC514B41D4}"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Lock"/>
        </a:ext>
      </dgm:extLst>
    </dgm:pt>
    <dgm:pt modelId="{343F1851-8417-45AA-8080-C18EED426512}" type="pres">
      <dgm:prSet presAssocID="{9A1FDC80-A004-41F3-9F72-D2CC514B41D4}" presName="spaceRect" presStyleCnt="0"/>
      <dgm:spPr/>
    </dgm:pt>
    <dgm:pt modelId="{72B91A8F-C1DA-4F67-B56B-1BFED3078A21}" type="pres">
      <dgm:prSet presAssocID="{9A1FDC80-A004-41F3-9F72-D2CC514B41D4}" presName="parTx" presStyleLbl="revTx" presStyleIdx="2" presStyleCnt="6" custLinFactNeighborY="0">
        <dgm:presLayoutVars>
          <dgm:chMax val="0"/>
          <dgm:chPref val="0"/>
        </dgm:presLayoutVars>
      </dgm:prSet>
      <dgm:spPr/>
    </dgm:pt>
    <dgm:pt modelId="{53194D6A-C334-45D3-B15C-595C39AE496B}" type="pres">
      <dgm:prSet presAssocID="{0E0B4D64-E075-471C-8DA0-BA42E296F768}" presName="sibTrans" presStyleCnt="0"/>
      <dgm:spPr/>
    </dgm:pt>
    <dgm:pt modelId="{48111DD1-9561-4626-8DE4-4A8AFA35CB0A}" type="pres">
      <dgm:prSet presAssocID="{F01BCF25-FDF9-42ED-81FD-DDA1B61CB935}" presName="compNode" presStyleCnt="0"/>
      <dgm:spPr/>
    </dgm:pt>
    <dgm:pt modelId="{0DE6C645-78B6-4679-A13D-89814DB8C7B7}" type="pres">
      <dgm:prSet presAssocID="{F01BCF25-FDF9-42ED-81FD-DDA1B61CB935}" presName="bgRect" presStyleLbl="bgShp" presStyleIdx="3" presStyleCnt="6"/>
      <dgm:spPr>
        <a:solidFill>
          <a:schemeClr val="accent5">
            <a:lumMod val="60000"/>
            <a:lumOff val="40000"/>
          </a:schemeClr>
        </a:solidFill>
      </dgm:spPr>
    </dgm:pt>
    <dgm:pt modelId="{8F9E87E2-114F-4147-A43C-900B796DADD2}" type="pres">
      <dgm:prSet presAssocID="{F01BCF25-FDF9-42ED-81FD-DDA1B61CB935}"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opwatch"/>
        </a:ext>
      </dgm:extLst>
    </dgm:pt>
    <dgm:pt modelId="{C4645D2A-45C8-413E-8053-5FC55DA7B1F7}" type="pres">
      <dgm:prSet presAssocID="{F01BCF25-FDF9-42ED-81FD-DDA1B61CB935}" presName="spaceRect" presStyleCnt="0"/>
      <dgm:spPr/>
    </dgm:pt>
    <dgm:pt modelId="{0F703D82-4CED-40C4-8327-B7C14060B168}" type="pres">
      <dgm:prSet presAssocID="{F01BCF25-FDF9-42ED-81FD-DDA1B61CB935}" presName="parTx" presStyleLbl="revTx" presStyleIdx="3" presStyleCnt="6" custLinFactNeighborY="0">
        <dgm:presLayoutVars>
          <dgm:chMax val="0"/>
          <dgm:chPref val="0"/>
        </dgm:presLayoutVars>
      </dgm:prSet>
      <dgm:spPr/>
    </dgm:pt>
    <dgm:pt modelId="{7B8717CF-3171-4D68-9F5D-FA050AD1CC46}" type="pres">
      <dgm:prSet presAssocID="{1C06E4C2-FA37-4DDD-82EA-FF2F9C0378D2}" presName="sibTrans" presStyleCnt="0"/>
      <dgm:spPr/>
    </dgm:pt>
    <dgm:pt modelId="{CE153CDE-D6B0-4037-9760-D19751ADFB18}" type="pres">
      <dgm:prSet presAssocID="{A56A6AC4-9B41-46C9-9D54-3B9D921E05A8}" presName="compNode" presStyleCnt="0"/>
      <dgm:spPr/>
    </dgm:pt>
    <dgm:pt modelId="{7AC0C61D-39F8-4488-90CF-B4A719608F46}" type="pres">
      <dgm:prSet presAssocID="{A56A6AC4-9B41-46C9-9D54-3B9D921E05A8}" presName="bgRect" presStyleLbl="bgShp" presStyleIdx="4" presStyleCnt="6"/>
      <dgm:spPr>
        <a:solidFill>
          <a:schemeClr val="accent5">
            <a:lumMod val="60000"/>
            <a:lumOff val="40000"/>
          </a:schemeClr>
        </a:solidFill>
      </dgm:spPr>
    </dgm:pt>
    <dgm:pt modelId="{E6FB9D8D-B31C-4387-B1F8-659AD0462B4C}" type="pres">
      <dgm:prSet presAssocID="{A56A6AC4-9B41-46C9-9D54-3B9D921E05A8}" presName="iconRect" presStyleLbl="node1" presStyleIdx="4"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Radioactive Sign"/>
        </a:ext>
      </dgm:extLst>
    </dgm:pt>
    <dgm:pt modelId="{CC652AA8-BAC9-45D3-94E3-9CEF0D70E118}" type="pres">
      <dgm:prSet presAssocID="{A56A6AC4-9B41-46C9-9D54-3B9D921E05A8}" presName="spaceRect" presStyleCnt="0"/>
      <dgm:spPr/>
    </dgm:pt>
    <dgm:pt modelId="{72ECBA9C-DBF5-4581-A9E5-96CEA44A079E}" type="pres">
      <dgm:prSet presAssocID="{A56A6AC4-9B41-46C9-9D54-3B9D921E05A8}" presName="parTx" presStyleLbl="revTx" presStyleIdx="4" presStyleCnt="6" custLinFactNeighborY="235">
        <dgm:presLayoutVars>
          <dgm:chMax val="0"/>
          <dgm:chPref val="0"/>
        </dgm:presLayoutVars>
      </dgm:prSet>
      <dgm:spPr/>
    </dgm:pt>
    <dgm:pt modelId="{EFE129F8-C73B-47A5-A04C-8B2547CEC315}" type="pres">
      <dgm:prSet presAssocID="{A9613D08-2CC0-4246-915B-90D760C1ADB3}" presName="sibTrans" presStyleCnt="0"/>
      <dgm:spPr/>
    </dgm:pt>
    <dgm:pt modelId="{482D8675-0C59-4852-A859-C7CD4244112C}" type="pres">
      <dgm:prSet presAssocID="{48ECFB6B-04E1-4635-AFE6-2993A6152145}" presName="compNode" presStyleCnt="0"/>
      <dgm:spPr/>
    </dgm:pt>
    <dgm:pt modelId="{8380B2BD-91B2-4C38-9DD7-4BBA7FAAF7A1}" type="pres">
      <dgm:prSet presAssocID="{48ECFB6B-04E1-4635-AFE6-2993A6152145}" presName="bgRect" presStyleLbl="bgShp" presStyleIdx="5" presStyleCnt="6" custLinFactNeighborY="235"/>
      <dgm:spPr>
        <a:solidFill>
          <a:schemeClr val="accent5">
            <a:lumMod val="60000"/>
            <a:lumOff val="40000"/>
          </a:schemeClr>
        </a:solidFill>
      </dgm:spPr>
    </dgm:pt>
    <dgm:pt modelId="{2B71CEAA-1D48-4C7F-B443-013996086C62}" type="pres">
      <dgm:prSet presAssocID="{48ECFB6B-04E1-4635-AFE6-2993A6152145}" presName="iconRect" presStyleLbl="node1" presStyleIdx="5"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ustainability"/>
        </a:ext>
      </dgm:extLst>
    </dgm:pt>
    <dgm:pt modelId="{5C5DB0D4-10F4-45B5-A2F7-E3BDED8CBEFE}" type="pres">
      <dgm:prSet presAssocID="{48ECFB6B-04E1-4635-AFE6-2993A6152145}" presName="spaceRect" presStyleCnt="0"/>
      <dgm:spPr/>
    </dgm:pt>
    <dgm:pt modelId="{80C9980F-5EEA-461B-8AD4-9A5C83ABC7A4}" type="pres">
      <dgm:prSet presAssocID="{48ECFB6B-04E1-4635-AFE6-2993A6152145}" presName="parTx" presStyleLbl="revTx" presStyleIdx="5" presStyleCnt="6">
        <dgm:presLayoutVars>
          <dgm:chMax val="0"/>
          <dgm:chPref val="0"/>
        </dgm:presLayoutVars>
      </dgm:prSet>
      <dgm:spPr/>
    </dgm:pt>
  </dgm:ptLst>
  <dgm:cxnLst>
    <dgm:cxn modelId="{179AF004-63DC-475B-A6E6-1C2C8512BFF2}" srcId="{5B75593E-AA31-4F81-A930-C09E8EB813F5}" destId="{F01BCF25-FDF9-42ED-81FD-DDA1B61CB935}" srcOrd="3" destOrd="0" parTransId="{4E530D3C-B0D1-46E0-859B-35D6FA4B3B58}" sibTransId="{1C06E4C2-FA37-4DDD-82EA-FF2F9C0378D2}"/>
    <dgm:cxn modelId="{97DC2913-3553-4385-9CA7-F2F7DE34B1A5}" type="presOf" srcId="{F01BCF25-FDF9-42ED-81FD-DDA1B61CB935}" destId="{0F703D82-4CED-40C4-8327-B7C14060B168}" srcOrd="0" destOrd="0" presId="urn:microsoft.com/office/officeart/2018/2/layout/IconVerticalSolidList"/>
    <dgm:cxn modelId="{4BCB072C-711C-4FCD-BB8B-09D47241E6BE}" srcId="{5B75593E-AA31-4F81-A930-C09E8EB813F5}" destId="{81B6B1B6-672F-4E4E-AE6F-45EE58734DD8}" srcOrd="0" destOrd="0" parTransId="{7897E4F9-9162-4F39-B154-7CE2E94FD26C}" sibTransId="{ECD8870D-B50C-4F22-A526-D4C6D8422717}"/>
    <dgm:cxn modelId="{99DEE32D-C32C-4759-A6A2-363AF0E14680}" type="presOf" srcId="{48ECFB6B-04E1-4635-AFE6-2993A6152145}" destId="{80C9980F-5EEA-461B-8AD4-9A5C83ABC7A4}" srcOrd="0" destOrd="0" presId="urn:microsoft.com/office/officeart/2018/2/layout/IconVerticalSolidList"/>
    <dgm:cxn modelId="{72D5E639-6EC0-47A0-AB12-AE67BF550327}" type="presOf" srcId="{9A1FDC80-A004-41F3-9F72-D2CC514B41D4}" destId="{72B91A8F-C1DA-4F67-B56B-1BFED3078A21}" srcOrd="0" destOrd="0" presId="urn:microsoft.com/office/officeart/2018/2/layout/IconVerticalSolidList"/>
    <dgm:cxn modelId="{488CE744-44BF-46A2-9DC7-BF360306EC56}" srcId="{5B75593E-AA31-4F81-A930-C09E8EB813F5}" destId="{9A1FDC80-A004-41F3-9F72-D2CC514B41D4}" srcOrd="2" destOrd="0" parTransId="{02333BC6-F460-4951-A7FE-FA6C77E5ED25}" sibTransId="{0E0B4D64-E075-471C-8DA0-BA42E296F768}"/>
    <dgm:cxn modelId="{5708BB45-04AF-48FD-8670-071B06679384}" type="presOf" srcId="{5B75593E-AA31-4F81-A930-C09E8EB813F5}" destId="{14B4A6E2-E34E-41A5-B595-CBB21A291180}" srcOrd="0" destOrd="0" presId="urn:microsoft.com/office/officeart/2018/2/layout/IconVerticalSolidList"/>
    <dgm:cxn modelId="{BABB0F80-FB5E-4E78-9E87-0AE758A8B612}" srcId="{5B75593E-AA31-4F81-A930-C09E8EB813F5}" destId="{A56A6AC4-9B41-46C9-9D54-3B9D921E05A8}" srcOrd="4" destOrd="0" parTransId="{7D686E1C-89E3-42EE-8E9E-4E4120ACFAFA}" sibTransId="{A9613D08-2CC0-4246-915B-90D760C1ADB3}"/>
    <dgm:cxn modelId="{61E96289-C869-492B-9FD5-DA5BAB22D984}" srcId="{5B75593E-AA31-4F81-A930-C09E8EB813F5}" destId="{6C7653BA-21CE-4BDF-BA89-4D29D223EA7B}" srcOrd="1" destOrd="0" parTransId="{EF90C124-98AE-4BCB-8086-611F6AFD4FC6}" sibTransId="{530D4A2C-5073-4B6A-8527-2F565E781F1E}"/>
    <dgm:cxn modelId="{E4331EB4-5529-4433-9D1F-82ACDE25A428}" type="presOf" srcId="{A56A6AC4-9B41-46C9-9D54-3B9D921E05A8}" destId="{72ECBA9C-DBF5-4581-A9E5-96CEA44A079E}" srcOrd="0" destOrd="0" presId="urn:microsoft.com/office/officeart/2018/2/layout/IconVerticalSolidList"/>
    <dgm:cxn modelId="{1012EEC5-1B65-4AE5-A7E0-833051257527}" srcId="{5B75593E-AA31-4F81-A930-C09E8EB813F5}" destId="{48ECFB6B-04E1-4635-AFE6-2993A6152145}" srcOrd="5" destOrd="0" parTransId="{52739A00-043A-4193-B1CA-4A4623E00C44}" sibTransId="{6265B6F7-DF26-46DF-9735-A04CD4B3AD47}"/>
    <dgm:cxn modelId="{DAD87CE7-6CE6-4741-835F-34B9E0D3943D}" type="presOf" srcId="{6C7653BA-21CE-4BDF-BA89-4D29D223EA7B}" destId="{D2411878-A931-4EDC-8686-A496BA043839}" srcOrd="0" destOrd="0" presId="urn:microsoft.com/office/officeart/2018/2/layout/IconVerticalSolidList"/>
    <dgm:cxn modelId="{A6B689FA-531F-46AB-BC3D-B7345CEFC57A}" type="presOf" srcId="{81B6B1B6-672F-4E4E-AE6F-45EE58734DD8}" destId="{36F8044F-D3C4-4A72-8CFE-D83ABA491B70}" srcOrd="0" destOrd="0" presId="urn:microsoft.com/office/officeart/2018/2/layout/IconVerticalSolidList"/>
    <dgm:cxn modelId="{7F34E990-25F4-43FB-89E6-3F72837AA0F4}" type="presParOf" srcId="{14B4A6E2-E34E-41A5-B595-CBB21A291180}" destId="{2C9AFFC6-0215-4045-AC77-19254124C09D}" srcOrd="0" destOrd="0" presId="urn:microsoft.com/office/officeart/2018/2/layout/IconVerticalSolidList"/>
    <dgm:cxn modelId="{A9860732-F19D-4236-A68E-6472081F7ECB}" type="presParOf" srcId="{2C9AFFC6-0215-4045-AC77-19254124C09D}" destId="{E38B3AE2-EE25-4B40-96B5-D08168C0F740}" srcOrd="0" destOrd="0" presId="urn:microsoft.com/office/officeart/2018/2/layout/IconVerticalSolidList"/>
    <dgm:cxn modelId="{E74D2CF0-0A16-4C82-AE7E-4F2D04E8FBE8}" type="presParOf" srcId="{2C9AFFC6-0215-4045-AC77-19254124C09D}" destId="{F91588BB-A53C-49BE-903D-EBA41352B869}" srcOrd="1" destOrd="0" presId="urn:microsoft.com/office/officeart/2018/2/layout/IconVerticalSolidList"/>
    <dgm:cxn modelId="{167280B7-D2EB-4995-9A67-8036190CEEB8}" type="presParOf" srcId="{2C9AFFC6-0215-4045-AC77-19254124C09D}" destId="{05E0A02B-043F-400F-A311-B4CBB7C20994}" srcOrd="2" destOrd="0" presId="urn:microsoft.com/office/officeart/2018/2/layout/IconVerticalSolidList"/>
    <dgm:cxn modelId="{095EA03D-5291-4ECB-BA7B-3910A490E71E}" type="presParOf" srcId="{2C9AFFC6-0215-4045-AC77-19254124C09D}" destId="{36F8044F-D3C4-4A72-8CFE-D83ABA491B70}" srcOrd="3" destOrd="0" presId="urn:microsoft.com/office/officeart/2018/2/layout/IconVerticalSolidList"/>
    <dgm:cxn modelId="{19C49D96-B0B8-452F-A969-52C759CCBA4F}" type="presParOf" srcId="{14B4A6E2-E34E-41A5-B595-CBB21A291180}" destId="{9C764DB6-EF6B-4B5A-91E6-8A1A12E5B71A}" srcOrd="1" destOrd="0" presId="urn:microsoft.com/office/officeart/2018/2/layout/IconVerticalSolidList"/>
    <dgm:cxn modelId="{2CAEE51F-1AA8-469D-9ECD-CF91BFF5A528}" type="presParOf" srcId="{14B4A6E2-E34E-41A5-B595-CBB21A291180}" destId="{69E38588-0021-4BE8-B3A8-89306E3A9C41}" srcOrd="2" destOrd="0" presId="urn:microsoft.com/office/officeart/2018/2/layout/IconVerticalSolidList"/>
    <dgm:cxn modelId="{B09D1B67-D247-4689-A6FD-BB3FCDF8BD88}" type="presParOf" srcId="{69E38588-0021-4BE8-B3A8-89306E3A9C41}" destId="{75E77B88-7490-48EB-A9B3-56A3B90CCC56}" srcOrd="0" destOrd="0" presId="urn:microsoft.com/office/officeart/2018/2/layout/IconVerticalSolidList"/>
    <dgm:cxn modelId="{D8230A24-5D86-400B-83AB-654735628C98}" type="presParOf" srcId="{69E38588-0021-4BE8-B3A8-89306E3A9C41}" destId="{ED6BE755-DC1A-4583-9855-F2396A7E6ACD}" srcOrd="1" destOrd="0" presId="urn:microsoft.com/office/officeart/2018/2/layout/IconVerticalSolidList"/>
    <dgm:cxn modelId="{7A55414C-A51C-4A1D-B4E3-7942BE527FC0}" type="presParOf" srcId="{69E38588-0021-4BE8-B3A8-89306E3A9C41}" destId="{4ABD66EE-0F27-4F70-A181-E5647DA0BCF7}" srcOrd="2" destOrd="0" presId="urn:microsoft.com/office/officeart/2018/2/layout/IconVerticalSolidList"/>
    <dgm:cxn modelId="{020C56DF-B1F6-43F3-B618-41870B440268}" type="presParOf" srcId="{69E38588-0021-4BE8-B3A8-89306E3A9C41}" destId="{D2411878-A931-4EDC-8686-A496BA043839}" srcOrd="3" destOrd="0" presId="urn:microsoft.com/office/officeart/2018/2/layout/IconVerticalSolidList"/>
    <dgm:cxn modelId="{E67CC036-843C-4836-9470-861AD4951634}" type="presParOf" srcId="{14B4A6E2-E34E-41A5-B595-CBB21A291180}" destId="{BD70E86C-E5A4-4059-908B-9FDF5ACAB137}" srcOrd="3" destOrd="0" presId="urn:microsoft.com/office/officeart/2018/2/layout/IconVerticalSolidList"/>
    <dgm:cxn modelId="{57916962-05A4-46E8-AD72-BD27557D9E95}" type="presParOf" srcId="{14B4A6E2-E34E-41A5-B595-CBB21A291180}" destId="{46086482-5D18-407C-B29C-F4DEE5CDE087}" srcOrd="4" destOrd="0" presId="urn:microsoft.com/office/officeart/2018/2/layout/IconVerticalSolidList"/>
    <dgm:cxn modelId="{49F1C445-0FC0-4E35-B9BE-B0C6F8D023DB}" type="presParOf" srcId="{46086482-5D18-407C-B29C-F4DEE5CDE087}" destId="{A831BFBD-7B65-4A43-A0B6-9F9A93AFFCD8}" srcOrd="0" destOrd="0" presId="urn:microsoft.com/office/officeart/2018/2/layout/IconVerticalSolidList"/>
    <dgm:cxn modelId="{ADE2C3E3-21D2-4272-97EB-28A0954BBA8A}" type="presParOf" srcId="{46086482-5D18-407C-B29C-F4DEE5CDE087}" destId="{69B2DEB7-3656-4724-BCA0-162EB894ED62}" srcOrd="1" destOrd="0" presId="urn:microsoft.com/office/officeart/2018/2/layout/IconVerticalSolidList"/>
    <dgm:cxn modelId="{2DEDF04D-987A-41E6-B8F5-DF5D2B3C9116}" type="presParOf" srcId="{46086482-5D18-407C-B29C-F4DEE5CDE087}" destId="{343F1851-8417-45AA-8080-C18EED426512}" srcOrd="2" destOrd="0" presId="urn:microsoft.com/office/officeart/2018/2/layout/IconVerticalSolidList"/>
    <dgm:cxn modelId="{7255B1E1-DFEE-40E3-A56F-49AF614FFA8E}" type="presParOf" srcId="{46086482-5D18-407C-B29C-F4DEE5CDE087}" destId="{72B91A8F-C1DA-4F67-B56B-1BFED3078A21}" srcOrd="3" destOrd="0" presId="urn:microsoft.com/office/officeart/2018/2/layout/IconVerticalSolidList"/>
    <dgm:cxn modelId="{4B92F852-0EB1-448D-8103-77788B7D03E2}" type="presParOf" srcId="{14B4A6E2-E34E-41A5-B595-CBB21A291180}" destId="{53194D6A-C334-45D3-B15C-595C39AE496B}" srcOrd="5" destOrd="0" presId="urn:microsoft.com/office/officeart/2018/2/layout/IconVerticalSolidList"/>
    <dgm:cxn modelId="{86CCA134-66BF-4732-B46F-68A6FF958CC9}" type="presParOf" srcId="{14B4A6E2-E34E-41A5-B595-CBB21A291180}" destId="{48111DD1-9561-4626-8DE4-4A8AFA35CB0A}" srcOrd="6" destOrd="0" presId="urn:microsoft.com/office/officeart/2018/2/layout/IconVerticalSolidList"/>
    <dgm:cxn modelId="{94E49837-E793-4673-8E1E-78185544180E}" type="presParOf" srcId="{48111DD1-9561-4626-8DE4-4A8AFA35CB0A}" destId="{0DE6C645-78B6-4679-A13D-89814DB8C7B7}" srcOrd="0" destOrd="0" presId="urn:microsoft.com/office/officeart/2018/2/layout/IconVerticalSolidList"/>
    <dgm:cxn modelId="{82207176-2EFB-4DF8-BA2F-679ADFF2D6B3}" type="presParOf" srcId="{48111DD1-9561-4626-8DE4-4A8AFA35CB0A}" destId="{8F9E87E2-114F-4147-A43C-900B796DADD2}" srcOrd="1" destOrd="0" presId="urn:microsoft.com/office/officeart/2018/2/layout/IconVerticalSolidList"/>
    <dgm:cxn modelId="{5AD73216-1497-4BC2-A8DB-8C85E496CF7F}" type="presParOf" srcId="{48111DD1-9561-4626-8DE4-4A8AFA35CB0A}" destId="{C4645D2A-45C8-413E-8053-5FC55DA7B1F7}" srcOrd="2" destOrd="0" presId="urn:microsoft.com/office/officeart/2018/2/layout/IconVerticalSolidList"/>
    <dgm:cxn modelId="{9B8C3F3A-BB78-4D3C-AF5B-6C4BE0E542C6}" type="presParOf" srcId="{48111DD1-9561-4626-8DE4-4A8AFA35CB0A}" destId="{0F703D82-4CED-40C4-8327-B7C14060B168}" srcOrd="3" destOrd="0" presId="urn:microsoft.com/office/officeart/2018/2/layout/IconVerticalSolidList"/>
    <dgm:cxn modelId="{63005D8D-1EE6-43DC-A468-32CB1B2F7D69}" type="presParOf" srcId="{14B4A6E2-E34E-41A5-B595-CBB21A291180}" destId="{7B8717CF-3171-4D68-9F5D-FA050AD1CC46}" srcOrd="7" destOrd="0" presId="urn:microsoft.com/office/officeart/2018/2/layout/IconVerticalSolidList"/>
    <dgm:cxn modelId="{5A9043F0-6F1D-472B-B39F-244481D15B91}" type="presParOf" srcId="{14B4A6E2-E34E-41A5-B595-CBB21A291180}" destId="{CE153CDE-D6B0-4037-9760-D19751ADFB18}" srcOrd="8" destOrd="0" presId="urn:microsoft.com/office/officeart/2018/2/layout/IconVerticalSolidList"/>
    <dgm:cxn modelId="{4A6F91AB-2896-4782-867B-652EB5CA759A}" type="presParOf" srcId="{CE153CDE-D6B0-4037-9760-D19751ADFB18}" destId="{7AC0C61D-39F8-4488-90CF-B4A719608F46}" srcOrd="0" destOrd="0" presId="urn:microsoft.com/office/officeart/2018/2/layout/IconVerticalSolidList"/>
    <dgm:cxn modelId="{70A8AE68-E228-4447-9808-E40260E55090}" type="presParOf" srcId="{CE153CDE-D6B0-4037-9760-D19751ADFB18}" destId="{E6FB9D8D-B31C-4387-B1F8-659AD0462B4C}" srcOrd="1" destOrd="0" presId="urn:microsoft.com/office/officeart/2018/2/layout/IconVerticalSolidList"/>
    <dgm:cxn modelId="{78A2D9F0-85F9-4B51-98C5-B3140FE1FD24}" type="presParOf" srcId="{CE153CDE-D6B0-4037-9760-D19751ADFB18}" destId="{CC652AA8-BAC9-45D3-94E3-9CEF0D70E118}" srcOrd="2" destOrd="0" presId="urn:microsoft.com/office/officeart/2018/2/layout/IconVerticalSolidList"/>
    <dgm:cxn modelId="{828FD0AB-09B8-4317-BD11-523B39E6EEF4}" type="presParOf" srcId="{CE153CDE-D6B0-4037-9760-D19751ADFB18}" destId="{72ECBA9C-DBF5-4581-A9E5-96CEA44A079E}" srcOrd="3" destOrd="0" presId="urn:microsoft.com/office/officeart/2018/2/layout/IconVerticalSolidList"/>
    <dgm:cxn modelId="{6FA71385-716A-4981-941E-6718F85AA99F}" type="presParOf" srcId="{14B4A6E2-E34E-41A5-B595-CBB21A291180}" destId="{EFE129F8-C73B-47A5-A04C-8B2547CEC315}" srcOrd="9" destOrd="0" presId="urn:microsoft.com/office/officeart/2018/2/layout/IconVerticalSolidList"/>
    <dgm:cxn modelId="{5EBAAA0F-C681-42E3-A539-A2BA48AEDF33}" type="presParOf" srcId="{14B4A6E2-E34E-41A5-B595-CBB21A291180}" destId="{482D8675-0C59-4852-A859-C7CD4244112C}" srcOrd="10" destOrd="0" presId="urn:microsoft.com/office/officeart/2018/2/layout/IconVerticalSolidList"/>
    <dgm:cxn modelId="{BC920F28-DC7C-4800-96C5-1BC1FDAECEB6}" type="presParOf" srcId="{482D8675-0C59-4852-A859-C7CD4244112C}" destId="{8380B2BD-91B2-4C38-9DD7-4BBA7FAAF7A1}" srcOrd="0" destOrd="0" presId="urn:microsoft.com/office/officeart/2018/2/layout/IconVerticalSolidList"/>
    <dgm:cxn modelId="{A66B6064-45E4-41F0-9124-D041A5899E07}" type="presParOf" srcId="{482D8675-0C59-4852-A859-C7CD4244112C}" destId="{2B71CEAA-1D48-4C7F-B443-013996086C62}" srcOrd="1" destOrd="0" presId="urn:microsoft.com/office/officeart/2018/2/layout/IconVerticalSolidList"/>
    <dgm:cxn modelId="{7404E118-A25D-4964-BECF-AB418762ADD1}" type="presParOf" srcId="{482D8675-0C59-4852-A859-C7CD4244112C}" destId="{5C5DB0D4-10F4-45B5-A2F7-E3BDED8CBEFE}" srcOrd="2" destOrd="0" presId="urn:microsoft.com/office/officeart/2018/2/layout/IconVerticalSolidList"/>
    <dgm:cxn modelId="{AE50763B-94D0-48D8-A738-FBE1D2300FB5}" type="presParOf" srcId="{482D8675-0C59-4852-A859-C7CD4244112C}" destId="{80C9980F-5EEA-461B-8AD4-9A5C83ABC7A4}"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E012B51-02BB-4F1B-86A5-DF9A7BACADE2}" type="doc">
      <dgm:prSet loTypeId="urn:microsoft.com/office/officeart/2016/7/layout/VerticalSolidActionList" loCatId="List" qsTypeId="urn:microsoft.com/office/officeart/2005/8/quickstyle/simple4" qsCatId="simple" csTypeId="urn:microsoft.com/office/officeart/2005/8/colors/colorful1" csCatId="colorful" phldr="1"/>
      <dgm:spPr/>
      <dgm:t>
        <a:bodyPr/>
        <a:lstStyle/>
        <a:p>
          <a:endParaRPr lang="en-US"/>
        </a:p>
      </dgm:t>
    </dgm:pt>
    <dgm:pt modelId="{E8FB20E4-1AC0-4061-B218-CAAA902A536A}">
      <dgm:prSet/>
      <dgm:spPr/>
      <dgm:t>
        <a:bodyPr/>
        <a:lstStyle/>
        <a:p>
          <a:r>
            <a:rPr lang="en-US" dirty="0">
              <a:solidFill>
                <a:schemeClr val="tx1"/>
              </a:solidFill>
            </a:rPr>
            <a:t>Automate</a:t>
          </a:r>
        </a:p>
      </dgm:t>
    </dgm:pt>
    <dgm:pt modelId="{A73F3575-AA83-4E14-9D05-496DFF6D94F6}" type="parTrans" cxnId="{69A31197-93C4-4C2E-9096-F17F7121289E}">
      <dgm:prSet/>
      <dgm:spPr/>
      <dgm:t>
        <a:bodyPr/>
        <a:lstStyle/>
        <a:p>
          <a:endParaRPr lang="en-US">
            <a:solidFill>
              <a:schemeClr val="tx1"/>
            </a:solidFill>
          </a:endParaRPr>
        </a:p>
      </dgm:t>
    </dgm:pt>
    <dgm:pt modelId="{55351DCC-D347-4B29-9CFC-969C276C54B2}" type="sibTrans" cxnId="{69A31197-93C4-4C2E-9096-F17F7121289E}">
      <dgm:prSet/>
      <dgm:spPr/>
      <dgm:t>
        <a:bodyPr/>
        <a:lstStyle/>
        <a:p>
          <a:endParaRPr lang="en-US">
            <a:solidFill>
              <a:schemeClr val="tx1"/>
            </a:solidFill>
          </a:endParaRPr>
        </a:p>
      </dgm:t>
    </dgm:pt>
    <dgm:pt modelId="{424F82F3-A4AA-4369-B8F1-AF8F3FA4F2BF}">
      <dgm:prSet custT="1"/>
      <dgm:spPr/>
      <dgm:t>
        <a:bodyPr/>
        <a:lstStyle/>
        <a:p>
          <a:r>
            <a:rPr lang="en-US" sz="1600" dirty="0">
              <a:solidFill>
                <a:schemeClr val="tx1"/>
              </a:solidFill>
            </a:rPr>
            <a:t>Design systems that automatically detect and recover from failures.</a:t>
          </a:r>
        </a:p>
      </dgm:t>
    </dgm:pt>
    <dgm:pt modelId="{30FE4D85-7089-41F4-8B85-B51DE96CDCD6}" type="parTrans" cxnId="{3DEB4C56-AC13-464C-AF22-6F0C87B5CDDE}">
      <dgm:prSet/>
      <dgm:spPr/>
      <dgm:t>
        <a:bodyPr/>
        <a:lstStyle/>
        <a:p>
          <a:endParaRPr lang="en-US">
            <a:solidFill>
              <a:schemeClr val="tx1"/>
            </a:solidFill>
          </a:endParaRPr>
        </a:p>
      </dgm:t>
    </dgm:pt>
    <dgm:pt modelId="{02703C44-49FB-4117-892F-B498E6B8079A}" type="sibTrans" cxnId="{3DEB4C56-AC13-464C-AF22-6F0C87B5CDDE}">
      <dgm:prSet/>
      <dgm:spPr/>
      <dgm:t>
        <a:bodyPr/>
        <a:lstStyle/>
        <a:p>
          <a:endParaRPr lang="en-US">
            <a:solidFill>
              <a:schemeClr val="tx1"/>
            </a:solidFill>
          </a:endParaRPr>
        </a:p>
      </dgm:t>
    </dgm:pt>
    <dgm:pt modelId="{A50341F2-298F-4571-ADB7-4AABFBECD98B}">
      <dgm:prSet/>
      <dgm:spPr/>
      <dgm:t>
        <a:bodyPr/>
        <a:lstStyle/>
        <a:p>
          <a:r>
            <a:rPr lang="en-US">
              <a:solidFill>
                <a:schemeClr val="tx1"/>
              </a:solidFill>
            </a:rPr>
            <a:t>Test</a:t>
          </a:r>
        </a:p>
      </dgm:t>
    </dgm:pt>
    <dgm:pt modelId="{7E817AD9-4675-46F4-A343-C6A73DCDFC77}" type="parTrans" cxnId="{18AA2ECA-69C4-4E97-93F5-A8227DCAAF58}">
      <dgm:prSet/>
      <dgm:spPr/>
      <dgm:t>
        <a:bodyPr/>
        <a:lstStyle/>
        <a:p>
          <a:endParaRPr lang="en-US">
            <a:solidFill>
              <a:schemeClr val="tx1"/>
            </a:solidFill>
          </a:endParaRPr>
        </a:p>
      </dgm:t>
    </dgm:pt>
    <dgm:pt modelId="{B6A37673-F3F9-4D73-803F-A771617C01C5}" type="sibTrans" cxnId="{18AA2ECA-69C4-4E97-93F5-A8227DCAAF58}">
      <dgm:prSet/>
      <dgm:spPr/>
      <dgm:t>
        <a:bodyPr/>
        <a:lstStyle/>
        <a:p>
          <a:endParaRPr lang="en-US">
            <a:solidFill>
              <a:schemeClr val="tx1"/>
            </a:solidFill>
          </a:endParaRPr>
        </a:p>
      </dgm:t>
    </dgm:pt>
    <dgm:pt modelId="{22AB1B04-7B93-4ECD-A07D-3D67B29A85E3}">
      <dgm:prSet custT="1"/>
      <dgm:spPr/>
      <dgm:t>
        <a:bodyPr/>
        <a:lstStyle/>
        <a:p>
          <a:r>
            <a:rPr lang="en-US" sz="1600" dirty="0">
              <a:solidFill>
                <a:schemeClr val="tx1"/>
              </a:solidFill>
            </a:rPr>
            <a:t>Regularly test your recovery procedures to ensure they work as expected.</a:t>
          </a:r>
        </a:p>
      </dgm:t>
    </dgm:pt>
    <dgm:pt modelId="{BEBBA7AD-D4B9-48ED-B0AF-C56D0179AB0B}" type="parTrans" cxnId="{4869F4C5-537F-40D7-AEF6-DE1AB0350681}">
      <dgm:prSet/>
      <dgm:spPr/>
      <dgm:t>
        <a:bodyPr/>
        <a:lstStyle/>
        <a:p>
          <a:endParaRPr lang="en-US">
            <a:solidFill>
              <a:schemeClr val="tx1"/>
            </a:solidFill>
          </a:endParaRPr>
        </a:p>
      </dgm:t>
    </dgm:pt>
    <dgm:pt modelId="{A8BC0ED8-B82C-4101-87A4-B75112868B1A}" type="sibTrans" cxnId="{4869F4C5-537F-40D7-AEF6-DE1AB0350681}">
      <dgm:prSet/>
      <dgm:spPr/>
      <dgm:t>
        <a:bodyPr/>
        <a:lstStyle/>
        <a:p>
          <a:endParaRPr lang="en-US">
            <a:solidFill>
              <a:schemeClr val="tx1"/>
            </a:solidFill>
          </a:endParaRPr>
        </a:p>
      </dgm:t>
    </dgm:pt>
    <dgm:pt modelId="{8B95FAC2-87CE-4F40-AD08-FB94971286E4}">
      <dgm:prSet/>
      <dgm:spPr/>
      <dgm:t>
        <a:bodyPr/>
        <a:lstStyle/>
        <a:p>
          <a:r>
            <a:rPr lang="en-US" dirty="0">
              <a:solidFill>
                <a:schemeClr val="tx1"/>
              </a:solidFill>
            </a:rPr>
            <a:t>Scale</a:t>
          </a:r>
        </a:p>
      </dgm:t>
    </dgm:pt>
    <dgm:pt modelId="{EEEB2913-B6D1-4085-8801-77347FC73F98}" type="parTrans" cxnId="{69E0701F-742B-4219-9F5F-B7C462E21FB4}">
      <dgm:prSet/>
      <dgm:spPr/>
      <dgm:t>
        <a:bodyPr/>
        <a:lstStyle/>
        <a:p>
          <a:endParaRPr lang="en-US">
            <a:solidFill>
              <a:schemeClr val="tx1"/>
            </a:solidFill>
          </a:endParaRPr>
        </a:p>
      </dgm:t>
    </dgm:pt>
    <dgm:pt modelId="{10ADE5D5-356C-49FD-9C79-EF07E1EC5B4B}" type="sibTrans" cxnId="{69E0701F-742B-4219-9F5F-B7C462E21FB4}">
      <dgm:prSet/>
      <dgm:spPr/>
      <dgm:t>
        <a:bodyPr/>
        <a:lstStyle/>
        <a:p>
          <a:endParaRPr lang="en-US">
            <a:solidFill>
              <a:schemeClr val="tx1"/>
            </a:solidFill>
          </a:endParaRPr>
        </a:p>
      </dgm:t>
    </dgm:pt>
    <dgm:pt modelId="{7FA06D45-0ACB-4158-8615-8546C6BE281A}">
      <dgm:prSet custT="1"/>
      <dgm:spPr/>
      <dgm:t>
        <a:bodyPr/>
        <a:lstStyle/>
        <a:p>
          <a:r>
            <a:rPr lang="en-US" sz="1600" dirty="0">
              <a:solidFill>
                <a:schemeClr val="tx1"/>
              </a:solidFill>
            </a:rPr>
            <a:t>Add more instances (scale </a:t>
          </a:r>
          <a:r>
            <a:rPr lang="en-US" sz="1600" b="1" dirty="0">
              <a:solidFill>
                <a:schemeClr val="tx1"/>
              </a:solidFill>
            </a:rPr>
            <a:t>horizontally</a:t>
          </a:r>
          <a:r>
            <a:rPr lang="en-US" sz="1600" dirty="0">
              <a:solidFill>
                <a:schemeClr val="tx1"/>
              </a:solidFill>
            </a:rPr>
            <a:t>) rather than upgrading instances to efficiently improve performance.</a:t>
          </a:r>
        </a:p>
      </dgm:t>
    </dgm:pt>
    <dgm:pt modelId="{F2A56B2B-49E8-412F-BC10-502B384F3CE3}" type="parTrans" cxnId="{E334D93F-79A8-4BE5-AC2F-392345CFDC57}">
      <dgm:prSet/>
      <dgm:spPr/>
      <dgm:t>
        <a:bodyPr/>
        <a:lstStyle/>
        <a:p>
          <a:endParaRPr lang="en-US">
            <a:solidFill>
              <a:schemeClr val="tx1"/>
            </a:solidFill>
          </a:endParaRPr>
        </a:p>
      </dgm:t>
    </dgm:pt>
    <dgm:pt modelId="{60E08363-B570-42E8-BB39-4D3236DF918A}" type="sibTrans" cxnId="{E334D93F-79A8-4BE5-AC2F-392345CFDC57}">
      <dgm:prSet/>
      <dgm:spPr/>
      <dgm:t>
        <a:bodyPr/>
        <a:lstStyle/>
        <a:p>
          <a:endParaRPr lang="en-US">
            <a:solidFill>
              <a:schemeClr val="tx1"/>
            </a:solidFill>
          </a:endParaRPr>
        </a:p>
      </dgm:t>
    </dgm:pt>
    <dgm:pt modelId="{CA48F719-5E58-44B5-92E8-91ED831478CC}">
      <dgm:prSet/>
      <dgm:spPr/>
      <dgm:t>
        <a:bodyPr/>
        <a:lstStyle/>
        <a:p>
          <a:r>
            <a:rPr lang="en-US" dirty="0">
              <a:solidFill>
                <a:schemeClr val="tx1"/>
              </a:solidFill>
            </a:rPr>
            <a:t>Stop Guessing</a:t>
          </a:r>
        </a:p>
      </dgm:t>
    </dgm:pt>
    <dgm:pt modelId="{512B8E27-2F76-45E1-8904-33FE6538C4E4}" type="parTrans" cxnId="{56B71FF2-F32C-49DE-8A04-AF0CA86539E4}">
      <dgm:prSet/>
      <dgm:spPr/>
      <dgm:t>
        <a:bodyPr/>
        <a:lstStyle/>
        <a:p>
          <a:endParaRPr lang="en-US">
            <a:solidFill>
              <a:schemeClr val="tx1"/>
            </a:solidFill>
          </a:endParaRPr>
        </a:p>
      </dgm:t>
    </dgm:pt>
    <dgm:pt modelId="{F9BA9B26-D129-4890-AE81-F42394C9094E}" type="sibTrans" cxnId="{56B71FF2-F32C-49DE-8A04-AF0CA86539E4}">
      <dgm:prSet/>
      <dgm:spPr/>
      <dgm:t>
        <a:bodyPr/>
        <a:lstStyle/>
        <a:p>
          <a:endParaRPr lang="en-US">
            <a:solidFill>
              <a:schemeClr val="tx1"/>
            </a:solidFill>
          </a:endParaRPr>
        </a:p>
      </dgm:t>
    </dgm:pt>
    <dgm:pt modelId="{174F9C35-9777-4734-ADAE-8FB58A3941D1}">
      <dgm:prSet custT="1"/>
      <dgm:spPr/>
      <dgm:t>
        <a:bodyPr/>
        <a:lstStyle/>
        <a:p>
          <a:r>
            <a:rPr lang="en-US" sz="1600" dirty="0">
              <a:solidFill>
                <a:schemeClr val="tx1"/>
              </a:solidFill>
            </a:rPr>
            <a:t>Instead of adding many servers “just in case”, use a smaller capacity and scale up as needed based on performance needs.</a:t>
          </a:r>
        </a:p>
      </dgm:t>
    </dgm:pt>
    <dgm:pt modelId="{286A5972-9F95-4337-A796-62284262835C}" type="parTrans" cxnId="{405F2FD6-F63E-4CFC-B4B7-A3DEA24308B0}">
      <dgm:prSet/>
      <dgm:spPr/>
      <dgm:t>
        <a:bodyPr/>
        <a:lstStyle/>
        <a:p>
          <a:endParaRPr lang="en-US">
            <a:solidFill>
              <a:schemeClr val="tx1"/>
            </a:solidFill>
          </a:endParaRPr>
        </a:p>
      </dgm:t>
    </dgm:pt>
    <dgm:pt modelId="{4DF52564-EBFD-4FFF-860C-16369DFFD90D}" type="sibTrans" cxnId="{405F2FD6-F63E-4CFC-B4B7-A3DEA24308B0}">
      <dgm:prSet/>
      <dgm:spPr/>
      <dgm:t>
        <a:bodyPr/>
        <a:lstStyle/>
        <a:p>
          <a:endParaRPr lang="en-US">
            <a:solidFill>
              <a:schemeClr val="tx1"/>
            </a:solidFill>
          </a:endParaRPr>
        </a:p>
      </dgm:t>
    </dgm:pt>
    <dgm:pt modelId="{44AC186E-8F91-4CDD-9DDF-5FE8B1BFDAE7}">
      <dgm:prSet/>
      <dgm:spPr/>
      <dgm:t>
        <a:bodyPr/>
        <a:lstStyle/>
        <a:p>
          <a:r>
            <a:rPr lang="en-US" dirty="0">
              <a:solidFill>
                <a:schemeClr val="tx1"/>
              </a:solidFill>
            </a:rPr>
            <a:t>Manage Change</a:t>
          </a:r>
        </a:p>
      </dgm:t>
    </dgm:pt>
    <dgm:pt modelId="{3AA142B7-B693-4B79-AA5A-7C1EAF89C295}" type="parTrans" cxnId="{D354AE4A-9F0D-446A-A863-AD61ACB94833}">
      <dgm:prSet/>
      <dgm:spPr/>
      <dgm:t>
        <a:bodyPr/>
        <a:lstStyle/>
        <a:p>
          <a:endParaRPr lang="en-US">
            <a:solidFill>
              <a:schemeClr val="tx1"/>
            </a:solidFill>
          </a:endParaRPr>
        </a:p>
      </dgm:t>
    </dgm:pt>
    <dgm:pt modelId="{E4EA37BC-EB95-4E25-BEFC-371C1445267F}" type="sibTrans" cxnId="{D354AE4A-9F0D-446A-A863-AD61ACB94833}">
      <dgm:prSet/>
      <dgm:spPr/>
      <dgm:t>
        <a:bodyPr/>
        <a:lstStyle/>
        <a:p>
          <a:endParaRPr lang="en-US">
            <a:solidFill>
              <a:schemeClr val="tx1"/>
            </a:solidFill>
          </a:endParaRPr>
        </a:p>
      </dgm:t>
    </dgm:pt>
    <dgm:pt modelId="{EDEFEB8A-4D84-4109-A3DF-99870663D403}">
      <dgm:prSet custT="1"/>
      <dgm:spPr/>
      <dgm:t>
        <a:bodyPr/>
        <a:lstStyle/>
        <a:p>
          <a:r>
            <a:rPr lang="en-US" sz="1600" dirty="0">
              <a:solidFill>
                <a:schemeClr val="tx1"/>
              </a:solidFill>
            </a:rPr>
            <a:t>Use automation for changes to reduce the risk of misconfigurations and human error. </a:t>
          </a:r>
        </a:p>
      </dgm:t>
    </dgm:pt>
    <dgm:pt modelId="{A47885F6-7474-4FEF-9B46-7A3C1DE09519}" type="parTrans" cxnId="{889D3052-122F-42BB-8D1E-88F699CAF870}">
      <dgm:prSet/>
      <dgm:spPr/>
      <dgm:t>
        <a:bodyPr/>
        <a:lstStyle/>
        <a:p>
          <a:endParaRPr lang="en-US">
            <a:solidFill>
              <a:schemeClr val="tx1"/>
            </a:solidFill>
          </a:endParaRPr>
        </a:p>
      </dgm:t>
    </dgm:pt>
    <dgm:pt modelId="{AC18F3FC-8CDE-4F0C-BBFF-CCCFCA7FED20}" type="sibTrans" cxnId="{889D3052-122F-42BB-8D1E-88F699CAF870}">
      <dgm:prSet/>
      <dgm:spPr/>
      <dgm:t>
        <a:bodyPr/>
        <a:lstStyle/>
        <a:p>
          <a:endParaRPr lang="en-US">
            <a:solidFill>
              <a:schemeClr val="tx1"/>
            </a:solidFill>
          </a:endParaRPr>
        </a:p>
      </dgm:t>
    </dgm:pt>
    <dgm:pt modelId="{CB2CB926-4B66-488B-9C4D-6BA152FFE1C1}" type="pres">
      <dgm:prSet presAssocID="{AE012B51-02BB-4F1B-86A5-DF9A7BACADE2}" presName="Name0" presStyleCnt="0">
        <dgm:presLayoutVars>
          <dgm:dir/>
          <dgm:animLvl val="lvl"/>
          <dgm:resizeHandles val="exact"/>
        </dgm:presLayoutVars>
      </dgm:prSet>
      <dgm:spPr/>
    </dgm:pt>
    <dgm:pt modelId="{F8500BCE-AA68-4A35-AF26-9700306548DC}" type="pres">
      <dgm:prSet presAssocID="{E8FB20E4-1AC0-4061-B218-CAAA902A536A}" presName="linNode" presStyleCnt="0"/>
      <dgm:spPr/>
    </dgm:pt>
    <dgm:pt modelId="{63E088EC-BB55-44C2-83E9-420DEBBDFFE3}" type="pres">
      <dgm:prSet presAssocID="{E8FB20E4-1AC0-4061-B218-CAAA902A536A}" presName="parentText" presStyleLbl="alignNode1" presStyleIdx="0" presStyleCnt="5" custScaleX="146980">
        <dgm:presLayoutVars>
          <dgm:chMax val="1"/>
          <dgm:bulletEnabled/>
        </dgm:presLayoutVars>
      </dgm:prSet>
      <dgm:spPr/>
    </dgm:pt>
    <dgm:pt modelId="{4DD595AB-E567-4506-A95E-35C9AFED17D7}" type="pres">
      <dgm:prSet presAssocID="{E8FB20E4-1AC0-4061-B218-CAAA902A536A}" presName="descendantText" presStyleLbl="alignAccFollowNode1" presStyleIdx="0" presStyleCnt="5">
        <dgm:presLayoutVars>
          <dgm:bulletEnabled/>
        </dgm:presLayoutVars>
      </dgm:prSet>
      <dgm:spPr/>
    </dgm:pt>
    <dgm:pt modelId="{3AEB4B1F-92E8-4A73-9CA3-49B91019FF23}" type="pres">
      <dgm:prSet presAssocID="{55351DCC-D347-4B29-9CFC-969C276C54B2}" presName="sp" presStyleCnt="0"/>
      <dgm:spPr/>
    </dgm:pt>
    <dgm:pt modelId="{AC74E552-46B1-45D6-8C4F-DD51EB1383A9}" type="pres">
      <dgm:prSet presAssocID="{A50341F2-298F-4571-ADB7-4AABFBECD98B}" presName="linNode" presStyleCnt="0"/>
      <dgm:spPr/>
    </dgm:pt>
    <dgm:pt modelId="{F8088D3E-0A16-4AF7-9E08-1AFA1D80C3DC}" type="pres">
      <dgm:prSet presAssocID="{A50341F2-298F-4571-ADB7-4AABFBECD98B}" presName="parentText" presStyleLbl="alignNode1" presStyleIdx="1" presStyleCnt="5" custScaleX="146980">
        <dgm:presLayoutVars>
          <dgm:chMax val="1"/>
          <dgm:bulletEnabled/>
        </dgm:presLayoutVars>
      </dgm:prSet>
      <dgm:spPr/>
    </dgm:pt>
    <dgm:pt modelId="{B2917929-43D5-46DA-B021-1374E60062FD}" type="pres">
      <dgm:prSet presAssocID="{A50341F2-298F-4571-ADB7-4AABFBECD98B}" presName="descendantText" presStyleLbl="alignAccFollowNode1" presStyleIdx="1" presStyleCnt="5">
        <dgm:presLayoutVars>
          <dgm:bulletEnabled/>
        </dgm:presLayoutVars>
      </dgm:prSet>
      <dgm:spPr/>
    </dgm:pt>
    <dgm:pt modelId="{5B9B01F2-7E1B-4B44-A8CF-10AB7AFD0195}" type="pres">
      <dgm:prSet presAssocID="{B6A37673-F3F9-4D73-803F-A771617C01C5}" presName="sp" presStyleCnt="0"/>
      <dgm:spPr/>
    </dgm:pt>
    <dgm:pt modelId="{10254D3B-3CC9-423B-9CD6-6A00511F1B09}" type="pres">
      <dgm:prSet presAssocID="{8B95FAC2-87CE-4F40-AD08-FB94971286E4}" presName="linNode" presStyleCnt="0"/>
      <dgm:spPr/>
    </dgm:pt>
    <dgm:pt modelId="{6B08E597-E3CD-4ADF-8D3B-EC9C91846389}" type="pres">
      <dgm:prSet presAssocID="{8B95FAC2-87CE-4F40-AD08-FB94971286E4}" presName="parentText" presStyleLbl="alignNode1" presStyleIdx="2" presStyleCnt="5" custScaleX="146980">
        <dgm:presLayoutVars>
          <dgm:chMax val="1"/>
          <dgm:bulletEnabled/>
        </dgm:presLayoutVars>
      </dgm:prSet>
      <dgm:spPr/>
    </dgm:pt>
    <dgm:pt modelId="{65175BE6-ED1B-4697-9ECD-E6B60944A2F5}" type="pres">
      <dgm:prSet presAssocID="{8B95FAC2-87CE-4F40-AD08-FB94971286E4}" presName="descendantText" presStyleLbl="alignAccFollowNode1" presStyleIdx="2" presStyleCnt="5">
        <dgm:presLayoutVars>
          <dgm:bulletEnabled/>
        </dgm:presLayoutVars>
      </dgm:prSet>
      <dgm:spPr/>
    </dgm:pt>
    <dgm:pt modelId="{48299DA1-6BF6-4479-903E-62FF0470B01F}" type="pres">
      <dgm:prSet presAssocID="{10ADE5D5-356C-49FD-9C79-EF07E1EC5B4B}" presName="sp" presStyleCnt="0"/>
      <dgm:spPr/>
    </dgm:pt>
    <dgm:pt modelId="{1A16BBDE-8AAF-4080-A06D-F3CE36916651}" type="pres">
      <dgm:prSet presAssocID="{CA48F719-5E58-44B5-92E8-91ED831478CC}" presName="linNode" presStyleCnt="0"/>
      <dgm:spPr/>
    </dgm:pt>
    <dgm:pt modelId="{CA36EC15-5A0C-4976-8B3B-724FC4E7E3B3}" type="pres">
      <dgm:prSet presAssocID="{CA48F719-5E58-44B5-92E8-91ED831478CC}" presName="parentText" presStyleLbl="alignNode1" presStyleIdx="3" presStyleCnt="5" custScaleX="146980">
        <dgm:presLayoutVars>
          <dgm:chMax val="1"/>
          <dgm:bulletEnabled/>
        </dgm:presLayoutVars>
      </dgm:prSet>
      <dgm:spPr/>
    </dgm:pt>
    <dgm:pt modelId="{84DC257B-501E-4EF2-B140-FC10DF1EE786}" type="pres">
      <dgm:prSet presAssocID="{CA48F719-5E58-44B5-92E8-91ED831478CC}" presName="descendantText" presStyleLbl="alignAccFollowNode1" presStyleIdx="3" presStyleCnt="5">
        <dgm:presLayoutVars>
          <dgm:bulletEnabled/>
        </dgm:presLayoutVars>
      </dgm:prSet>
      <dgm:spPr/>
    </dgm:pt>
    <dgm:pt modelId="{254683C7-E812-465D-A7BB-C089EE9DCE16}" type="pres">
      <dgm:prSet presAssocID="{F9BA9B26-D129-4890-AE81-F42394C9094E}" presName="sp" presStyleCnt="0"/>
      <dgm:spPr/>
    </dgm:pt>
    <dgm:pt modelId="{02977462-0EF7-49A8-BA1F-AA850BCB318D}" type="pres">
      <dgm:prSet presAssocID="{44AC186E-8F91-4CDD-9DDF-5FE8B1BFDAE7}" presName="linNode" presStyleCnt="0"/>
      <dgm:spPr/>
    </dgm:pt>
    <dgm:pt modelId="{4EA845D1-1E4F-43AA-8F13-85E4810110CE}" type="pres">
      <dgm:prSet presAssocID="{44AC186E-8F91-4CDD-9DDF-5FE8B1BFDAE7}" presName="parentText" presStyleLbl="alignNode1" presStyleIdx="4" presStyleCnt="5" custScaleX="146980">
        <dgm:presLayoutVars>
          <dgm:chMax val="1"/>
          <dgm:bulletEnabled/>
        </dgm:presLayoutVars>
      </dgm:prSet>
      <dgm:spPr/>
    </dgm:pt>
    <dgm:pt modelId="{189556F6-8985-4505-833A-B4D21C9C0191}" type="pres">
      <dgm:prSet presAssocID="{44AC186E-8F91-4CDD-9DDF-5FE8B1BFDAE7}" presName="descendantText" presStyleLbl="alignAccFollowNode1" presStyleIdx="4" presStyleCnt="5">
        <dgm:presLayoutVars>
          <dgm:bulletEnabled/>
        </dgm:presLayoutVars>
      </dgm:prSet>
      <dgm:spPr/>
    </dgm:pt>
  </dgm:ptLst>
  <dgm:cxnLst>
    <dgm:cxn modelId="{F1184F06-6C54-4C47-BDDF-123971078954}" type="presOf" srcId="{7FA06D45-0ACB-4158-8615-8546C6BE281A}" destId="{65175BE6-ED1B-4697-9ECD-E6B60944A2F5}" srcOrd="0" destOrd="0" presId="urn:microsoft.com/office/officeart/2016/7/layout/VerticalSolidActionList"/>
    <dgm:cxn modelId="{76417211-4949-4D39-92F4-092B64F0E7D9}" type="presOf" srcId="{8B95FAC2-87CE-4F40-AD08-FB94971286E4}" destId="{6B08E597-E3CD-4ADF-8D3B-EC9C91846389}" srcOrd="0" destOrd="0" presId="urn:microsoft.com/office/officeart/2016/7/layout/VerticalSolidActionList"/>
    <dgm:cxn modelId="{69E0701F-742B-4219-9F5F-B7C462E21FB4}" srcId="{AE012B51-02BB-4F1B-86A5-DF9A7BACADE2}" destId="{8B95FAC2-87CE-4F40-AD08-FB94971286E4}" srcOrd="2" destOrd="0" parTransId="{EEEB2913-B6D1-4085-8801-77347FC73F98}" sibTransId="{10ADE5D5-356C-49FD-9C79-EF07E1EC5B4B}"/>
    <dgm:cxn modelId="{E334D93F-79A8-4BE5-AC2F-392345CFDC57}" srcId="{8B95FAC2-87CE-4F40-AD08-FB94971286E4}" destId="{7FA06D45-0ACB-4158-8615-8546C6BE281A}" srcOrd="0" destOrd="0" parTransId="{F2A56B2B-49E8-412F-BC10-502B384F3CE3}" sibTransId="{60E08363-B570-42E8-BB39-4D3236DF918A}"/>
    <dgm:cxn modelId="{7B38C642-D13B-40FF-99E4-27D5D460E7F2}" type="presOf" srcId="{22AB1B04-7B93-4ECD-A07D-3D67B29A85E3}" destId="{B2917929-43D5-46DA-B021-1374E60062FD}" srcOrd="0" destOrd="0" presId="urn:microsoft.com/office/officeart/2016/7/layout/VerticalSolidActionList"/>
    <dgm:cxn modelId="{DAC4F066-4108-476E-A219-612E87833EBB}" type="presOf" srcId="{AE012B51-02BB-4F1B-86A5-DF9A7BACADE2}" destId="{CB2CB926-4B66-488B-9C4D-6BA152FFE1C1}" srcOrd="0" destOrd="0" presId="urn:microsoft.com/office/officeart/2016/7/layout/VerticalSolidActionList"/>
    <dgm:cxn modelId="{D354AE4A-9F0D-446A-A863-AD61ACB94833}" srcId="{AE012B51-02BB-4F1B-86A5-DF9A7BACADE2}" destId="{44AC186E-8F91-4CDD-9DDF-5FE8B1BFDAE7}" srcOrd="4" destOrd="0" parTransId="{3AA142B7-B693-4B79-AA5A-7C1EAF89C295}" sibTransId="{E4EA37BC-EB95-4E25-BEFC-371C1445267F}"/>
    <dgm:cxn modelId="{59A14C6C-095C-4D91-BCFE-288FBA3427F7}" type="presOf" srcId="{174F9C35-9777-4734-ADAE-8FB58A3941D1}" destId="{84DC257B-501E-4EF2-B140-FC10DF1EE786}" srcOrd="0" destOrd="0" presId="urn:microsoft.com/office/officeart/2016/7/layout/VerticalSolidActionList"/>
    <dgm:cxn modelId="{598A604D-4353-41C9-8809-29C93E1C83AB}" type="presOf" srcId="{424F82F3-A4AA-4369-B8F1-AF8F3FA4F2BF}" destId="{4DD595AB-E567-4506-A95E-35C9AFED17D7}" srcOrd="0" destOrd="0" presId="urn:microsoft.com/office/officeart/2016/7/layout/VerticalSolidActionList"/>
    <dgm:cxn modelId="{889D3052-122F-42BB-8D1E-88F699CAF870}" srcId="{44AC186E-8F91-4CDD-9DDF-5FE8B1BFDAE7}" destId="{EDEFEB8A-4D84-4109-A3DF-99870663D403}" srcOrd="0" destOrd="0" parTransId="{A47885F6-7474-4FEF-9B46-7A3C1DE09519}" sibTransId="{AC18F3FC-8CDE-4F0C-BBFF-CCCFCA7FED20}"/>
    <dgm:cxn modelId="{3DEB4C56-AC13-464C-AF22-6F0C87B5CDDE}" srcId="{E8FB20E4-1AC0-4061-B218-CAAA902A536A}" destId="{424F82F3-A4AA-4369-B8F1-AF8F3FA4F2BF}" srcOrd="0" destOrd="0" parTransId="{30FE4D85-7089-41F4-8B85-B51DE96CDCD6}" sibTransId="{02703C44-49FB-4117-892F-B498E6B8079A}"/>
    <dgm:cxn modelId="{2C284979-5154-4FFC-9573-52E64303228F}" type="presOf" srcId="{E8FB20E4-1AC0-4061-B218-CAAA902A536A}" destId="{63E088EC-BB55-44C2-83E9-420DEBBDFFE3}" srcOrd="0" destOrd="0" presId="urn:microsoft.com/office/officeart/2016/7/layout/VerticalSolidActionList"/>
    <dgm:cxn modelId="{69A31197-93C4-4C2E-9096-F17F7121289E}" srcId="{AE012B51-02BB-4F1B-86A5-DF9A7BACADE2}" destId="{E8FB20E4-1AC0-4061-B218-CAAA902A536A}" srcOrd="0" destOrd="0" parTransId="{A73F3575-AA83-4E14-9D05-496DFF6D94F6}" sibTransId="{55351DCC-D347-4B29-9CFC-969C276C54B2}"/>
    <dgm:cxn modelId="{055F2EAB-C93C-4F2F-8499-C4554C4D0123}" type="presOf" srcId="{A50341F2-298F-4571-ADB7-4AABFBECD98B}" destId="{F8088D3E-0A16-4AF7-9E08-1AFA1D80C3DC}" srcOrd="0" destOrd="0" presId="urn:microsoft.com/office/officeart/2016/7/layout/VerticalSolidActionList"/>
    <dgm:cxn modelId="{B19D43B8-7599-43A6-B458-F362E32C7596}" type="presOf" srcId="{44AC186E-8F91-4CDD-9DDF-5FE8B1BFDAE7}" destId="{4EA845D1-1E4F-43AA-8F13-85E4810110CE}" srcOrd="0" destOrd="0" presId="urn:microsoft.com/office/officeart/2016/7/layout/VerticalSolidActionList"/>
    <dgm:cxn modelId="{4869F4C5-537F-40D7-AEF6-DE1AB0350681}" srcId="{A50341F2-298F-4571-ADB7-4AABFBECD98B}" destId="{22AB1B04-7B93-4ECD-A07D-3D67B29A85E3}" srcOrd="0" destOrd="0" parTransId="{BEBBA7AD-D4B9-48ED-B0AF-C56D0179AB0B}" sibTransId="{A8BC0ED8-B82C-4101-87A4-B75112868B1A}"/>
    <dgm:cxn modelId="{18AA2ECA-69C4-4E97-93F5-A8227DCAAF58}" srcId="{AE012B51-02BB-4F1B-86A5-DF9A7BACADE2}" destId="{A50341F2-298F-4571-ADB7-4AABFBECD98B}" srcOrd="1" destOrd="0" parTransId="{7E817AD9-4675-46F4-A343-C6A73DCDFC77}" sibTransId="{B6A37673-F3F9-4D73-803F-A771617C01C5}"/>
    <dgm:cxn modelId="{ADA3E1CE-3389-4F0E-95D0-526C6BB724BD}" type="presOf" srcId="{EDEFEB8A-4D84-4109-A3DF-99870663D403}" destId="{189556F6-8985-4505-833A-B4D21C9C0191}" srcOrd="0" destOrd="0" presId="urn:microsoft.com/office/officeart/2016/7/layout/VerticalSolidActionList"/>
    <dgm:cxn modelId="{F806C0D1-1805-4DD9-A89B-4A61B739EC70}" type="presOf" srcId="{CA48F719-5E58-44B5-92E8-91ED831478CC}" destId="{CA36EC15-5A0C-4976-8B3B-724FC4E7E3B3}" srcOrd="0" destOrd="0" presId="urn:microsoft.com/office/officeart/2016/7/layout/VerticalSolidActionList"/>
    <dgm:cxn modelId="{405F2FD6-F63E-4CFC-B4B7-A3DEA24308B0}" srcId="{CA48F719-5E58-44B5-92E8-91ED831478CC}" destId="{174F9C35-9777-4734-ADAE-8FB58A3941D1}" srcOrd="0" destOrd="0" parTransId="{286A5972-9F95-4337-A796-62284262835C}" sibTransId="{4DF52564-EBFD-4FFF-860C-16369DFFD90D}"/>
    <dgm:cxn modelId="{56B71FF2-F32C-49DE-8A04-AF0CA86539E4}" srcId="{AE012B51-02BB-4F1B-86A5-DF9A7BACADE2}" destId="{CA48F719-5E58-44B5-92E8-91ED831478CC}" srcOrd="3" destOrd="0" parTransId="{512B8E27-2F76-45E1-8904-33FE6538C4E4}" sibTransId="{F9BA9B26-D129-4890-AE81-F42394C9094E}"/>
    <dgm:cxn modelId="{5C98C51B-F6F6-4ABA-AB22-830074E2E1B1}" type="presParOf" srcId="{CB2CB926-4B66-488B-9C4D-6BA152FFE1C1}" destId="{F8500BCE-AA68-4A35-AF26-9700306548DC}" srcOrd="0" destOrd="0" presId="urn:microsoft.com/office/officeart/2016/7/layout/VerticalSolidActionList"/>
    <dgm:cxn modelId="{456F232D-73BD-4BB3-8D1E-418D789304F8}" type="presParOf" srcId="{F8500BCE-AA68-4A35-AF26-9700306548DC}" destId="{63E088EC-BB55-44C2-83E9-420DEBBDFFE3}" srcOrd="0" destOrd="0" presId="urn:microsoft.com/office/officeart/2016/7/layout/VerticalSolidActionList"/>
    <dgm:cxn modelId="{4F3D911D-5EFA-4A11-AE3C-B52FE34B68EF}" type="presParOf" srcId="{F8500BCE-AA68-4A35-AF26-9700306548DC}" destId="{4DD595AB-E567-4506-A95E-35C9AFED17D7}" srcOrd="1" destOrd="0" presId="urn:microsoft.com/office/officeart/2016/7/layout/VerticalSolidActionList"/>
    <dgm:cxn modelId="{6DE89F0E-AB01-4ADC-A0CB-D6045361574E}" type="presParOf" srcId="{CB2CB926-4B66-488B-9C4D-6BA152FFE1C1}" destId="{3AEB4B1F-92E8-4A73-9CA3-49B91019FF23}" srcOrd="1" destOrd="0" presId="urn:microsoft.com/office/officeart/2016/7/layout/VerticalSolidActionList"/>
    <dgm:cxn modelId="{ADCE24B3-C632-461D-8588-21D78246BB08}" type="presParOf" srcId="{CB2CB926-4B66-488B-9C4D-6BA152FFE1C1}" destId="{AC74E552-46B1-45D6-8C4F-DD51EB1383A9}" srcOrd="2" destOrd="0" presId="urn:microsoft.com/office/officeart/2016/7/layout/VerticalSolidActionList"/>
    <dgm:cxn modelId="{A072918E-7473-4F9B-A915-877D10C25020}" type="presParOf" srcId="{AC74E552-46B1-45D6-8C4F-DD51EB1383A9}" destId="{F8088D3E-0A16-4AF7-9E08-1AFA1D80C3DC}" srcOrd="0" destOrd="0" presId="urn:microsoft.com/office/officeart/2016/7/layout/VerticalSolidActionList"/>
    <dgm:cxn modelId="{99DB0319-8BBA-4272-9451-3C273AD13E3C}" type="presParOf" srcId="{AC74E552-46B1-45D6-8C4F-DD51EB1383A9}" destId="{B2917929-43D5-46DA-B021-1374E60062FD}" srcOrd="1" destOrd="0" presId="urn:microsoft.com/office/officeart/2016/7/layout/VerticalSolidActionList"/>
    <dgm:cxn modelId="{31937914-F1B4-4E22-AC0F-06201E9F2754}" type="presParOf" srcId="{CB2CB926-4B66-488B-9C4D-6BA152FFE1C1}" destId="{5B9B01F2-7E1B-4B44-A8CF-10AB7AFD0195}" srcOrd="3" destOrd="0" presId="urn:microsoft.com/office/officeart/2016/7/layout/VerticalSolidActionList"/>
    <dgm:cxn modelId="{B03D183D-F078-4E54-B6CF-67E4AB85E842}" type="presParOf" srcId="{CB2CB926-4B66-488B-9C4D-6BA152FFE1C1}" destId="{10254D3B-3CC9-423B-9CD6-6A00511F1B09}" srcOrd="4" destOrd="0" presId="urn:microsoft.com/office/officeart/2016/7/layout/VerticalSolidActionList"/>
    <dgm:cxn modelId="{21390B42-7A7E-4E7A-87DD-2C77C694B2B3}" type="presParOf" srcId="{10254D3B-3CC9-423B-9CD6-6A00511F1B09}" destId="{6B08E597-E3CD-4ADF-8D3B-EC9C91846389}" srcOrd="0" destOrd="0" presId="urn:microsoft.com/office/officeart/2016/7/layout/VerticalSolidActionList"/>
    <dgm:cxn modelId="{08915D36-F406-407F-A5C1-ABDC7E149EF1}" type="presParOf" srcId="{10254D3B-3CC9-423B-9CD6-6A00511F1B09}" destId="{65175BE6-ED1B-4697-9ECD-E6B60944A2F5}" srcOrd="1" destOrd="0" presId="urn:microsoft.com/office/officeart/2016/7/layout/VerticalSolidActionList"/>
    <dgm:cxn modelId="{60DC207D-9840-46BA-9AEA-3A16429999AF}" type="presParOf" srcId="{CB2CB926-4B66-488B-9C4D-6BA152FFE1C1}" destId="{48299DA1-6BF6-4479-903E-62FF0470B01F}" srcOrd="5" destOrd="0" presId="urn:microsoft.com/office/officeart/2016/7/layout/VerticalSolidActionList"/>
    <dgm:cxn modelId="{6CB1E4EF-C0F1-48B4-9E47-9C50F87045BB}" type="presParOf" srcId="{CB2CB926-4B66-488B-9C4D-6BA152FFE1C1}" destId="{1A16BBDE-8AAF-4080-A06D-F3CE36916651}" srcOrd="6" destOrd="0" presId="urn:microsoft.com/office/officeart/2016/7/layout/VerticalSolidActionList"/>
    <dgm:cxn modelId="{C1A82890-5940-4449-AD62-2DB9CFD6DB67}" type="presParOf" srcId="{1A16BBDE-8AAF-4080-A06D-F3CE36916651}" destId="{CA36EC15-5A0C-4976-8B3B-724FC4E7E3B3}" srcOrd="0" destOrd="0" presId="urn:microsoft.com/office/officeart/2016/7/layout/VerticalSolidActionList"/>
    <dgm:cxn modelId="{9FAE180C-1AEB-4881-A943-0792A857DF1B}" type="presParOf" srcId="{1A16BBDE-8AAF-4080-A06D-F3CE36916651}" destId="{84DC257B-501E-4EF2-B140-FC10DF1EE786}" srcOrd="1" destOrd="0" presId="urn:microsoft.com/office/officeart/2016/7/layout/VerticalSolidActionList"/>
    <dgm:cxn modelId="{D7FDEB94-8403-49A3-956D-227114FC3E94}" type="presParOf" srcId="{CB2CB926-4B66-488B-9C4D-6BA152FFE1C1}" destId="{254683C7-E812-465D-A7BB-C089EE9DCE16}" srcOrd="7" destOrd="0" presId="urn:microsoft.com/office/officeart/2016/7/layout/VerticalSolidActionList"/>
    <dgm:cxn modelId="{E35683F4-46ED-4FD9-BF7C-6084B649399C}" type="presParOf" srcId="{CB2CB926-4B66-488B-9C4D-6BA152FFE1C1}" destId="{02977462-0EF7-49A8-BA1F-AA850BCB318D}" srcOrd="8" destOrd="0" presId="urn:microsoft.com/office/officeart/2016/7/layout/VerticalSolidActionList"/>
    <dgm:cxn modelId="{BEC3F956-804A-4259-9895-4137B251E23F}" type="presParOf" srcId="{02977462-0EF7-49A8-BA1F-AA850BCB318D}" destId="{4EA845D1-1E4F-43AA-8F13-85E4810110CE}" srcOrd="0" destOrd="0" presId="urn:microsoft.com/office/officeart/2016/7/layout/VerticalSolidActionList"/>
    <dgm:cxn modelId="{9B94313E-133C-49F7-849C-C2313E661DC7}" type="presParOf" srcId="{02977462-0EF7-49A8-BA1F-AA850BCB318D}" destId="{189556F6-8985-4505-833A-B4D21C9C0191}" srcOrd="1" destOrd="0" presId="urn:microsoft.com/office/officeart/2016/7/layout/VerticalSolidAc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CD5B39-F1B2-4F04-955D-B76DF9963C08}">
      <dsp:nvSpPr>
        <dsp:cNvPr id="0" name=""/>
        <dsp:cNvSpPr/>
      </dsp:nvSpPr>
      <dsp:spPr>
        <a:xfrm>
          <a:off x="8418" y="212291"/>
          <a:ext cx="778103" cy="77810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62589CA-007A-40B5-A926-C6780E174E35}">
      <dsp:nvSpPr>
        <dsp:cNvPr id="0" name=""/>
        <dsp:cNvSpPr/>
      </dsp:nvSpPr>
      <dsp:spPr>
        <a:xfrm>
          <a:off x="8418" y="1123454"/>
          <a:ext cx="2223151" cy="2081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100000"/>
            </a:lnSpc>
            <a:spcBef>
              <a:spcPct val="0"/>
            </a:spcBef>
            <a:spcAft>
              <a:spcPct val="35000"/>
            </a:spcAft>
            <a:buNone/>
            <a:defRPr b="1"/>
          </a:pPr>
          <a:r>
            <a:rPr lang="en-AU" sz="1800" b="1" kern="1200" dirty="0">
              <a:latin typeface="Roboto" panose="02000000000000000000" pitchFamily="2" charset="0"/>
              <a:ea typeface="Roboto" panose="02000000000000000000" pitchFamily="2" charset="0"/>
              <a:cs typeface="Roboto" panose="02000000000000000000" pitchFamily="2" charset="0"/>
            </a:rPr>
            <a:t>Business Impact Analysis (BIA) </a:t>
          </a:r>
          <a:r>
            <a:rPr lang="en-AU" sz="1800" kern="1200" dirty="0">
              <a:latin typeface="Roboto" panose="02000000000000000000" pitchFamily="2" charset="0"/>
              <a:ea typeface="Roboto" panose="02000000000000000000" pitchFamily="2" charset="0"/>
              <a:cs typeface="Roboto" panose="02000000000000000000" pitchFamily="2" charset="0"/>
            </a:rPr>
            <a:t>– </a:t>
          </a:r>
          <a:r>
            <a:rPr lang="en-AU" sz="1800" b="0" kern="1200" dirty="0">
              <a:latin typeface="Roboto" panose="02000000000000000000" pitchFamily="2" charset="0"/>
              <a:ea typeface="Roboto" panose="02000000000000000000" pitchFamily="2" charset="0"/>
              <a:cs typeface="Roboto" panose="02000000000000000000" pitchFamily="2" charset="0"/>
            </a:rPr>
            <a:t>Formal assessment of how downtime or data loss affects operations, revenue, etc.</a:t>
          </a:r>
          <a:endParaRPr lang="en-US" sz="1800" b="0" kern="1200" dirty="0">
            <a:latin typeface="Roboto" panose="02000000000000000000" pitchFamily="2" charset="0"/>
            <a:ea typeface="Roboto" panose="02000000000000000000" pitchFamily="2" charset="0"/>
            <a:cs typeface="Roboto" panose="02000000000000000000" pitchFamily="2" charset="0"/>
          </a:endParaRPr>
        </a:p>
      </dsp:txBody>
      <dsp:txXfrm>
        <a:off x="8418" y="1123454"/>
        <a:ext cx="2223151" cy="2081895"/>
      </dsp:txXfrm>
    </dsp:sp>
    <dsp:sp modelId="{15BA2A09-5065-4CCD-A602-8E94FF1EA63A}">
      <dsp:nvSpPr>
        <dsp:cNvPr id="0" name=""/>
        <dsp:cNvSpPr/>
      </dsp:nvSpPr>
      <dsp:spPr>
        <a:xfrm>
          <a:off x="8418" y="3267237"/>
          <a:ext cx="2223151" cy="39473"/>
        </a:xfrm>
        <a:prstGeom prst="rect">
          <a:avLst/>
        </a:prstGeom>
        <a:noFill/>
        <a:ln>
          <a:noFill/>
        </a:ln>
        <a:effectLst/>
      </dsp:spPr>
      <dsp:style>
        <a:lnRef idx="0">
          <a:scrgbClr r="0" g="0" b="0"/>
        </a:lnRef>
        <a:fillRef idx="0">
          <a:scrgbClr r="0" g="0" b="0"/>
        </a:fillRef>
        <a:effectRef idx="0">
          <a:scrgbClr r="0" g="0" b="0"/>
        </a:effectRef>
        <a:fontRef idx="minor"/>
      </dsp:style>
    </dsp:sp>
    <dsp:sp modelId="{053612B0-3401-4169-B6EA-3769C65B1AC3}">
      <dsp:nvSpPr>
        <dsp:cNvPr id="0" name=""/>
        <dsp:cNvSpPr/>
      </dsp:nvSpPr>
      <dsp:spPr>
        <a:xfrm>
          <a:off x="2726099" y="212291"/>
          <a:ext cx="778103" cy="77810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AF43BA2-776A-48C4-A4CE-CFD3D2F05C36}">
      <dsp:nvSpPr>
        <dsp:cNvPr id="0" name=""/>
        <dsp:cNvSpPr/>
      </dsp:nvSpPr>
      <dsp:spPr>
        <a:xfrm>
          <a:off x="2726099" y="1207635"/>
          <a:ext cx="2223151" cy="19135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100000"/>
            </a:lnSpc>
            <a:spcBef>
              <a:spcPct val="0"/>
            </a:spcBef>
            <a:spcAft>
              <a:spcPct val="35000"/>
            </a:spcAft>
            <a:buNone/>
            <a:defRPr b="1"/>
          </a:pPr>
          <a:r>
            <a:rPr lang="en-AU" sz="1800" b="1" kern="1200" dirty="0">
              <a:latin typeface="Roboto" panose="02000000000000000000" pitchFamily="2" charset="0"/>
              <a:ea typeface="Roboto" panose="02000000000000000000" pitchFamily="2" charset="0"/>
              <a:cs typeface="Roboto" panose="02000000000000000000" pitchFamily="2" charset="0"/>
            </a:rPr>
            <a:t>Regulatory and Compliance Requirements </a:t>
          </a:r>
          <a:r>
            <a:rPr lang="en-AU" sz="1800" kern="1200" dirty="0">
              <a:latin typeface="Roboto" panose="02000000000000000000" pitchFamily="2" charset="0"/>
              <a:ea typeface="Roboto" panose="02000000000000000000" pitchFamily="2" charset="0"/>
              <a:cs typeface="Roboto" panose="02000000000000000000" pitchFamily="2" charset="0"/>
            </a:rPr>
            <a:t>– </a:t>
          </a:r>
          <a:r>
            <a:rPr lang="en-AU" sz="1800" b="0" kern="1200" dirty="0">
              <a:latin typeface="Roboto" panose="02000000000000000000" pitchFamily="2" charset="0"/>
              <a:ea typeface="Roboto" panose="02000000000000000000" pitchFamily="2" charset="0"/>
              <a:cs typeface="Roboto" panose="02000000000000000000" pitchFamily="2" charset="0"/>
            </a:rPr>
            <a:t>Legal or industry standards may state uptime/data protection obligations.</a:t>
          </a:r>
          <a:endParaRPr lang="en-US" sz="1800" b="0" kern="1200" dirty="0">
            <a:latin typeface="Roboto" panose="02000000000000000000" pitchFamily="2" charset="0"/>
            <a:ea typeface="Roboto" panose="02000000000000000000" pitchFamily="2" charset="0"/>
            <a:cs typeface="Roboto" panose="02000000000000000000" pitchFamily="2" charset="0"/>
          </a:endParaRPr>
        </a:p>
      </dsp:txBody>
      <dsp:txXfrm>
        <a:off x="2726099" y="1207635"/>
        <a:ext cx="2223151" cy="1913532"/>
      </dsp:txXfrm>
    </dsp:sp>
    <dsp:sp modelId="{6A510C57-B8B5-472C-A0C9-1D4B6C48B49A}">
      <dsp:nvSpPr>
        <dsp:cNvPr id="0" name=""/>
        <dsp:cNvSpPr/>
      </dsp:nvSpPr>
      <dsp:spPr>
        <a:xfrm>
          <a:off x="2620621" y="3267237"/>
          <a:ext cx="2434106" cy="394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pPr>
          <a:endParaRPr lang="en-US" sz="1400" kern="1200" dirty="0"/>
        </a:p>
      </dsp:txBody>
      <dsp:txXfrm>
        <a:off x="2620621" y="3267237"/>
        <a:ext cx="2434106" cy="39473"/>
      </dsp:txXfrm>
    </dsp:sp>
    <dsp:sp modelId="{294E88AD-88D1-4AA6-BE39-23238026747C}">
      <dsp:nvSpPr>
        <dsp:cNvPr id="0" name=""/>
        <dsp:cNvSpPr/>
      </dsp:nvSpPr>
      <dsp:spPr>
        <a:xfrm>
          <a:off x="5443779" y="212291"/>
          <a:ext cx="778103" cy="77810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A5563AA-1A59-4FBA-BB6E-27148FD9BE05}">
      <dsp:nvSpPr>
        <dsp:cNvPr id="0" name=""/>
        <dsp:cNvSpPr/>
      </dsp:nvSpPr>
      <dsp:spPr>
        <a:xfrm>
          <a:off x="5443779" y="1123454"/>
          <a:ext cx="2223151" cy="2081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100000"/>
            </a:lnSpc>
            <a:spcBef>
              <a:spcPct val="0"/>
            </a:spcBef>
            <a:spcAft>
              <a:spcPct val="35000"/>
            </a:spcAft>
            <a:buNone/>
            <a:defRPr b="1"/>
          </a:pPr>
          <a:r>
            <a:rPr lang="en-AU" sz="1800" b="1" kern="1200" dirty="0">
              <a:latin typeface="Roboto" panose="02000000000000000000" pitchFamily="2" charset="0"/>
              <a:ea typeface="Roboto" panose="02000000000000000000" pitchFamily="2" charset="0"/>
              <a:cs typeface="Roboto" panose="02000000000000000000" pitchFamily="2" charset="0"/>
            </a:rPr>
            <a:t>Existing Commitments </a:t>
          </a:r>
          <a:r>
            <a:rPr lang="en-AU" sz="1800" kern="1200" dirty="0">
              <a:latin typeface="Roboto" panose="02000000000000000000" pitchFamily="2" charset="0"/>
              <a:ea typeface="Roboto" panose="02000000000000000000" pitchFamily="2" charset="0"/>
              <a:cs typeface="Roboto" panose="02000000000000000000" pitchFamily="2" charset="0"/>
            </a:rPr>
            <a:t>– </a:t>
          </a:r>
          <a:r>
            <a:rPr lang="en-AU" sz="1800" b="0" kern="1200" dirty="0">
              <a:latin typeface="Roboto" panose="02000000000000000000" pitchFamily="2" charset="0"/>
              <a:ea typeface="Roboto" panose="02000000000000000000" pitchFamily="2" charset="0"/>
              <a:cs typeface="Roboto" panose="02000000000000000000" pitchFamily="2" charset="0"/>
            </a:rPr>
            <a:t>customer contracts, SLAs, or brand promises may set reliability and recovery targets.</a:t>
          </a:r>
          <a:endParaRPr lang="en-US" sz="1800" b="0" kern="1200" dirty="0">
            <a:latin typeface="Roboto" panose="02000000000000000000" pitchFamily="2" charset="0"/>
            <a:ea typeface="Roboto" panose="02000000000000000000" pitchFamily="2" charset="0"/>
            <a:cs typeface="Roboto" panose="02000000000000000000" pitchFamily="2" charset="0"/>
          </a:endParaRPr>
        </a:p>
      </dsp:txBody>
      <dsp:txXfrm>
        <a:off x="5443779" y="1123454"/>
        <a:ext cx="2223151" cy="2081895"/>
      </dsp:txXfrm>
    </dsp:sp>
    <dsp:sp modelId="{B68ADB6E-9FF8-4C27-A426-13EBC23842B5}">
      <dsp:nvSpPr>
        <dsp:cNvPr id="0" name=""/>
        <dsp:cNvSpPr/>
      </dsp:nvSpPr>
      <dsp:spPr>
        <a:xfrm>
          <a:off x="5443779" y="3267237"/>
          <a:ext cx="2223151" cy="39473"/>
        </a:xfrm>
        <a:prstGeom prst="rect">
          <a:avLst/>
        </a:prstGeom>
        <a:noFill/>
        <a:ln>
          <a:noFill/>
        </a:ln>
        <a:effectLst/>
      </dsp:spPr>
      <dsp:style>
        <a:lnRef idx="0">
          <a:scrgbClr r="0" g="0" b="0"/>
        </a:lnRef>
        <a:fillRef idx="0">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8B3AE2-EE25-4B40-96B5-D08168C0F740}">
      <dsp:nvSpPr>
        <dsp:cNvPr id="0" name=""/>
        <dsp:cNvSpPr/>
      </dsp:nvSpPr>
      <dsp:spPr>
        <a:xfrm>
          <a:off x="0" y="4044"/>
          <a:ext cx="3938246" cy="627519"/>
        </a:xfrm>
        <a:prstGeom prst="roundRect">
          <a:avLst>
            <a:gd name="adj" fmla="val 10000"/>
          </a:avLst>
        </a:prstGeom>
        <a:solidFill>
          <a:schemeClr val="accent5">
            <a:lumMod val="60000"/>
            <a:lumOff val="40000"/>
          </a:schemeClr>
        </a:solidFill>
        <a:ln>
          <a:noFill/>
        </a:ln>
        <a:effectLst/>
      </dsp:spPr>
      <dsp:style>
        <a:lnRef idx="0">
          <a:scrgbClr r="0" g="0" b="0"/>
        </a:lnRef>
        <a:fillRef idx="1">
          <a:scrgbClr r="0" g="0" b="0"/>
        </a:fillRef>
        <a:effectRef idx="0">
          <a:scrgbClr r="0" g="0" b="0"/>
        </a:effectRef>
        <a:fontRef idx="minor"/>
      </dsp:style>
    </dsp:sp>
    <dsp:sp modelId="{F91588BB-A53C-49BE-903D-EBA41352B869}">
      <dsp:nvSpPr>
        <dsp:cNvPr id="0" name=""/>
        <dsp:cNvSpPr/>
      </dsp:nvSpPr>
      <dsp:spPr>
        <a:xfrm>
          <a:off x="189824" y="145236"/>
          <a:ext cx="345473" cy="34513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6F8044F-D3C4-4A72-8CFE-D83ABA491B70}">
      <dsp:nvSpPr>
        <dsp:cNvPr id="0" name=""/>
        <dsp:cNvSpPr/>
      </dsp:nvSpPr>
      <dsp:spPr>
        <a:xfrm>
          <a:off x="725122" y="4044"/>
          <a:ext cx="3180363" cy="6863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639" tIns="72639" rIns="72639" bIns="72639" numCol="1" spcCol="1270" anchor="ctr" anchorCtr="0">
          <a:noAutofit/>
        </a:bodyPr>
        <a:lstStyle/>
        <a:p>
          <a:pPr marL="0" lvl="0" indent="0" algn="l" defTabSz="622300">
            <a:lnSpc>
              <a:spcPct val="90000"/>
            </a:lnSpc>
            <a:spcBef>
              <a:spcPct val="0"/>
            </a:spcBef>
            <a:spcAft>
              <a:spcPct val="35000"/>
            </a:spcAft>
            <a:buNone/>
          </a:pPr>
          <a:r>
            <a:rPr lang="en-AU" sz="1400" b="1" kern="1200" dirty="0">
              <a:solidFill>
                <a:schemeClr val="tx1"/>
              </a:solidFill>
            </a:rPr>
            <a:t>Reliability</a:t>
          </a:r>
          <a:r>
            <a:rPr lang="en-AU" sz="1400" kern="1200" dirty="0">
              <a:solidFill>
                <a:schemeClr val="tx1"/>
              </a:solidFill>
            </a:rPr>
            <a:t>: Preventing/quickly recovering from failures. </a:t>
          </a:r>
          <a:r>
            <a:rPr lang="en-AU" sz="1400" b="1" kern="1200" dirty="0">
              <a:solidFill>
                <a:schemeClr val="tx1"/>
              </a:solidFill>
            </a:rPr>
            <a:t>Most HA principles documented here</a:t>
          </a:r>
          <a:r>
            <a:rPr lang="en-AU" sz="1400" kern="1200" dirty="0">
              <a:solidFill>
                <a:schemeClr val="tx1"/>
              </a:solidFill>
            </a:rPr>
            <a:t>.</a:t>
          </a:r>
          <a:endParaRPr lang="en-US" sz="1400" kern="1200" dirty="0">
            <a:solidFill>
              <a:schemeClr val="tx1"/>
            </a:solidFill>
          </a:endParaRPr>
        </a:p>
      </dsp:txBody>
      <dsp:txXfrm>
        <a:off x="725122" y="4044"/>
        <a:ext cx="3180363" cy="686349"/>
      </dsp:txXfrm>
    </dsp:sp>
    <dsp:sp modelId="{75E77B88-7490-48EB-A9B3-56A3B90CCC56}">
      <dsp:nvSpPr>
        <dsp:cNvPr id="0" name=""/>
        <dsp:cNvSpPr/>
      </dsp:nvSpPr>
      <dsp:spPr>
        <a:xfrm>
          <a:off x="0" y="861981"/>
          <a:ext cx="3938246" cy="627519"/>
        </a:xfrm>
        <a:prstGeom prst="roundRect">
          <a:avLst>
            <a:gd name="adj" fmla="val 10000"/>
          </a:avLst>
        </a:prstGeom>
        <a:solidFill>
          <a:schemeClr val="accent5">
            <a:lumMod val="60000"/>
            <a:lumOff val="40000"/>
          </a:schemeClr>
        </a:solidFill>
        <a:ln>
          <a:noFill/>
        </a:ln>
        <a:effectLst/>
      </dsp:spPr>
      <dsp:style>
        <a:lnRef idx="0">
          <a:scrgbClr r="0" g="0" b="0"/>
        </a:lnRef>
        <a:fillRef idx="1">
          <a:scrgbClr r="0" g="0" b="0"/>
        </a:fillRef>
        <a:effectRef idx="0">
          <a:scrgbClr r="0" g="0" b="0"/>
        </a:effectRef>
        <a:fontRef idx="minor"/>
      </dsp:style>
    </dsp:sp>
    <dsp:sp modelId="{ED6BE755-DC1A-4583-9855-F2396A7E6ACD}">
      <dsp:nvSpPr>
        <dsp:cNvPr id="0" name=""/>
        <dsp:cNvSpPr/>
      </dsp:nvSpPr>
      <dsp:spPr>
        <a:xfrm>
          <a:off x="189824" y="1003173"/>
          <a:ext cx="345473" cy="34513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2411878-A931-4EDC-8686-A496BA043839}">
      <dsp:nvSpPr>
        <dsp:cNvPr id="0" name=""/>
        <dsp:cNvSpPr/>
      </dsp:nvSpPr>
      <dsp:spPr>
        <a:xfrm>
          <a:off x="725122" y="861981"/>
          <a:ext cx="3180363" cy="6863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639" tIns="72639" rIns="72639" bIns="72639" numCol="1" spcCol="1270" anchor="ctr" anchorCtr="0">
          <a:noAutofit/>
        </a:bodyPr>
        <a:lstStyle/>
        <a:p>
          <a:pPr marL="0" lvl="0" indent="0" algn="l" defTabSz="622300">
            <a:lnSpc>
              <a:spcPct val="90000"/>
            </a:lnSpc>
            <a:spcBef>
              <a:spcPct val="0"/>
            </a:spcBef>
            <a:spcAft>
              <a:spcPct val="35000"/>
            </a:spcAft>
            <a:buNone/>
          </a:pPr>
          <a:r>
            <a:rPr lang="en-AU" sz="1400" b="1" kern="1200" dirty="0">
              <a:solidFill>
                <a:schemeClr val="tx1"/>
              </a:solidFill>
            </a:rPr>
            <a:t>Operational Excellence</a:t>
          </a:r>
          <a:r>
            <a:rPr lang="en-AU" sz="1400" kern="1200" dirty="0">
              <a:solidFill>
                <a:schemeClr val="tx1"/>
              </a:solidFill>
            </a:rPr>
            <a:t>: Running/managing systems to deliver business value</a:t>
          </a:r>
          <a:endParaRPr lang="en-US" sz="1400" kern="1200" dirty="0">
            <a:solidFill>
              <a:schemeClr val="tx1"/>
            </a:solidFill>
          </a:endParaRPr>
        </a:p>
      </dsp:txBody>
      <dsp:txXfrm>
        <a:off x="725122" y="861981"/>
        <a:ext cx="3180363" cy="686349"/>
      </dsp:txXfrm>
    </dsp:sp>
    <dsp:sp modelId="{A831BFBD-7B65-4A43-A0B6-9F9A93AFFCD8}">
      <dsp:nvSpPr>
        <dsp:cNvPr id="0" name=""/>
        <dsp:cNvSpPr/>
      </dsp:nvSpPr>
      <dsp:spPr>
        <a:xfrm>
          <a:off x="0" y="1719918"/>
          <a:ext cx="3938246" cy="627519"/>
        </a:xfrm>
        <a:prstGeom prst="roundRect">
          <a:avLst>
            <a:gd name="adj" fmla="val 10000"/>
          </a:avLst>
        </a:prstGeom>
        <a:solidFill>
          <a:schemeClr val="accent5">
            <a:lumMod val="60000"/>
            <a:lumOff val="40000"/>
          </a:schemeClr>
        </a:solidFill>
        <a:ln>
          <a:noFill/>
        </a:ln>
        <a:effectLst/>
      </dsp:spPr>
      <dsp:style>
        <a:lnRef idx="0">
          <a:scrgbClr r="0" g="0" b="0"/>
        </a:lnRef>
        <a:fillRef idx="1">
          <a:scrgbClr r="0" g="0" b="0"/>
        </a:fillRef>
        <a:effectRef idx="0">
          <a:scrgbClr r="0" g="0" b="0"/>
        </a:effectRef>
        <a:fontRef idx="minor"/>
      </dsp:style>
    </dsp:sp>
    <dsp:sp modelId="{69B2DEB7-3656-4724-BCA0-162EB894ED62}">
      <dsp:nvSpPr>
        <dsp:cNvPr id="0" name=""/>
        <dsp:cNvSpPr/>
      </dsp:nvSpPr>
      <dsp:spPr>
        <a:xfrm>
          <a:off x="189824" y="1861110"/>
          <a:ext cx="345473" cy="34513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2B91A8F-C1DA-4F67-B56B-1BFED3078A21}">
      <dsp:nvSpPr>
        <dsp:cNvPr id="0" name=""/>
        <dsp:cNvSpPr/>
      </dsp:nvSpPr>
      <dsp:spPr>
        <a:xfrm>
          <a:off x="725122" y="1719918"/>
          <a:ext cx="3180363" cy="6863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639" tIns="72639" rIns="72639" bIns="72639" numCol="1" spcCol="1270" anchor="ctr" anchorCtr="0">
          <a:noAutofit/>
        </a:bodyPr>
        <a:lstStyle/>
        <a:p>
          <a:pPr marL="0" lvl="0" indent="0" algn="l" defTabSz="622300">
            <a:lnSpc>
              <a:spcPct val="90000"/>
            </a:lnSpc>
            <a:spcBef>
              <a:spcPct val="0"/>
            </a:spcBef>
            <a:spcAft>
              <a:spcPct val="35000"/>
            </a:spcAft>
            <a:buNone/>
          </a:pPr>
          <a:r>
            <a:rPr lang="en-AU" sz="1400" b="1" kern="1200">
              <a:solidFill>
                <a:schemeClr val="tx1"/>
              </a:solidFill>
            </a:rPr>
            <a:t>Security</a:t>
          </a:r>
          <a:r>
            <a:rPr lang="en-AU" sz="1400" kern="1200">
              <a:solidFill>
                <a:schemeClr val="tx1"/>
              </a:solidFill>
            </a:rPr>
            <a:t>: Protecting information and systems</a:t>
          </a:r>
          <a:endParaRPr lang="en-US" sz="1400" kern="1200">
            <a:solidFill>
              <a:schemeClr val="tx1"/>
            </a:solidFill>
          </a:endParaRPr>
        </a:p>
      </dsp:txBody>
      <dsp:txXfrm>
        <a:off x="725122" y="1719918"/>
        <a:ext cx="3180363" cy="686349"/>
      </dsp:txXfrm>
    </dsp:sp>
    <dsp:sp modelId="{0DE6C645-78B6-4679-A13D-89814DB8C7B7}">
      <dsp:nvSpPr>
        <dsp:cNvPr id="0" name=""/>
        <dsp:cNvSpPr/>
      </dsp:nvSpPr>
      <dsp:spPr>
        <a:xfrm>
          <a:off x="0" y="2577856"/>
          <a:ext cx="3938246" cy="627519"/>
        </a:xfrm>
        <a:prstGeom prst="roundRect">
          <a:avLst>
            <a:gd name="adj" fmla="val 10000"/>
          </a:avLst>
        </a:prstGeom>
        <a:solidFill>
          <a:schemeClr val="accent5">
            <a:lumMod val="60000"/>
            <a:lumOff val="40000"/>
          </a:schemeClr>
        </a:solidFill>
        <a:ln>
          <a:noFill/>
        </a:ln>
        <a:effectLst/>
      </dsp:spPr>
      <dsp:style>
        <a:lnRef idx="0">
          <a:scrgbClr r="0" g="0" b="0"/>
        </a:lnRef>
        <a:fillRef idx="1">
          <a:scrgbClr r="0" g="0" b="0"/>
        </a:fillRef>
        <a:effectRef idx="0">
          <a:scrgbClr r="0" g="0" b="0"/>
        </a:effectRef>
        <a:fontRef idx="minor"/>
      </dsp:style>
    </dsp:sp>
    <dsp:sp modelId="{8F9E87E2-114F-4147-A43C-900B796DADD2}">
      <dsp:nvSpPr>
        <dsp:cNvPr id="0" name=""/>
        <dsp:cNvSpPr/>
      </dsp:nvSpPr>
      <dsp:spPr>
        <a:xfrm>
          <a:off x="189824" y="2719048"/>
          <a:ext cx="345473" cy="34513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F703D82-4CED-40C4-8327-B7C14060B168}">
      <dsp:nvSpPr>
        <dsp:cNvPr id="0" name=""/>
        <dsp:cNvSpPr/>
      </dsp:nvSpPr>
      <dsp:spPr>
        <a:xfrm>
          <a:off x="725122" y="2577856"/>
          <a:ext cx="3180363" cy="6863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639" tIns="72639" rIns="72639" bIns="72639" numCol="1" spcCol="1270" anchor="ctr" anchorCtr="0">
          <a:noAutofit/>
        </a:bodyPr>
        <a:lstStyle/>
        <a:p>
          <a:pPr marL="0" lvl="0" indent="0" algn="l" defTabSz="622300">
            <a:lnSpc>
              <a:spcPct val="90000"/>
            </a:lnSpc>
            <a:spcBef>
              <a:spcPct val="0"/>
            </a:spcBef>
            <a:spcAft>
              <a:spcPct val="35000"/>
            </a:spcAft>
            <a:buNone/>
          </a:pPr>
          <a:r>
            <a:rPr lang="en-AU" sz="1400" b="1" kern="1200">
              <a:solidFill>
                <a:schemeClr val="tx1"/>
              </a:solidFill>
            </a:rPr>
            <a:t>Performance Efficiency</a:t>
          </a:r>
          <a:r>
            <a:rPr lang="en-AU" sz="1400" kern="1200">
              <a:solidFill>
                <a:schemeClr val="tx1"/>
              </a:solidFill>
            </a:rPr>
            <a:t>: Using IT resources efficiently</a:t>
          </a:r>
          <a:endParaRPr lang="en-US" sz="1400" kern="1200">
            <a:solidFill>
              <a:schemeClr val="tx1"/>
            </a:solidFill>
          </a:endParaRPr>
        </a:p>
      </dsp:txBody>
      <dsp:txXfrm>
        <a:off x="725122" y="2577856"/>
        <a:ext cx="3180363" cy="686349"/>
      </dsp:txXfrm>
    </dsp:sp>
    <dsp:sp modelId="{7AC0C61D-39F8-4488-90CF-B4A719608F46}">
      <dsp:nvSpPr>
        <dsp:cNvPr id="0" name=""/>
        <dsp:cNvSpPr/>
      </dsp:nvSpPr>
      <dsp:spPr>
        <a:xfrm>
          <a:off x="0" y="3435793"/>
          <a:ext cx="3938246" cy="627519"/>
        </a:xfrm>
        <a:prstGeom prst="roundRect">
          <a:avLst>
            <a:gd name="adj" fmla="val 10000"/>
          </a:avLst>
        </a:prstGeom>
        <a:solidFill>
          <a:schemeClr val="accent5">
            <a:lumMod val="60000"/>
            <a:lumOff val="40000"/>
          </a:schemeClr>
        </a:solidFill>
        <a:ln>
          <a:noFill/>
        </a:ln>
        <a:effectLst/>
      </dsp:spPr>
      <dsp:style>
        <a:lnRef idx="0">
          <a:scrgbClr r="0" g="0" b="0"/>
        </a:lnRef>
        <a:fillRef idx="1">
          <a:scrgbClr r="0" g="0" b="0"/>
        </a:fillRef>
        <a:effectRef idx="0">
          <a:scrgbClr r="0" g="0" b="0"/>
        </a:effectRef>
        <a:fontRef idx="minor"/>
      </dsp:style>
    </dsp:sp>
    <dsp:sp modelId="{E6FB9D8D-B31C-4387-B1F8-659AD0462B4C}">
      <dsp:nvSpPr>
        <dsp:cNvPr id="0" name=""/>
        <dsp:cNvSpPr/>
      </dsp:nvSpPr>
      <dsp:spPr>
        <a:xfrm>
          <a:off x="189824" y="3576985"/>
          <a:ext cx="345473" cy="34513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2ECBA9C-DBF5-4581-A9E5-96CEA44A079E}">
      <dsp:nvSpPr>
        <dsp:cNvPr id="0" name=""/>
        <dsp:cNvSpPr/>
      </dsp:nvSpPr>
      <dsp:spPr>
        <a:xfrm>
          <a:off x="725122" y="3437406"/>
          <a:ext cx="3180363" cy="6863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639" tIns="72639" rIns="72639" bIns="72639" numCol="1" spcCol="1270" anchor="ctr" anchorCtr="0">
          <a:noAutofit/>
        </a:bodyPr>
        <a:lstStyle/>
        <a:p>
          <a:pPr marL="0" lvl="0" indent="0" algn="l" defTabSz="622300">
            <a:lnSpc>
              <a:spcPct val="90000"/>
            </a:lnSpc>
            <a:spcBef>
              <a:spcPct val="0"/>
            </a:spcBef>
            <a:spcAft>
              <a:spcPct val="35000"/>
            </a:spcAft>
            <a:buNone/>
          </a:pPr>
          <a:r>
            <a:rPr lang="en-AU" sz="1400" b="1" kern="1200" dirty="0">
              <a:solidFill>
                <a:schemeClr val="tx1"/>
              </a:solidFill>
            </a:rPr>
            <a:t>Cost Optimization</a:t>
          </a:r>
          <a:r>
            <a:rPr lang="en-AU" sz="1400" kern="1200" dirty="0">
              <a:solidFill>
                <a:schemeClr val="tx1"/>
              </a:solidFill>
            </a:rPr>
            <a:t>: Avoiding un-needed costs</a:t>
          </a:r>
          <a:endParaRPr lang="en-US" sz="1400" kern="1200" dirty="0">
            <a:solidFill>
              <a:schemeClr val="tx1"/>
            </a:solidFill>
          </a:endParaRPr>
        </a:p>
      </dsp:txBody>
      <dsp:txXfrm>
        <a:off x="725122" y="3437406"/>
        <a:ext cx="3180363" cy="686349"/>
      </dsp:txXfrm>
    </dsp:sp>
    <dsp:sp modelId="{8380B2BD-91B2-4C38-9DD7-4BBA7FAAF7A1}">
      <dsp:nvSpPr>
        <dsp:cNvPr id="0" name=""/>
        <dsp:cNvSpPr/>
      </dsp:nvSpPr>
      <dsp:spPr>
        <a:xfrm>
          <a:off x="0" y="4295205"/>
          <a:ext cx="3938246" cy="627519"/>
        </a:xfrm>
        <a:prstGeom prst="roundRect">
          <a:avLst>
            <a:gd name="adj" fmla="val 10000"/>
          </a:avLst>
        </a:prstGeom>
        <a:solidFill>
          <a:schemeClr val="accent5">
            <a:lumMod val="60000"/>
            <a:lumOff val="40000"/>
          </a:schemeClr>
        </a:solidFill>
        <a:ln>
          <a:noFill/>
        </a:ln>
        <a:effectLst/>
      </dsp:spPr>
      <dsp:style>
        <a:lnRef idx="0">
          <a:scrgbClr r="0" g="0" b="0"/>
        </a:lnRef>
        <a:fillRef idx="1">
          <a:scrgbClr r="0" g="0" b="0"/>
        </a:fillRef>
        <a:effectRef idx="0">
          <a:scrgbClr r="0" g="0" b="0"/>
        </a:effectRef>
        <a:fontRef idx="minor"/>
      </dsp:style>
    </dsp:sp>
    <dsp:sp modelId="{2B71CEAA-1D48-4C7F-B443-013996086C62}">
      <dsp:nvSpPr>
        <dsp:cNvPr id="0" name=""/>
        <dsp:cNvSpPr/>
      </dsp:nvSpPr>
      <dsp:spPr>
        <a:xfrm>
          <a:off x="189824" y="4434922"/>
          <a:ext cx="345473" cy="34513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0C9980F-5EEA-461B-8AD4-9A5C83ABC7A4}">
      <dsp:nvSpPr>
        <dsp:cNvPr id="0" name=""/>
        <dsp:cNvSpPr/>
      </dsp:nvSpPr>
      <dsp:spPr>
        <a:xfrm>
          <a:off x="725122" y="4293730"/>
          <a:ext cx="3180363" cy="6863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639" tIns="72639" rIns="72639" bIns="72639" numCol="1" spcCol="1270" anchor="ctr" anchorCtr="0">
          <a:noAutofit/>
        </a:bodyPr>
        <a:lstStyle/>
        <a:p>
          <a:pPr marL="0" lvl="0" indent="0" algn="l" defTabSz="622300">
            <a:lnSpc>
              <a:spcPct val="90000"/>
            </a:lnSpc>
            <a:spcBef>
              <a:spcPct val="0"/>
            </a:spcBef>
            <a:spcAft>
              <a:spcPct val="35000"/>
            </a:spcAft>
            <a:buNone/>
          </a:pPr>
          <a:r>
            <a:rPr lang="en-AU" sz="1400" b="1" kern="1200" dirty="0">
              <a:solidFill>
                <a:schemeClr val="tx1"/>
              </a:solidFill>
            </a:rPr>
            <a:t>Sustainability</a:t>
          </a:r>
          <a:r>
            <a:rPr lang="en-AU" sz="1400" kern="1200" dirty="0">
              <a:solidFill>
                <a:schemeClr val="tx1"/>
              </a:solidFill>
            </a:rPr>
            <a:t>: Minimising environmental impact</a:t>
          </a:r>
          <a:endParaRPr lang="en-US" sz="1400" kern="1200" dirty="0">
            <a:solidFill>
              <a:schemeClr val="tx1"/>
            </a:solidFill>
          </a:endParaRPr>
        </a:p>
      </dsp:txBody>
      <dsp:txXfrm>
        <a:off x="725122" y="4293730"/>
        <a:ext cx="3180363" cy="68634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D595AB-E567-4506-A95E-35C9AFED17D7}">
      <dsp:nvSpPr>
        <dsp:cNvPr id="0" name=""/>
        <dsp:cNvSpPr/>
      </dsp:nvSpPr>
      <dsp:spPr>
        <a:xfrm>
          <a:off x="1671172" y="2406"/>
          <a:ext cx="4547585" cy="1055738"/>
        </a:xfrm>
        <a:prstGeom prst="rect">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8236" tIns="268158" rIns="88236" bIns="268158" numCol="1" spcCol="1270" anchor="ctr" anchorCtr="0">
          <a:noAutofit/>
        </a:bodyPr>
        <a:lstStyle/>
        <a:p>
          <a:pPr marL="0" lvl="0" indent="0" algn="l" defTabSz="711200">
            <a:lnSpc>
              <a:spcPct val="90000"/>
            </a:lnSpc>
            <a:spcBef>
              <a:spcPct val="0"/>
            </a:spcBef>
            <a:spcAft>
              <a:spcPct val="35000"/>
            </a:spcAft>
            <a:buNone/>
          </a:pPr>
          <a:r>
            <a:rPr lang="en-US" sz="1600" kern="1200" dirty="0">
              <a:solidFill>
                <a:schemeClr val="tx1"/>
              </a:solidFill>
            </a:rPr>
            <a:t>Design systems that automatically detect and recover from failures.</a:t>
          </a:r>
        </a:p>
      </dsp:txBody>
      <dsp:txXfrm>
        <a:off x="1671172" y="2406"/>
        <a:ext cx="4547585" cy="1055738"/>
      </dsp:txXfrm>
    </dsp:sp>
    <dsp:sp modelId="{63E088EC-BB55-44C2-83E9-420DEBBDFFE3}">
      <dsp:nvSpPr>
        <dsp:cNvPr id="0" name=""/>
        <dsp:cNvSpPr/>
      </dsp:nvSpPr>
      <dsp:spPr>
        <a:xfrm>
          <a:off x="162" y="2406"/>
          <a:ext cx="1671010" cy="1055738"/>
        </a:xfrm>
        <a:prstGeom prst="rect">
          <a:avLst/>
        </a:prstGeom>
        <a:gradFill rotWithShape="0">
          <a:gsLst>
            <a:gs pos="0">
              <a:schemeClr val="accent2">
                <a:hueOff val="0"/>
                <a:satOff val="0"/>
                <a:lumOff val="0"/>
                <a:alphaOff val="0"/>
                <a:tint val="100000"/>
                <a:shade val="100000"/>
                <a:satMod val="130000"/>
              </a:schemeClr>
            </a:gs>
            <a:gs pos="100000">
              <a:schemeClr val="accent2">
                <a:hueOff val="0"/>
                <a:satOff val="0"/>
                <a:lumOff val="0"/>
                <a:alphaOff val="0"/>
                <a:tint val="50000"/>
                <a:shade val="100000"/>
                <a:satMod val="350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60161" tIns="104284" rIns="60161" bIns="104284" numCol="1" spcCol="1270" anchor="ctr" anchorCtr="0">
          <a:noAutofit/>
        </a:bodyPr>
        <a:lstStyle/>
        <a:p>
          <a:pPr marL="0" lvl="0" indent="0" algn="ctr" defTabSz="1155700">
            <a:lnSpc>
              <a:spcPct val="90000"/>
            </a:lnSpc>
            <a:spcBef>
              <a:spcPct val="0"/>
            </a:spcBef>
            <a:spcAft>
              <a:spcPct val="35000"/>
            </a:spcAft>
            <a:buNone/>
          </a:pPr>
          <a:r>
            <a:rPr lang="en-US" sz="2600" kern="1200" dirty="0">
              <a:solidFill>
                <a:schemeClr val="tx1"/>
              </a:solidFill>
            </a:rPr>
            <a:t>Automate</a:t>
          </a:r>
        </a:p>
      </dsp:txBody>
      <dsp:txXfrm>
        <a:off x="162" y="2406"/>
        <a:ext cx="1671010" cy="1055738"/>
      </dsp:txXfrm>
    </dsp:sp>
    <dsp:sp modelId="{B2917929-43D5-46DA-B021-1374E60062FD}">
      <dsp:nvSpPr>
        <dsp:cNvPr id="0" name=""/>
        <dsp:cNvSpPr/>
      </dsp:nvSpPr>
      <dsp:spPr>
        <a:xfrm>
          <a:off x="1671172" y="1121489"/>
          <a:ext cx="4547585" cy="1055738"/>
        </a:xfrm>
        <a:prstGeom prst="rect">
          <a:avLst/>
        </a:prstGeom>
        <a:solidFill>
          <a:schemeClr val="accent3">
            <a:tint val="40000"/>
            <a:alpha val="90000"/>
            <a:hueOff val="0"/>
            <a:satOff val="0"/>
            <a:lumOff val="0"/>
            <a:alphaOff val="0"/>
          </a:schemeClr>
        </a:solidFill>
        <a:ln w="9525" cap="flat" cmpd="sng" algn="ctr">
          <a:solidFill>
            <a:schemeClr val="accent3">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8236" tIns="268158" rIns="88236" bIns="268158" numCol="1" spcCol="1270" anchor="ctr" anchorCtr="0">
          <a:noAutofit/>
        </a:bodyPr>
        <a:lstStyle/>
        <a:p>
          <a:pPr marL="0" lvl="0" indent="0" algn="l" defTabSz="711200">
            <a:lnSpc>
              <a:spcPct val="90000"/>
            </a:lnSpc>
            <a:spcBef>
              <a:spcPct val="0"/>
            </a:spcBef>
            <a:spcAft>
              <a:spcPct val="35000"/>
            </a:spcAft>
            <a:buNone/>
          </a:pPr>
          <a:r>
            <a:rPr lang="en-US" sz="1600" kern="1200" dirty="0">
              <a:solidFill>
                <a:schemeClr val="tx1"/>
              </a:solidFill>
            </a:rPr>
            <a:t>Regularly test your recovery procedures to ensure they work as expected.</a:t>
          </a:r>
        </a:p>
      </dsp:txBody>
      <dsp:txXfrm>
        <a:off x="1671172" y="1121489"/>
        <a:ext cx="4547585" cy="1055738"/>
      </dsp:txXfrm>
    </dsp:sp>
    <dsp:sp modelId="{F8088D3E-0A16-4AF7-9E08-1AFA1D80C3DC}">
      <dsp:nvSpPr>
        <dsp:cNvPr id="0" name=""/>
        <dsp:cNvSpPr/>
      </dsp:nvSpPr>
      <dsp:spPr>
        <a:xfrm>
          <a:off x="162" y="1121489"/>
          <a:ext cx="1671010" cy="1055738"/>
        </a:xfrm>
        <a:prstGeom prst="rect">
          <a:avLst/>
        </a:prstGeom>
        <a:gradFill rotWithShape="0">
          <a:gsLst>
            <a:gs pos="0">
              <a:schemeClr val="accent3">
                <a:hueOff val="0"/>
                <a:satOff val="0"/>
                <a:lumOff val="0"/>
                <a:alphaOff val="0"/>
                <a:tint val="100000"/>
                <a:shade val="100000"/>
                <a:satMod val="130000"/>
              </a:schemeClr>
            </a:gs>
            <a:gs pos="100000">
              <a:schemeClr val="accent3">
                <a:hueOff val="0"/>
                <a:satOff val="0"/>
                <a:lumOff val="0"/>
                <a:alphaOff val="0"/>
                <a:tint val="50000"/>
                <a:shade val="100000"/>
                <a:satMod val="350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60161" tIns="104284" rIns="60161" bIns="104284" numCol="1" spcCol="1270" anchor="ctr" anchorCtr="0">
          <a:noAutofit/>
        </a:bodyPr>
        <a:lstStyle/>
        <a:p>
          <a:pPr marL="0" lvl="0" indent="0" algn="ctr" defTabSz="1155700">
            <a:lnSpc>
              <a:spcPct val="90000"/>
            </a:lnSpc>
            <a:spcBef>
              <a:spcPct val="0"/>
            </a:spcBef>
            <a:spcAft>
              <a:spcPct val="35000"/>
            </a:spcAft>
            <a:buNone/>
          </a:pPr>
          <a:r>
            <a:rPr lang="en-US" sz="2600" kern="1200">
              <a:solidFill>
                <a:schemeClr val="tx1"/>
              </a:solidFill>
            </a:rPr>
            <a:t>Test</a:t>
          </a:r>
        </a:p>
      </dsp:txBody>
      <dsp:txXfrm>
        <a:off x="162" y="1121489"/>
        <a:ext cx="1671010" cy="1055738"/>
      </dsp:txXfrm>
    </dsp:sp>
    <dsp:sp modelId="{65175BE6-ED1B-4697-9ECD-E6B60944A2F5}">
      <dsp:nvSpPr>
        <dsp:cNvPr id="0" name=""/>
        <dsp:cNvSpPr/>
      </dsp:nvSpPr>
      <dsp:spPr>
        <a:xfrm>
          <a:off x="1671172" y="2240572"/>
          <a:ext cx="4547585" cy="1055738"/>
        </a:xfrm>
        <a:prstGeom prst="rect">
          <a:avLst/>
        </a:prstGeom>
        <a:solidFill>
          <a:schemeClr val="accent4">
            <a:tint val="40000"/>
            <a:alpha val="90000"/>
            <a:hueOff val="0"/>
            <a:satOff val="0"/>
            <a:lumOff val="0"/>
            <a:alphaOff val="0"/>
          </a:schemeClr>
        </a:solidFill>
        <a:ln w="9525" cap="flat" cmpd="sng" algn="ctr">
          <a:solidFill>
            <a:schemeClr val="accent4">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8236" tIns="268158" rIns="88236" bIns="268158" numCol="1" spcCol="1270" anchor="ctr" anchorCtr="0">
          <a:noAutofit/>
        </a:bodyPr>
        <a:lstStyle/>
        <a:p>
          <a:pPr marL="0" lvl="0" indent="0" algn="l" defTabSz="711200">
            <a:lnSpc>
              <a:spcPct val="90000"/>
            </a:lnSpc>
            <a:spcBef>
              <a:spcPct val="0"/>
            </a:spcBef>
            <a:spcAft>
              <a:spcPct val="35000"/>
            </a:spcAft>
            <a:buNone/>
          </a:pPr>
          <a:r>
            <a:rPr lang="en-US" sz="1600" kern="1200" dirty="0">
              <a:solidFill>
                <a:schemeClr val="tx1"/>
              </a:solidFill>
            </a:rPr>
            <a:t>Add more instances (scale </a:t>
          </a:r>
          <a:r>
            <a:rPr lang="en-US" sz="1600" b="1" kern="1200" dirty="0">
              <a:solidFill>
                <a:schemeClr val="tx1"/>
              </a:solidFill>
            </a:rPr>
            <a:t>horizontally</a:t>
          </a:r>
          <a:r>
            <a:rPr lang="en-US" sz="1600" kern="1200" dirty="0">
              <a:solidFill>
                <a:schemeClr val="tx1"/>
              </a:solidFill>
            </a:rPr>
            <a:t>) rather than upgrading instances to efficiently improve performance.</a:t>
          </a:r>
        </a:p>
      </dsp:txBody>
      <dsp:txXfrm>
        <a:off x="1671172" y="2240572"/>
        <a:ext cx="4547585" cy="1055738"/>
      </dsp:txXfrm>
    </dsp:sp>
    <dsp:sp modelId="{6B08E597-E3CD-4ADF-8D3B-EC9C91846389}">
      <dsp:nvSpPr>
        <dsp:cNvPr id="0" name=""/>
        <dsp:cNvSpPr/>
      </dsp:nvSpPr>
      <dsp:spPr>
        <a:xfrm>
          <a:off x="162" y="2240572"/>
          <a:ext cx="1671010" cy="1055738"/>
        </a:xfrm>
        <a:prstGeom prst="rect">
          <a:avLst/>
        </a:prstGeom>
        <a:gradFill rotWithShape="0">
          <a:gsLst>
            <a:gs pos="0">
              <a:schemeClr val="accent4">
                <a:hueOff val="0"/>
                <a:satOff val="0"/>
                <a:lumOff val="0"/>
                <a:alphaOff val="0"/>
                <a:tint val="100000"/>
                <a:shade val="100000"/>
                <a:satMod val="130000"/>
              </a:schemeClr>
            </a:gs>
            <a:gs pos="100000">
              <a:schemeClr val="accent4">
                <a:hueOff val="0"/>
                <a:satOff val="0"/>
                <a:lumOff val="0"/>
                <a:alphaOff val="0"/>
                <a:tint val="50000"/>
                <a:shade val="100000"/>
                <a:satMod val="350000"/>
              </a:schemeClr>
            </a:gs>
          </a:gsLst>
          <a:lin ang="16200000" scaled="0"/>
        </a:gradFill>
        <a:ln w="9525" cap="flat" cmpd="sng" algn="ctr">
          <a:solidFill>
            <a:schemeClr val="accent4">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60161" tIns="104284" rIns="60161" bIns="104284" numCol="1" spcCol="1270" anchor="ctr" anchorCtr="0">
          <a:noAutofit/>
        </a:bodyPr>
        <a:lstStyle/>
        <a:p>
          <a:pPr marL="0" lvl="0" indent="0" algn="ctr" defTabSz="1155700">
            <a:lnSpc>
              <a:spcPct val="90000"/>
            </a:lnSpc>
            <a:spcBef>
              <a:spcPct val="0"/>
            </a:spcBef>
            <a:spcAft>
              <a:spcPct val="35000"/>
            </a:spcAft>
            <a:buNone/>
          </a:pPr>
          <a:r>
            <a:rPr lang="en-US" sz="2600" kern="1200" dirty="0">
              <a:solidFill>
                <a:schemeClr val="tx1"/>
              </a:solidFill>
            </a:rPr>
            <a:t>Scale</a:t>
          </a:r>
        </a:p>
      </dsp:txBody>
      <dsp:txXfrm>
        <a:off x="162" y="2240572"/>
        <a:ext cx="1671010" cy="1055738"/>
      </dsp:txXfrm>
    </dsp:sp>
    <dsp:sp modelId="{84DC257B-501E-4EF2-B140-FC10DF1EE786}">
      <dsp:nvSpPr>
        <dsp:cNvPr id="0" name=""/>
        <dsp:cNvSpPr/>
      </dsp:nvSpPr>
      <dsp:spPr>
        <a:xfrm>
          <a:off x="1671172" y="3359655"/>
          <a:ext cx="4547585" cy="1055738"/>
        </a:xfrm>
        <a:prstGeom prst="rect">
          <a:avLst/>
        </a:prstGeom>
        <a:solidFill>
          <a:schemeClr val="accent5">
            <a:tint val="40000"/>
            <a:alpha val="90000"/>
            <a:hueOff val="0"/>
            <a:satOff val="0"/>
            <a:lumOff val="0"/>
            <a:alphaOff val="0"/>
          </a:schemeClr>
        </a:solidFill>
        <a:ln w="9525" cap="flat" cmpd="sng" algn="ctr">
          <a:solidFill>
            <a:schemeClr val="accent5">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8236" tIns="268158" rIns="88236" bIns="268158" numCol="1" spcCol="1270" anchor="ctr" anchorCtr="0">
          <a:noAutofit/>
        </a:bodyPr>
        <a:lstStyle/>
        <a:p>
          <a:pPr marL="0" lvl="0" indent="0" algn="l" defTabSz="711200">
            <a:lnSpc>
              <a:spcPct val="90000"/>
            </a:lnSpc>
            <a:spcBef>
              <a:spcPct val="0"/>
            </a:spcBef>
            <a:spcAft>
              <a:spcPct val="35000"/>
            </a:spcAft>
            <a:buNone/>
          </a:pPr>
          <a:r>
            <a:rPr lang="en-US" sz="1600" kern="1200" dirty="0">
              <a:solidFill>
                <a:schemeClr val="tx1"/>
              </a:solidFill>
            </a:rPr>
            <a:t>Instead of adding many servers “just in case”, use a smaller capacity and scale up as needed based on performance needs.</a:t>
          </a:r>
        </a:p>
      </dsp:txBody>
      <dsp:txXfrm>
        <a:off x="1671172" y="3359655"/>
        <a:ext cx="4547585" cy="1055738"/>
      </dsp:txXfrm>
    </dsp:sp>
    <dsp:sp modelId="{CA36EC15-5A0C-4976-8B3B-724FC4E7E3B3}">
      <dsp:nvSpPr>
        <dsp:cNvPr id="0" name=""/>
        <dsp:cNvSpPr/>
      </dsp:nvSpPr>
      <dsp:spPr>
        <a:xfrm>
          <a:off x="162" y="3359655"/>
          <a:ext cx="1671010" cy="1055738"/>
        </a:xfrm>
        <a:prstGeom prst="rect">
          <a:avLst/>
        </a:prstGeom>
        <a:gradFill rotWithShape="0">
          <a:gsLst>
            <a:gs pos="0">
              <a:schemeClr val="accent5">
                <a:hueOff val="0"/>
                <a:satOff val="0"/>
                <a:lumOff val="0"/>
                <a:alphaOff val="0"/>
                <a:tint val="100000"/>
                <a:shade val="100000"/>
                <a:satMod val="130000"/>
              </a:schemeClr>
            </a:gs>
            <a:gs pos="100000">
              <a:schemeClr val="accent5">
                <a:hueOff val="0"/>
                <a:satOff val="0"/>
                <a:lumOff val="0"/>
                <a:alphaOff val="0"/>
                <a:tint val="50000"/>
                <a:shade val="100000"/>
                <a:satMod val="350000"/>
              </a:schemeClr>
            </a:gs>
          </a:gsLst>
          <a:lin ang="16200000" scaled="0"/>
        </a:gradFill>
        <a:ln w="9525" cap="flat" cmpd="sng" algn="ctr">
          <a:solidFill>
            <a:schemeClr val="accent5">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60161" tIns="104284" rIns="60161" bIns="104284" numCol="1" spcCol="1270" anchor="ctr" anchorCtr="0">
          <a:noAutofit/>
        </a:bodyPr>
        <a:lstStyle/>
        <a:p>
          <a:pPr marL="0" lvl="0" indent="0" algn="ctr" defTabSz="1155700">
            <a:lnSpc>
              <a:spcPct val="90000"/>
            </a:lnSpc>
            <a:spcBef>
              <a:spcPct val="0"/>
            </a:spcBef>
            <a:spcAft>
              <a:spcPct val="35000"/>
            </a:spcAft>
            <a:buNone/>
          </a:pPr>
          <a:r>
            <a:rPr lang="en-US" sz="2600" kern="1200" dirty="0">
              <a:solidFill>
                <a:schemeClr val="tx1"/>
              </a:solidFill>
            </a:rPr>
            <a:t>Stop Guessing</a:t>
          </a:r>
        </a:p>
      </dsp:txBody>
      <dsp:txXfrm>
        <a:off x="162" y="3359655"/>
        <a:ext cx="1671010" cy="1055738"/>
      </dsp:txXfrm>
    </dsp:sp>
    <dsp:sp modelId="{189556F6-8985-4505-833A-B4D21C9C0191}">
      <dsp:nvSpPr>
        <dsp:cNvPr id="0" name=""/>
        <dsp:cNvSpPr/>
      </dsp:nvSpPr>
      <dsp:spPr>
        <a:xfrm>
          <a:off x="1671172" y="4478738"/>
          <a:ext cx="4547585" cy="1055738"/>
        </a:xfrm>
        <a:prstGeom prst="rect">
          <a:avLst/>
        </a:prstGeom>
        <a:solidFill>
          <a:schemeClr val="accent6">
            <a:tint val="40000"/>
            <a:alpha val="90000"/>
            <a:hueOff val="0"/>
            <a:satOff val="0"/>
            <a:lumOff val="0"/>
            <a:alphaOff val="0"/>
          </a:schemeClr>
        </a:solidFill>
        <a:ln w="9525" cap="flat" cmpd="sng" algn="ctr">
          <a:solidFill>
            <a:schemeClr val="accent6">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8236" tIns="268158" rIns="88236" bIns="268158" numCol="1" spcCol="1270" anchor="ctr" anchorCtr="0">
          <a:noAutofit/>
        </a:bodyPr>
        <a:lstStyle/>
        <a:p>
          <a:pPr marL="0" lvl="0" indent="0" algn="l" defTabSz="711200">
            <a:lnSpc>
              <a:spcPct val="90000"/>
            </a:lnSpc>
            <a:spcBef>
              <a:spcPct val="0"/>
            </a:spcBef>
            <a:spcAft>
              <a:spcPct val="35000"/>
            </a:spcAft>
            <a:buNone/>
          </a:pPr>
          <a:r>
            <a:rPr lang="en-US" sz="1600" kern="1200" dirty="0">
              <a:solidFill>
                <a:schemeClr val="tx1"/>
              </a:solidFill>
            </a:rPr>
            <a:t>Use automation for changes to reduce the risk of misconfigurations and human error. </a:t>
          </a:r>
        </a:p>
      </dsp:txBody>
      <dsp:txXfrm>
        <a:off x="1671172" y="4478738"/>
        <a:ext cx="4547585" cy="1055738"/>
      </dsp:txXfrm>
    </dsp:sp>
    <dsp:sp modelId="{4EA845D1-1E4F-43AA-8F13-85E4810110CE}">
      <dsp:nvSpPr>
        <dsp:cNvPr id="0" name=""/>
        <dsp:cNvSpPr/>
      </dsp:nvSpPr>
      <dsp:spPr>
        <a:xfrm>
          <a:off x="162" y="4478738"/>
          <a:ext cx="1671010" cy="1055738"/>
        </a:xfrm>
        <a:prstGeom prst="rect">
          <a:avLst/>
        </a:prstGeom>
        <a:gradFill rotWithShape="0">
          <a:gsLst>
            <a:gs pos="0">
              <a:schemeClr val="accent6">
                <a:hueOff val="0"/>
                <a:satOff val="0"/>
                <a:lumOff val="0"/>
                <a:alphaOff val="0"/>
                <a:tint val="100000"/>
                <a:shade val="100000"/>
                <a:satMod val="130000"/>
              </a:schemeClr>
            </a:gs>
            <a:gs pos="100000">
              <a:schemeClr val="accent6">
                <a:hueOff val="0"/>
                <a:satOff val="0"/>
                <a:lumOff val="0"/>
                <a:alphaOff val="0"/>
                <a:tint val="50000"/>
                <a:shade val="100000"/>
                <a:satMod val="350000"/>
              </a:schemeClr>
            </a:gs>
          </a:gsLst>
          <a:lin ang="16200000" scaled="0"/>
        </a:gradFill>
        <a:ln w="9525" cap="flat" cmpd="sng" algn="ctr">
          <a:solidFill>
            <a:schemeClr val="accent6">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60161" tIns="104284" rIns="60161" bIns="104284" numCol="1" spcCol="1270" anchor="ctr" anchorCtr="0">
          <a:noAutofit/>
        </a:bodyPr>
        <a:lstStyle/>
        <a:p>
          <a:pPr marL="0" lvl="0" indent="0" algn="ctr" defTabSz="1155700">
            <a:lnSpc>
              <a:spcPct val="90000"/>
            </a:lnSpc>
            <a:spcBef>
              <a:spcPct val="0"/>
            </a:spcBef>
            <a:spcAft>
              <a:spcPct val="35000"/>
            </a:spcAft>
            <a:buNone/>
          </a:pPr>
          <a:r>
            <a:rPr lang="en-US" sz="2600" kern="1200" dirty="0">
              <a:solidFill>
                <a:schemeClr val="tx1"/>
              </a:solidFill>
            </a:rPr>
            <a:t>Manage Change</a:t>
          </a:r>
        </a:p>
      </dsp:txBody>
      <dsp:txXfrm>
        <a:off x="162" y="4478738"/>
        <a:ext cx="1671010" cy="1055738"/>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6/7/layout/VerticalSolidActionList">
  <dgm:title val="Vertical Solid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alignNode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AccFollow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E39766-F617-411C-B63B-97198CB5E291}" type="datetimeFigureOut">
              <a:rPr lang="en-AU" smtClean="0"/>
              <a:t>4/06/2026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812531-01E8-440A-809A-3B8DCDA64BF6}" type="slidenum">
              <a:rPr lang="en-AU" smtClean="0"/>
              <a:t>‹#›</a:t>
            </a:fld>
            <a:endParaRPr lang="en-AU"/>
          </a:p>
        </p:txBody>
      </p:sp>
    </p:spTree>
    <p:extLst>
      <p:ext uri="{BB962C8B-B14F-4D97-AF65-F5344CB8AC3E}">
        <p14:creationId xmlns:p14="http://schemas.microsoft.com/office/powerpoint/2010/main" val="18320033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A1812531-01E8-440A-809A-3B8DCDA64BF6}" type="slidenum">
              <a:rPr lang="en-AU" smtClean="0"/>
              <a:t>6</a:t>
            </a:fld>
            <a:endParaRPr lang="en-AU"/>
          </a:p>
        </p:txBody>
      </p:sp>
    </p:spTree>
    <p:extLst>
      <p:ext uri="{BB962C8B-B14F-4D97-AF65-F5344CB8AC3E}">
        <p14:creationId xmlns:p14="http://schemas.microsoft.com/office/powerpoint/2010/main" val="14541994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A1812531-01E8-440A-809A-3B8DCDA64BF6}" type="slidenum">
              <a:rPr lang="en-AU" smtClean="0"/>
              <a:t>11</a:t>
            </a:fld>
            <a:endParaRPr lang="en-AU"/>
          </a:p>
        </p:txBody>
      </p:sp>
    </p:spTree>
    <p:extLst>
      <p:ext uri="{BB962C8B-B14F-4D97-AF65-F5344CB8AC3E}">
        <p14:creationId xmlns:p14="http://schemas.microsoft.com/office/powerpoint/2010/main" val="3643964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A1812531-01E8-440A-809A-3B8DCDA64BF6}" type="slidenum">
              <a:rPr lang="en-AU" smtClean="0"/>
              <a:t>17</a:t>
            </a:fld>
            <a:endParaRPr lang="en-AU"/>
          </a:p>
        </p:txBody>
      </p:sp>
    </p:spTree>
    <p:extLst>
      <p:ext uri="{BB962C8B-B14F-4D97-AF65-F5344CB8AC3E}">
        <p14:creationId xmlns:p14="http://schemas.microsoft.com/office/powerpoint/2010/main" val="39310938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A1812531-01E8-440A-809A-3B8DCDA64BF6}" type="slidenum">
              <a:rPr lang="en-AU" smtClean="0"/>
              <a:t>23</a:t>
            </a:fld>
            <a:endParaRPr lang="en-AU"/>
          </a:p>
        </p:txBody>
      </p:sp>
    </p:spTree>
    <p:extLst>
      <p:ext uri="{BB962C8B-B14F-4D97-AF65-F5344CB8AC3E}">
        <p14:creationId xmlns:p14="http://schemas.microsoft.com/office/powerpoint/2010/main" val="21899552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88CB88-2416-8CBB-316E-42567BFDAE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1943F2-E2AE-87CB-7710-62A44A35E5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CE4D1E-1676-3E7B-4D16-B4DC332FC7A5}"/>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9D5E28B8-ADC2-0A39-297D-37678A42E7F6}"/>
              </a:ext>
            </a:extLst>
          </p:cNvPr>
          <p:cNvSpPr>
            <a:spLocks noGrp="1"/>
          </p:cNvSpPr>
          <p:nvPr>
            <p:ph type="sldNum" sz="quarter" idx="5"/>
          </p:nvPr>
        </p:nvSpPr>
        <p:spPr/>
        <p:txBody>
          <a:bodyPr/>
          <a:lstStyle/>
          <a:p>
            <a:fld id="{A1812531-01E8-440A-809A-3B8DCDA64BF6}" type="slidenum">
              <a:rPr lang="en-AU" smtClean="0"/>
              <a:t>24</a:t>
            </a:fld>
            <a:endParaRPr lang="en-AU"/>
          </a:p>
        </p:txBody>
      </p:sp>
    </p:spTree>
    <p:extLst>
      <p:ext uri="{BB962C8B-B14F-4D97-AF65-F5344CB8AC3E}">
        <p14:creationId xmlns:p14="http://schemas.microsoft.com/office/powerpoint/2010/main" val="39386278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CF5C13-74DF-565C-90FF-E42D5D6849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6D0EBB-A7CF-B218-DEFD-68154FF01F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0BBD3A-33BA-5278-9885-BCCEABED83EE}"/>
              </a:ext>
            </a:extLst>
          </p:cNvPr>
          <p:cNvSpPr>
            <a:spLocks noGrp="1"/>
          </p:cNvSpPr>
          <p:nvPr>
            <p:ph type="body" idx="1"/>
          </p:nvPr>
        </p:nvSpPr>
        <p:spPr/>
        <p:txBody>
          <a:bodyPr/>
          <a:lstStyle/>
          <a:p>
            <a:pPr marL="0" marR="0" lvl="0" indent="0" defTabSz="914400" rtl="0" eaLnBrk="1" fontAlgn="auto" latinLnBrk="0" hangingPunct="1">
              <a:buClrTx/>
              <a:buSzTx/>
              <a:buFontTx/>
              <a:buNone/>
              <a:tabLst/>
              <a:defRPr/>
            </a:pPr>
            <a:r>
              <a:rPr lang="en-US" dirty="0">
                <a:latin typeface="Calibri" panose="020F0502020204030204" pitchFamily="34" charset="0"/>
              </a:rPr>
              <a:t>In the cloud, scaling can be handled automatically. </a:t>
            </a:r>
            <a:r>
              <a:rPr lang="en-US" dirty="0">
                <a:latin typeface="Calibri" panose="020F0502020204030204" pitchFamily="34" charset="0"/>
                <a:ea typeface="Amazon Ember Light" panose="020B0403020204020204" pitchFamily="34" charset="0"/>
                <a:cs typeface="Amazon Ember Light" panose="020B0403020204020204" pitchFamily="34" charset="0"/>
              </a:rPr>
              <a:t>Amazon EC2 Auto Scaling does this by grouping EC2 instances in a management group called an Amazon EC2 Auto Scaling group. The group can span across Availability Zones. An Amazon EC2 Auto Scaling group can</a:t>
            </a:r>
            <a:r>
              <a:rPr lang="en-US" dirty="0">
                <a:latin typeface="Calibri" panose="020F0502020204030204" pitchFamily="34" charset="0"/>
              </a:rPr>
              <a:t> automatically add or remove EC2 instances according to user-defined scaling policies, schedule actions, and Elastic Load Balancing (ELB) health checks.</a:t>
            </a:r>
            <a:r>
              <a:rPr lang="en-US" kern="1200" dirty="0">
                <a:solidFill>
                  <a:schemeClr val="tx1"/>
                </a:solidFill>
                <a:effectLst/>
                <a:latin typeface="Calibri" panose="020F0502020204030204" pitchFamily="34" charset="0"/>
                <a:ea typeface="+mn-ea"/>
                <a:cs typeface="+mn-cs"/>
              </a:rPr>
              <a:t> When a new EC2 instance is added to the group, a launch template or launch configuration that specifies the instance configuration is used.</a:t>
            </a:r>
          </a:p>
          <a:p>
            <a:pPr marL="0" marR="0" lvl="0" indent="0" defTabSz="914400" rtl="0" eaLnBrk="1" fontAlgn="auto" latinLnBrk="0" hangingPunct="1">
              <a:buClrTx/>
              <a:buSzTx/>
              <a:buFontTx/>
              <a:buNone/>
              <a:tabLst/>
              <a:defRPr/>
            </a:pPr>
            <a:endParaRPr lang="en-US" kern="1200" dirty="0">
              <a:solidFill>
                <a:schemeClr val="tx1"/>
              </a:solidFill>
              <a:effectLst/>
              <a:latin typeface="Calibri" panose="020F0502020204030204" pitchFamily="34" charset="0"/>
              <a:ea typeface="+mn-ea"/>
              <a:cs typeface="+mn-cs"/>
            </a:endParaRPr>
          </a:p>
          <a:p>
            <a:pPr marL="0" marR="0" lvl="0" indent="0" defTabSz="914400" rtl="0" eaLnBrk="1" fontAlgn="auto" latinLnBrk="0" hangingPunct="1">
              <a:buClrTx/>
              <a:buSzTx/>
              <a:buFontTx/>
              <a:buNone/>
              <a:tabLst/>
              <a:defRPr/>
            </a:pPr>
            <a:r>
              <a:rPr lang="en-US" kern="1200" dirty="0">
                <a:solidFill>
                  <a:schemeClr val="tx1"/>
                </a:solidFill>
                <a:effectLst/>
                <a:latin typeface="Calibri" panose="020F0502020204030204" pitchFamily="34" charset="0"/>
                <a:ea typeface="+mn-ea"/>
                <a:cs typeface="+mn-cs"/>
              </a:rPr>
              <a:t>Amazon EC2 Auto Scaling integrates with ELB. It automatically registers new instances with load balancers to distribute incoming traffic across the instances in the group. Amazon EC2 Auto Scaling can receive notifications of an unhealthy instance to remove from the group. The group can also balance the number of instances across Availability Zones so that the number of instances is similar for each Availability Zone.</a:t>
            </a:r>
          </a:p>
          <a:p>
            <a:pPr marL="0" marR="0" lvl="0" indent="0" defTabSz="914400" rtl="0" eaLnBrk="1" fontAlgn="auto" latinLnBrk="0" hangingPunct="1">
              <a:buClrTx/>
              <a:buSzTx/>
              <a:buFontTx/>
              <a:buNone/>
              <a:tabLst/>
              <a:defRPr/>
            </a:pPr>
            <a:endParaRPr lang="en-US" kern="1200" dirty="0">
              <a:solidFill>
                <a:schemeClr val="tx1"/>
              </a:solidFill>
              <a:effectLst/>
              <a:latin typeface="Calibri" panose="020F0502020204030204" pitchFamily="34" charset="0"/>
              <a:ea typeface="+mn-ea"/>
              <a:cs typeface="+mn-cs"/>
            </a:endParaRPr>
          </a:p>
          <a:p>
            <a:r>
              <a:rPr lang="en-US" b="0" i="0" dirty="0">
                <a:solidFill>
                  <a:srgbClr val="16191F"/>
                </a:solidFill>
                <a:effectLst/>
                <a:latin typeface="Calibri" panose="020F0502020204030204" pitchFamily="34" charset="0"/>
              </a:rPr>
              <a:t>With Amazon EC2 Auto Scaling, your applications gain the following benefits:</a:t>
            </a:r>
          </a:p>
          <a:p>
            <a:pPr marL="171450" indent="-171450">
              <a:buFont typeface="Arial" panose="020B0604020202020204" pitchFamily="34" charset="0"/>
              <a:buChar char="•"/>
            </a:pPr>
            <a:r>
              <a:rPr lang="en-US" b="0" i="0" dirty="0">
                <a:solidFill>
                  <a:srgbClr val="16191F"/>
                </a:solidFill>
                <a:effectLst/>
                <a:latin typeface="Calibri" panose="020F0502020204030204" pitchFamily="34" charset="0"/>
              </a:rPr>
              <a:t>Better fault tolerance: Amazon EC2 Auto Scaling can detect when an instance is unhealthy, terminate it, and launch an instance to replace it. You can also configure Amazon EC2 Auto Scaling to use multiple Availability Zones. If one Availability Zone becomes unavailable, Amazon EC2 Auto Scaling can launch instances in another one to compensate.</a:t>
            </a:r>
          </a:p>
          <a:p>
            <a:pPr marL="171450" indent="-171450">
              <a:buFont typeface="Arial" panose="020B0604020202020204" pitchFamily="34" charset="0"/>
              <a:buChar char="•"/>
            </a:pPr>
            <a:r>
              <a:rPr lang="en-US" b="0" i="0" dirty="0">
                <a:solidFill>
                  <a:srgbClr val="16191F"/>
                </a:solidFill>
                <a:effectLst/>
                <a:latin typeface="Calibri" panose="020F0502020204030204" pitchFamily="34" charset="0"/>
              </a:rPr>
              <a:t>Better availability: Amazon EC2 Auto Scaling helps ensure that your application always has the right amount of capacity to handle the current traffic demand.</a:t>
            </a:r>
          </a:p>
          <a:p>
            <a:pPr marL="171450" indent="-171450">
              <a:buFont typeface="Arial" panose="020B0604020202020204" pitchFamily="34" charset="0"/>
              <a:buChar char="•"/>
            </a:pPr>
            <a:r>
              <a:rPr lang="en-US" b="0" i="0" dirty="0">
                <a:solidFill>
                  <a:srgbClr val="16191F"/>
                </a:solidFill>
                <a:effectLst/>
                <a:latin typeface="Calibri" panose="020F0502020204030204" pitchFamily="34" charset="0"/>
              </a:rPr>
              <a:t>Better cost management: Amazon EC2 Auto Scaling can dynamically increase and decrease capacity as needed. Because you pay for the EC2 instances you use, you save money by launching instances when they are needed and terminating them when they aren’t.</a:t>
            </a:r>
          </a:p>
          <a:p>
            <a:pPr>
              <a:buFont typeface="Arial" panose="020B0604020202020204" pitchFamily="34" charset="0"/>
              <a:buNone/>
            </a:pPr>
            <a:endParaRPr lang="en-US" b="0" i="0" dirty="0">
              <a:solidFill>
                <a:srgbClr val="16191F"/>
              </a:solidFill>
              <a:effectLst/>
              <a:latin typeface="Calibri" panose="020F0502020204030204" pitchFamily="34" charset="0"/>
            </a:endParaRPr>
          </a:p>
          <a:p>
            <a:pPr>
              <a:buFont typeface="Arial" panose="020B0604020202020204" pitchFamily="34" charset="0"/>
              <a:buNone/>
            </a:pPr>
            <a:r>
              <a:rPr lang="en-US" b="0" i="0">
                <a:solidFill>
                  <a:srgbClr val="16191F"/>
                </a:solidFill>
                <a:effectLst/>
                <a:latin typeface="Calibri" panose="020F0502020204030204" pitchFamily="34" charset="0"/>
              </a:rPr>
              <a:t>For more information, see the AWS Well-Architected Framework on the content resources page of your online course.</a:t>
            </a:r>
            <a:endParaRPr lang="en-US" b="0">
              <a:latin typeface="Calibri" panose="020F0502020204030204" pitchFamily="34" charset="0"/>
            </a:endParaRPr>
          </a:p>
          <a:p>
            <a:endParaRPr lang="en-AU" dirty="0"/>
          </a:p>
        </p:txBody>
      </p:sp>
      <p:sp>
        <p:nvSpPr>
          <p:cNvPr id="4" name="Slide Number Placeholder 3">
            <a:extLst>
              <a:ext uri="{FF2B5EF4-FFF2-40B4-BE49-F238E27FC236}">
                <a16:creationId xmlns:a16="http://schemas.microsoft.com/office/drawing/2014/main" id="{74503BE9-CF32-D147-BC5D-0B341B93A5BC}"/>
              </a:ext>
            </a:extLst>
          </p:cNvPr>
          <p:cNvSpPr>
            <a:spLocks noGrp="1"/>
          </p:cNvSpPr>
          <p:nvPr>
            <p:ph type="sldNum" sz="quarter" idx="5"/>
          </p:nvPr>
        </p:nvSpPr>
        <p:spPr/>
        <p:txBody>
          <a:bodyPr/>
          <a:lstStyle/>
          <a:p>
            <a:fld id="{A1812531-01E8-440A-809A-3B8DCDA64BF6}" type="slidenum">
              <a:rPr lang="en-AU" smtClean="0"/>
              <a:t>25</a:t>
            </a:fld>
            <a:endParaRPr lang="en-AU"/>
          </a:p>
        </p:txBody>
      </p:sp>
    </p:spTree>
    <p:extLst>
      <p:ext uri="{BB962C8B-B14F-4D97-AF65-F5344CB8AC3E}">
        <p14:creationId xmlns:p14="http://schemas.microsoft.com/office/powerpoint/2010/main" val="30186337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A1812531-01E8-440A-809A-3B8DCDA64BF6}" type="slidenum">
              <a:rPr lang="en-AU" smtClean="0"/>
              <a:t>29</a:t>
            </a:fld>
            <a:endParaRPr lang="en-AU"/>
          </a:p>
        </p:txBody>
      </p:sp>
    </p:spTree>
    <p:extLst>
      <p:ext uri="{BB962C8B-B14F-4D97-AF65-F5344CB8AC3E}">
        <p14:creationId xmlns:p14="http://schemas.microsoft.com/office/powerpoint/2010/main" val="7516052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A2929"/>
        </a:solidFill>
        <a:effectLst/>
      </p:bgPr>
    </p:bg>
    <p:spTree>
      <p:nvGrpSpPr>
        <p:cNvPr id="1" name=""/>
        <p:cNvGrpSpPr/>
        <p:nvPr/>
      </p:nvGrpSpPr>
      <p:grpSpPr>
        <a:xfrm>
          <a:off x="0" y="0"/>
          <a:ext cx="0" cy="0"/>
          <a:chOff x="0" y="0"/>
          <a:chExt cx="0" cy="0"/>
        </a:xfrm>
      </p:grpSpPr>
      <p:sp>
        <p:nvSpPr>
          <p:cNvPr id="2" name="Rectangle 1"/>
          <p:cNvSpPr/>
          <p:nvPr/>
        </p:nvSpPr>
        <p:spPr>
          <a:xfrm>
            <a:off x="0" y="0"/>
            <a:ext cx="411480" cy="6858000"/>
          </a:xfrm>
          <a:prstGeom prst="rect">
            <a:avLst/>
          </a:prstGeom>
          <a:solidFill>
            <a:srgbClr val="EDAB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011680"/>
            <a:ext cx="10515600" cy="2377440"/>
          </a:xfrm>
          <a:prstGeom prst="rect">
            <a:avLst/>
          </a:prstGeom>
          <a:noFill/>
        </p:spPr>
        <p:txBody>
          <a:bodyPr wrap="square" lIns="0" tIns="0" rIns="0" bIns="0" anchor="t">
            <a:spAutoFit/>
          </a:bodyPr>
          <a:lstStyle/>
          <a:p>
            <a:r>
              <a:rPr sz="2000" b="1" i="0">
                <a:solidFill>
                  <a:srgbClr val="FBB900"/>
                </a:solidFill>
                <a:latin typeface="Roboto"/>
              </a:rPr>
              <a:t>TOPIC 11</a:t>
            </a:r>
          </a:p>
          <a:p>
            <a:pPr>
              <a:spcBef>
                <a:spcPts val="800"/>
              </a:spcBef>
            </a:pPr>
            <a:r>
              <a:rPr sz="4600" b="1" i="0">
                <a:solidFill>
                  <a:srgbClr val="FFFFFF"/>
                </a:solidFill>
                <a:latin typeface="Roboto"/>
              </a:rPr>
              <a:t>HA concepts</a:t>
            </a:r>
          </a:p>
          <a:p>
            <a:pPr>
              <a:spcBef>
                <a:spcPts val="1200"/>
              </a:spcBef>
            </a:pPr>
            <a:r>
              <a:rPr sz="2200" b="0" i="1">
                <a:solidFill>
                  <a:srgbClr val="D1D1D1"/>
                </a:solidFill>
                <a:latin typeface="Roboto Light"/>
              </a:rPr>
              <a:t>What high availability is — and how the cloud achieves it</a:t>
            </a:r>
          </a:p>
        </p:txBody>
      </p:sp>
      <p:sp>
        <p:nvSpPr>
          <p:cNvPr id="4" name="TextBox 3"/>
          <p:cNvSpPr txBox="1"/>
          <p:nvPr/>
        </p:nvSpPr>
        <p:spPr>
          <a:xfrm>
            <a:off x="914400" y="5943600"/>
            <a:ext cx="7315200" cy="457200"/>
          </a:xfrm>
          <a:prstGeom prst="rect">
            <a:avLst/>
          </a:prstGeom>
          <a:noFill/>
        </p:spPr>
        <p:txBody>
          <a:bodyPr wrap="square" lIns="0" tIns="0" rIns="0" bIns="0" anchor="t">
            <a:spAutoFit/>
          </a:bodyPr>
          <a:lstStyle/>
          <a:p>
            <a:r>
              <a:rPr sz="1600" b="1" i="0">
                <a:solidFill>
                  <a:srgbClr val="FFFFFF"/>
                </a:solidFill>
                <a:latin typeface="Roboto"/>
              </a:rPr>
              <a:t>Kangan </a:t>
            </a:r>
            <a:r>
              <a:rPr sz="1600" b="1" i="0">
                <a:solidFill>
                  <a:srgbClr val="EDAB0C"/>
                </a:solidFill>
                <a:latin typeface="Roboto"/>
              </a:rPr>
              <a:t>Institute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881360" cy="960120"/>
          </a:xfrm>
          <a:prstGeom prst="rect">
            <a:avLst/>
          </a:prstGeom>
          <a:noFill/>
        </p:spPr>
        <p:txBody>
          <a:bodyPr wrap="square" lIns="0" tIns="0" rIns="0" bIns="0" anchor="t">
            <a:spAutoFit/>
          </a:bodyPr>
          <a:lstStyle/>
          <a:p>
            <a:r>
              <a:rPr sz="2800" b="1" i="0">
                <a:solidFill>
                  <a:srgbClr val="2A2929"/>
                </a:solidFill>
                <a:latin typeface="Roboto"/>
              </a:rPr>
              <a:t>Making the baseline highly available</a:t>
            </a:r>
          </a:p>
          <a:p>
            <a:pPr>
              <a:spcBef>
                <a:spcPts val="200"/>
              </a:spcBef>
            </a:pPr>
            <a:r>
              <a:rPr sz="1800" b="0" i="1">
                <a:solidFill>
                  <a:srgbClr val="D68E10"/>
                </a:solidFill>
                <a:latin typeface="Roboto Light"/>
              </a:rPr>
              <a:t>the AT3 arc</a:t>
            </a:r>
          </a:p>
        </p:txBody>
      </p:sp>
      <p:sp>
        <p:nvSpPr>
          <p:cNvPr id="3" name="Rectangle 2"/>
          <p:cNvSpPr/>
          <p:nvPr/>
        </p:nvSpPr>
        <p:spPr>
          <a:xfrm>
            <a:off x="658368" y="1371600"/>
            <a:ext cx="1463040" cy="50800"/>
          </a:xfrm>
          <a:prstGeom prst="rect">
            <a:avLst/>
          </a:prstGeom>
          <a:solidFill>
            <a:srgbClr val="EDAB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1691640"/>
            <a:ext cx="10881360" cy="4480560"/>
          </a:xfrm>
          <a:prstGeom prst="rect">
            <a:avLst/>
          </a:prstGeom>
          <a:noFill/>
        </p:spPr>
        <p:txBody>
          <a:bodyPr wrap="square" lIns="0" tIns="0" rIns="0" bIns="0" anchor="t">
            <a:spAutoFit/>
          </a:bodyPr>
          <a:lstStyle/>
          <a:p>
            <a:pPr marL="0" indent="0">
              <a:lnSpc>
                <a:spcPct val="105000"/>
              </a:lnSpc>
              <a:spcBef>
                <a:spcPts val="0"/>
              </a:spcBef>
              <a:spcAft>
                <a:spcPts val="1000"/>
              </a:spcAft>
            </a:pPr>
            <a:r>
              <a:rPr sz="1800" b="1" i="0">
                <a:solidFill>
                  <a:srgbClr val="EDAB0C"/>
                </a:solidFill>
                <a:latin typeface="Roboto"/>
              </a:rPr>
              <a:t>■  </a:t>
            </a:r>
            <a:r>
              <a:rPr sz="1800" b="0" i="0">
                <a:solidFill>
                  <a:srgbClr val="2A2929"/>
                </a:solidFill>
                <a:latin typeface="Roboto"/>
              </a:rPr>
              <a:t>AT2 built a working single-AZ baseline. AT3 makes it highly available — resilient to losing an Availability Zone.</a:t>
            </a:r>
          </a:p>
          <a:p>
            <a:pPr marL="0" indent="0">
              <a:lnSpc>
                <a:spcPct val="105000"/>
              </a:lnSpc>
              <a:spcBef>
                <a:spcPts val="0"/>
              </a:spcBef>
              <a:spcAft>
                <a:spcPts val="1000"/>
              </a:spcAft>
            </a:pPr>
            <a:r>
              <a:rPr sz="1800" b="1" i="0">
                <a:solidFill>
                  <a:srgbClr val="92268F"/>
                </a:solidFill>
                <a:latin typeface="Roboto"/>
              </a:rPr>
              <a:t>■  Topic 11 is the concepts; Topic 12 you design the upgrade; Topic 13 you implement + simulate; Topic 14 you close out.</a:t>
            </a:r>
          </a:p>
          <a:p>
            <a:pPr marL="0" indent="0">
              <a:lnSpc>
                <a:spcPct val="105000"/>
              </a:lnSpc>
              <a:spcBef>
                <a:spcPts val="0"/>
              </a:spcBef>
              <a:spcAft>
                <a:spcPts val="1000"/>
              </a:spcAft>
            </a:pPr>
            <a:r>
              <a:rPr sz="1800" b="1" i="0">
                <a:solidFill>
                  <a:srgbClr val="EDAB0C"/>
                </a:solidFill>
                <a:latin typeface="Roboto"/>
              </a:rPr>
              <a:t>■  </a:t>
            </a:r>
            <a:r>
              <a:rPr sz="1800" b="0" i="0">
                <a:solidFill>
                  <a:srgbClr val="2A2929"/>
                </a:solidFill>
                <a:latin typeface="Roboto"/>
              </a:rPr>
              <a:t>This Topic builds the vocabulary — availability, fault tolerance, SPOFs, recovery objectives — and the cloud toolkit.</a:t>
            </a:r>
          </a:p>
        </p:txBody>
      </p:sp>
      <p:sp>
        <p:nvSpPr>
          <p:cNvPr id="5" name="Rectangle 4"/>
          <p:cNvSpPr/>
          <p:nvPr/>
        </p:nvSpPr>
        <p:spPr>
          <a:xfrm>
            <a:off x="0" y="6565392"/>
            <a:ext cx="12191695" cy="38100"/>
          </a:xfrm>
          <a:prstGeom prst="rect">
            <a:avLst/>
          </a:prstGeom>
          <a:solidFill>
            <a:srgbClr val="EDAB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3931920" cy="68580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103120"/>
            <a:ext cx="3291840" cy="2194560"/>
          </a:xfrm>
          <a:prstGeom prst="rect">
            <a:avLst/>
          </a:prstGeom>
          <a:noFill/>
        </p:spPr>
        <p:txBody>
          <a:bodyPr wrap="square" lIns="0" tIns="0" rIns="0" bIns="0" anchor="t">
            <a:spAutoFit/>
          </a:bodyPr>
          <a:lstStyle/>
          <a:p>
            <a:r>
              <a:rPr sz="13000" b="1" i="0">
                <a:solidFill>
                  <a:srgbClr val="FFFFFF"/>
                </a:solidFill>
                <a:latin typeface="Roboto"/>
              </a:rPr>
              <a:t>01</a:t>
            </a:r>
          </a:p>
        </p:txBody>
      </p:sp>
      <p:sp>
        <p:nvSpPr>
          <p:cNvPr id="4" name="TextBox 3"/>
          <p:cNvSpPr txBox="1"/>
          <p:nvPr/>
        </p:nvSpPr>
        <p:spPr>
          <a:xfrm>
            <a:off x="4480560" y="2468880"/>
            <a:ext cx="7132320" cy="2194560"/>
          </a:xfrm>
          <a:prstGeom prst="rect">
            <a:avLst/>
          </a:prstGeom>
          <a:noFill/>
        </p:spPr>
        <p:txBody>
          <a:bodyPr wrap="square" lIns="0" tIns="0" rIns="0" bIns="0" anchor="t">
            <a:spAutoFit/>
          </a:bodyPr>
          <a:lstStyle/>
          <a:p>
            <a:r>
              <a:rPr sz="1600" b="1" i="0">
                <a:solidFill>
                  <a:srgbClr val="92268F"/>
                </a:solidFill>
                <a:latin typeface="Roboto"/>
              </a:rPr>
              <a:t>SECTION</a:t>
            </a:r>
          </a:p>
          <a:p>
            <a:pPr>
              <a:spcBef>
                <a:spcPts val="600"/>
              </a:spcBef>
            </a:pPr>
            <a:r>
              <a:rPr sz="3800" b="1" i="0">
                <a:solidFill>
                  <a:srgbClr val="2A2929"/>
                </a:solidFill>
                <a:latin typeface="Roboto"/>
              </a:rPr>
              <a:t>Availability, reliability &amp; service levels</a:t>
            </a:r>
          </a:p>
          <a:p>
            <a:pPr>
              <a:spcBef>
                <a:spcPts val="1000"/>
              </a:spcBef>
            </a:pPr>
            <a:r>
              <a:rPr sz="2000" b="0" i="1">
                <a:solidFill>
                  <a:srgbClr val="484848"/>
                </a:solidFill>
                <a:latin typeface="Roboto Light"/>
              </a:rPr>
              <a:t>what 'highly available' means</a:t>
            </a:r>
          </a:p>
        </p:txBody>
      </p:sp>
      <p:sp>
        <p:nvSpPr>
          <p:cNvPr id="5" name="Rectangle 4"/>
          <p:cNvSpPr/>
          <p:nvPr/>
        </p:nvSpPr>
        <p:spPr>
          <a:xfrm>
            <a:off x="0" y="6565392"/>
            <a:ext cx="12191695" cy="381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p:cNvSpPr txBox="1"/>
          <p:nvPr/>
        </p:nvSpPr>
        <p:spPr>
          <a:xfrm>
            <a:off x="10515600" y="6400800"/>
            <a:ext cx="1188720" cy="320040"/>
          </a:xfrm>
          <a:prstGeom prst="rect">
            <a:avLst/>
          </a:prstGeom>
          <a:noFill/>
        </p:spPr>
        <p:txBody>
          <a:bodyPr wrap="square" lIns="0" tIns="0" rIns="0" bIns="0" anchor="t">
            <a:spAutoFit/>
          </a:bodyPr>
          <a:lstStyle/>
          <a:p>
            <a:pPr algn="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881360" cy="430887"/>
          </a:xfrm>
          <a:prstGeom prst="rect">
            <a:avLst/>
          </a:prstGeom>
          <a:noFill/>
        </p:spPr>
        <p:txBody>
          <a:bodyPr wrap="square" lIns="0" tIns="0" rIns="0" bIns="0" anchor="t">
            <a:spAutoFit/>
          </a:bodyPr>
          <a:lstStyle/>
          <a:p>
            <a:r>
              <a:rPr sz="2800" b="1" i="0" dirty="0">
                <a:solidFill>
                  <a:srgbClr val="2A2929"/>
                </a:solidFill>
                <a:latin typeface="Roboto"/>
              </a:rPr>
              <a:t>What is high availability?</a:t>
            </a:r>
          </a:p>
        </p:txBody>
      </p:sp>
      <p:sp>
        <p:nvSpPr>
          <p:cNvPr id="3" name="Rectangle 2"/>
          <p:cNvSpPr/>
          <p:nvPr/>
        </p:nvSpPr>
        <p:spPr>
          <a:xfrm>
            <a:off x="658368" y="1008483"/>
            <a:ext cx="1463040" cy="508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1691640"/>
            <a:ext cx="10881360" cy="4480560"/>
          </a:xfrm>
          <a:prstGeom prst="rect">
            <a:avLst/>
          </a:prstGeom>
          <a:noFill/>
        </p:spPr>
        <p:txBody>
          <a:bodyPr wrap="square" lIns="0" tIns="0" rIns="0" bIns="0" anchor="t">
            <a:spAutoFit/>
          </a:bodyPr>
          <a:lstStyle/>
          <a:p>
            <a:pPr marL="0" indent="0">
              <a:lnSpc>
                <a:spcPct val="105000"/>
              </a:lnSpc>
              <a:spcBef>
                <a:spcPts val="0"/>
              </a:spcBef>
              <a:spcAft>
                <a:spcPts val="1000"/>
              </a:spcAft>
            </a:pPr>
            <a:r>
              <a:rPr sz="1800" b="1" i="0">
                <a:solidFill>
                  <a:srgbClr val="EDAB0C"/>
                </a:solidFill>
                <a:latin typeface="Roboto"/>
              </a:rPr>
              <a:t>■  </a:t>
            </a:r>
            <a:r>
              <a:rPr sz="1800" b="0" i="0">
                <a:solidFill>
                  <a:srgbClr val="2A2929"/>
                </a:solidFill>
                <a:latin typeface="Roboto"/>
              </a:rPr>
              <a:t>High availability = a system stays operational and accessible with minimal downtime, even if parts fail.</a:t>
            </a:r>
          </a:p>
          <a:p>
            <a:pPr marL="0" indent="0">
              <a:lnSpc>
                <a:spcPct val="105000"/>
              </a:lnSpc>
              <a:spcBef>
                <a:spcPts val="0"/>
              </a:spcBef>
              <a:spcAft>
                <a:spcPts val="1000"/>
              </a:spcAft>
            </a:pPr>
            <a:r>
              <a:rPr sz="1800" b="1" i="0">
                <a:solidFill>
                  <a:srgbClr val="EDAB0C"/>
                </a:solidFill>
                <a:latin typeface="Roboto"/>
              </a:rPr>
              <a:t>■  </a:t>
            </a:r>
            <a:r>
              <a:rPr sz="1800" b="0" i="0">
                <a:solidFill>
                  <a:srgbClr val="2A2929"/>
                </a:solidFill>
                <a:latin typeface="Roboto"/>
              </a:rPr>
              <a:t>Availability is a percentage, and it maps to downtime: 99% ≈ 7 hours/month offline; 99.999% ≈ 26 seconds/month.</a:t>
            </a:r>
          </a:p>
          <a:p>
            <a:pPr marL="0" indent="0">
              <a:lnSpc>
                <a:spcPct val="105000"/>
              </a:lnSpc>
              <a:spcBef>
                <a:spcPts val="0"/>
              </a:spcBef>
              <a:spcAft>
                <a:spcPts val="1000"/>
              </a:spcAft>
            </a:pPr>
            <a:r>
              <a:rPr sz="1800" b="1" i="0">
                <a:solidFill>
                  <a:srgbClr val="92268F"/>
                </a:solidFill>
                <a:latin typeface="Roboto"/>
              </a:rPr>
              <a:t>■  More nines costs a lot more — often 2–5× — and isn't always achievable.</a:t>
            </a:r>
          </a:p>
        </p:txBody>
      </p:sp>
      <p:sp>
        <p:nvSpPr>
          <p:cNvPr id="5" name="Rectangle 4"/>
          <p:cNvSpPr/>
          <p:nvPr/>
        </p:nvSpPr>
        <p:spPr>
          <a:xfrm>
            <a:off x="0" y="6565392"/>
            <a:ext cx="12191695" cy="381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881360" cy="430887"/>
          </a:xfrm>
          <a:prstGeom prst="rect">
            <a:avLst/>
          </a:prstGeom>
          <a:noFill/>
        </p:spPr>
        <p:txBody>
          <a:bodyPr wrap="square" lIns="0" tIns="0" rIns="0" bIns="0" anchor="t">
            <a:spAutoFit/>
          </a:bodyPr>
          <a:lstStyle/>
          <a:p>
            <a:r>
              <a:rPr sz="2800" b="1" i="0" dirty="0">
                <a:solidFill>
                  <a:srgbClr val="2A2929"/>
                </a:solidFill>
                <a:latin typeface="Roboto"/>
              </a:rPr>
              <a:t>Reliability &amp; service levels</a:t>
            </a:r>
          </a:p>
        </p:txBody>
      </p:sp>
      <p:sp>
        <p:nvSpPr>
          <p:cNvPr id="3" name="Rectangle 2"/>
          <p:cNvSpPr/>
          <p:nvPr/>
        </p:nvSpPr>
        <p:spPr>
          <a:xfrm>
            <a:off x="658368" y="1052679"/>
            <a:ext cx="1463040" cy="508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1691640"/>
            <a:ext cx="10881360" cy="2917337"/>
          </a:xfrm>
          <a:prstGeom prst="rect">
            <a:avLst/>
          </a:prstGeom>
          <a:noFill/>
        </p:spPr>
        <p:txBody>
          <a:bodyPr wrap="square" lIns="0" tIns="0" rIns="0" bIns="0" anchor="t">
            <a:spAutoFit/>
          </a:bodyPr>
          <a:lstStyle/>
          <a:p>
            <a:pPr marL="0" indent="0">
              <a:lnSpc>
                <a:spcPct val="105000"/>
              </a:lnSpc>
              <a:spcBef>
                <a:spcPts val="0"/>
              </a:spcBef>
              <a:spcAft>
                <a:spcPts val="1000"/>
              </a:spcAft>
            </a:pPr>
            <a:r>
              <a:rPr sz="1800" b="1" i="0" dirty="0">
                <a:solidFill>
                  <a:srgbClr val="EDAB0C"/>
                </a:solidFill>
                <a:latin typeface="Roboto"/>
              </a:rPr>
              <a:t>■  </a:t>
            </a:r>
            <a:r>
              <a:rPr sz="1800" b="0" i="0" dirty="0">
                <a:solidFill>
                  <a:srgbClr val="2A2929"/>
                </a:solidFill>
                <a:latin typeface="Roboto"/>
              </a:rPr>
              <a:t>Reliability = how consistently a service works correctly (availability only means it's online).</a:t>
            </a:r>
          </a:p>
          <a:p>
            <a:pPr marL="0" indent="0">
              <a:lnSpc>
                <a:spcPct val="105000"/>
              </a:lnSpc>
              <a:spcBef>
                <a:spcPts val="0"/>
              </a:spcBef>
              <a:spcAft>
                <a:spcPts val="1000"/>
              </a:spcAft>
            </a:pPr>
            <a:r>
              <a:rPr sz="1800" b="1" i="0" dirty="0">
                <a:solidFill>
                  <a:srgbClr val="EDAB0C"/>
                </a:solidFill>
                <a:latin typeface="Roboto"/>
              </a:rPr>
              <a:t>■  </a:t>
            </a:r>
            <a:r>
              <a:rPr sz="1800" b="0" i="0" dirty="0">
                <a:solidFill>
                  <a:srgbClr val="2A2929"/>
                </a:solidFill>
                <a:latin typeface="Roboto"/>
              </a:rPr>
              <a:t>A service level is a performance target (availability, response time).</a:t>
            </a:r>
            <a:endParaRPr lang="en-US" sz="1800" b="0" i="0" dirty="0">
              <a:solidFill>
                <a:srgbClr val="2A2929"/>
              </a:solidFill>
              <a:latin typeface="Roboto"/>
            </a:endParaRPr>
          </a:p>
          <a:p>
            <a:r>
              <a:rPr lang="en-AU" b="1" dirty="0">
                <a:solidFill>
                  <a:srgbClr val="EDAB0C"/>
                </a:solidFill>
                <a:latin typeface="Roboto"/>
              </a:rPr>
              <a:t>■ </a:t>
            </a:r>
            <a:r>
              <a:rPr lang="en-AU" dirty="0">
                <a:solidFill>
                  <a:srgbClr val="2A2929"/>
                </a:solidFill>
                <a:latin typeface="Roboto"/>
              </a:rPr>
              <a:t>Recoverability - how quickly and completely services and data can be restored after a failure. Often measured by:</a:t>
            </a:r>
          </a:p>
          <a:p>
            <a:endParaRPr lang="en-AU" dirty="0">
              <a:solidFill>
                <a:srgbClr val="2A2929"/>
              </a:solidFill>
              <a:latin typeface="Roboto"/>
            </a:endParaRPr>
          </a:p>
          <a:p>
            <a:pPr marL="742950" lvl="1" indent="-285750">
              <a:buFont typeface="Arial" panose="020B0604020202020204" pitchFamily="34" charset="0"/>
              <a:buChar char="•"/>
            </a:pPr>
            <a:r>
              <a:rPr lang="en-AU" dirty="0">
                <a:solidFill>
                  <a:srgbClr val="2A2929"/>
                </a:solidFill>
                <a:latin typeface="Roboto"/>
              </a:rPr>
              <a:t>Recovery Time Objective (RTO) – the maximum downtime a business will tolerate (e.g. 4 hours)</a:t>
            </a:r>
          </a:p>
          <a:p>
            <a:pPr marL="742950" lvl="1" indent="-285750">
              <a:buFont typeface="Arial" panose="020B0604020202020204" pitchFamily="34" charset="0"/>
              <a:buChar char="•"/>
            </a:pPr>
            <a:r>
              <a:rPr lang="en-AU" dirty="0">
                <a:solidFill>
                  <a:srgbClr val="2A2929"/>
                </a:solidFill>
                <a:latin typeface="Roboto"/>
              </a:rPr>
              <a:t>Recovery Point Objective (RPO) – the maximum acceptable data loss they will tolerate (e.g. 2 hours)</a:t>
            </a:r>
          </a:p>
          <a:p>
            <a:pPr marL="0" indent="0">
              <a:lnSpc>
                <a:spcPct val="105000"/>
              </a:lnSpc>
              <a:spcBef>
                <a:spcPts val="0"/>
              </a:spcBef>
              <a:spcAft>
                <a:spcPts val="1000"/>
              </a:spcAft>
            </a:pPr>
            <a:endParaRPr sz="1800" b="0" i="0" dirty="0">
              <a:solidFill>
                <a:srgbClr val="2A2929"/>
              </a:solidFill>
              <a:latin typeface="Roboto"/>
            </a:endParaRPr>
          </a:p>
          <a:p>
            <a:pPr marL="0" indent="0">
              <a:lnSpc>
                <a:spcPct val="105000"/>
              </a:lnSpc>
              <a:spcBef>
                <a:spcPts val="0"/>
              </a:spcBef>
              <a:spcAft>
                <a:spcPts val="1000"/>
              </a:spcAft>
            </a:pPr>
            <a:r>
              <a:rPr sz="1800" b="1" i="0" dirty="0">
                <a:solidFill>
                  <a:srgbClr val="92268F"/>
                </a:solidFill>
                <a:latin typeface="Roboto"/>
              </a:rPr>
              <a:t>■  A Service Level Agreement (SLA) sets the minimum service level — miss it and credits/penalties apply.</a:t>
            </a:r>
          </a:p>
        </p:txBody>
      </p:sp>
      <p:sp>
        <p:nvSpPr>
          <p:cNvPr id="5" name="Rectangle 4"/>
          <p:cNvSpPr/>
          <p:nvPr/>
        </p:nvSpPr>
        <p:spPr>
          <a:xfrm>
            <a:off x="0" y="6565392"/>
            <a:ext cx="12191695" cy="381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DCB91-31D7-3579-42C3-3EA4F80CF8C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B41ABF1-A64D-3913-BDFA-8FCE41ADC69F}"/>
              </a:ext>
            </a:extLst>
          </p:cNvPr>
          <p:cNvSpPr txBox="1"/>
          <p:nvPr/>
        </p:nvSpPr>
        <p:spPr>
          <a:xfrm>
            <a:off x="640080" y="457200"/>
            <a:ext cx="10881360" cy="430887"/>
          </a:xfrm>
          <a:prstGeom prst="rect">
            <a:avLst/>
          </a:prstGeom>
          <a:noFill/>
        </p:spPr>
        <p:txBody>
          <a:bodyPr wrap="square" lIns="0" tIns="0" rIns="0" bIns="0" anchor="t">
            <a:spAutoFit/>
          </a:bodyPr>
          <a:lstStyle/>
          <a:p>
            <a:r>
              <a:rPr lang="en-US" sz="2800" b="1" i="0" dirty="0">
                <a:solidFill>
                  <a:srgbClr val="2A2929"/>
                </a:solidFill>
                <a:latin typeface="Roboto"/>
              </a:rPr>
              <a:t>Business impact analysis (BIA)</a:t>
            </a:r>
            <a:endParaRPr sz="2800" b="1" i="0" dirty="0">
              <a:solidFill>
                <a:srgbClr val="2A2929"/>
              </a:solidFill>
              <a:latin typeface="Roboto"/>
            </a:endParaRPr>
          </a:p>
        </p:txBody>
      </p:sp>
      <p:sp>
        <p:nvSpPr>
          <p:cNvPr id="3" name="Rectangle 2">
            <a:extLst>
              <a:ext uri="{FF2B5EF4-FFF2-40B4-BE49-F238E27FC236}">
                <a16:creationId xmlns:a16="http://schemas.microsoft.com/office/drawing/2014/main" id="{EE3F1869-F050-247C-3468-FE68B6524AB2}"/>
              </a:ext>
            </a:extLst>
          </p:cNvPr>
          <p:cNvSpPr/>
          <p:nvPr/>
        </p:nvSpPr>
        <p:spPr>
          <a:xfrm>
            <a:off x="658368" y="937690"/>
            <a:ext cx="1463040" cy="508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194E6B66-8C15-B248-4637-27A4277A11B9}"/>
              </a:ext>
            </a:extLst>
          </p:cNvPr>
          <p:cNvSpPr txBox="1"/>
          <p:nvPr/>
        </p:nvSpPr>
        <p:spPr>
          <a:xfrm>
            <a:off x="658368" y="1390497"/>
            <a:ext cx="10881360" cy="971163"/>
          </a:xfrm>
          <a:prstGeom prst="rect">
            <a:avLst/>
          </a:prstGeom>
          <a:noFill/>
        </p:spPr>
        <p:txBody>
          <a:bodyPr wrap="square" lIns="0" tIns="0" rIns="0" bIns="0" anchor="t">
            <a:spAutoFit/>
          </a:bodyPr>
          <a:lstStyle/>
          <a:p>
            <a:r>
              <a:rPr sz="1800" b="1" i="0" dirty="0">
                <a:solidFill>
                  <a:srgbClr val="EDAB0C"/>
                </a:solidFill>
                <a:latin typeface="Roboto"/>
              </a:rPr>
              <a:t>■  </a:t>
            </a:r>
            <a:r>
              <a:rPr lang="en-AU" dirty="0"/>
              <a:t>Most businesses cannot afford to build 100% available systems.</a:t>
            </a:r>
          </a:p>
          <a:p>
            <a:pPr marL="0" indent="0">
              <a:lnSpc>
                <a:spcPct val="105000"/>
              </a:lnSpc>
              <a:spcBef>
                <a:spcPts val="0"/>
              </a:spcBef>
              <a:spcAft>
                <a:spcPts val="1000"/>
              </a:spcAft>
            </a:pPr>
            <a:endParaRPr sz="1800" b="0" i="0" dirty="0">
              <a:solidFill>
                <a:srgbClr val="2A2929"/>
              </a:solidFill>
              <a:latin typeface="Roboto"/>
            </a:endParaRPr>
          </a:p>
          <a:p>
            <a:pPr>
              <a:lnSpc>
                <a:spcPct val="105000"/>
              </a:lnSpc>
              <a:spcAft>
                <a:spcPts val="1000"/>
              </a:spcAft>
            </a:pPr>
            <a:r>
              <a:rPr sz="1800" b="1" i="0" dirty="0">
                <a:solidFill>
                  <a:srgbClr val="92268F"/>
                </a:solidFill>
                <a:latin typeface="Roboto"/>
              </a:rPr>
              <a:t>■  </a:t>
            </a:r>
            <a:r>
              <a:rPr lang="en-AU" b="1" dirty="0">
                <a:solidFill>
                  <a:srgbClr val="92268F"/>
                </a:solidFill>
                <a:latin typeface="Roboto"/>
              </a:rPr>
              <a:t>So: how do they determine how much loss/downtime is tolerable?</a:t>
            </a:r>
          </a:p>
        </p:txBody>
      </p:sp>
      <p:sp>
        <p:nvSpPr>
          <p:cNvPr id="5" name="Rectangle 4">
            <a:extLst>
              <a:ext uri="{FF2B5EF4-FFF2-40B4-BE49-F238E27FC236}">
                <a16:creationId xmlns:a16="http://schemas.microsoft.com/office/drawing/2014/main" id="{F5A1167E-33C6-2E06-8771-C9894B4453EE}"/>
              </a:ext>
            </a:extLst>
          </p:cNvPr>
          <p:cNvSpPr/>
          <p:nvPr/>
        </p:nvSpPr>
        <p:spPr>
          <a:xfrm>
            <a:off x="0" y="6565392"/>
            <a:ext cx="12191695" cy="381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52264BAF-43B3-4B7F-DCB2-820FC441F8DF}"/>
              </a:ext>
            </a:extLst>
          </p:cNvPr>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a:extLst>
              <a:ext uri="{FF2B5EF4-FFF2-40B4-BE49-F238E27FC236}">
                <a16:creationId xmlns:a16="http://schemas.microsoft.com/office/drawing/2014/main" id="{262F67EF-718C-7C36-6206-93332A19A5A0}"/>
              </a:ext>
            </a:extLst>
          </p:cNvPr>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3</a:t>
            </a:r>
          </a:p>
        </p:txBody>
      </p:sp>
      <p:graphicFrame>
        <p:nvGraphicFramePr>
          <p:cNvPr id="8" name="Content Placeholder 2">
            <a:extLst>
              <a:ext uri="{FF2B5EF4-FFF2-40B4-BE49-F238E27FC236}">
                <a16:creationId xmlns:a16="http://schemas.microsoft.com/office/drawing/2014/main" id="{BD2351AC-A0AA-39CB-D0A4-2A4D6C9BD1E4}"/>
              </a:ext>
            </a:extLst>
          </p:cNvPr>
          <p:cNvGraphicFramePr>
            <a:graphicFrameLocks/>
          </p:cNvGraphicFramePr>
          <p:nvPr>
            <p:extLst>
              <p:ext uri="{D42A27DB-BD31-4B8C-83A1-F6EECF244321}">
                <p14:modId xmlns:p14="http://schemas.microsoft.com/office/powerpoint/2010/main" val="764373896"/>
              </p:ext>
            </p:extLst>
          </p:nvPr>
        </p:nvGraphicFramePr>
        <p:xfrm>
          <a:off x="1630303" y="2505916"/>
          <a:ext cx="7675350" cy="351900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TextBox 9">
            <a:extLst>
              <a:ext uri="{FF2B5EF4-FFF2-40B4-BE49-F238E27FC236}">
                <a16:creationId xmlns:a16="http://schemas.microsoft.com/office/drawing/2014/main" id="{7BA028F6-45D1-9EF7-8714-08AEEC622267}"/>
              </a:ext>
            </a:extLst>
          </p:cNvPr>
          <p:cNvSpPr txBox="1"/>
          <p:nvPr/>
        </p:nvSpPr>
        <p:spPr>
          <a:xfrm>
            <a:off x="4192079" y="5925824"/>
            <a:ext cx="2300162" cy="738664"/>
          </a:xfrm>
          <a:prstGeom prst="rect">
            <a:avLst/>
          </a:prstGeom>
          <a:noFill/>
        </p:spPr>
        <p:txBody>
          <a:bodyPr wrap="square">
            <a:spAutoFit/>
          </a:bodyPr>
          <a:lstStyle/>
          <a:p>
            <a:pPr lvl="0">
              <a:lnSpc>
                <a:spcPct val="100000"/>
              </a:lnSpc>
            </a:pPr>
            <a:r>
              <a:rPr lang="en-AU" sz="1400" dirty="0"/>
              <a:t>e.g. ASX Tier 1 Participants legally must meet a 4-hour RTO</a:t>
            </a:r>
            <a:endParaRPr lang="en-US" sz="1400" dirty="0"/>
          </a:p>
        </p:txBody>
      </p:sp>
    </p:spTree>
    <p:extLst>
      <p:ext uri="{BB962C8B-B14F-4D97-AF65-F5344CB8AC3E}">
        <p14:creationId xmlns:p14="http://schemas.microsoft.com/office/powerpoint/2010/main" val="23266108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881360" cy="960120"/>
          </a:xfrm>
          <a:prstGeom prst="rect">
            <a:avLst/>
          </a:prstGeom>
          <a:noFill/>
        </p:spPr>
        <p:txBody>
          <a:bodyPr wrap="square" lIns="0" tIns="0" rIns="0" bIns="0" anchor="t">
            <a:spAutoFit/>
          </a:bodyPr>
          <a:lstStyle/>
          <a:p>
            <a:r>
              <a:rPr sz="2800" b="1" i="0" dirty="0">
                <a:solidFill>
                  <a:srgbClr val="2A2929"/>
                </a:solidFill>
                <a:latin typeface="Roboto"/>
              </a:rPr>
              <a:t>YAT's availability target</a:t>
            </a:r>
          </a:p>
          <a:p>
            <a:pPr>
              <a:spcBef>
                <a:spcPts val="200"/>
              </a:spcBef>
            </a:pPr>
            <a:r>
              <a:rPr sz="1800" b="0" i="1" dirty="0">
                <a:solidFill>
                  <a:srgbClr val="D68E10"/>
                </a:solidFill>
                <a:latin typeface="Roboto Light"/>
              </a:rPr>
              <a:t>the design</a:t>
            </a:r>
          </a:p>
        </p:txBody>
      </p:sp>
      <p:sp>
        <p:nvSpPr>
          <p:cNvPr id="3" name="Rectangle 2"/>
          <p:cNvSpPr/>
          <p:nvPr/>
        </p:nvSpPr>
        <p:spPr>
          <a:xfrm>
            <a:off x="658368" y="1371600"/>
            <a:ext cx="1463040" cy="508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1691640"/>
            <a:ext cx="10881360" cy="4480560"/>
          </a:xfrm>
          <a:prstGeom prst="rect">
            <a:avLst/>
          </a:prstGeom>
          <a:noFill/>
        </p:spPr>
        <p:txBody>
          <a:bodyPr wrap="square" lIns="0" tIns="0" rIns="0" bIns="0" anchor="t">
            <a:spAutoFit/>
          </a:bodyPr>
          <a:lstStyle/>
          <a:p>
            <a:pPr marL="0" indent="0">
              <a:lnSpc>
                <a:spcPct val="105000"/>
              </a:lnSpc>
              <a:spcBef>
                <a:spcPts val="0"/>
              </a:spcBef>
              <a:spcAft>
                <a:spcPts val="1000"/>
              </a:spcAft>
            </a:pPr>
            <a:r>
              <a:rPr sz="1800" b="1" i="0">
                <a:solidFill>
                  <a:srgbClr val="EDAB0C"/>
                </a:solidFill>
                <a:latin typeface="Roboto"/>
              </a:rPr>
              <a:t>■  </a:t>
            </a:r>
            <a:r>
              <a:rPr sz="1800" b="0" i="0">
                <a:solidFill>
                  <a:srgbClr val="2A2929"/>
                </a:solidFill>
                <a:latin typeface="Roboto"/>
              </a:rPr>
              <a:t>Ledgerline needs ≥ 99.5% availability in business hours (Mon–Fri ~07:30–18:00) — there's no 24/7 requirement.</a:t>
            </a:r>
          </a:p>
          <a:p>
            <a:pPr marL="0" indent="0">
              <a:lnSpc>
                <a:spcPct val="105000"/>
              </a:lnSpc>
              <a:spcBef>
                <a:spcPts val="0"/>
              </a:spcBef>
              <a:spcAft>
                <a:spcPts val="1000"/>
              </a:spcAft>
            </a:pPr>
            <a:r>
              <a:rPr sz="1800" b="1" i="0">
                <a:solidFill>
                  <a:srgbClr val="92268F"/>
                </a:solidFill>
                <a:latin typeface="Roboto"/>
              </a:rPr>
              <a:t>■  The HA goal is to survive the loss of an Availability Zone — not to chase 99.999%.</a:t>
            </a:r>
          </a:p>
          <a:p>
            <a:pPr marL="0" indent="0">
              <a:lnSpc>
                <a:spcPct val="105000"/>
              </a:lnSpc>
              <a:spcBef>
                <a:spcPts val="0"/>
              </a:spcBef>
              <a:spcAft>
                <a:spcPts val="1000"/>
              </a:spcAft>
            </a:pPr>
            <a:r>
              <a:rPr sz="1800" b="1" i="0">
                <a:solidFill>
                  <a:srgbClr val="EDAB0C"/>
                </a:solidFill>
                <a:latin typeface="Roboto"/>
              </a:rPr>
              <a:t>■  </a:t>
            </a:r>
            <a:r>
              <a:rPr sz="1800" b="0" i="0">
                <a:solidFill>
                  <a:srgbClr val="2A2929"/>
                </a:solidFill>
                <a:latin typeface="Roboto"/>
              </a:rPr>
              <a:t>Five-nines would multiply the cost for resilience this business-hours workload doesn't need.</a:t>
            </a:r>
          </a:p>
        </p:txBody>
      </p:sp>
      <p:sp>
        <p:nvSpPr>
          <p:cNvPr id="5" name="Rectangle 4"/>
          <p:cNvSpPr/>
          <p:nvPr/>
        </p:nvSpPr>
        <p:spPr>
          <a:xfrm>
            <a:off x="0" y="6565392"/>
            <a:ext cx="12191695" cy="381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4</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3444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40080" y="384048"/>
            <a:ext cx="1691640" cy="457200"/>
          </a:xfrm>
          <a:prstGeom prst="roundRect">
            <a:avLst/>
          </a:prstGeom>
          <a:solidFill>
            <a:srgbClr val="2A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i="0">
                <a:solidFill>
                  <a:srgbClr val="FBB900"/>
                </a:solidFill>
                <a:latin typeface="Roboto"/>
              </a:rPr>
              <a:t>ACTIVITY</a:t>
            </a:r>
          </a:p>
        </p:txBody>
      </p:sp>
      <p:sp>
        <p:nvSpPr>
          <p:cNvPr id="4" name="TextBox 3"/>
          <p:cNvSpPr txBox="1"/>
          <p:nvPr/>
        </p:nvSpPr>
        <p:spPr>
          <a:xfrm>
            <a:off x="2560320" y="310896"/>
            <a:ext cx="8961120" cy="685800"/>
          </a:xfrm>
          <a:prstGeom prst="rect">
            <a:avLst/>
          </a:prstGeom>
          <a:noFill/>
        </p:spPr>
        <p:txBody>
          <a:bodyPr wrap="square" lIns="0" tIns="0" rIns="0" bIns="0" anchor="ctr">
            <a:spAutoFit/>
          </a:bodyPr>
          <a:lstStyle/>
          <a:p>
            <a:r>
              <a:rPr sz="2600" b="1" i="0">
                <a:solidFill>
                  <a:srgbClr val="FFFFFF"/>
                </a:solidFill>
                <a:latin typeface="Roboto"/>
              </a:rPr>
              <a:t>Match the target to the business</a:t>
            </a:r>
          </a:p>
        </p:txBody>
      </p:sp>
      <p:sp>
        <p:nvSpPr>
          <p:cNvPr id="5" name="TextBox 4"/>
          <p:cNvSpPr txBox="1"/>
          <p:nvPr/>
        </p:nvSpPr>
        <p:spPr>
          <a:xfrm>
            <a:off x="658368" y="1554480"/>
            <a:ext cx="10881360" cy="4297680"/>
          </a:xfrm>
          <a:prstGeom prst="rect">
            <a:avLst/>
          </a:prstGeom>
          <a:noFill/>
        </p:spPr>
        <p:txBody>
          <a:bodyPr wrap="square" lIns="0" tIns="0" rIns="0" bIns="0" anchor="t">
            <a:spAutoFit/>
          </a:bodyPr>
          <a:lstStyle/>
          <a:p>
            <a:pPr marL="0" indent="0">
              <a:lnSpc>
                <a:spcPct val="105000"/>
              </a:lnSpc>
              <a:spcBef>
                <a:spcPts val="0"/>
              </a:spcBef>
              <a:spcAft>
                <a:spcPts val="1000"/>
              </a:spcAft>
            </a:pPr>
            <a:r>
              <a:rPr sz="1700" b="1" i="0">
                <a:solidFill>
                  <a:srgbClr val="EDAB0C"/>
                </a:solidFill>
                <a:latin typeface="Roboto"/>
              </a:rPr>
              <a:t>■  </a:t>
            </a:r>
            <a:r>
              <a:rPr sz="1700" b="1" i="0">
                <a:solidFill>
                  <a:srgbClr val="2A2929"/>
                </a:solidFill>
                <a:latin typeface="Roboto"/>
              </a:rPr>
              <a:t>Quick discussion:</a:t>
            </a:r>
          </a:p>
          <a:p>
            <a:pPr marL="365760" indent="0">
              <a:lnSpc>
                <a:spcPct val="105000"/>
              </a:lnSpc>
              <a:spcBef>
                <a:spcPts val="0"/>
              </a:spcBef>
              <a:spcAft>
                <a:spcPts val="500"/>
              </a:spcAft>
            </a:pPr>
            <a:r>
              <a:rPr sz="1400" b="0" i="0">
                <a:solidFill>
                  <a:srgbClr val="7A7A7A"/>
                </a:solidFill>
                <a:latin typeface="Roboto"/>
              </a:rPr>
              <a:t>–  </a:t>
            </a:r>
            <a:r>
              <a:rPr sz="1400" b="0" i="0">
                <a:solidFill>
                  <a:srgbClr val="2A2929"/>
                </a:solidFill>
                <a:latin typeface="Roboto"/>
              </a:rPr>
              <a:t>why does 99.5% business-hours fit Ledgerline, and what downtime does it allow?</a:t>
            </a:r>
          </a:p>
          <a:p>
            <a:pPr marL="365760" indent="0">
              <a:lnSpc>
                <a:spcPct val="105000"/>
              </a:lnSpc>
              <a:spcBef>
                <a:spcPts val="0"/>
              </a:spcBef>
              <a:spcAft>
                <a:spcPts val="500"/>
              </a:spcAft>
            </a:pPr>
            <a:r>
              <a:rPr sz="1400" b="0" i="0">
                <a:solidFill>
                  <a:srgbClr val="7A7A7A"/>
                </a:solidFill>
                <a:latin typeface="Roboto"/>
              </a:rPr>
              <a:t>–  </a:t>
            </a:r>
            <a:r>
              <a:rPr sz="1400" b="0" i="0">
                <a:solidFill>
                  <a:srgbClr val="2A2929"/>
                </a:solidFill>
                <a:latin typeface="Roboto"/>
              </a:rPr>
              <a:t>when would chasing five-nines be the wrong call — and why?</a:t>
            </a:r>
          </a:p>
        </p:txBody>
      </p:sp>
      <p:sp>
        <p:nvSpPr>
          <p:cNvPr id="6" name="Rounded Rectangle 5"/>
          <p:cNvSpPr/>
          <p:nvPr/>
        </p:nvSpPr>
        <p:spPr>
          <a:xfrm>
            <a:off x="640080" y="5897880"/>
            <a:ext cx="4023360" cy="457200"/>
          </a:xfrm>
          <a:prstGeom prst="roundRect">
            <a:avLst/>
          </a:prstGeom>
          <a:solidFill>
            <a:srgbClr val="F9F9F9"/>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5943600"/>
            <a:ext cx="3657600" cy="365760"/>
          </a:xfrm>
          <a:prstGeom prst="rect">
            <a:avLst/>
          </a:prstGeom>
          <a:noFill/>
        </p:spPr>
        <p:txBody>
          <a:bodyPr wrap="square" lIns="0" tIns="0" rIns="0" bIns="0" anchor="ctr">
            <a:spAutoFit/>
          </a:bodyPr>
          <a:lstStyle/>
          <a:p>
            <a:r>
              <a:rPr sz="1500" b="1" i="0">
                <a:solidFill>
                  <a:srgbClr val="2A2929"/>
                </a:solidFill>
                <a:latin typeface="Roboto"/>
              </a:rPr>
              <a:t>⏱  ~5 min</a:t>
            </a:r>
          </a:p>
        </p:txBody>
      </p:sp>
      <p:sp>
        <p:nvSpPr>
          <p:cNvPr id="8" name="Rectangle 7"/>
          <p:cNvSpPr/>
          <p:nvPr/>
        </p:nvSpPr>
        <p:spPr>
          <a:xfrm>
            <a:off x="0" y="6565392"/>
            <a:ext cx="12191695" cy="381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10" name="TextBox 9"/>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5</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p:cNvGrpSpPr/>
        <p:nvPr/>
      </p:nvGrpSpPr>
      <p:grpSpPr>
        <a:xfrm>
          <a:off x="0" y="0"/>
          <a:ext cx="0" cy="0"/>
          <a:chOff x="0" y="0"/>
          <a:chExt cx="0" cy="0"/>
        </a:xfrm>
      </p:grpSpPr>
      <p:sp>
        <p:nvSpPr>
          <p:cNvPr id="2" name="TextBox 1"/>
          <p:cNvSpPr txBox="1"/>
          <p:nvPr/>
        </p:nvSpPr>
        <p:spPr>
          <a:xfrm>
            <a:off x="640080" y="548640"/>
            <a:ext cx="10881360" cy="1097280"/>
          </a:xfrm>
          <a:prstGeom prst="rect">
            <a:avLst/>
          </a:prstGeom>
          <a:noFill/>
        </p:spPr>
        <p:txBody>
          <a:bodyPr wrap="square" lIns="0" tIns="0" rIns="0" bIns="0" anchor="t">
            <a:spAutoFit/>
          </a:bodyPr>
          <a:lstStyle/>
          <a:p>
            <a:r>
              <a:rPr sz="3200" b="1" i="0">
                <a:solidFill>
                  <a:srgbClr val="2A2929"/>
                </a:solidFill>
                <a:latin typeface="Roboto"/>
              </a:rPr>
              <a:t>Key takeaways</a:t>
            </a:r>
          </a:p>
          <a:p>
            <a:pPr>
              <a:spcBef>
                <a:spcPts val="200"/>
              </a:spcBef>
            </a:pPr>
            <a:r>
              <a:rPr sz="1800" b="1" i="0">
                <a:solidFill>
                  <a:srgbClr val="92268F"/>
                </a:solidFill>
                <a:latin typeface="Roboto"/>
              </a:rPr>
              <a:t>Section 1 · Availability</a:t>
            </a:r>
          </a:p>
        </p:txBody>
      </p:sp>
      <p:sp>
        <p:nvSpPr>
          <p:cNvPr id="3" name="Rectangle 2"/>
          <p:cNvSpPr/>
          <p:nvPr/>
        </p:nvSpPr>
        <p:spPr>
          <a:xfrm>
            <a:off x="658368" y="1600200"/>
            <a:ext cx="1463040" cy="508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40080" y="1965960"/>
            <a:ext cx="10927080" cy="841248"/>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965960"/>
            <a:ext cx="109728" cy="841248"/>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965960"/>
            <a:ext cx="10424160" cy="841248"/>
          </a:xfrm>
          <a:prstGeom prst="rect">
            <a:avLst/>
          </a:prstGeom>
          <a:noFill/>
        </p:spPr>
        <p:txBody>
          <a:bodyPr wrap="square" lIns="0" tIns="0" rIns="0" bIns="0" anchor="ctr">
            <a:spAutoFit/>
          </a:bodyPr>
          <a:lstStyle/>
          <a:p>
            <a:pPr>
              <a:lnSpc>
                <a:spcPct val="100000"/>
              </a:lnSpc>
            </a:pPr>
            <a:r>
              <a:rPr sz="1700" b="0" i="0">
                <a:solidFill>
                  <a:srgbClr val="2A2929"/>
                </a:solidFill>
                <a:latin typeface="Roboto"/>
              </a:rPr>
              <a:t>HA = stay operational with minimal downtime despite failures.</a:t>
            </a:r>
          </a:p>
        </p:txBody>
      </p:sp>
      <p:sp>
        <p:nvSpPr>
          <p:cNvPr id="7" name="Rectangle 6"/>
          <p:cNvSpPr/>
          <p:nvPr/>
        </p:nvSpPr>
        <p:spPr>
          <a:xfrm>
            <a:off x="640080" y="2916936"/>
            <a:ext cx="10927080" cy="841248"/>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2916936"/>
            <a:ext cx="109728" cy="841248"/>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2916936"/>
            <a:ext cx="10424160" cy="841248"/>
          </a:xfrm>
          <a:prstGeom prst="rect">
            <a:avLst/>
          </a:prstGeom>
          <a:noFill/>
        </p:spPr>
        <p:txBody>
          <a:bodyPr wrap="square" lIns="0" tIns="0" rIns="0" bIns="0" anchor="ctr">
            <a:spAutoFit/>
          </a:bodyPr>
          <a:lstStyle/>
          <a:p>
            <a:pPr>
              <a:lnSpc>
                <a:spcPct val="100000"/>
              </a:lnSpc>
            </a:pPr>
            <a:r>
              <a:rPr sz="1700" b="0" i="0">
                <a:solidFill>
                  <a:srgbClr val="2A2929"/>
                </a:solidFill>
                <a:latin typeface="Roboto"/>
              </a:rPr>
              <a:t>Availability % maps to real downtime; more nines costs 2–5× more.</a:t>
            </a:r>
          </a:p>
        </p:txBody>
      </p:sp>
      <p:sp>
        <p:nvSpPr>
          <p:cNvPr id="10" name="Rectangle 9"/>
          <p:cNvSpPr/>
          <p:nvPr/>
        </p:nvSpPr>
        <p:spPr>
          <a:xfrm>
            <a:off x="640080" y="3867912"/>
            <a:ext cx="10927080" cy="841248"/>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40080" y="3867912"/>
            <a:ext cx="109728" cy="841248"/>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0120" y="3867912"/>
            <a:ext cx="10424160" cy="841248"/>
          </a:xfrm>
          <a:prstGeom prst="rect">
            <a:avLst/>
          </a:prstGeom>
          <a:noFill/>
        </p:spPr>
        <p:txBody>
          <a:bodyPr wrap="square" lIns="0" tIns="0" rIns="0" bIns="0" anchor="ctr">
            <a:spAutoFit/>
          </a:bodyPr>
          <a:lstStyle/>
          <a:p>
            <a:pPr>
              <a:lnSpc>
                <a:spcPct val="100000"/>
              </a:lnSpc>
            </a:pPr>
            <a:r>
              <a:rPr sz="1700" b="0" i="0">
                <a:solidFill>
                  <a:srgbClr val="2A2929"/>
                </a:solidFill>
                <a:latin typeface="Roboto"/>
              </a:rPr>
              <a:t>Reliability (works correctly) is more than availability (online); SLAs set the minimum.</a:t>
            </a:r>
          </a:p>
        </p:txBody>
      </p:sp>
      <p:sp>
        <p:nvSpPr>
          <p:cNvPr id="13" name="Rectangle 12"/>
          <p:cNvSpPr/>
          <p:nvPr/>
        </p:nvSpPr>
        <p:spPr>
          <a:xfrm>
            <a:off x="640080" y="4818888"/>
            <a:ext cx="10927080" cy="841248"/>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40080" y="4818888"/>
            <a:ext cx="109728" cy="841248"/>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60120" y="4818888"/>
            <a:ext cx="10424160" cy="841248"/>
          </a:xfrm>
          <a:prstGeom prst="rect">
            <a:avLst/>
          </a:prstGeom>
          <a:noFill/>
        </p:spPr>
        <p:txBody>
          <a:bodyPr wrap="square" lIns="0" tIns="0" rIns="0" bIns="0" anchor="ctr">
            <a:spAutoFit/>
          </a:bodyPr>
          <a:lstStyle/>
          <a:p>
            <a:pPr>
              <a:lnSpc>
                <a:spcPct val="100000"/>
              </a:lnSpc>
            </a:pPr>
            <a:r>
              <a:rPr sz="1700" b="0" i="0">
                <a:solidFill>
                  <a:srgbClr val="2A2929"/>
                </a:solidFill>
                <a:latin typeface="Roboto"/>
              </a:rPr>
              <a:t>YAT's target is 99.5% business-hours and AZ resilience — not five-nines.</a:t>
            </a:r>
          </a:p>
        </p:txBody>
      </p:sp>
      <p:sp>
        <p:nvSpPr>
          <p:cNvPr id="16" name="Rectangle 15"/>
          <p:cNvSpPr/>
          <p:nvPr/>
        </p:nvSpPr>
        <p:spPr>
          <a:xfrm>
            <a:off x="0" y="6565392"/>
            <a:ext cx="12191695" cy="381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18" name="TextBox 17"/>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3931920" cy="68580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103120"/>
            <a:ext cx="3291840" cy="2194560"/>
          </a:xfrm>
          <a:prstGeom prst="rect">
            <a:avLst/>
          </a:prstGeom>
          <a:noFill/>
        </p:spPr>
        <p:txBody>
          <a:bodyPr wrap="square" lIns="0" tIns="0" rIns="0" bIns="0" anchor="t">
            <a:spAutoFit/>
          </a:bodyPr>
          <a:lstStyle/>
          <a:p>
            <a:r>
              <a:rPr sz="13000" b="1" i="0">
                <a:solidFill>
                  <a:srgbClr val="FFFFFF"/>
                </a:solidFill>
                <a:latin typeface="Roboto"/>
              </a:rPr>
              <a:t>02</a:t>
            </a:r>
          </a:p>
        </p:txBody>
      </p:sp>
      <p:sp>
        <p:nvSpPr>
          <p:cNvPr id="4" name="TextBox 3"/>
          <p:cNvSpPr txBox="1"/>
          <p:nvPr/>
        </p:nvSpPr>
        <p:spPr>
          <a:xfrm>
            <a:off x="4480560" y="2468880"/>
            <a:ext cx="7132320" cy="2194560"/>
          </a:xfrm>
          <a:prstGeom prst="rect">
            <a:avLst/>
          </a:prstGeom>
          <a:noFill/>
        </p:spPr>
        <p:txBody>
          <a:bodyPr wrap="square" lIns="0" tIns="0" rIns="0" bIns="0" anchor="t">
            <a:spAutoFit/>
          </a:bodyPr>
          <a:lstStyle/>
          <a:p>
            <a:r>
              <a:rPr sz="1600" b="1" i="0">
                <a:solidFill>
                  <a:srgbClr val="27B5CE"/>
                </a:solidFill>
                <a:latin typeface="Roboto"/>
              </a:rPr>
              <a:t>SECTION</a:t>
            </a:r>
          </a:p>
          <a:p>
            <a:pPr>
              <a:spcBef>
                <a:spcPts val="600"/>
              </a:spcBef>
            </a:pPr>
            <a:r>
              <a:rPr sz="3800" b="1" i="0">
                <a:solidFill>
                  <a:srgbClr val="2A2929"/>
                </a:solidFill>
                <a:latin typeface="Roboto"/>
              </a:rPr>
              <a:t>Single points of failure &amp; recovery objectives</a:t>
            </a:r>
          </a:p>
          <a:p>
            <a:pPr>
              <a:spcBef>
                <a:spcPts val="1000"/>
              </a:spcBef>
            </a:pPr>
            <a:r>
              <a:rPr sz="2000" b="0" i="1">
                <a:solidFill>
                  <a:srgbClr val="484848"/>
                </a:solidFill>
                <a:latin typeface="Roboto Light"/>
              </a:rPr>
              <a:t>where it breaks, and how fast you recover</a:t>
            </a:r>
          </a:p>
        </p:txBody>
      </p:sp>
      <p:sp>
        <p:nvSpPr>
          <p:cNvPr id="5" name="Rectangle 4"/>
          <p:cNvSpPr/>
          <p:nvPr/>
        </p:nvSpPr>
        <p:spPr>
          <a:xfrm>
            <a:off x="0" y="6565392"/>
            <a:ext cx="12191695" cy="381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p:cNvSpPr txBox="1"/>
          <p:nvPr/>
        </p:nvSpPr>
        <p:spPr>
          <a:xfrm>
            <a:off x="10515600" y="6400800"/>
            <a:ext cx="1188720" cy="320040"/>
          </a:xfrm>
          <a:prstGeom prst="rect">
            <a:avLst/>
          </a:prstGeom>
          <a:noFill/>
        </p:spPr>
        <p:txBody>
          <a:bodyPr wrap="square" lIns="0" tIns="0" rIns="0" bIns="0" anchor="t">
            <a:spAutoFit/>
          </a:bodyPr>
          <a:lstStyle/>
          <a:p>
            <a:pPr algn="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881360" cy="430887"/>
          </a:xfrm>
          <a:prstGeom prst="rect">
            <a:avLst/>
          </a:prstGeom>
          <a:noFill/>
        </p:spPr>
        <p:txBody>
          <a:bodyPr wrap="square" lIns="0" tIns="0" rIns="0" bIns="0" anchor="t">
            <a:spAutoFit/>
          </a:bodyPr>
          <a:lstStyle/>
          <a:p>
            <a:r>
              <a:rPr sz="2800" b="1" i="0" dirty="0">
                <a:solidFill>
                  <a:srgbClr val="2A2929"/>
                </a:solidFill>
                <a:latin typeface="Roboto"/>
              </a:rPr>
              <a:t>What is a single point of failure?</a:t>
            </a:r>
          </a:p>
        </p:txBody>
      </p:sp>
      <p:sp>
        <p:nvSpPr>
          <p:cNvPr id="3" name="Rectangle 2"/>
          <p:cNvSpPr/>
          <p:nvPr/>
        </p:nvSpPr>
        <p:spPr>
          <a:xfrm>
            <a:off x="658368" y="1047789"/>
            <a:ext cx="1463040" cy="508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60327" y="1318888"/>
            <a:ext cx="5330953" cy="2277418"/>
          </a:xfrm>
          <a:prstGeom prst="rect">
            <a:avLst/>
          </a:prstGeom>
          <a:noFill/>
        </p:spPr>
        <p:txBody>
          <a:bodyPr wrap="square" lIns="0" tIns="0" rIns="0" bIns="0" anchor="t">
            <a:spAutoFit/>
          </a:bodyPr>
          <a:lstStyle/>
          <a:p>
            <a:pPr marL="0" indent="0">
              <a:lnSpc>
                <a:spcPct val="105000"/>
              </a:lnSpc>
              <a:spcBef>
                <a:spcPts val="0"/>
              </a:spcBef>
              <a:spcAft>
                <a:spcPts val="1000"/>
              </a:spcAft>
            </a:pPr>
            <a:r>
              <a:rPr sz="1800" b="1" i="0" dirty="0">
                <a:solidFill>
                  <a:srgbClr val="EDAB0C"/>
                </a:solidFill>
                <a:latin typeface="Roboto"/>
              </a:rPr>
              <a:t>■  </a:t>
            </a:r>
            <a:r>
              <a:rPr sz="1800" b="0" i="0" dirty="0">
                <a:solidFill>
                  <a:srgbClr val="2A2929"/>
                </a:solidFill>
                <a:latin typeface="Roboto"/>
              </a:rPr>
              <a:t>A single point of failure (SPOF) is any component whose failure stops the whole service.</a:t>
            </a:r>
          </a:p>
          <a:p>
            <a:pPr marL="0" indent="0">
              <a:lnSpc>
                <a:spcPct val="105000"/>
              </a:lnSpc>
              <a:spcBef>
                <a:spcPts val="0"/>
              </a:spcBef>
              <a:spcAft>
                <a:spcPts val="1000"/>
              </a:spcAft>
            </a:pPr>
            <a:r>
              <a:rPr sz="1800" b="1" i="0" dirty="0">
                <a:solidFill>
                  <a:srgbClr val="EDAB0C"/>
                </a:solidFill>
                <a:latin typeface="Roboto"/>
              </a:rPr>
              <a:t>■  </a:t>
            </a:r>
            <a:r>
              <a:rPr sz="1800" b="0" i="0" dirty="0">
                <a:solidFill>
                  <a:srgbClr val="2A2929"/>
                </a:solidFill>
                <a:latin typeface="Roboto"/>
              </a:rPr>
              <a:t>Like a car's engine — one failure and nothing moves.</a:t>
            </a:r>
          </a:p>
          <a:p>
            <a:pPr marL="0" indent="0">
              <a:lnSpc>
                <a:spcPct val="105000"/>
              </a:lnSpc>
              <a:spcBef>
                <a:spcPts val="0"/>
              </a:spcBef>
              <a:spcAft>
                <a:spcPts val="1000"/>
              </a:spcAft>
            </a:pPr>
            <a:r>
              <a:rPr sz="1800" b="1" i="0" dirty="0">
                <a:solidFill>
                  <a:srgbClr val="27B5CE"/>
                </a:solidFill>
                <a:latin typeface="Roboto"/>
              </a:rPr>
              <a:t>■  In IT: many app servers all on one database; a whole office on one internet link; one server, one Availability Zone.</a:t>
            </a:r>
            <a:endParaRPr lang="en-AU" b="1" dirty="0">
              <a:solidFill>
                <a:srgbClr val="27B5CE"/>
              </a:solidFill>
              <a:latin typeface="Roboto"/>
            </a:endParaRPr>
          </a:p>
        </p:txBody>
      </p:sp>
      <p:sp>
        <p:nvSpPr>
          <p:cNvPr id="5" name="Rectangle 4"/>
          <p:cNvSpPr/>
          <p:nvPr/>
        </p:nvSpPr>
        <p:spPr>
          <a:xfrm>
            <a:off x="0" y="6565392"/>
            <a:ext cx="12191695" cy="381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87680" y="6424422"/>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7</a:t>
            </a:r>
          </a:p>
        </p:txBody>
      </p:sp>
      <p:pic>
        <p:nvPicPr>
          <p:cNvPr id="8" name="Picture 7">
            <a:extLst>
              <a:ext uri="{FF2B5EF4-FFF2-40B4-BE49-F238E27FC236}">
                <a16:creationId xmlns:a16="http://schemas.microsoft.com/office/drawing/2014/main" id="{1A28F8D7-DE52-016D-C95C-E1CDA475EF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7275379" y="701195"/>
            <a:ext cx="3834581" cy="5062153"/>
          </a:xfrm>
          <a:prstGeom prst="rect">
            <a:avLst/>
          </a:prstGeom>
          <a:noFill/>
        </p:spPr>
      </p:pic>
      <p:sp>
        <p:nvSpPr>
          <p:cNvPr id="10" name="TextBox 9">
            <a:extLst>
              <a:ext uri="{FF2B5EF4-FFF2-40B4-BE49-F238E27FC236}">
                <a16:creationId xmlns:a16="http://schemas.microsoft.com/office/drawing/2014/main" id="{B89574BA-560D-45C2-EECA-4E294DD87A5B}"/>
              </a:ext>
            </a:extLst>
          </p:cNvPr>
          <p:cNvSpPr txBox="1"/>
          <p:nvPr/>
        </p:nvSpPr>
        <p:spPr>
          <a:xfrm>
            <a:off x="534610" y="3806254"/>
            <a:ext cx="6098720" cy="2031325"/>
          </a:xfrm>
          <a:prstGeom prst="rect">
            <a:avLst/>
          </a:prstGeom>
          <a:noFill/>
        </p:spPr>
        <p:txBody>
          <a:bodyPr wrap="square">
            <a:spAutoFit/>
          </a:bodyPr>
          <a:lstStyle/>
          <a:p>
            <a:r>
              <a:rPr lang="en-AU" b="1" dirty="0">
                <a:solidFill>
                  <a:srgbClr val="EDAB0C"/>
                </a:solidFill>
                <a:latin typeface="Roboto"/>
              </a:rPr>
              <a:t>■ </a:t>
            </a:r>
            <a:r>
              <a:rPr lang="en-AU" dirty="0">
                <a:solidFill>
                  <a:srgbClr val="2A2929"/>
                </a:solidFill>
                <a:latin typeface="Roboto"/>
              </a:rPr>
              <a:t>This is an example of an on-premise, multi-tier system</a:t>
            </a:r>
          </a:p>
          <a:p>
            <a:endParaRPr lang="en-AU" dirty="0">
              <a:solidFill>
                <a:srgbClr val="2A2929"/>
              </a:solidFill>
              <a:latin typeface="Roboto"/>
            </a:endParaRPr>
          </a:p>
          <a:p>
            <a:r>
              <a:rPr lang="en-AU" b="1" dirty="0">
                <a:solidFill>
                  <a:srgbClr val="EDAB0C"/>
                </a:solidFill>
                <a:latin typeface="Roboto"/>
              </a:rPr>
              <a:t>■ </a:t>
            </a:r>
            <a:r>
              <a:rPr lang="en-AU" dirty="0">
                <a:solidFill>
                  <a:srgbClr val="2A2929"/>
                </a:solidFill>
                <a:latin typeface="Roboto"/>
              </a:rPr>
              <a:t>If a single presentation-tier webserver goes offline, another server may be able to take over the workload</a:t>
            </a:r>
          </a:p>
          <a:p>
            <a:pPr marL="742950" lvl="1" indent="-285750">
              <a:buFont typeface="Arial" panose="020B0604020202020204" pitchFamily="34" charset="0"/>
              <a:buChar char="•"/>
            </a:pPr>
            <a:r>
              <a:rPr lang="en-AU" dirty="0">
                <a:solidFill>
                  <a:srgbClr val="2A2929"/>
                </a:solidFill>
                <a:latin typeface="Roboto"/>
              </a:rPr>
              <a:t>What would happen if the router fails?</a:t>
            </a:r>
          </a:p>
          <a:p>
            <a:pPr marL="742950" lvl="1" indent="-285750">
              <a:buFont typeface="Arial" panose="020B0604020202020204" pitchFamily="34" charset="0"/>
              <a:buChar char="•"/>
            </a:pPr>
            <a:r>
              <a:rPr lang="en-AU" dirty="0">
                <a:solidFill>
                  <a:srgbClr val="2A2929"/>
                </a:solidFill>
                <a:latin typeface="Roboto"/>
              </a:rPr>
              <a:t>If the database server needs to be updated and restarted, would the system still work?</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881360" cy="430887"/>
          </a:xfrm>
          <a:prstGeom prst="rect">
            <a:avLst/>
          </a:prstGeom>
          <a:noFill/>
        </p:spPr>
        <p:txBody>
          <a:bodyPr wrap="square" lIns="0" tIns="0" rIns="0" bIns="0" anchor="t">
            <a:spAutoFit/>
          </a:bodyPr>
          <a:lstStyle/>
          <a:p>
            <a:r>
              <a:rPr sz="2800" b="1" i="0" dirty="0">
                <a:solidFill>
                  <a:srgbClr val="2A2929"/>
                </a:solidFill>
                <a:latin typeface="Roboto"/>
              </a:rPr>
              <a:t>Recovery objectives — RTO &amp; RPO</a:t>
            </a:r>
          </a:p>
        </p:txBody>
      </p:sp>
      <p:sp>
        <p:nvSpPr>
          <p:cNvPr id="3" name="Rectangle 2"/>
          <p:cNvSpPr/>
          <p:nvPr/>
        </p:nvSpPr>
        <p:spPr>
          <a:xfrm>
            <a:off x="658368" y="1065887"/>
            <a:ext cx="1463040" cy="508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1486459"/>
            <a:ext cx="10881360" cy="4480560"/>
          </a:xfrm>
          <a:prstGeom prst="rect">
            <a:avLst/>
          </a:prstGeom>
          <a:noFill/>
        </p:spPr>
        <p:txBody>
          <a:bodyPr wrap="square" lIns="0" tIns="0" rIns="0" bIns="0" anchor="t">
            <a:spAutoFit/>
          </a:bodyPr>
          <a:lstStyle/>
          <a:p>
            <a:pPr marL="0" indent="0">
              <a:lnSpc>
                <a:spcPct val="105000"/>
              </a:lnSpc>
              <a:spcBef>
                <a:spcPts val="0"/>
              </a:spcBef>
              <a:spcAft>
                <a:spcPts val="1000"/>
              </a:spcAft>
            </a:pPr>
            <a:r>
              <a:rPr sz="1800" b="1" i="0" dirty="0">
                <a:solidFill>
                  <a:srgbClr val="EDAB0C"/>
                </a:solidFill>
                <a:latin typeface="Roboto"/>
              </a:rPr>
              <a:t>■  </a:t>
            </a:r>
            <a:r>
              <a:rPr sz="1800" b="0" i="0" dirty="0">
                <a:solidFill>
                  <a:srgbClr val="2A2929"/>
                </a:solidFill>
                <a:latin typeface="Roboto"/>
              </a:rPr>
              <a:t>RTO (Recovery Time Objective) = the maximum downtime the business will tolerate.</a:t>
            </a:r>
          </a:p>
          <a:p>
            <a:pPr marL="0" indent="0">
              <a:lnSpc>
                <a:spcPct val="105000"/>
              </a:lnSpc>
              <a:spcBef>
                <a:spcPts val="0"/>
              </a:spcBef>
              <a:spcAft>
                <a:spcPts val="1000"/>
              </a:spcAft>
            </a:pPr>
            <a:r>
              <a:rPr sz="1800" b="1" i="0" dirty="0">
                <a:solidFill>
                  <a:srgbClr val="EDAB0C"/>
                </a:solidFill>
                <a:latin typeface="Roboto"/>
              </a:rPr>
              <a:t>■  </a:t>
            </a:r>
            <a:r>
              <a:rPr sz="1800" b="0" i="0" dirty="0">
                <a:solidFill>
                  <a:srgbClr val="2A2929"/>
                </a:solidFill>
                <a:latin typeface="Roboto"/>
              </a:rPr>
              <a:t>RPO (Recovery Point Objective) = the maximum data loss it will tolerate.</a:t>
            </a:r>
          </a:p>
          <a:p>
            <a:pPr marL="0" indent="0">
              <a:lnSpc>
                <a:spcPct val="105000"/>
              </a:lnSpc>
              <a:spcBef>
                <a:spcPts val="0"/>
              </a:spcBef>
              <a:spcAft>
                <a:spcPts val="1000"/>
              </a:spcAft>
            </a:pPr>
            <a:r>
              <a:rPr sz="1800" b="1" i="0" dirty="0">
                <a:solidFill>
                  <a:srgbClr val="27B5CE"/>
                </a:solidFill>
                <a:latin typeface="Roboto"/>
              </a:rPr>
              <a:t>■  Worked example: backups every 15 min → RPO 15 min; recover 3 layers at 30 min each + 1 h testing → RTO 2.5 h.</a:t>
            </a:r>
          </a:p>
          <a:p>
            <a:pPr marL="0" indent="0">
              <a:lnSpc>
                <a:spcPct val="105000"/>
              </a:lnSpc>
              <a:spcBef>
                <a:spcPts val="0"/>
              </a:spcBef>
              <a:spcAft>
                <a:spcPts val="1000"/>
              </a:spcAft>
            </a:pPr>
            <a:r>
              <a:rPr sz="1800" b="1" i="0" dirty="0">
                <a:solidFill>
                  <a:srgbClr val="EDAB0C"/>
                </a:solidFill>
                <a:latin typeface="Roboto"/>
              </a:rPr>
              <a:t>■  </a:t>
            </a:r>
            <a:r>
              <a:rPr sz="1800" b="0" i="0" dirty="0">
                <a:solidFill>
                  <a:srgbClr val="2A2929"/>
                </a:solidFill>
                <a:latin typeface="Roboto"/>
              </a:rPr>
              <a:t>Why not set both to zero? Cost — zero loss / zero downtime is extremely expensive.</a:t>
            </a:r>
          </a:p>
        </p:txBody>
      </p:sp>
      <p:sp>
        <p:nvSpPr>
          <p:cNvPr id="5" name="Rectangle 4"/>
          <p:cNvSpPr/>
          <p:nvPr/>
        </p:nvSpPr>
        <p:spPr>
          <a:xfrm>
            <a:off x="0" y="6565392"/>
            <a:ext cx="12191695" cy="381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8</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881360" cy="430887"/>
          </a:xfrm>
          <a:prstGeom prst="rect">
            <a:avLst/>
          </a:prstGeom>
          <a:noFill/>
        </p:spPr>
        <p:txBody>
          <a:bodyPr wrap="square" lIns="0" tIns="0" rIns="0" bIns="0" anchor="t">
            <a:spAutoFit/>
          </a:bodyPr>
          <a:lstStyle/>
          <a:p>
            <a:r>
              <a:rPr sz="2800" b="1" i="0" dirty="0">
                <a:solidFill>
                  <a:srgbClr val="2A2929"/>
                </a:solidFill>
                <a:latin typeface="Roboto"/>
              </a:rPr>
              <a:t>Vertical scaling and its availability cost</a:t>
            </a:r>
          </a:p>
        </p:txBody>
      </p:sp>
      <p:sp>
        <p:nvSpPr>
          <p:cNvPr id="3" name="Rectangle 2"/>
          <p:cNvSpPr/>
          <p:nvPr/>
        </p:nvSpPr>
        <p:spPr>
          <a:xfrm>
            <a:off x="658368" y="1052679"/>
            <a:ext cx="1463040" cy="508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1691640"/>
            <a:ext cx="10881360" cy="3351046"/>
          </a:xfrm>
          <a:prstGeom prst="rect">
            <a:avLst/>
          </a:prstGeom>
          <a:noFill/>
        </p:spPr>
        <p:txBody>
          <a:bodyPr wrap="square" lIns="0" tIns="0" rIns="0" bIns="0" anchor="t">
            <a:spAutoFit/>
          </a:bodyPr>
          <a:lstStyle/>
          <a:p>
            <a:pPr marL="0" indent="0">
              <a:lnSpc>
                <a:spcPct val="105000"/>
              </a:lnSpc>
              <a:spcBef>
                <a:spcPts val="0"/>
              </a:spcBef>
              <a:spcAft>
                <a:spcPts val="1000"/>
              </a:spcAft>
            </a:pPr>
            <a:r>
              <a:rPr sz="1800" b="1" i="0" dirty="0">
                <a:solidFill>
                  <a:srgbClr val="EDAB0C"/>
                </a:solidFill>
                <a:latin typeface="Roboto"/>
              </a:rPr>
              <a:t>■  </a:t>
            </a:r>
            <a:r>
              <a:rPr sz="1800" b="0" i="0" dirty="0">
                <a:solidFill>
                  <a:srgbClr val="2A2929"/>
                </a:solidFill>
                <a:latin typeface="Roboto"/>
              </a:rPr>
              <a:t>Vertical scaling = a bigger server (more CPU/RAM)</a:t>
            </a:r>
            <a:endParaRPr lang="en-US" sz="1800" b="0" i="0" dirty="0">
              <a:solidFill>
                <a:srgbClr val="2A2929"/>
              </a:solidFill>
              <a:latin typeface="Roboto"/>
            </a:endParaRPr>
          </a:p>
          <a:p>
            <a:pPr>
              <a:lnSpc>
                <a:spcPct val="105000"/>
              </a:lnSpc>
              <a:spcAft>
                <a:spcPts val="1000"/>
              </a:spcAft>
            </a:pPr>
            <a:r>
              <a:rPr lang="en-AU" b="1" dirty="0">
                <a:solidFill>
                  <a:srgbClr val="EDAB0C"/>
                </a:solidFill>
                <a:latin typeface="Roboto"/>
              </a:rPr>
              <a:t>■  </a:t>
            </a:r>
            <a:r>
              <a:rPr lang="en-AU" dirty="0">
                <a:solidFill>
                  <a:srgbClr val="2A2929"/>
                </a:solidFill>
                <a:latin typeface="Roboto"/>
              </a:rPr>
              <a:t>H</a:t>
            </a:r>
            <a:r>
              <a:rPr sz="1800" b="0" i="0" dirty="0" err="1">
                <a:solidFill>
                  <a:srgbClr val="2A2929"/>
                </a:solidFill>
                <a:latin typeface="Roboto"/>
              </a:rPr>
              <a:t>orizontal</a:t>
            </a:r>
            <a:r>
              <a:rPr sz="1800" b="0" i="0" dirty="0">
                <a:solidFill>
                  <a:srgbClr val="2A2929"/>
                </a:solidFill>
                <a:latin typeface="Roboto"/>
              </a:rPr>
              <a:t> scaling = more servers.</a:t>
            </a:r>
          </a:p>
          <a:p>
            <a:pPr marL="0" indent="0">
              <a:lnSpc>
                <a:spcPct val="105000"/>
              </a:lnSpc>
              <a:spcBef>
                <a:spcPts val="0"/>
              </a:spcBef>
              <a:spcAft>
                <a:spcPts val="1000"/>
              </a:spcAft>
            </a:pPr>
            <a:r>
              <a:rPr sz="1800" b="1" i="0" dirty="0">
                <a:solidFill>
                  <a:srgbClr val="27B5CE"/>
                </a:solidFill>
                <a:latin typeface="Roboto"/>
              </a:rPr>
              <a:t>■  Vertical scaling usually needs a shutdown/restart and hits a ceiling — so it's an availability cost.</a:t>
            </a:r>
          </a:p>
          <a:p>
            <a:pPr marL="0" indent="0">
              <a:lnSpc>
                <a:spcPct val="105000"/>
              </a:lnSpc>
              <a:spcBef>
                <a:spcPts val="0"/>
              </a:spcBef>
              <a:spcAft>
                <a:spcPts val="1000"/>
              </a:spcAft>
            </a:pPr>
            <a:r>
              <a:rPr sz="1800" b="1" i="0" dirty="0">
                <a:solidFill>
                  <a:srgbClr val="EDAB0C"/>
                </a:solidFill>
                <a:latin typeface="Roboto"/>
              </a:rPr>
              <a:t>■  </a:t>
            </a:r>
            <a:r>
              <a:rPr sz="1800" b="0" i="0" dirty="0">
                <a:solidFill>
                  <a:srgbClr val="2A2929"/>
                </a:solidFill>
                <a:latin typeface="Roboto"/>
              </a:rPr>
              <a:t>Horizontal scaling is preferred for availability; mitigate vertical changes via an overnight window, a standby switch, or hot-swap.</a:t>
            </a:r>
            <a:endParaRPr lang="en-AU" dirty="0">
              <a:solidFill>
                <a:srgbClr val="2A2929"/>
              </a:solidFill>
              <a:latin typeface="Roboto"/>
            </a:endParaRPr>
          </a:p>
          <a:p>
            <a:r>
              <a:rPr lang="en-AU" b="1" dirty="0">
                <a:solidFill>
                  <a:srgbClr val="EDAB0C"/>
                </a:solidFill>
                <a:latin typeface="Roboto"/>
              </a:rPr>
              <a:t>■  </a:t>
            </a:r>
            <a:r>
              <a:rPr lang="en-AU" dirty="0">
                <a:solidFill>
                  <a:srgbClr val="2A2929"/>
                </a:solidFill>
                <a:latin typeface="Roboto"/>
              </a:rPr>
              <a:t>Some tasks (e.g. judging a trial) can’t be done faster by adding more people.</a:t>
            </a:r>
          </a:p>
          <a:p>
            <a:endParaRPr lang="en-AU" dirty="0">
              <a:solidFill>
                <a:srgbClr val="2A2929"/>
              </a:solidFill>
              <a:latin typeface="Roboto"/>
            </a:endParaRPr>
          </a:p>
          <a:p>
            <a:r>
              <a:rPr lang="en-AU" b="1" dirty="0">
                <a:solidFill>
                  <a:srgbClr val="EDAB0C"/>
                </a:solidFill>
                <a:latin typeface="Roboto"/>
              </a:rPr>
              <a:t>■ </a:t>
            </a:r>
            <a:r>
              <a:rPr lang="en-AU" dirty="0">
                <a:solidFill>
                  <a:srgbClr val="2A2929"/>
                </a:solidFill>
                <a:latin typeface="Roboto"/>
              </a:rPr>
              <a:t>Other tasks can be done faster by adding resources</a:t>
            </a:r>
          </a:p>
          <a:p>
            <a:pPr lvl="1"/>
            <a:r>
              <a:rPr lang="en-AU" dirty="0">
                <a:solidFill>
                  <a:srgbClr val="2A2929"/>
                </a:solidFill>
                <a:latin typeface="Roboto"/>
              </a:rPr>
              <a:t>Shipping 1000 boxes in 1 car = 10 months.  Use 5 cars?  Only 2 months.</a:t>
            </a:r>
          </a:p>
          <a:p>
            <a:pPr marL="0" indent="0">
              <a:lnSpc>
                <a:spcPct val="105000"/>
              </a:lnSpc>
              <a:spcBef>
                <a:spcPts val="0"/>
              </a:spcBef>
              <a:spcAft>
                <a:spcPts val="1000"/>
              </a:spcAft>
            </a:pPr>
            <a:endParaRPr sz="1800" b="0" i="0" dirty="0">
              <a:solidFill>
                <a:srgbClr val="2A2929"/>
              </a:solidFill>
              <a:latin typeface="Roboto"/>
            </a:endParaRPr>
          </a:p>
        </p:txBody>
      </p:sp>
      <p:sp>
        <p:nvSpPr>
          <p:cNvPr id="5" name="Rectangle 4"/>
          <p:cNvSpPr/>
          <p:nvPr/>
        </p:nvSpPr>
        <p:spPr>
          <a:xfrm>
            <a:off x="0" y="6565392"/>
            <a:ext cx="12191695" cy="381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9</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3444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40080" y="384048"/>
            <a:ext cx="1691640" cy="457200"/>
          </a:xfrm>
          <a:prstGeom prst="roundRect">
            <a:avLst/>
          </a:prstGeom>
          <a:solidFill>
            <a:srgbClr val="2A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i="0">
                <a:solidFill>
                  <a:srgbClr val="FBB900"/>
                </a:solidFill>
                <a:latin typeface="Roboto"/>
              </a:rPr>
              <a:t>ACTIVITY</a:t>
            </a:r>
          </a:p>
        </p:txBody>
      </p:sp>
      <p:sp>
        <p:nvSpPr>
          <p:cNvPr id="4" name="TextBox 3"/>
          <p:cNvSpPr txBox="1"/>
          <p:nvPr/>
        </p:nvSpPr>
        <p:spPr>
          <a:xfrm>
            <a:off x="2560320" y="310896"/>
            <a:ext cx="8961120" cy="685800"/>
          </a:xfrm>
          <a:prstGeom prst="rect">
            <a:avLst/>
          </a:prstGeom>
          <a:noFill/>
        </p:spPr>
        <p:txBody>
          <a:bodyPr wrap="square" lIns="0" tIns="0" rIns="0" bIns="0" anchor="ctr">
            <a:spAutoFit/>
          </a:bodyPr>
          <a:lstStyle/>
          <a:p>
            <a:r>
              <a:rPr sz="2600" b="1" i="0">
                <a:solidFill>
                  <a:srgbClr val="FFFFFF"/>
                </a:solidFill>
                <a:latin typeface="Roboto"/>
              </a:rPr>
              <a:t>Spot the SPOFs in the baseline</a:t>
            </a:r>
          </a:p>
        </p:txBody>
      </p:sp>
      <p:sp>
        <p:nvSpPr>
          <p:cNvPr id="5" name="TextBox 4"/>
          <p:cNvSpPr txBox="1"/>
          <p:nvPr/>
        </p:nvSpPr>
        <p:spPr>
          <a:xfrm>
            <a:off x="658368" y="1554480"/>
            <a:ext cx="10881360" cy="4297680"/>
          </a:xfrm>
          <a:prstGeom prst="rect">
            <a:avLst/>
          </a:prstGeom>
          <a:noFill/>
        </p:spPr>
        <p:txBody>
          <a:bodyPr wrap="square" lIns="0" tIns="0" rIns="0" bIns="0" anchor="t">
            <a:spAutoFit/>
          </a:bodyPr>
          <a:lstStyle/>
          <a:p>
            <a:pPr marL="0" indent="0">
              <a:lnSpc>
                <a:spcPct val="105000"/>
              </a:lnSpc>
              <a:spcBef>
                <a:spcPts val="0"/>
              </a:spcBef>
              <a:spcAft>
                <a:spcPts val="1000"/>
              </a:spcAft>
            </a:pPr>
            <a:r>
              <a:rPr sz="1700" b="1" i="0">
                <a:solidFill>
                  <a:srgbClr val="EDAB0C"/>
                </a:solidFill>
                <a:latin typeface="Roboto"/>
              </a:rPr>
              <a:t>■  </a:t>
            </a:r>
            <a:r>
              <a:rPr sz="1700" b="1" i="0">
                <a:solidFill>
                  <a:srgbClr val="2A2929"/>
                </a:solidFill>
                <a:latin typeface="Roboto"/>
              </a:rPr>
              <a:t>Look at the single-AZ Accounting baseline you'd be hardening:</a:t>
            </a:r>
          </a:p>
          <a:p>
            <a:pPr marL="365760" indent="0">
              <a:lnSpc>
                <a:spcPct val="105000"/>
              </a:lnSpc>
              <a:spcBef>
                <a:spcPts val="0"/>
              </a:spcBef>
              <a:spcAft>
                <a:spcPts val="500"/>
              </a:spcAft>
            </a:pPr>
            <a:r>
              <a:rPr sz="1400" b="0" i="0">
                <a:solidFill>
                  <a:srgbClr val="7A7A7A"/>
                </a:solidFill>
                <a:latin typeface="Roboto"/>
              </a:rPr>
              <a:t>–  </a:t>
            </a:r>
            <a:r>
              <a:rPr sz="1400" b="0" i="0">
                <a:solidFill>
                  <a:srgbClr val="2A2929"/>
                </a:solidFill>
                <a:latin typeface="Roboto"/>
              </a:rPr>
              <a:t>list its single points of failure (think: AZ, database, the running instance, egress)</a:t>
            </a:r>
          </a:p>
          <a:p>
            <a:pPr marL="365760" indent="0">
              <a:lnSpc>
                <a:spcPct val="105000"/>
              </a:lnSpc>
              <a:spcBef>
                <a:spcPts val="0"/>
              </a:spcBef>
              <a:spcAft>
                <a:spcPts val="500"/>
              </a:spcAft>
            </a:pPr>
            <a:r>
              <a:rPr sz="1400" b="0" i="0">
                <a:solidFill>
                  <a:srgbClr val="7A7A7A"/>
                </a:solidFill>
                <a:latin typeface="Roboto"/>
              </a:rPr>
              <a:t>–  </a:t>
            </a:r>
            <a:r>
              <a:rPr sz="1400" b="0" i="0">
                <a:solidFill>
                  <a:srgbClr val="2A2929"/>
                </a:solidFill>
                <a:latin typeface="Roboto"/>
              </a:rPr>
              <a:t>estimate the baseline's recovery objectives (RPO / RTO) and where they fall short</a:t>
            </a:r>
          </a:p>
          <a:p>
            <a:pPr marL="0" indent="0">
              <a:lnSpc>
                <a:spcPct val="105000"/>
              </a:lnSpc>
              <a:spcBef>
                <a:spcPts val="0"/>
              </a:spcBef>
              <a:spcAft>
                <a:spcPts val="1000"/>
              </a:spcAft>
            </a:pPr>
            <a:r>
              <a:rPr sz="1700" b="1" i="0">
                <a:solidFill>
                  <a:srgbClr val="27B5CE"/>
                </a:solidFill>
                <a:latin typeface="Roboto"/>
              </a:rPr>
              <a:t>■  Keep your list — Topic 12 designs these out.</a:t>
            </a:r>
          </a:p>
        </p:txBody>
      </p:sp>
      <p:sp>
        <p:nvSpPr>
          <p:cNvPr id="6" name="Rounded Rectangle 5"/>
          <p:cNvSpPr/>
          <p:nvPr/>
        </p:nvSpPr>
        <p:spPr>
          <a:xfrm>
            <a:off x="640080" y="5897880"/>
            <a:ext cx="4023360" cy="457200"/>
          </a:xfrm>
          <a:prstGeom prst="roundRect">
            <a:avLst/>
          </a:prstGeom>
          <a:solidFill>
            <a:srgbClr val="F9F9F9"/>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5943600"/>
            <a:ext cx="3657600" cy="365760"/>
          </a:xfrm>
          <a:prstGeom prst="rect">
            <a:avLst/>
          </a:prstGeom>
          <a:noFill/>
        </p:spPr>
        <p:txBody>
          <a:bodyPr wrap="square" lIns="0" tIns="0" rIns="0" bIns="0" anchor="ctr">
            <a:spAutoFit/>
          </a:bodyPr>
          <a:lstStyle/>
          <a:p>
            <a:r>
              <a:rPr sz="1500" b="1" i="0">
                <a:solidFill>
                  <a:srgbClr val="2A2929"/>
                </a:solidFill>
                <a:latin typeface="Roboto"/>
              </a:rPr>
              <a:t>⏱  ~10 min</a:t>
            </a:r>
          </a:p>
        </p:txBody>
      </p:sp>
      <p:sp>
        <p:nvSpPr>
          <p:cNvPr id="8" name="Rectangle 7"/>
          <p:cNvSpPr/>
          <p:nvPr/>
        </p:nvSpPr>
        <p:spPr>
          <a:xfrm>
            <a:off x="0" y="6565392"/>
            <a:ext cx="12191695" cy="381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10" name="TextBox 9"/>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10</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p:cNvGrpSpPr/>
        <p:nvPr/>
      </p:nvGrpSpPr>
      <p:grpSpPr>
        <a:xfrm>
          <a:off x="0" y="0"/>
          <a:ext cx="0" cy="0"/>
          <a:chOff x="0" y="0"/>
          <a:chExt cx="0" cy="0"/>
        </a:xfrm>
      </p:grpSpPr>
      <p:sp>
        <p:nvSpPr>
          <p:cNvPr id="2" name="TextBox 1"/>
          <p:cNvSpPr txBox="1"/>
          <p:nvPr/>
        </p:nvSpPr>
        <p:spPr>
          <a:xfrm>
            <a:off x="640080" y="548640"/>
            <a:ext cx="10881360" cy="1097280"/>
          </a:xfrm>
          <a:prstGeom prst="rect">
            <a:avLst/>
          </a:prstGeom>
          <a:noFill/>
        </p:spPr>
        <p:txBody>
          <a:bodyPr wrap="square" lIns="0" tIns="0" rIns="0" bIns="0" anchor="t">
            <a:spAutoFit/>
          </a:bodyPr>
          <a:lstStyle/>
          <a:p>
            <a:r>
              <a:rPr sz="3200" b="1" i="0">
                <a:solidFill>
                  <a:srgbClr val="2A2929"/>
                </a:solidFill>
                <a:latin typeface="Roboto"/>
              </a:rPr>
              <a:t>Key takeaways</a:t>
            </a:r>
          </a:p>
          <a:p>
            <a:pPr>
              <a:spcBef>
                <a:spcPts val="200"/>
              </a:spcBef>
            </a:pPr>
            <a:r>
              <a:rPr sz="1800" b="1" i="0">
                <a:solidFill>
                  <a:srgbClr val="27B5CE"/>
                </a:solidFill>
                <a:latin typeface="Roboto"/>
              </a:rPr>
              <a:t>Section 2 · SPOFs &amp; recovery</a:t>
            </a:r>
          </a:p>
        </p:txBody>
      </p:sp>
      <p:sp>
        <p:nvSpPr>
          <p:cNvPr id="3" name="Rectangle 2"/>
          <p:cNvSpPr/>
          <p:nvPr/>
        </p:nvSpPr>
        <p:spPr>
          <a:xfrm>
            <a:off x="658368" y="1600200"/>
            <a:ext cx="1463040" cy="508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40080" y="1965960"/>
            <a:ext cx="10927080" cy="841248"/>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965960"/>
            <a:ext cx="109728" cy="841248"/>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965960"/>
            <a:ext cx="10424160" cy="841248"/>
          </a:xfrm>
          <a:prstGeom prst="rect">
            <a:avLst/>
          </a:prstGeom>
          <a:noFill/>
        </p:spPr>
        <p:txBody>
          <a:bodyPr wrap="square" lIns="0" tIns="0" rIns="0" bIns="0" anchor="ctr">
            <a:spAutoFit/>
          </a:bodyPr>
          <a:lstStyle/>
          <a:p>
            <a:pPr>
              <a:lnSpc>
                <a:spcPct val="100000"/>
              </a:lnSpc>
            </a:pPr>
            <a:r>
              <a:rPr sz="1700" b="0" i="0">
                <a:solidFill>
                  <a:srgbClr val="2A2929"/>
                </a:solidFill>
                <a:latin typeface="Roboto"/>
              </a:rPr>
              <a:t>A SPOF is any component whose failure stops the whole service.</a:t>
            </a:r>
          </a:p>
        </p:txBody>
      </p:sp>
      <p:sp>
        <p:nvSpPr>
          <p:cNvPr id="7" name="Rectangle 6"/>
          <p:cNvSpPr/>
          <p:nvPr/>
        </p:nvSpPr>
        <p:spPr>
          <a:xfrm>
            <a:off x="640080" y="2916936"/>
            <a:ext cx="10927080" cy="841248"/>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2916936"/>
            <a:ext cx="109728" cy="841248"/>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2916936"/>
            <a:ext cx="10424160" cy="841248"/>
          </a:xfrm>
          <a:prstGeom prst="rect">
            <a:avLst/>
          </a:prstGeom>
          <a:noFill/>
        </p:spPr>
        <p:txBody>
          <a:bodyPr wrap="square" lIns="0" tIns="0" rIns="0" bIns="0" anchor="ctr">
            <a:spAutoFit/>
          </a:bodyPr>
          <a:lstStyle/>
          <a:p>
            <a:pPr>
              <a:lnSpc>
                <a:spcPct val="100000"/>
              </a:lnSpc>
            </a:pPr>
            <a:r>
              <a:rPr sz="1700" b="0" i="0">
                <a:solidFill>
                  <a:srgbClr val="2A2929"/>
                </a:solidFill>
                <a:latin typeface="Roboto"/>
              </a:rPr>
              <a:t>RTO = tolerable downtime; RPO = tolerable data loss; zero costs the most.</a:t>
            </a:r>
          </a:p>
        </p:txBody>
      </p:sp>
      <p:sp>
        <p:nvSpPr>
          <p:cNvPr id="10" name="Rectangle 9"/>
          <p:cNvSpPr/>
          <p:nvPr/>
        </p:nvSpPr>
        <p:spPr>
          <a:xfrm>
            <a:off x="640080" y="3867912"/>
            <a:ext cx="10927080" cy="841248"/>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40080" y="3867912"/>
            <a:ext cx="109728" cy="841248"/>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0120" y="3867912"/>
            <a:ext cx="10424160" cy="841248"/>
          </a:xfrm>
          <a:prstGeom prst="rect">
            <a:avLst/>
          </a:prstGeom>
          <a:noFill/>
        </p:spPr>
        <p:txBody>
          <a:bodyPr wrap="square" lIns="0" tIns="0" rIns="0" bIns="0" anchor="ctr">
            <a:spAutoFit/>
          </a:bodyPr>
          <a:lstStyle/>
          <a:p>
            <a:pPr>
              <a:lnSpc>
                <a:spcPct val="100000"/>
              </a:lnSpc>
            </a:pPr>
            <a:r>
              <a:rPr sz="1700" b="0" i="0">
                <a:solidFill>
                  <a:srgbClr val="2A2929"/>
                </a:solidFill>
                <a:latin typeface="Roboto"/>
              </a:rPr>
              <a:t>Vertical scaling carries downtime + a ceiling — horizontal scaling aids availability.</a:t>
            </a:r>
          </a:p>
        </p:txBody>
      </p:sp>
      <p:sp>
        <p:nvSpPr>
          <p:cNvPr id="13" name="Rectangle 12"/>
          <p:cNvSpPr/>
          <p:nvPr/>
        </p:nvSpPr>
        <p:spPr>
          <a:xfrm>
            <a:off x="640080" y="4818888"/>
            <a:ext cx="10927080" cy="841248"/>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40080" y="4818888"/>
            <a:ext cx="109728" cy="841248"/>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60120" y="4818888"/>
            <a:ext cx="10424160" cy="841248"/>
          </a:xfrm>
          <a:prstGeom prst="rect">
            <a:avLst/>
          </a:prstGeom>
          <a:noFill/>
        </p:spPr>
        <p:txBody>
          <a:bodyPr wrap="square" lIns="0" tIns="0" rIns="0" bIns="0" anchor="ctr">
            <a:spAutoFit/>
          </a:bodyPr>
          <a:lstStyle/>
          <a:p>
            <a:pPr>
              <a:lnSpc>
                <a:spcPct val="100000"/>
              </a:lnSpc>
            </a:pPr>
            <a:r>
              <a:rPr sz="1700" b="0" i="0">
                <a:solidFill>
                  <a:srgbClr val="2A2929"/>
                </a:solidFill>
                <a:latin typeface="Roboto"/>
              </a:rPr>
              <a:t>The baseline's single AZ and single database are its key SPOFs.</a:t>
            </a:r>
          </a:p>
        </p:txBody>
      </p:sp>
      <p:sp>
        <p:nvSpPr>
          <p:cNvPr id="16" name="Rectangle 15"/>
          <p:cNvSpPr/>
          <p:nvPr/>
        </p:nvSpPr>
        <p:spPr>
          <a:xfrm>
            <a:off x="0" y="6565392"/>
            <a:ext cx="12191695" cy="381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18" name="TextBox 17"/>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11</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3931920" cy="6858000"/>
          </a:xfrm>
          <a:prstGeom prst="rect">
            <a:avLst/>
          </a:prstGeom>
          <a:solidFill>
            <a:srgbClr val="205F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103120"/>
            <a:ext cx="3291840" cy="2194560"/>
          </a:xfrm>
          <a:prstGeom prst="rect">
            <a:avLst/>
          </a:prstGeom>
          <a:noFill/>
        </p:spPr>
        <p:txBody>
          <a:bodyPr wrap="square" lIns="0" tIns="0" rIns="0" bIns="0" anchor="t">
            <a:spAutoFit/>
          </a:bodyPr>
          <a:lstStyle/>
          <a:p>
            <a:r>
              <a:rPr sz="13000" b="1" i="0">
                <a:solidFill>
                  <a:srgbClr val="FFFFFF"/>
                </a:solidFill>
                <a:latin typeface="Roboto"/>
              </a:rPr>
              <a:t>03</a:t>
            </a:r>
          </a:p>
        </p:txBody>
      </p:sp>
      <p:sp>
        <p:nvSpPr>
          <p:cNvPr id="4" name="TextBox 3"/>
          <p:cNvSpPr txBox="1"/>
          <p:nvPr/>
        </p:nvSpPr>
        <p:spPr>
          <a:xfrm>
            <a:off x="4480560" y="2468880"/>
            <a:ext cx="7132320" cy="2194560"/>
          </a:xfrm>
          <a:prstGeom prst="rect">
            <a:avLst/>
          </a:prstGeom>
          <a:noFill/>
        </p:spPr>
        <p:txBody>
          <a:bodyPr wrap="square" lIns="0" tIns="0" rIns="0" bIns="0" anchor="t">
            <a:spAutoFit/>
          </a:bodyPr>
          <a:lstStyle/>
          <a:p>
            <a:r>
              <a:rPr sz="1600" b="1" i="0">
                <a:solidFill>
                  <a:srgbClr val="205F61"/>
                </a:solidFill>
                <a:latin typeface="Roboto"/>
              </a:rPr>
              <a:t>SECTION</a:t>
            </a:r>
          </a:p>
          <a:p>
            <a:pPr>
              <a:spcBef>
                <a:spcPts val="600"/>
              </a:spcBef>
            </a:pPr>
            <a:r>
              <a:rPr sz="3800" b="1" i="0">
                <a:solidFill>
                  <a:srgbClr val="2A2929"/>
                </a:solidFill>
                <a:latin typeface="Roboto"/>
              </a:rPr>
              <a:t>Achieving availability in the cloud</a:t>
            </a:r>
          </a:p>
          <a:p>
            <a:pPr>
              <a:spcBef>
                <a:spcPts val="1000"/>
              </a:spcBef>
            </a:pPr>
            <a:r>
              <a:rPr sz="2000" b="0" i="1">
                <a:solidFill>
                  <a:srgbClr val="484848"/>
                </a:solidFill>
                <a:latin typeface="Roboto Light"/>
              </a:rPr>
              <a:t>the HA toolkit</a:t>
            </a:r>
          </a:p>
        </p:txBody>
      </p:sp>
      <p:sp>
        <p:nvSpPr>
          <p:cNvPr id="5" name="Rectangle 4"/>
          <p:cNvSpPr/>
          <p:nvPr/>
        </p:nvSpPr>
        <p:spPr>
          <a:xfrm>
            <a:off x="0" y="6565392"/>
            <a:ext cx="12191695" cy="38100"/>
          </a:xfrm>
          <a:prstGeom prst="rect">
            <a:avLst/>
          </a:prstGeom>
          <a:solidFill>
            <a:srgbClr val="205F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p:cNvSpPr txBox="1"/>
          <p:nvPr/>
        </p:nvSpPr>
        <p:spPr>
          <a:xfrm>
            <a:off x="10515600" y="6400800"/>
            <a:ext cx="1188720" cy="320040"/>
          </a:xfrm>
          <a:prstGeom prst="rect">
            <a:avLst/>
          </a:prstGeom>
          <a:noFill/>
        </p:spPr>
        <p:txBody>
          <a:bodyPr wrap="square" lIns="0" tIns="0" rIns="0" bIns="0" anchor="t">
            <a:spAutoFit/>
          </a:bodyPr>
          <a:lstStyle/>
          <a:p>
            <a:pPr algn="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8D78BB-EE04-71CE-405F-733F5051BC8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D24ED47-9DEB-23FB-655A-A418829AA62B}"/>
              </a:ext>
            </a:extLst>
          </p:cNvPr>
          <p:cNvSpPr txBox="1"/>
          <p:nvPr/>
        </p:nvSpPr>
        <p:spPr>
          <a:xfrm>
            <a:off x="640080" y="457200"/>
            <a:ext cx="10881360" cy="430887"/>
          </a:xfrm>
          <a:prstGeom prst="rect">
            <a:avLst/>
          </a:prstGeom>
          <a:noFill/>
        </p:spPr>
        <p:txBody>
          <a:bodyPr wrap="square" lIns="0" tIns="0" rIns="0" bIns="0" anchor="t">
            <a:spAutoFit/>
          </a:bodyPr>
          <a:lstStyle/>
          <a:p>
            <a:r>
              <a:rPr lang="en-US" sz="2800" b="1" i="0" dirty="0">
                <a:solidFill>
                  <a:srgbClr val="2A2929"/>
                </a:solidFill>
                <a:latin typeface="Roboto"/>
              </a:rPr>
              <a:t>Principle of cloud HA design</a:t>
            </a:r>
            <a:endParaRPr sz="2800" b="1" i="0" dirty="0">
              <a:solidFill>
                <a:srgbClr val="2A2929"/>
              </a:solidFill>
              <a:latin typeface="Roboto"/>
            </a:endParaRPr>
          </a:p>
        </p:txBody>
      </p:sp>
      <p:sp>
        <p:nvSpPr>
          <p:cNvPr id="3" name="Rectangle 2">
            <a:extLst>
              <a:ext uri="{FF2B5EF4-FFF2-40B4-BE49-F238E27FC236}">
                <a16:creationId xmlns:a16="http://schemas.microsoft.com/office/drawing/2014/main" id="{590417F3-36C1-FB9A-C33C-CAC4BDD1B942}"/>
              </a:ext>
            </a:extLst>
          </p:cNvPr>
          <p:cNvSpPr/>
          <p:nvPr/>
        </p:nvSpPr>
        <p:spPr>
          <a:xfrm>
            <a:off x="658368" y="1027279"/>
            <a:ext cx="1463040" cy="50800"/>
          </a:xfrm>
          <a:prstGeom prst="rect">
            <a:avLst/>
          </a:prstGeom>
          <a:solidFill>
            <a:srgbClr val="205F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BAC20C51-5692-F7ED-2243-826752A761C9}"/>
              </a:ext>
            </a:extLst>
          </p:cNvPr>
          <p:cNvSpPr/>
          <p:nvPr/>
        </p:nvSpPr>
        <p:spPr>
          <a:xfrm>
            <a:off x="0" y="6565392"/>
            <a:ext cx="12191695" cy="38100"/>
          </a:xfrm>
          <a:prstGeom prst="rect">
            <a:avLst/>
          </a:prstGeom>
          <a:solidFill>
            <a:srgbClr val="205F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A956CF58-3EA7-6E0A-8787-48F24C9ACFFB}"/>
              </a:ext>
            </a:extLst>
          </p:cNvPr>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a:extLst>
              <a:ext uri="{FF2B5EF4-FFF2-40B4-BE49-F238E27FC236}">
                <a16:creationId xmlns:a16="http://schemas.microsoft.com/office/drawing/2014/main" id="{3A2F0C35-0CA5-8695-3F1B-728149A12564}"/>
              </a:ext>
            </a:extLst>
          </p:cNvPr>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12</a:t>
            </a:r>
          </a:p>
        </p:txBody>
      </p:sp>
      <p:graphicFrame>
        <p:nvGraphicFramePr>
          <p:cNvPr id="24" name="Content Placeholder 2">
            <a:extLst>
              <a:ext uri="{FF2B5EF4-FFF2-40B4-BE49-F238E27FC236}">
                <a16:creationId xmlns:a16="http://schemas.microsoft.com/office/drawing/2014/main" id="{7673DA34-4D1B-1E1E-7D53-8417531D0C93}"/>
              </a:ext>
            </a:extLst>
          </p:cNvPr>
          <p:cNvGraphicFramePr>
            <a:graphicFrameLocks/>
          </p:cNvGraphicFramePr>
          <p:nvPr>
            <p:extLst>
              <p:ext uri="{D42A27DB-BD31-4B8C-83A1-F6EECF244321}">
                <p14:modId xmlns:p14="http://schemas.microsoft.com/office/powerpoint/2010/main" val="2445601615"/>
              </p:ext>
            </p:extLst>
          </p:nvPr>
        </p:nvGraphicFramePr>
        <p:xfrm>
          <a:off x="4126724" y="1226683"/>
          <a:ext cx="3938246" cy="49841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282609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22996D-4DD8-9767-2EF1-B4DF6FACC6C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224CF02-7F41-5D05-3BDF-C651CA4B0113}"/>
              </a:ext>
            </a:extLst>
          </p:cNvPr>
          <p:cNvSpPr txBox="1"/>
          <p:nvPr/>
        </p:nvSpPr>
        <p:spPr>
          <a:xfrm>
            <a:off x="640080" y="457200"/>
            <a:ext cx="10881360" cy="430887"/>
          </a:xfrm>
          <a:prstGeom prst="rect">
            <a:avLst/>
          </a:prstGeom>
          <a:noFill/>
        </p:spPr>
        <p:txBody>
          <a:bodyPr wrap="square" lIns="0" tIns="0" rIns="0" bIns="0" anchor="t">
            <a:spAutoFit/>
          </a:bodyPr>
          <a:lstStyle/>
          <a:p>
            <a:r>
              <a:rPr lang="en-US" sz="2800" b="1" dirty="0">
                <a:solidFill>
                  <a:srgbClr val="2A2929"/>
                </a:solidFill>
                <a:latin typeface="Roboto"/>
              </a:rPr>
              <a:t>Reliability</a:t>
            </a:r>
            <a:endParaRPr sz="2800" b="1" i="0" dirty="0">
              <a:solidFill>
                <a:srgbClr val="2A2929"/>
              </a:solidFill>
              <a:latin typeface="Roboto"/>
            </a:endParaRPr>
          </a:p>
        </p:txBody>
      </p:sp>
      <p:sp>
        <p:nvSpPr>
          <p:cNvPr id="3" name="Rectangle 2">
            <a:extLst>
              <a:ext uri="{FF2B5EF4-FFF2-40B4-BE49-F238E27FC236}">
                <a16:creationId xmlns:a16="http://schemas.microsoft.com/office/drawing/2014/main" id="{8EF0A66A-7C34-52A0-F8E2-0936FD3C2E13}"/>
              </a:ext>
            </a:extLst>
          </p:cNvPr>
          <p:cNvSpPr/>
          <p:nvPr/>
        </p:nvSpPr>
        <p:spPr>
          <a:xfrm>
            <a:off x="658368" y="1027279"/>
            <a:ext cx="1463040" cy="50800"/>
          </a:xfrm>
          <a:prstGeom prst="rect">
            <a:avLst/>
          </a:prstGeom>
          <a:solidFill>
            <a:srgbClr val="205F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F08737BC-7B77-F56E-ACEB-B6CE7EE6C830}"/>
              </a:ext>
            </a:extLst>
          </p:cNvPr>
          <p:cNvSpPr/>
          <p:nvPr/>
        </p:nvSpPr>
        <p:spPr>
          <a:xfrm>
            <a:off x="0" y="6565392"/>
            <a:ext cx="12191695" cy="38100"/>
          </a:xfrm>
          <a:prstGeom prst="rect">
            <a:avLst/>
          </a:prstGeom>
          <a:solidFill>
            <a:srgbClr val="205F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22795255-A697-0834-87E5-71B164D055D7}"/>
              </a:ext>
            </a:extLst>
          </p:cNvPr>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a:extLst>
              <a:ext uri="{FF2B5EF4-FFF2-40B4-BE49-F238E27FC236}">
                <a16:creationId xmlns:a16="http://schemas.microsoft.com/office/drawing/2014/main" id="{DCC78BCE-B7D4-E0F8-27FB-8557F9EA8170}"/>
              </a:ext>
            </a:extLst>
          </p:cNvPr>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12</a:t>
            </a:r>
          </a:p>
        </p:txBody>
      </p:sp>
      <p:graphicFrame>
        <p:nvGraphicFramePr>
          <p:cNvPr id="4" name="Content Placeholder 2">
            <a:extLst>
              <a:ext uri="{FF2B5EF4-FFF2-40B4-BE49-F238E27FC236}">
                <a16:creationId xmlns:a16="http://schemas.microsoft.com/office/drawing/2014/main" id="{256CB16A-BFC1-C847-14FC-1051B111BB78}"/>
              </a:ext>
            </a:extLst>
          </p:cNvPr>
          <p:cNvGraphicFramePr>
            <a:graphicFrameLocks/>
          </p:cNvGraphicFramePr>
          <p:nvPr>
            <p:extLst>
              <p:ext uri="{D42A27DB-BD31-4B8C-83A1-F6EECF244321}">
                <p14:modId xmlns:p14="http://schemas.microsoft.com/office/powerpoint/2010/main" val="2317412053"/>
              </p:ext>
            </p:extLst>
          </p:nvPr>
        </p:nvGraphicFramePr>
        <p:xfrm>
          <a:off x="2879859" y="640075"/>
          <a:ext cx="6218921" cy="553688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310720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95B1EC-C2BC-637B-56D6-75C88677B66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CCF9288-8053-FB0F-0B3B-DD23DBB0BD3B}"/>
              </a:ext>
            </a:extLst>
          </p:cNvPr>
          <p:cNvSpPr txBox="1"/>
          <p:nvPr/>
        </p:nvSpPr>
        <p:spPr>
          <a:xfrm>
            <a:off x="640080" y="457200"/>
            <a:ext cx="10881360" cy="430887"/>
          </a:xfrm>
          <a:prstGeom prst="rect">
            <a:avLst/>
          </a:prstGeom>
          <a:noFill/>
        </p:spPr>
        <p:txBody>
          <a:bodyPr wrap="square" lIns="0" tIns="0" rIns="0" bIns="0" anchor="t">
            <a:spAutoFit/>
          </a:bodyPr>
          <a:lstStyle/>
          <a:p>
            <a:r>
              <a:rPr lang="en-US" sz="2800" b="1" i="0" dirty="0">
                <a:solidFill>
                  <a:srgbClr val="2A2929"/>
                </a:solidFill>
                <a:latin typeface="Roboto"/>
              </a:rPr>
              <a:t>Stop Guessing Capacity</a:t>
            </a:r>
            <a:endParaRPr sz="2800" b="1" i="0" dirty="0">
              <a:solidFill>
                <a:srgbClr val="2A2929"/>
              </a:solidFill>
              <a:latin typeface="Roboto"/>
            </a:endParaRPr>
          </a:p>
        </p:txBody>
      </p:sp>
      <p:sp>
        <p:nvSpPr>
          <p:cNvPr id="3" name="Rectangle 2">
            <a:extLst>
              <a:ext uri="{FF2B5EF4-FFF2-40B4-BE49-F238E27FC236}">
                <a16:creationId xmlns:a16="http://schemas.microsoft.com/office/drawing/2014/main" id="{9176432C-1DCF-F856-7EB0-EC696878FF72}"/>
              </a:ext>
            </a:extLst>
          </p:cNvPr>
          <p:cNvSpPr/>
          <p:nvPr/>
        </p:nvSpPr>
        <p:spPr>
          <a:xfrm>
            <a:off x="658368" y="1027279"/>
            <a:ext cx="1463040" cy="50800"/>
          </a:xfrm>
          <a:prstGeom prst="rect">
            <a:avLst/>
          </a:prstGeom>
          <a:solidFill>
            <a:srgbClr val="205F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F76C8506-FD24-60A7-0C35-000D9444C0BE}"/>
              </a:ext>
            </a:extLst>
          </p:cNvPr>
          <p:cNvSpPr/>
          <p:nvPr/>
        </p:nvSpPr>
        <p:spPr>
          <a:xfrm>
            <a:off x="0" y="6565392"/>
            <a:ext cx="12191695" cy="38100"/>
          </a:xfrm>
          <a:prstGeom prst="rect">
            <a:avLst/>
          </a:prstGeom>
          <a:solidFill>
            <a:srgbClr val="205F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F5EFEDA5-7703-5712-6D32-DE731D13C434}"/>
              </a:ext>
            </a:extLst>
          </p:cNvPr>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a:extLst>
              <a:ext uri="{FF2B5EF4-FFF2-40B4-BE49-F238E27FC236}">
                <a16:creationId xmlns:a16="http://schemas.microsoft.com/office/drawing/2014/main" id="{7278CF6A-631F-396C-A9E7-9FF2EEDF97F7}"/>
              </a:ext>
            </a:extLst>
          </p:cNvPr>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12</a:t>
            </a:r>
          </a:p>
        </p:txBody>
      </p:sp>
      <p:pic>
        <p:nvPicPr>
          <p:cNvPr id="4" name="Picture 2" descr="An example showing how buying more capacity than needed can be inefficient from a cost perspective.">
            <a:extLst>
              <a:ext uri="{FF2B5EF4-FFF2-40B4-BE49-F238E27FC236}">
                <a16:creationId xmlns:a16="http://schemas.microsoft.com/office/drawing/2014/main" id="{7A06DD0B-0E7C-01D8-8374-41BFFC2AA0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1114" y="2889504"/>
            <a:ext cx="7953375" cy="342900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27C897F3-43AC-9539-90A1-E27DD93FE6F2}"/>
              </a:ext>
            </a:extLst>
          </p:cNvPr>
          <p:cNvSpPr txBox="1"/>
          <p:nvPr/>
        </p:nvSpPr>
        <p:spPr>
          <a:xfrm>
            <a:off x="1191987" y="1499235"/>
            <a:ext cx="10074728" cy="1077218"/>
          </a:xfrm>
          <a:prstGeom prst="rect">
            <a:avLst/>
          </a:prstGeom>
          <a:noFill/>
        </p:spPr>
        <p:txBody>
          <a:bodyPr wrap="square">
            <a:spAutoFit/>
          </a:bodyPr>
          <a:lstStyle/>
          <a:p>
            <a:r>
              <a:rPr lang="en-AU" sz="2000" dirty="0">
                <a:latin typeface="Roboto" panose="02000000000000000000" pitchFamily="2" charset="0"/>
                <a:ea typeface="Roboto" panose="02000000000000000000" pitchFamily="2" charset="0"/>
                <a:cs typeface="Roboto" panose="02000000000000000000" pitchFamily="2" charset="0"/>
              </a:rPr>
              <a:t>Traditional multi-tier architecture required servers three layers: Presentation, Logic, Data</a:t>
            </a:r>
          </a:p>
          <a:p>
            <a:endParaRPr lang="en-AU" sz="2000" dirty="0">
              <a:latin typeface="Roboto" panose="02000000000000000000" pitchFamily="2" charset="0"/>
              <a:ea typeface="Roboto" panose="02000000000000000000" pitchFamily="2" charset="0"/>
              <a:cs typeface="Roboto" panose="02000000000000000000" pitchFamily="2" charset="0"/>
            </a:endParaRPr>
          </a:p>
          <a:p>
            <a:r>
              <a:rPr lang="en-AU" sz="2000" dirty="0">
                <a:latin typeface="Roboto" panose="02000000000000000000" pitchFamily="2" charset="0"/>
                <a:ea typeface="Roboto" panose="02000000000000000000" pitchFamily="2" charset="0"/>
                <a:cs typeface="Roboto" panose="02000000000000000000" pitchFamily="2" charset="0"/>
              </a:rPr>
              <a:t>Need 3x performance for a Wednesday sale? Buy 3x servers – </a:t>
            </a:r>
            <a:r>
              <a:rPr lang="en-AU" sz="2000" u="sng" dirty="0">
                <a:latin typeface="Roboto" panose="02000000000000000000" pitchFamily="2" charset="0"/>
                <a:ea typeface="Roboto" panose="02000000000000000000" pitchFamily="2" charset="0"/>
                <a:cs typeface="Roboto" panose="02000000000000000000" pitchFamily="2" charset="0"/>
              </a:rPr>
              <a:t>costly</a:t>
            </a:r>
            <a:r>
              <a:rPr lang="en-AU" sz="2400" dirty="0">
                <a:latin typeface="Roboto" panose="02000000000000000000" pitchFamily="2" charset="0"/>
                <a:ea typeface="Roboto" panose="02000000000000000000" pitchFamily="2" charset="0"/>
                <a:cs typeface="Roboto" panose="02000000000000000000" pitchFamily="2" charset="0"/>
              </a:rPr>
              <a:t>.</a:t>
            </a:r>
          </a:p>
        </p:txBody>
      </p:sp>
    </p:spTree>
    <p:extLst>
      <p:ext uri="{BB962C8B-B14F-4D97-AF65-F5344CB8AC3E}">
        <p14:creationId xmlns:p14="http://schemas.microsoft.com/office/powerpoint/2010/main" val="10085287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0BFD1-DE6B-AFDA-7061-0BD98E6DDE7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41C39A9-385A-C0F2-31B2-2FE9ED3590BD}"/>
              </a:ext>
            </a:extLst>
          </p:cNvPr>
          <p:cNvSpPr txBox="1"/>
          <p:nvPr/>
        </p:nvSpPr>
        <p:spPr>
          <a:xfrm>
            <a:off x="640080" y="457200"/>
            <a:ext cx="10881360" cy="430887"/>
          </a:xfrm>
          <a:prstGeom prst="rect">
            <a:avLst/>
          </a:prstGeom>
          <a:noFill/>
        </p:spPr>
        <p:txBody>
          <a:bodyPr wrap="square" lIns="0" tIns="0" rIns="0" bIns="0" anchor="t">
            <a:spAutoFit/>
          </a:bodyPr>
          <a:lstStyle/>
          <a:p>
            <a:r>
              <a:rPr lang="en-US" sz="2800" b="1" i="0" dirty="0">
                <a:solidFill>
                  <a:srgbClr val="2A2929"/>
                </a:solidFill>
                <a:latin typeface="Roboto"/>
              </a:rPr>
              <a:t>Stop Guessing Capacity</a:t>
            </a:r>
            <a:endParaRPr sz="2800" b="1" i="0" dirty="0">
              <a:solidFill>
                <a:srgbClr val="2A2929"/>
              </a:solidFill>
              <a:latin typeface="Roboto"/>
            </a:endParaRPr>
          </a:p>
        </p:txBody>
      </p:sp>
      <p:sp>
        <p:nvSpPr>
          <p:cNvPr id="3" name="Rectangle 2">
            <a:extLst>
              <a:ext uri="{FF2B5EF4-FFF2-40B4-BE49-F238E27FC236}">
                <a16:creationId xmlns:a16="http://schemas.microsoft.com/office/drawing/2014/main" id="{6D8D0B7B-5418-E797-189C-8F8C645FD724}"/>
              </a:ext>
            </a:extLst>
          </p:cNvPr>
          <p:cNvSpPr/>
          <p:nvPr/>
        </p:nvSpPr>
        <p:spPr>
          <a:xfrm>
            <a:off x="658368" y="1027279"/>
            <a:ext cx="1463040" cy="50800"/>
          </a:xfrm>
          <a:prstGeom prst="rect">
            <a:avLst/>
          </a:prstGeom>
          <a:solidFill>
            <a:srgbClr val="205F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918F4B09-E38B-1DD8-45AE-045D81215430}"/>
              </a:ext>
            </a:extLst>
          </p:cNvPr>
          <p:cNvSpPr/>
          <p:nvPr/>
        </p:nvSpPr>
        <p:spPr>
          <a:xfrm>
            <a:off x="0" y="6565392"/>
            <a:ext cx="12191695" cy="38100"/>
          </a:xfrm>
          <a:prstGeom prst="rect">
            <a:avLst/>
          </a:prstGeom>
          <a:solidFill>
            <a:srgbClr val="205F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8A4E7037-5BBC-C7E5-5F61-29D6F6FEBB22}"/>
              </a:ext>
            </a:extLst>
          </p:cNvPr>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a:extLst>
              <a:ext uri="{FF2B5EF4-FFF2-40B4-BE49-F238E27FC236}">
                <a16:creationId xmlns:a16="http://schemas.microsoft.com/office/drawing/2014/main" id="{2EA93EDA-0611-536D-087F-6100E3172D56}"/>
              </a:ext>
            </a:extLst>
          </p:cNvPr>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12</a:t>
            </a:r>
          </a:p>
        </p:txBody>
      </p:sp>
      <p:pic>
        <p:nvPicPr>
          <p:cNvPr id="4" name="Picture 2" descr="An example showing how Amazon EC2 Auto Scaling can adjust capacity as needed.">
            <a:extLst>
              <a:ext uri="{FF2B5EF4-FFF2-40B4-BE49-F238E27FC236}">
                <a16:creationId xmlns:a16="http://schemas.microsoft.com/office/drawing/2014/main" id="{AEBCC25B-DB92-9D3D-E22D-8BCE55CCE0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53254" y="2760037"/>
            <a:ext cx="6477000" cy="346710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A0031DD4-C7DB-CA5F-1719-278936C8FB20}"/>
              </a:ext>
            </a:extLst>
          </p:cNvPr>
          <p:cNvSpPr txBox="1"/>
          <p:nvPr/>
        </p:nvSpPr>
        <p:spPr>
          <a:xfrm>
            <a:off x="2121408" y="1226342"/>
            <a:ext cx="8062346" cy="1323439"/>
          </a:xfrm>
          <a:prstGeom prst="rect">
            <a:avLst/>
          </a:prstGeom>
          <a:noFill/>
        </p:spPr>
        <p:txBody>
          <a:bodyPr wrap="square">
            <a:spAutoFit/>
          </a:bodyPr>
          <a:lstStyle/>
          <a:p>
            <a:r>
              <a:rPr lang="en-AU" sz="2000" dirty="0">
                <a:latin typeface="Roboto" panose="02000000000000000000" pitchFamily="2" charset="0"/>
                <a:ea typeface="Roboto" panose="02000000000000000000" pitchFamily="2" charset="0"/>
                <a:cs typeface="Roboto" panose="02000000000000000000" pitchFamily="2" charset="0"/>
              </a:rPr>
              <a:t>Reliability tier tells us to stop guessing capacity:</a:t>
            </a:r>
          </a:p>
          <a:p>
            <a:pPr marL="742950" lvl="1" indent="-285750">
              <a:buFont typeface="Arial" panose="020B0604020202020204" pitchFamily="34" charset="0"/>
              <a:buChar char="•"/>
            </a:pPr>
            <a:r>
              <a:rPr lang="en-AU" sz="2000" dirty="0">
                <a:latin typeface="Roboto" panose="02000000000000000000" pitchFamily="2" charset="0"/>
                <a:ea typeface="Roboto" panose="02000000000000000000" pitchFamily="2" charset="0"/>
                <a:cs typeface="Roboto" panose="02000000000000000000" pitchFamily="2" charset="0"/>
              </a:rPr>
              <a:t>Servers running slow? Add more servers.</a:t>
            </a:r>
          </a:p>
          <a:p>
            <a:pPr marL="742950" lvl="1" indent="-285750">
              <a:buFont typeface="Arial" panose="020B0604020202020204" pitchFamily="34" charset="0"/>
              <a:buChar char="•"/>
            </a:pPr>
            <a:r>
              <a:rPr lang="en-AU" sz="2000" dirty="0">
                <a:latin typeface="Roboto" panose="02000000000000000000" pitchFamily="2" charset="0"/>
                <a:ea typeface="Roboto" panose="02000000000000000000" pitchFamily="2" charset="0"/>
                <a:cs typeface="Roboto" panose="02000000000000000000" pitchFamily="2" charset="0"/>
              </a:rPr>
              <a:t>Workload dropped 80% after 11pm? Remove servers to save money.</a:t>
            </a:r>
          </a:p>
        </p:txBody>
      </p:sp>
    </p:spTree>
    <p:extLst>
      <p:ext uri="{BB962C8B-B14F-4D97-AF65-F5344CB8AC3E}">
        <p14:creationId xmlns:p14="http://schemas.microsoft.com/office/powerpoint/2010/main" val="37804970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881360" cy="960120"/>
          </a:xfrm>
          <a:prstGeom prst="rect">
            <a:avLst/>
          </a:prstGeom>
          <a:noFill/>
        </p:spPr>
        <p:txBody>
          <a:bodyPr wrap="square" lIns="0" tIns="0" rIns="0" bIns="0" anchor="t">
            <a:spAutoFit/>
          </a:bodyPr>
          <a:lstStyle/>
          <a:p>
            <a:r>
              <a:rPr sz="2800" b="1" i="0" dirty="0">
                <a:solidFill>
                  <a:srgbClr val="2A2929"/>
                </a:solidFill>
                <a:latin typeface="Roboto"/>
              </a:rPr>
              <a:t>Built-in vs designed fault tolerance</a:t>
            </a:r>
          </a:p>
          <a:p>
            <a:pPr>
              <a:spcBef>
                <a:spcPts val="200"/>
              </a:spcBef>
            </a:pPr>
            <a:r>
              <a:rPr sz="1800" b="0" i="1" dirty="0">
                <a:solidFill>
                  <a:srgbClr val="D68E10"/>
                </a:solidFill>
                <a:latin typeface="Roboto Light"/>
              </a:rPr>
              <a:t>502 Topic 3</a:t>
            </a:r>
          </a:p>
        </p:txBody>
      </p:sp>
      <p:sp>
        <p:nvSpPr>
          <p:cNvPr id="3" name="Rectangle 2"/>
          <p:cNvSpPr/>
          <p:nvPr/>
        </p:nvSpPr>
        <p:spPr>
          <a:xfrm>
            <a:off x="658368" y="1371600"/>
            <a:ext cx="1463040" cy="50800"/>
          </a:xfrm>
          <a:prstGeom prst="rect">
            <a:avLst/>
          </a:prstGeom>
          <a:solidFill>
            <a:srgbClr val="205F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1691640"/>
            <a:ext cx="10881360" cy="4480560"/>
          </a:xfrm>
          <a:prstGeom prst="rect">
            <a:avLst/>
          </a:prstGeom>
          <a:noFill/>
        </p:spPr>
        <p:txBody>
          <a:bodyPr wrap="square" lIns="0" tIns="0" rIns="0" bIns="0" anchor="t">
            <a:spAutoFit/>
          </a:bodyPr>
          <a:lstStyle/>
          <a:p>
            <a:pPr marL="0" indent="0">
              <a:lnSpc>
                <a:spcPct val="105000"/>
              </a:lnSpc>
              <a:spcBef>
                <a:spcPts val="0"/>
              </a:spcBef>
              <a:spcAft>
                <a:spcPts val="1000"/>
              </a:spcAft>
            </a:pPr>
            <a:r>
              <a:rPr sz="1800" b="1" i="0">
                <a:solidFill>
                  <a:srgbClr val="EDAB0C"/>
                </a:solidFill>
                <a:latin typeface="Roboto"/>
              </a:rPr>
              <a:t>■  </a:t>
            </a:r>
            <a:r>
              <a:rPr sz="1800" b="0" i="0">
                <a:solidFill>
                  <a:srgbClr val="2A2929"/>
                </a:solidFill>
                <a:latin typeface="Roboto"/>
              </a:rPr>
              <a:t>Using the cloud does not make you highly available by itself.</a:t>
            </a:r>
          </a:p>
          <a:p>
            <a:pPr marL="0" indent="0">
              <a:lnSpc>
                <a:spcPct val="105000"/>
              </a:lnSpc>
              <a:spcBef>
                <a:spcPts val="0"/>
              </a:spcBef>
              <a:spcAft>
                <a:spcPts val="1000"/>
              </a:spcAft>
            </a:pPr>
            <a:r>
              <a:rPr sz="1800" b="1" i="0">
                <a:solidFill>
                  <a:srgbClr val="205F61"/>
                </a:solidFill>
                <a:latin typeface="Roboto"/>
              </a:rPr>
              <a:t>■  You design redundancy — across compute, storage and network — so no single failure takes the service down.</a:t>
            </a:r>
          </a:p>
          <a:p>
            <a:pPr marL="0" indent="0">
              <a:lnSpc>
                <a:spcPct val="105000"/>
              </a:lnSpc>
              <a:spcBef>
                <a:spcPts val="0"/>
              </a:spcBef>
              <a:spcAft>
                <a:spcPts val="1000"/>
              </a:spcAft>
            </a:pPr>
            <a:r>
              <a:rPr sz="1800" b="1" i="0">
                <a:solidFill>
                  <a:srgbClr val="EDAB0C"/>
                </a:solidFill>
                <a:latin typeface="Roboto"/>
              </a:rPr>
              <a:t>■  </a:t>
            </a:r>
            <a:r>
              <a:rPr sz="1800" b="0" i="0">
                <a:solidFill>
                  <a:srgbClr val="2A2929"/>
                </a:solidFill>
                <a:latin typeface="Roboto"/>
              </a:rPr>
              <a:t>A single-AZ cloud design has a SPOF just like an on-prem one.</a:t>
            </a:r>
          </a:p>
        </p:txBody>
      </p:sp>
      <p:sp>
        <p:nvSpPr>
          <p:cNvPr id="5" name="Rectangle 4"/>
          <p:cNvSpPr/>
          <p:nvPr/>
        </p:nvSpPr>
        <p:spPr>
          <a:xfrm>
            <a:off x="0" y="6565392"/>
            <a:ext cx="12191695" cy="38100"/>
          </a:xfrm>
          <a:prstGeom prst="rect">
            <a:avLst/>
          </a:prstGeom>
          <a:solidFill>
            <a:srgbClr val="205F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12</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881360" cy="960120"/>
          </a:xfrm>
          <a:prstGeom prst="rect">
            <a:avLst/>
          </a:prstGeom>
          <a:noFill/>
        </p:spPr>
        <p:txBody>
          <a:bodyPr wrap="square" lIns="0" tIns="0" rIns="0" bIns="0" anchor="t">
            <a:spAutoFit/>
          </a:bodyPr>
          <a:lstStyle/>
          <a:p>
            <a:r>
              <a:rPr sz="2800" b="1" i="0">
                <a:solidFill>
                  <a:srgbClr val="2A2929"/>
                </a:solidFill>
                <a:latin typeface="Roboto"/>
              </a:rPr>
              <a:t>The cloud HA toolkit</a:t>
            </a:r>
          </a:p>
          <a:p>
            <a:pPr>
              <a:spcBef>
                <a:spcPts val="200"/>
              </a:spcBef>
            </a:pPr>
            <a:r>
              <a:rPr sz="1800" b="0" i="1">
                <a:solidFill>
                  <a:srgbClr val="D68E10"/>
                </a:solidFill>
                <a:latin typeface="Roboto Light"/>
              </a:rPr>
              <a:t>502 Topic 1 · ACA M10</a:t>
            </a:r>
          </a:p>
        </p:txBody>
      </p:sp>
      <p:sp>
        <p:nvSpPr>
          <p:cNvPr id="3" name="Rectangle 2"/>
          <p:cNvSpPr/>
          <p:nvPr/>
        </p:nvSpPr>
        <p:spPr>
          <a:xfrm>
            <a:off x="658368" y="1371600"/>
            <a:ext cx="1463040" cy="50800"/>
          </a:xfrm>
          <a:prstGeom prst="rect">
            <a:avLst/>
          </a:prstGeom>
          <a:solidFill>
            <a:srgbClr val="205F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1691640"/>
            <a:ext cx="10881360" cy="4480560"/>
          </a:xfrm>
          <a:prstGeom prst="rect">
            <a:avLst/>
          </a:prstGeom>
          <a:noFill/>
        </p:spPr>
        <p:txBody>
          <a:bodyPr wrap="square" lIns="0" tIns="0" rIns="0" bIns="0" anchor="t">
            <a:spAutoFit/>
          </a:bodyPr>
          <a:lstStyle/>
          <a:p>
            <a:pPr marL="0" indent="0">
              <a:lnSpc>
                <a:spcPct val="105000"/>
              </a:lnSpc>
              <a:spcBef>
                <a:spcPts val="0"/>
              </a:spcBef>
              <a:spcAft>
                <a:spcPts val="1000"/>
              </a:spcAft>
            </a:pPr>
            <a:r>
              <a:rPr sz="1800" b="1" i="0">
                <a:solidFill>
                  <a:srgbClr val="EDAB0C"/>
                </a:solidFill>
                <a:latin typeface="Roboto"/>
              </a:rPr>
              <a:t>■  </a:t>
            </a:r>
            <a:r>
              <a:rPr sz="1800" b="0" i="0">
                <a:solidFill>
                  <a:srgbClr val="2A2929"/>
                </a:solidFill>
                <a:latin typeface="Roboto"/>
              </a:rPr>
              <a:t>Multi-AZ — run resources across Availability Zones so the loss of one AZ doesn't stop the service.</a:t>
            </a:r>
          </a:p>
          <a:p>
            <a:pPr marL="0" indent="0">
              <a:lnSpc>
                <a:spcPct val="105000"/>
              </a:lnSpc>
              <a:spcBef>
                <a:spcPts val="0"/>
              </a:spcBef>
              <a:spcAft>
                <a:spcPts val="1000"/>
              </a:spcAft>
            </a:pPr>
            <a:r>
              <a:rPr sz="1800" b="1" i="0">
                <a:solidFill>
                  <a:srgbClr val="EDAB0C"/>
                </a:solidFill>
                <a:latin typeface="Roboto"/>
              </a:rPr>
              <a:t>■  </a:t>
            </a:r>
            <a:r>
              <a:rPr sz="1800" b="0" i="0">
                <a:solidFill>
                  <a:srgbClr val="2A2929"/>
                </a:solidFill>
                <a:latin typeface="Roboto"/>
              </a:rPr>
              <a:t>Load balancing — spread traffic across servers; route only to healthy ones.</a:t>
            </a:r>
          </a:p>
          <a:p>
            <a:pPr marL="0" indent="0">
              <a:lnSpc>
                <a:spcPct val="105000"/>
              </a:lnSpc>
              <a:spcBef>
                <a:spcPts val="0"/>
              </a:spcBef>
              <a:spcAft>
                <a:spcPts val="1000"/>
              </a:spcAft>
            </a:pPr>
            <a:r>
              <a:rPr sz="1800" b="1" i="0">
                <a:solidFill>
                  <a:srgbClr val="EDAB0C"/>
                </a:solidFill>
                <a:latin typeface="Roboto"/>
              </a:rPr>
              <a:t>■  </a:t>
            </a:r>
            <a:r>
              <a:rPr sz="1800" b="0" i="0">
                <a:solidFill>
                  <a:srgbClr val="2A2929"/>
                </a:solidFill>
                <a:latin typeface="Roboto"/>
              </a:rPr>
              <a:t>Auto Scaling across AZs — keep healthy capacity in each AZ (availability, not just load).</a:t>
            </a:r>
          </a:p>
          <a:p>
            <a:pPr marL="0" indent="0">
              <a:lnSpc>
                <a:spcPct val="105000"/>
              </a:lnSpc>
              <a:spcBef>
                <a:spcPts val="0"/>
              </a:spcBef>
              <a:spcAft>
                <a:spcPts val="1000"/>
              </a:spcAft>
            </a:pPr>
            <a:r>
              <a:rPr sz="1800" b="1" i="0">
                <a:solidFill>
                  <a:srgbClr val="205F61"/>
                </a:solidFill>
                <a:latin typeface="Roboto"/>
              </a:rPr>
              <a:t>■  Managed Multi-AZ databases — a synchronous standby with automatic failover. (Multi-Region / full DR is out of scope — CL2.)</a:t>
            </a:r>
          </a:p>
        </p:txBody>
      </p:sp>
      <p:sp>
        <p:nvSpPr>
          <p:cNvPr id="5" name="Rectangle 4"/>
          <p:cNvSpPr/>
          <p:nvPr/>
        </p:nvSpPr>
        <p:spPr>
          <a:xfrm>
            <a:off x="0" y="6565392"/>
            <a:ext cx="12191695" cy="38100"/>
          </a:xfrm>
          <a:prstGeom prst="rect">
            <a:avLst/>
          </a:prstGeom>
          <a:solidFill>
            <a:srgbClr val="205F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13</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881360" cy="960120"/>
          </a:xfrm>
          <a:prstGeom prst="rect">
            <a:avLst/>
          </a:prstGeom>
          <a:noFill/>
        </p:spPr>
        <p:txBody>
          <a:bodyPr wrap="square" lIns="0" tIns="0" rIns="0" bIns="0" anchor="t">
            <a:spAutoFit/>
          </a:bodyPr>
          <a:lstStyle/>
          <a:p>
            <a:r>
              <a:rPr sz="2800" b="1" i="0">
                <a:solidFill>
                  <a:srgbClr val="2A2929"/>
                </a:solidFill>
                <a:latin typeface="Roboto"/>
              </a:rPr>
              <a:t>Multi-AZ in action</a:t>
            </a:r>
          </a:p>
          <a:p>
            <a:pPr>
              <a:spcBef>
                <a:spcPts val="200"/>
              </a:spcBef>
            </a:pPr>
            <a:r>
              <a:rPr sz="1800" b="0" i="1">
                <a:solidFill>
                  <a:srgbClr val="D68E10"/>
                </a:solidFill>
                <a:latin typeface="Roboto Light"/>
              </a:rPr>
              <a:t>502 Topic 1 S13 · ACA M10</a:t>
            </a:r>
          </a:p>
        </p:txBody>
      </p:sp>
      <p:sp>
        <p:nvSpPr>
          <p:cNvPr id="3" name="Rectangle 2"/>
          <p:cNvSpPr/>
          <p:nvPr/>
        </p:nvSpPr>
        <p:spPr>
          <a:xfrm>
            <a:off x="658368" y="1371600"/>
            <a:ext cx="1463040" cy="50800"/>
          </a:xfrm>
          <a:prstGeom prst="rect">
            <a:avLst/>
          </a:prstGeom>
          <a:solidFill>
            <a:srgbClr val="205F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87680" y="3745291"/>
            <a:ext cx="6887745" cy="2293385"/>
          </a:xfrm>
          <a:prstGeom prst="rect">
            <a:avLst/>
          </a:prstGeom>
          <a:noFill/>
        </p:spPr>
        <p:txBody>
          <a:bodyPr wrap="square" lIns="0" tIns="0" rIns="0" bIns="0" anchor="t">
            <a:spAutoFit/>
          </a:bodyPr>
          <a:lstStyle/>
          <a:p>
            <a:pPr marL="0" indent="0">
              <a:lnSpc>
                <a:spcPct val="105000"/>
              </a:lnSpc>
              <a:spcBef>
                <a:spcPts val="0"/>
              </a:spcBef>
              <a:spcAft>
                <a:spcPts val="1000"/>
              </a:spcAft>
            </a:pPr>
            <a:r>
              <a:rPr sz="1700" b="1" i="0" dirty="0">
                <a:solidFill>
                  <a:srgbClr val="EDAB0C"/>
                </a:solidFill>
                <a:latin typeface="Roboto"/>
              </a:rPr>
              <a:t>■  </a:t>
            </a:r>
            <a:r>
              <a:rPr sz="1700" b="0" i="0" dirty="0">
                <a:solidFill>
                  <a:srgbClr val="2A2929"/>
                </a:solidFill>
                <a:latin typeface="Roboto"/>
              </a:rPr>
              <a:t>A Multi-AZ database keeps a primary in one AZ and a synchronous standby in another.</a:t>
            </a:r>
          </a:p>
          <a:p>
            <a:pPr>
              <a:lnSpc>
                <a:spcPct val="105000"/>
              </a:lnSpc>
              <a:spcAft>
                <a:spcPts val="1000"/>
              </a:spcAft>
            </a:pPr>
            <a:r>
              <a:rPr lang="en-AU" sz="1700" b="1" dirty="0">
                <a:solidFill>
                  <a:srgbClr val="EDAB0C"/>
                </a:solidFill>
                <a:latin typeface="Roboto"/>
              </a:rPr>
              <a:t>■ </a:t>
            </a:r>
            <a:r>
              <a:rPr sz="1700" b="0" i="0" dirty="0">
                <a:solidFill>
                  <a:srgbClr val="2A2929"/>
                </a:solidFill>
                <a:latin typeface="Roboto"/>
              </a:rPr>
              <a:t>If the primary (or its AZ) fails, the standby is promoted automatically — service continues with seconds of </a:t>
            </a:r>
            <a:r>
              <a:rPr sz="1700" dirty="0">
                <a:solidFill>
                  <a:srgbClr val="2A2929"/>
                </a:solidFill>
                <a:latin typeface="Roboto"/>
              </a:rPr>
              <a:t>downtime.</a:t>
            </a:r>
            <a:endParaRPr lang="en-US" sz="1700" dirty="0">
              <a:solidFill>
                <a:srgbClr val="2A2929"/>
              </a:solidFill>
              <a:latin typeface="Roboto"/>
            </a:endParaRPr>
          </a:p>
          <a:p>
            <a:pPr>
              <a:lnSpc>
                <a:spcPct val="105000"/>
              </a:lnSpc>
              <a:spcAft>
                <a:spcPts val="1000"/>
              </a:spcAft>
            </a:pPr>
            <a:r>
              <a:rPr lang="en-AU" sz="1700" b="1" dirty="0">
                <a:solidFill>
                  <a:srgbClr val="EDAB0C"/>
                </a:solidFill>
                <a:latin typeface="Roboto"/>
              </a:rPr>
              <a:t>■ </a:t>
            </a:r>
            <a:r>
              <a:rPr lang="en-AU" sz="1700" dirty="0">
                <a:solidFill>
                  <a:srgbClr val="2A2929"/>
                </a:solidFill>
                <a:latin typeface="Roboto"/>
              </a:rPr>
              <a:t>We can illustrate auto scaling across AZs in our network diagrams</a:t>
            </a:r>
            <a:endParaRPr sz="1700" b="0" i="0" dirty="0">
              <a:solidFill>
                <a:srgbClr val="2A2929"/>
              </a:solidFill>
              <a:latin typeface="Roboto"/>
            </a:endParaRPr>
          </a:p>
          <a:p>
            <a:pPr marL="0" indent="0">
              <a:lnSpc>
                <a:spcPct val="105000"/>
              </a:lnSpc>
              <a:spcBef>
                <a:spcPts val="0"/>
              </a:spcBef>
              <a:spcAft>
                <a:spcPts val="1000"/>
              </a:spcAft>
            </a:pPr>
            <a:r>
              <a:rPr sz="1700" b="1" i="0" dirty="0">
                <a:solidFill>
                  <a:srgbClr val="205F61"/>
                </a:solidFill>
                <a:latin typeface="Roboto"/>
              </a:rPr>
              <a:t>■  The application reaches the database by name, so nothing needs reconfiguring.</a:t>
            </a:r>
          </a:p>
        </p:txBody>
      </p:sp>
      <p:sp>
        <p:nvSpPr>
          <p:cNvPr id="7" name="Rectangle 6"/>
          <p:cNvSpPr/>
          <p:nvPr/>
        </p:nvSpPr>
        <p:spPr>
          <a:xfrm>
            <a:off x="0" y="6565392"/>
            <a:ext cx="12191695" cy="38100"/>
          </a:xfrm>
          <a:prstGeom prst="rect">
            <a:avLst/>
          </a:prstGeom>
          <a:solidFill>
            <a:srgbClr val="205F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9" name="TextBox 8"/>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14</a:t>
            </a:r>
          </a:p>
        </p:txBody>
      </p:sp>
      <p:pic>
        <p:nvPicPr>
          <p:cNvPr id="10" name="Picture 9">
            <a:extLst>
              <a:ext uri="{FF2B5EF4-FFF2-40B4-BE49-F238E27FC236}">
                <a16:creationId xmlns:a16="http://schemas.microsoft.com/office/drawing/2014/main" id="{72F86DBD-CC64-2A0B-A925-009D2944C4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02959" y="414889"/>
            <a:ext cx="3701361" cy="5565955"/>
          </a:xfrm>
          <a:prstGeom prst="rect">
            <a:avLst/>
          </a:prstGeom>
        </p:spPr>
      </p:pic>
      <p:pic>
        <p:nvPicPr>
          <p:cNvPr id="11" name="Picture 2" descr="Write Commit path for Amazon RDS">
            <a:extLst>
              <a:ext uri="{FF2B5EF4-FFF2-40B4-BE49-F238E27FC236}">
                <a16:creationId xmlns:a16="http://schemas.microsoft.com/office/drawing/2014/main" id="{A86A4D76-D789-83B8-5679-60B9943CDE01}"/>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3602852" y="287671"/>
            <a:ext cx="3921354" cy="335275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5C66FF-DF08-FC00-8A56-89560C84738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297D59C-CED4-4A39-DC81-E3BA2FF3C842}"/>
              </a:ext>
            </a:extLst>
          </p:cNvPr>
          <p:cNvSpPr txBox="1"/>
          <p:nvPr/>
        </p:nvSpPr>
        <p:spPr>
          <a:xfrm>
            <a:off x="640080" y="457200"/>
            <a:ext cx="10881360" cy="430887"/>
          </a:xfrm>
          <a:prstGeom prst="rect">
            <a:avLst/>
          </a:prstGeom>
          <a:noFill/>
        </p:spPr>
        <p:txBody>
          <a:bodyPr wrap="square" lIns="0" tIns="0" rIns="0" bIns="0" anchor="t">
            <a:spAutoFit/>
          </a:bodyPr>
          <a:lstStyle/>
          <a:p>
            <a:r>
              <a:rPr lang="en-US" sz="2800" b="1" i="0" dirty="0">
                <a:solidFill>
                  <a:srgbClr val="2A2929"/>
                </a:solidFill>
                <a:latin typeface="Roboto"/>
              </a:rPr>
              <a:t>Load Balancers</a:t>
            </a:r>
            <a:endParaRPr sz="2800" b="1" i="0" dirty="0">
              <a:solidFill>
                <a:srgbClr val="2A2929"/>
              </a:solidFill>
              <a:latin typeface="Roboto"/>
            </a:endParaRPr>
          </a:p>
        </p:txBody>
      </p:sp>
      <p:sp>
        <p:nvSpPr>
          <p:cNvPr id="3" name="Rectangle 2">
            <a:extLst>
              <a:ext uri="{FF2B5EF4-FFF2-40B4-BE49-F238E27FC236}">
                <a16:creationId xmlns:a16="http://schemas.microsoft.com/office/drawing/2014/main" id="{994FFADA-8315-A1D2-4284-A775CD73E14D}"/>
              </a:ext>
            </a:extLst>
          </p:cNvPr>
          <p:cNvSpPr/>
          <p:nvPr/>
        </p:nvSpPr>
        <p:spPr>
          <a:xfrm>
            <a:off x="658368" y="985550"/>
            <a:ext cx="1463040" cy="50800"/>
          </a:xfrm>
          <a:prstGeom prst="rect">
            <a:avLst/>
          </a:prstGeom>
          <a:solidFill>
            <a:srgbClr val="205F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0ECB545D-EFD5-57DD-02B5-52BEDB4CE73B}"/>
              </a:ext>
            </a:extLst>
          </p:cNvPr>
          <p:cNvSpPr/>
          <p:nvPr/>
        </p:nvSpPr>
        <p:spPr>
          <a:xfrm>
            <a:off x="0" y="6565392"/>
            <a:ext cx="12191695" cy="38100"/>
          </a:xfrm>
          <a:prstGeom prst="rect">
            <a:avLst/>
          </a:prstGeom>
          <a:solidFill>
            <a:srgbClr val="205F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98AD17E4-99E7-7E31-90E2-03AD687073F9}"/>
              </a:ext>
            </a:extLst>
          </p:cNvPr>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9" name="TextBox 8">
            <a:extLst>
              <a:ext uri="{FF2B5EF4-FFF2-40B4-BE49-F238E27FC236}">
                <a16:creationId xmlns:a16="http://schemas.microsoft.com/office/drawing/2014/main" id="{D0BD14CD-6CBC-40F4-B831-9389666C7959}"/>
              </a:ext>
            </a:extLst>
          </p:cNvPr>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14</a:t>
            </a:r>
          </a:p>
        </p:txBody>
      </p:sp>
      <p:sp>
        <p:nvSpPr>
          <p:cNvPr id="6" name="TextBox 5">
            <a:extLst>
              <a:ext uri="{FF2B5EF4-FFF2-40B4-BE49-F238E27FC236}">
                <a16:creationId xmlns:a16="http://schemas.microsoft.com/office/drawing/2014/main" id="{CCEC9BAC-3B19-C527-A95F-FCD0A0518EE6}"/>
              </a:ext>
            </a:extLst>
          </p:cNvPr>
          <p:cNvSpPr txBox="1"/>
          <p:nvPr/>
        </p:nvSpPr>
        <p:spPr>
          <a:xfrm>
            <a:off x="640080" y="1628507"/>
            <a:ext cx="4454434" cy="2031325"/>
          </a:xfrm>
          <a:prstGeom prst="rect">
            <a:avLst/>
          </a:prstGeom>
          <a:noFill/>
        </p:spPr>
        <p:txBody>
          <a:bodyPr wrap="square">
            <a:spAutoFit/>
          </a:bodyPr>
          <a:lstStyle/>
          <a:p>
            <a:r>
              <a:rPr lang="en-AU" b="1" dirty="0">
                <a:solidFill>
                  <a:srgbClr val="EDAB0C"/>
                </a:solidFill>
                <a:latin typeface="Roboto" panose="02000000000000000000" pitchFamily="2" charset="0"/>
                <a:ea typeface="Roboto" panose="02000000000000000000" pitchFamily="2" charset="0"/>
                <a:cs typeface="Roboto" panose="02000000000000000000" pitchFamily="2" charset="0"/>
              </a:rPr>
              <a:t>■ </a:t>
            </a:r>
            <a:r>
              <a:rPr lang="en-US" b="1" dirty="0">
                <a:latin typeface="Roboto" panose="02000000000000000000" pitchFamily="2" charset="0"/>
                <a:ea typeface="Roboto" panose="02000000000000000000" pitchFamily="2" charset="0"/>
                <a:cs typeface="Roboto" panose="02000000000000000000" pitchFamily="2" charset="0"/>
              </a:rPr>
              <a:t>Load balancers </a:t>
            </a:r>
            <a:r>
              <a:rPr lang="en-US" dirty="0">
                <a:latin typeface="Roboto" panose="02000000000000000000" pitchFamily="2" charset="0"/>
                <a:ea typeface="Roboto" panose="02000000000000000000" pitchFamily="2" charset="0"/>
                <a:cs typeface="Roboto" panose="02000000000000000000" pitchFamily="2" charset="0"/>
              </a:rPr>
              <a:t>distribute traffic across each tier (web/app/data)</a:t>
            </a:r>
          </a:p>
          <a:p>
            <a:endParaRPr lang="en-US" dirty="0">
              <a:latin typeface="Roboto" panose="02000000000000000000" pitchFamily="2" charset="0"/>
              <a:ea typeface="Roboto" panose="02000000000000000000" pitchFamily="2" charset="0"/>
              <a:cs typeface="Roboto" panose="02000000000000000000" pitchFamily="2" charset="0"/>
            </a:endParaRPr>
          </a:p>
          <a:p>
            <a:r>
              <a:rPr lang="en-AU" b="1" dirty="0">
                <a:solidFill>
                  <a:srgbClr val="EDAB0C"/>
                </a:solidFill>
                <a:latin typeface="Roboto" panose="02000000000000000000" pitchFamily="2" charset="0"/>
                <a:ea typeface="Roboto" panose="02000000000000000000" pitchFamily="2" charset="0"/>
                <a:cs typeface="Roboto" panose="02000000000000000000" pitchFamily="2" charset="0"/>
              </a:rPr>
              <a:t>■ </a:t>
            </a:r>
            <a:r>
              <a:rPr lang="en-US" dirty="0">
                <a:latin typeface="Roboto" panose="02000000000000000000" pitchFamily="2" charset="0"/>
                <a:ea typeface="Roboto" panose="02000000000000000000" pitchFamily="2" charset="0"/>
                <a:cs typeface="Roboto" panose="02000000000000000000" pitchFamily="2" charset="0"/>
              </a:rPr>
              <a:t>Each tier scales up/down servers as needed</a:t>
            </a:r>
          </a:p>
          <a:p>
            <a:r>
              <a:rPr lang="en-US" dirty="0">
                <a:latin typeface="Roboto" panose="02000000000000000000" pitchFamily="2" charset="0"/>
                <a:ea typeface="Roboto" panose="02000000000000000000" pitchFamily="2" charset="0"/>
                <a:cs typeface="Roboto" panose="02000000000000000000" pitchFamily="2" charset="0"/>
              </a:rPr>
              <a:t>Database service (</a:t>
            </a:r>
            <a:r>
              <a:rPr lang="en-US" i="1" dirty="0">
                <a:latin typeface="Roboto" panose="02000000000000000000" pitchFamily="2" charset="0"/>
                <a:ea typeface="Roboto" panose="02000000000000000000" pitchFamily="2" charset="0"/>
                <a:cs typeface="Roboto" panose="02000000000000000000" pitchFamily="2" charset="0"/>
              </a:rPr>
              <a:t>Aurora</a:t>
            </a:r>
            <a:r>
              <a:rPr lang="en-US" dirty="0">
                <a:latin typeface="Roboto" panose="02000000000000000000" pitchFamily="2" charset="0"/>
                <a:ea typeface="Roboto" panose="02000000000000000000" pitchFamily="2" charset="0"/>
                <a:cs typeface="Roboto" panose="02000000000000000000" pitchFamily="2" charset="0"/>
              </a:rPr>
              <a:t> is a managed service that auto-scales)</a:t>
            </a:r>
          </a:p>
        </p:txBody>
      </p:sp>
      <p:pic>
        <p:nvPicPr>
          <p:cNvPr id="12" name="Picture 2" descr="A basic three tier architecture with an Auto Scaling group.">
            <a:extLst>
              <a:ext uri="{FF2B5EF4-FFF2-40B4-BE49-F238E27FC236}">
                <a16:creationId xmlns:a16="http://schemas.microsoft.com/office/drawing/2014/main" id="{C2C258EA-2923-36B4-BCA5-E71B2F14DFB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09" t="10126" r="890" b="5522"/>
          <a:stretch>
            <a:fillRect/>
          </a:stretch>
        </p:blipFill>
        <p:spPr bwMode="auto">
          <a:xfrm>
            <a:off x="5531345" y="888087"/>
            <a:ext cx="5990095" cy="47816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96244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AC502-DDE1-5125-23DB-44D977EC300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BBBA138-F1F6-FD14-5AE4-61135DDEFCEF}"/>
              </a:ext>
            </a:extLst>
          </p:cNvPr>
          <p:cNvSpPr txBox="1"/>
          <p:nvPr/>
        </p:nvSpPr>
        <p:spPr>
          <a:xfrm>
            <a:off x="640080" y="457200"/>
            <a:ext cx="10881360" cy="430887"/>
          </a:xfrm>
          <a:prstGeom prst="rect">
            <a:avLst/>
          </a:prstGeom>
          <a:noFill/>
        </p:spPr>
        <p:txBody>
          <a:bodyPr wrap="square" lIns="0" tIns="0" rIns="0" bIns="0" anchor="t">
            <a:spAutoFit/>
          </a:bodyPr>
          <a:lstStyle/>
          <a:p>
            <a:r>
              <a:rPr lang="en-US" sz="2800" b="1" i="0" dirty="0">
                <a:solidFill>
                  <a:srgbClr val="2A2929"/>
                </a:solidFill>
                <a:latin typeface="Roboto"/>
              </a:rPr>
              <a:t>Auto Scaling Across AZ’s</a:t>
            </a:r>
            <a:endParaRPr sz="2800" b="1" i="0" dirty="0">
              <a:solidFill>
                <a:srgbClr val="2A2929"/>
              </a:solidFill>
              <a:latin typeface="Roboto"/>
            </a:endParaRPr>
          </a:p>
        </p:txBody>
      </p:sp>
      <p:sp>
        <p:nvSpPr>
          <p:cNvPr id="3" name="Rectangle 2">
            <a:extLst>
              <a:ext uri="{FF2B5EF4-FFF2-40B4-BE49-F238E27FC236}">
                <a16:creationId xmlns:a16="http://schemas.microsoft.com/office/drawing/2014/main" id="{B6F7D28E-8A0D-0A6F-3B4E-38A93D9C8EBC}"/>
              </a:ext>
            </a:extLst>
          </p:cNvPr>
          <p:cNvSpPr/>
          <p:nvPr/>
        </p:nvSpPr>
        <p:spPr>
          <a:xfrm>
            <a:off x="658368" y="985550"/>
            <a:ext cx="1463040" cy="50800"/>
          </a:xfrm>
          <a:prstGeom prst="rect">
            <a:avLst/>
          </a:prstGeom>
          <a:solidFill>
            <a:srgbClr val="205F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F0285079-6AE5-30B6-E88F-FB71920D011E}"/>
              </a:ext>
            </a:extLst>
          </p:cNvPr>
          <p:cNvSpPr/>
          <p:nvPr/>
        </p:nvSpPr>
        <p:spPr>
          <a:xfrm>
            <a:off x="0" y="6565392"/>
            <a:ext cx="12191695" cy="38100"/>
          </a:xfrm>
          <a:prstGeom prst="rect">
            <a:avLst/>
          </a:prstGeom>
          <a:solidFill>
            <a:srgbClr val="205F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4F5E24D6-AF77-366C-8C91-60B0C15E95D7}"/>
              </a:ext>
            </a:extLst>
          </p:cNvPr>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9" name="TextBox 8">
            <a:extLst>
              <a:ext uri="{FF2B5EF4-FFF2-40B4-BE49-F238E27FC236}">
                <a16:creationId xmlns:a16="http://schemas.microsoft.com/office/drawing/2014/main" id="{C0534403-BC6B-19BC-7F69-B0A6004E9637}"/>
              </a:ext>
            </a:extLst>
          </p:cNvPr>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14</a:t>
            </a:r>
          </a:p>
        </p:txBody>
      </p:sp>
      <p:pic>
        <p:nvPicPr>
          <p:cNvPr id="4" name="Graphic 27">
            <a:extLst>
              <a:ext uri="{FF2B5EF4-FFF2-40B4-BE49-F238E27FC236}">
                <a16:creationId xmlns:a16="http://schemas.microsoft.com/office/drawing/2014/main" id="{99A93C5B-0458-CCFF-DF5B-B0D8D7D14172}"/>
              </a:ext>
              <a:ext uri="{C183D7F6-B498-43B3-948B-1728B52AA6E4}">
                <adec:decorative xmlns:adec="http://schemas.microsoft.com/office/drawing/2017/decorative" val="1"/>
              </a:ext>
            </a:extLst>
          </p:cNvPr>
          <p:cNvPicPr>
            <a:picLocks noChangeAspect="1" noChangeArrowheads="1"/>
          </p:cNvPicPr>
          <p:nvPr/>
        </p:nvPicPr>
        <p:blipFill>
          <a:blip>
            <a:extLst>
              <a:ext uri="{96DAC541-7B7A-43D3-8B79-37D633B846F1}">
                <asvg:svgBlip xmlns:asvg="http://schemas.microsoft.com/office/drawing/2016/SVG/main" r:embed="rId3"/>
              </a:ext>
            </a:extLst>
          </a:blip>
          <a:srcRect/>
          <a:stretch/>
        </p:blipFill>
        <p:spPr bwMode="auto">
          <a:xfrm>
            <a:off x="606458" y="2182813"/>
            <a:ext cx="2286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D1AED474-ACCA-365B-F491-FE0C7EA8CF22}"/>
              </a:ext>
            </a:extLst>
          </p:cNvPr>
          <p:cNvSpPr txBox="1"/>
          <p:nvPr/>
        </p:nvSpPr>
        <p:spPr>
          <a:xfrm>
            <a:off x="606458" y="4559300"/>
            <a:ext cx="2286000" cy="707886"/>
          </a:xfrm>
          <a:prstGeom prst="rect">
            <a:avLst/>
          </a:prstGeom>
          <a:noFill/>
        </p:spPr>
        <p:txBody>
          <a:bodyPr wrap="square" rtlCol="0">
            <a:spAutoFit/>
          </a:bodyPr>
          <a:lstStyle/>
          <a:p>
            <a:pPr algn="ctr"/>
            <a:r>
              <a:rPr lang="en-US" sz="2000" dirty="0"/>
              <a:t>Amazon EC2 Auto Scaling</a:t>
            </a:r>
          </a:p>
        </p:txBody>
      </p:sp>
      <p:sp>
        <p:nvSpPr>
          <p:cNvPr id="10" name="TextBox 9">
            <a:extLst>
              <a:ext uri="{FF2B5EF4-FFF2-40B4-BE49-F238E27FC236}">
                <a16:creationId xmlns:a16="http://schemas.microsoft.com/office/drawing/2014/main" id="{C71B23D1-1392-2511-392B-EEA2ECF4EA6D}"/>
              </a:ext>
            </a:extLst>
          </p:cNvPr>
          <p:cNvSpPr txBox="1"/>
          <p:nvPr/>
        </p:nvSpPr>
        <p:spPr>
          <a:xfrm>
            <a:off x="3246120" y="1351508"/>
            <a:ext cx="8417799" cy="4154984"/>
          </a:xfrm>
          <a:prstGeom prst="rect">
            <a:avLst/>
          </a:prstGeom>
          <a:noFill/>
        </p:spPr>
        <p:txBody>
          <a:bodyPr wrap="square">
            <a:spAutoFit/>
          </a:bodyPr>
          <a:lstStyle/>
          <a:p>
            <a:pPr marL="457200" indent="-457200">
              <a:buFont typeface="Arial" panose="020B0604020202020204" pitchFamily="34" charset="0"/>
              <a:buChar char="•"/>
            </a:pPr>
            <a:r>
              <a:rPr lang="en-US" sz="2400" dirty="0"/>
              <a:t>Manages a logical collection of Amazon Elastic Compute Cloud (Amazon EC2) instances called an Amazon EC2 Auto Scaling group across Availability Zones</a:t>
            </a:r>
          </a:p>
          <a:p>
            <a:pPr marL="457200" indent="-457200">
              <a:buFont typeface="Arial" panose="020B0604020202020204" pitchFamily="34" charset="0"/>
              <a:buChar char="•"/>
            </a:pPr>
            <a:r>
              <a:rPr lang="en-US" sz="2400" dirty="0"/>
              <a:t>Launches or retires EC2 instances configured by launch templates</a:t>
            </a:r>
          </a:p>
          <a:p>
            <a:pPr marL="457200" indent="-457200">
              <a:buFont typeface="Arial" panose="020B0604020202020204" pitchFamily="34" charset="0"/>
              <a:buChar char="•"/>
            </a:pPr>
            <a:r>
              <a:rPr lang="en-US" sz="2400" dirty="0"/>
              <a:t>Resizes based on events from scaling policies, load balancer health check notifications, or schedule actions</a:t>
            </a:r>
          </a:p>
          <a:p>
            <a:pPr marL="457200" indent="-457200">
              <a:buFont typeface="Arial" panose="020B0604020202020204" pitchFamily="34" charset="0"/>
              <a:buChar char="•"/>
            </a:pPr>
            <a:r>
              <a:rPr lang="en-US" sz="2400" dirty="0"/>
              <a:t>Integrates with Elastic Load Balancing (ELB) to send new instances registrations and receive health notifications</a:t>
            </a:r>
          </a:p>
          <a:p>
            <a:pPr marL="457200" indent="-457200">
              <a:buFont typeface="Arial" panose="020B0604020202020204" pitchFamily="34" charset="0"/>
              <a:buChar char="•"/>
            </a:pPr>
            <a:r>
              <a:rPr lang="en-US" sz="2400" dirty="0"/>
              <a:t>Balances the number of instances across Availability Zones</a:t>
            </a:r>
          </a:p>
          <a:p>
            <a:pPr marL="457200" indent="-457200">
              <a:buFont typeface="Arial" panose="020B0604020202020204" pitchFamily="34" charset="0"/>
              <a:buChar char="•"/>
            </a:pPr>
            <a:r>
              <a:rPr lang="en-US" sz="2400" dirty="0"/>
              <a:t>Is available free of charge</a:t>
            </a:r>
          </a:p>
        </p:txBody>
      </p:sp>
    </p:spTree>
    <p:extLst>
      <p:ext uri="{BB962C8B-B14F-4D97-AF65-F5344CB8AC3E}">
        <p14:creationId xmlns:p14="http://schemas.microsoft.com/office/powerpoint/2010/main" val="40169616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34440"/>
          </a:xfrm>
          <a:prstGeom prst="rect">
            <a:avLst/>
          </a:prstGeom>
          <a:solidFill>
            <a:srgbClr val="205F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40080" y="384048"/>
            <a:ext cx="1691640" cy="457200"/>
          </a:xfrm>
          <a:prstGeom prst="roundRect">
            <a:avLst/>
          </a:prstGeom>
          <a:solidFill>
            <a:srgbClr val="2A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i="0">
                <a:solidFill>
                  <a:srgbClr val="FBB900"/>
                </a:solidFill>
                <a:latin typeface="Roboto"/>
              </a:rPr>
              <a:t>ACTIVITY</a:t>
            </a:r>
          </a:p>
        </p:txBody>
      </p:sp>
      <p:sp>
        <p:nvSpPr>
          <p:cNvPr id="4" name="TextBox 3"/>
          <p:cNvSpPr txBox="1"/>
          <p:nvPr/>
        </p:nvSpPr>
        <p:spPr>
          <a:xfrm>
            <a:off x="2560320" y="310896"/>
            <a:ext cx="8961120" cy="685800"/>
          </a:xfrm>
          <a:prstGeom prst="rect">
            <a:avLst/>
          </a:prstGeom>
          <a:noFill/>
        </p:spPr>
        <p:txBody>
          <a:bodyPr wrap="square" lIns="0" tIns="0" rIns="0" bIns="0" anchor="ctr">
            <a:spAutoFit/>
          </a:bodyPr>
          <a:lstStyle/>
          <a:p>
            <a:r>
              <a:rPr sz="2600" b="1" i="0">
                <a:solidFill>
                  <a:srgbClr val="FFFFFF"/>
                </a:solidFill>
                <a:latin typeface="Roboto"/>
              </a:rPr>
              <a:t>Match the mechanism to the SPOF</a:t>
            </a:r>
          </a:p>
        </p:txBody>
      </p:sp>
      <p:sp>
        <p:nvSpPr>
          <p:cNvPr id="5" name="TextBox 4"/>
          <p:cNvSpPr txBox="1"/>
          <p:nvPr/>
        </p:nvSpPr>
        <p:spPr>
          <a:xfrm>
            <a:off x="658368" y="1554480"/>
            <a:ext cx="10881360" cy="1630703"/>
          </a:xfrm>
          <a:prstGeom prst="rect">
            <a:avLst/>
          </a:prstGeom>
          <a:noFill/>
        </p:spPr>
        <p:txBody>
          <a:bodyPr wrap="square" lIns="0" tIns="0" rIns="0" bIns="0" anchor="t">
            <a:spAutoFit/>
          </a:bodyPr>
          <a:lstStyle/>
          <a:p>
            <a:pPr marL="0" indent="0">
              <a:lnSpc>
                <a:spcPct val="105000"/>
              </a:lnSpc>
              <a:spcBef>
                <a:spcPts val="0"/>
              </a:spcBef>
              <a:spcAft>
                <a:spcPts val="1000"/>
              </a:spcAft>
            </a:pPr>
            <a:r>
              <a:rPr sz="1700" b="1" i="0" dirty="0">
                <a:solidFill>
                  <a:srgbClr val="EDAB0C"/>
                </a:solidFill>
                <a:latin typeface="Roboto"/>
              </a:rPr>
              <a:t>■  </a:t>
            </a:r>
            <a:r>
              <a:rPr sz="1700" b="1" i="0" dirty="0">
                <a:solidFill>
                  <a:srgbClr val="2A2929"/>
                </a:solidFill>
                <a:latin typeface="Roboto"/>
              </a:rPr>
              <a:t>For each SPOF you found in the</a:t>
            </a:r>
            <a:r>
              <a:rPr lang="en-US" sz="1700" b="1" i="0" dirty="0">
                <a:solidFill>
                  <a:srgbClr val="2A2929"/>
                </a:solidFill>
                <a:latin typeface="Roboto"/>
              </a:rPr>
              <a:t> Accounting system cloud</a:t>
            </a:r>
            <a:r>
              <a:rPr sz="1700" b="1" i="0" dirty="0">
                <a:solidFill>
                  <a:srgbClr val="2A2929"/>
                </a:solidFill>
                <a:latin typeface="Roboto"/>
              </a:rPr>
              <a:t> </a:t>
            </a:r>
            <a:r>
              <a:rPr lang="en-US" sz="1700" b="1" i="0" dirty="0">
                <a:solidFill>
                  <a:srgbClr val="2A2929"/>
                </a:solidFill>
                <a:latin typeface="Roboto"/>
              </a:rPr>
              <a:t>architecture </a:t>
            </a:r>
            <a:r>
              <a:rPr sz="1700" b="1" i="0" dirty="0">
                <a:solidFill>
                  <a:srgbClr val="2A2929"/>
                </a:solidFill>
                <a:latin typeface="Roboto"/>
              </a:rPr>
              <a:t>baseline, name the cloud mechanism that removes it:</a:t>
            </a:r>
          </a:p>
          <a:p>
            <a:pPr marL="365760" indent="0">
              <a:lnSpc>
                <a:spcPct val="105000"/>
              </a:lnSpc>
              <a:spcBef>
                <a:spcPts val="0"/>
              </a:spcBef>
              <a:spcAft>
                <a:spcPts val="500"/>
              </a:spcAft>
            </a:pPr>
            <a:r>
              <a:rPr sz="1400" b="0" i="0" dirty="0">
                <a:solidFill>
                  <a:srgbClr val="7A7A7A"/>
                </a:solidFill>
                <a:latin typeface="Roboto"/>
              </a:rPr>
              <a:t>–  </a:t>
            </a:r>
            <a:r>
              <a:rPr sz="1400" b="0" i="0" dirty="0">
                <a:solidFill>
                  <a:srgbClr val="2A2929"/>
                </a:solidFill>
                <a:latin typeface="Roboto"/>
              </a:rPr>
              <a:t>single AZ → ?  ·  single database → ?  ·  single running instance → ?  ·  single NAT gateway → ?</a:t>
            </a:r>
          </a:p>
          <a:p>
            <a:pPr marL="0" indent="0">
              <a:lnSpc>
                <a:spcPct val="105000"/>
              </a:lnSpc>
              <a:spcBef>
                <a:spcPts val="0"/>
              </a:spcBef>
              <a:spcAft>
                <a:spcPts val="1000"/>
              </a:spcAft>
            </a:pPr>
            <a:r>
              <a:rPr sz="1700" b="1" i="0" dirty="0">
                <a:solidFill>
                  <a:srgbClr val="205F61"/>
                </a:solidFill>
                <a:latin typeface="Roboto"/>
              </a:rPr>
              <a:t>■  (Answers: a second AZ · Multi-AZ database · an ASG across AZs · a NAT gateway per AZ.)</a:t>
            </a:r>
          </a:p>
          <a:p>
            <a:pPr marL="0" indent="0">
              <a:lnSpc>
                <a:spcPct val="105000"/>
              </a:lnSpc>
              <a:spcBef>
                <a:spcPts val="0"/>
              </a:spcBef>
              <a:spcAft>
                <a:spcPts val="1000"/>
              </a:spcAft>
            </a:pPr>
            <a:r>
              <a:rPr sz="1700" b="1" i="0" dirty="0">
                <a:solidFill>
                  <a:srgbClr val="EDAB0C"/>
                </a:solidFill>
                <a:latin typeface="Roboto"/>
              </a:rPr>
              <a:t>■  </a:t>
            </a:r>
            <a:r>
              <a:rPr sz="1700" b="0" i="0" dirty="0">
                <a:solidFill>
                  <a:srgbClr val="2A2929"/>
                </a:solidFill>
                <a:latin typeface="Roboto"/>
              </a:rPr>
              <a:t>This is the shape of the design you'll produce in Topic 12.</a:t>
            </a:r>
          </a:p>
        </p:txBody>
      </p:sp>
      <p:sp>
        <p:nvSpPr>
          <p:cNvPr id="6" name="Rounded Rectangle 5"/>
          <p:cNvSpPr/>
          <p:nvPr/>
        </p:nvSpPr>
        <p:spPr>
          <a:xfrm>
            <a:off x="640080" y="5897880"/>
            <a:ext cx="4023360" cy="457200"/>
          </a:xfrm>
          <a:prstGeom prst="roundRect">
            <a:avLst/>
          </a:prstGeom>
          <a:solidFill>
            <a:srgbClr val="F9F9F9"/>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5943600"/>
            <a:ext cx="3657600" cy="365760"/>
          </a:xfrm>
          <a:prstGeom prst="rect">
            <a:avLst/>
          </a:prstGeom>
          <a:noFill/>
        </p:spPr>
        <p:txBody>
          <a:bodyPr wrap="square" lIns="0" tIns="0" rIns="0" bIns="0" anchor="ctr">
            <a:spAutoFit/>
          </a:bodyPr>
          <a:lstStyle/>
          <a:p>
            <a:r>
              <a:rPr sz="1500" b="1" i="0">
                <a:solidFill>
                  <a:srgbClr val="2A2929"/>
                </a:solidFill>
                <a:latin typeface="Roboto"/>
              </a:rPr>
              <a:t>⏱  ~10 min</a:t>
            </a:r>
          </a:p>
        </p:txBody>
      </p:sp>
      <p:sp>
        <p:nvSpPr>
          <p:cNvPr id="8" name="Rectangle 7"/>
          <p:cNvSpPr/>
          <p:nvPr/>
        </p:nvSpPr>
        <p:spPr>
          <a:xfrm>
            <a:off x="0" y="6565392"/>
            <a:ext cx="12191695" cy="38100"/>
          </a:xfrm>
          <a:prstGeom prst="rect">
            <a:avLst/>
          </a:prstGeom>
          <a:solidFill>
            <a:srgbClr val="205F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10" name="TextBox 9"/>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15</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p:cNvGrpSpPr/>
        <p:nvPr/>
      </p:nvGrpSpPr>
      <p:grpSpPr>
        <a:xfrm>
          <a:off x="0" y="0"/>
          <a:ext cx="0" cy="0"/>
          <a:chOff x="0" y="0"/>
          <a:chExt cx="0" cy="0"/>
        </a:xfrm>
      </p:grpSpPr>
      <p:sp>
        <p:nvSpPr>
          <p:cNvPr id="2" name="TextBox 1"/>
          <p:cNvSpPr txBox="1"/>
          <p:nvPr/>
        </p:nvSpPr>
        <p:spPr>
          <a:xfrm>
            <a:off x="640080" y="548640"/>
            <a:ext cx="10881360" cy="1097280"/>
          </a:xfrm>
          <a:prstGeom prst="rect">
            <a:avLst/>
          </a:prstGeom>
          <a:noFill/>
        </p:spPr>
        <p:txBody>
          <a:bodyPr wrap="square" lIns="0" tIns="0" rIns="0" bIns="0" anchor="t">
            <a:spAutoFit/>
          </a:bodyPr>
          <a:lstStyle/>
          <a:p>
            <a:r>
              <a:rPr sz="3200" b="1" i="0">
                <a:solidFill>
                  <a:srgbClr val="2A2929"/>
                </a:solidFill>
                <a:latin typeface="Roboto"/>
              </a:rPr>
              <a:t>Key takeaways</a:t>
            </a:r>
          </a:p>
          <a:p>
            <a:pPr>
              <a:spcBef>
                <a:spcPts val="200"/>
              </a:spcBef>
            </a:pPr>
            <a:r>
              <a:rPr sz="1800" b="1" i="0">
                <a:solidFill>
                  <a:srgbClr val="205F61"/>
                </a:solidFill>
                <a:latin typeface="Roboto"/>
              </a:rPr>
              <a:t>Section 3 · Cloud HA</a:t>
            </a:r>
          </a:p>
        </p:txBody>
      </p:sp>
      <p:sp>
        <p:nvSpPr>
          <p:cNvPr id="3" name="Rectangle 2"/>
          <p:cNvSpPr/>
          <p:nvPr/>
        </p:nvSpPr>
        <p:spPr>
          <a:xfrm>
            <a:off x="658368" y="1600200"/>
            <a:ext cx="1463040" cy="50800"/>
          </a:xfrm>
          <a:prstGeom prst="rect">
            <a:avLst/>
          </a:prstGeom>
          <a:solidFill>
            <a:srgbClr val="205F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40080" y="1965960"/>
            <a:ext cx="10927080" cy="841248"/>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965960"/>
            <a:ext cx="109728" cy="841248"/>
          </a:xfrm>
          <a:prstGeom prst="rect">
            <a:avLst/>
          </a:prstGeom>
          <a:solidFill>
            <a:srgbClr val="205F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965960"/>
            <a:ext cx="10424160" cy="841248"/>
          </a:xfrm>
          <a:prstGeom prst="rect">
            <a:avLst/>
          </a:prstGeom>
          <a:noFill/>
        </p:spPr>
        <p:txBody>
          <a:bodyPr wrap="square" lIns="0" tIns="0" rIns="0" bIns="0" anchor="ctr">
            <a:spAutoFit/>
          </a:bodyPr>
          <a:lstStyle/>
          <a:p>
            <a:pPr>
              <a:lnSpc>
                <a:spcPct val="100000"/>
              </a:lnSpc>
            </a:pPr>
            <a:r>
              <a:rPr sz="1700" b="0" i="0">
                <a:solidFill>
                  <a:srgbClr val="2A2929"/>
                </a:solidFill>
                <a:latin typeface="Roboto"/>
              </a:rPr>
              <a:t>The cloud doesn't give you HA — you design redundancy across the tiers.</a:t>
            </a:r>
          </a:p>
        </p:txBody>
      </p:sp>
      <p:sp>
        <p:nvSpPr>
          <p:cNvPr id="7" name="Rectangle 6"/>
          <p:cNvSpPr/>
          <p:nvPr/>
        </p:nvSpPr>
        <p:spPr>
          <a:xfrm>
            <a:off x="640080" y="2916936"/>
            <a:ext cx="10927080" cy="841248"/>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2916936"/>
            <a:ext cx="109728" cy="841248"/>
          </a:xfrm>
          <a:prstGeom prst="rect">
            <a:avLst/>
          </a:prstGeom>
          <a:solidFill>
            <a:srgbClr val="205F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2916936"/>
            <a:ext cx="10424160" cy="841248"/>
          </a:xfrm>
          <a:prstGeom prst="rect">
            <a:avLst/>
          </a:prstGeom>
          <a:noFill/>
        </p:spPr>
        <p:txBody>
          <a:bodyPr wrap="square" lIns="0" tIns="0" rIns="0" bIns="0" anchor="ctr">
            <a:spAutoFit/>
          </a:bodyPr>
          <a:lstStyle/>
          <a:p>
            <a:pPr>
              <a:lnSpc>
                <a:spcPct val="100000"/>
              </a:lnSpc>
            </a:pPr>
            <a:r>
              <a:rPr sz="1700" b="0" i="0">
                <a:solidFill>
                  <a:srgbClr val="2A2929"/>
                </a:solidFill>
                <a:latin typeface="Roboto"/>
              </a:rPr>
              <a:t>The toolkit: Multi-AZ, load balancing, auto-scaling across AZs, Multi-AZ databases.</a:t>
            </a:r>
          </a:p>
        </p:txBody>
      </p:sp>
      <p:sp>
        <p:nvSpPr>
          <p:cNvPr id="10" name="Rectangle 9"/>
          <p:cNvSpPr/>
          <p:nvPr/>
        </p:nvSpPr>
        <p:spPr>
          <a:xfrm>
            <a:off x="640080" y="3867912"/>
            <a:ext cx="10927080" cy="841248"/>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40080" y="3867912"/>
            <a:ext cx="109728" cy="841248"/>
          </a:xfrm>
          <a:prstGeom prst="rect">
            <a:avLst/>
          </a:prstGeom>
          <a:solidFill>
            <a:srgbClr val="205F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0120" y="3867912"/>
            <a:ext cx="10424160" cy="841248"/>
          </a:xfrm>
          <a:prstGeom prst="rect">
            <a:avLst/>
          </a:prstGeom>
          <a:noFill/>
        </p:spPr>
        <p:txBody>
          <a:bodyPr wrap="square" lIns="0" tIns="0" rIns="0" bIns="0" anchor="ctr">
            <a:spAutoFit/>
          </a:bodyPr>
          <a:lstStyle/>
          <a:p>
            <a:pPr>
              <a:lnSpc>
                <a:spcPct val="100000"/>
              </a:lnSpc>
            </a:pPr>
            <a:r>
              <a:rPr sz="1700" b="0" i="0">
                <a:solidFill>
                  <a:srgbClr val="2A2929"/>
                </a:solidFill>
                <a:latin typeface="Roboto"/>
              </a:rPr>
              <a:t>Multi-AZ databases fail over automatically — seconds of downtime, no app change.</a:t>
            </a:r>
          </a:p>
        </p:txBody>
      </p:sp>
      <p:sp>
        <p:nvSpPr>
          <p:cNvPr id="13" name="Rectangle 12"/>
          <p:cNvSpPr/>
          <p:nvPr/>
        </p:nvSpPr>
        <p:spPr>
          <a:xfrm>
            <a:off x="640080" y="4818888"/>
            <a:ext cx="10927080" cy="841248"/>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40080" y="4818888"/>
            <a:ext cx="109728" cy="841248"/>
          </a:xfrm>
          <a:prstGeom prst="rect">
            <a:avLst/>
          </a:prstGeom>
          <a:solidFill>
            <a:srgbClr val="205F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60120" y="4818888"/>
            <a:ext cx="10424160" cy="841248"/>
          </a:xfrm>
          <a:prstGeom prst="rect">
            <a:avLst/>
          </a:prstGeom>
          <a:noFill/>
        </p:spPr>
        <p:txBody>
          <a:bodyPr wrap="square" lIns="0" tIns="0" rIns="0" bIns="0" anchor="ctr">
            <a:spAutoFit/>
          </a:bodyPr>
          <a:lstStyle/>
          <a:p>
            <a:pPr>
              <a:lnSpc>
                <a:spcPct val="100000"/>
              </a:lnSpc>
            </a:pPr>
            <a:r>
              <a:rPr sz="1700" b="0" i="0">
                <a:solidFill>
                  <a:srgbClr val="2A2929"/>
                </a:solidFill>
                <a:latin typeface="Roboto"/>
              </a:rPr>
              <a:t>Each baseline SPOF maps to a mechanism — that's your HA design.</a:t>
            </a:r>
          </a:p>
        </p:txBody>
      </p:sp>
      <p:sp>
        <p:nvSpPr>
          <p:cNvPr id="16" name="Rectangle 15"/>
          <p:cNvSpPr/>
          <p:nvPr/>
        </p:nvSpPr>
        <p:spPr>
          <a:xfrm>
            <a:off x="0" y="6565392"/>
            <a:ext cx="12191695" cy="38100"/>
          </a:xfrm>
          <a:prstGeom prst="rect">
            <a:avLst/>
          </a:prstGeom>
          <a:solidFill>
            <a:srgbClr val="205F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18" name="TextBox 17"/>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16</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p:cNvGrpSpPr/>
        <p:nvPr/>
      </p:nvGrpSpPr>
      <p:grpSpPr>
        <a:xfrm>
          <a:off x="0" y="0"/>
          <a:ext cx="0" cy="0"/>
          <a:chOff x="0" y="0"/>
          <a:chExt cx="0" cy="0"/>
        </a:xfrm>
      </p:grpSpPr>
      <p:sp>
        <p:nvSpPr>
          <p:cNvPr id="2" name="TextBox 1"/>
          <p:cNvSpPr txBox="1"/>
          <p:nvPr/>
        </p:nvSpPr>
        <p:spPr>
          <a:xfrm>
            <a:off x="640080" y="548640"/>
            <a:ext cx="10881360" cy="1097280"/>
          </a:xfrm>
          <a:prstGeom prst="rect">
            <a:avLst/>
          </a:prstGeom>
          <a:noFill/>
        </p:spPr>
        <p:txBody>
          <a:bodyPr wrap="square" lIns="0" tIns="0" rIns="0" bIns="0" anchor="t">
            <a:spAutoFit/>
          </a:bodyPr>
          <a:lstStyle/>
          <a:p>
            <a:r>
              <a:rPr sz="3200" b="1" i="0">
                <a:solidFill>
                  <a:srgbClr val="2A2929"/>
                </a:solidFill>
                <a:latin typeface="Roboto"/>
              </a:rPr>
              <a:t>Key takeaways</a:t>
            </a:r>
          </a:p>
          <a:p>
            <a:pPr>
              <a:spcBef>
                <a:spcPts val="200"/>
              </a:spcBef>
            </a:pPr>
            <a:r>
              <a:rPr sz="1800" b="1" i="0">
                <a:solidFill>
                  <a:srgbClr val="EDAB0C"/>
                </a:solidFill>
                <a:latin typeface="Roboto"/>
              </a:rPr>
              <a:t>Topic 11 · Key takeaways</a:t>
            </a:r>
          </a:p>
        </p:txBody>
      </p:sp>
      <p:sp>
        <p:nvSpPr>
          <p:cNvPr id="3" name="Rectangle 2"/>
          <p:cNvSpPr/>
          <p:nvPr/>
        </p:nvSpPr>
        <p:spPr>
          <a:xfrm>
            <a:off x="658368" y="1600200"/>
            <a:ext cx="1463040" cy="50800"/>
          </a:xfrm>
          <a:prstGeom prst="rect">
            <a:avLst/>
          </a:prstGeom>
          <a:solidFill>
            <a:srgbClr val="EDAB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40080" y="1965960"/>
            <a:ext cx="10927080" cy="841248"/>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965960"/>
            <a:ext cx="109728" cy="841248"/>
          </a:xfrm>
          <a:prstGeom prst="rect">
            <a:avLst/>
          </a:prstGeom>
          <a:solidFill>
            <a:srgbClr val="EDAB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965960"/>
            <a:ext cx="10424160" cy="841248"/>
          </a:xfrm>
          <a:prstGeom prst="rect">
            <a:avLst/>
          </a:prstGeom>
          <a:noFill/>
        </p:spPr>
        <p:txBody>
          <a:bodyPr wrap="square" lIns="0" tIns="0" rIns="0" bIns="0" anchor="ctr">
            <a:spAutoFit/>
          </a:bodyPr>
          <a:lstStyle/>
          <a:p>
            <a:pPr>
              <a:lnSpc>
                <a:spcPct val="100000"/>
              </a:lnSpc>
            </a:pPr>
            <a:r>
              <a:rPr sz="1700" b="0" i="0">
                <a:solidFill>
                  <a:srgbClr val="2A2929"/>
                </a:solidFill>
                <a:latin typeface="Roboto"/>
              </a:rPr>
              <a:t>High availability = stay up despite failure; availability % ↔ downtime and cost.</a:t>
            </a:r>
          </a:p>
        </p:txBody>
      </p:sp>
      <p:sp>
        <p:nvSpPr>
          <p:cNvPr id="7" name="Rectangle 6"/>
          <p:cNvSpPr/>
          <p:nvPr/>
        </p:nvSpPr>
        <p:spPr>
          <a:xfrm>
            <a:off x="640080" y="2916936"/>
            <a:ext cx="10927080" cy="841248"/>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2916936"/>
            <a:ext cx="109728" cy="841248"/>
          </a:xfrm>
          <a:prstGeom prst="rect">
            <a:avLst/>
          </a:prstGeom>
          <a:solidFill>
            <a:srgbClr val="EDAB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2916936"/>
            <a:ext cx="10424160" cy="841248"/>
          </a:xfrm>
          <a:prstGeom prst="rect">
            <a:avLst/>
          </a:prstGeom>
          <a:noFill/>
        </p:spPr>
        <p:txBody>
          <a:bodyPr wrap="square" lIns="0" tIns="0" rIns="0" bIns="0" anchor="ctr">
            <a:spAutoFit/>
          </a:bodyPr>
          <a:lstStyle/>
          <a:p>
            <a:pPr>
              <a:lnSpc>
                <a:spcPct val="100000"/>
              </a:lnSpc>
            </a:pPr>
            <a:r>
              <a:rPr sz="1700" b="0" i="0">
                <a:solidFill>
                  <a:srgbClr val="2A2929"/>
                </a:solidFill>
                <a:latin typeface="Roboto"/>
              </a:rPr>
              <a:t>SPOFs and RTO/RPO are how you reason about availability.</a:t>
            </a:r>
          </a:p>
        </p:txBody>
      </p:sp>
      <p:sp>
        <p:nvSpPr>
          <p:cNvPr id="10" name="Rectangle 9"/>
          <p:cNvSpPr/>
          <p:nvPr/>
        </p:nvSpPr>
        <p:spPr>
          <a:xfrm>
            <a:off x="640080" y="3867912"/>
            <a:ext cx="10927080" cy="841248"/>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40080" y="3867912"/>
            <a:ext cx="109728" cy="841248"/>
          </a:xfrm>
          <a:prstGeom prst="rect">
            <a:avLst/>
          </a:prstGeom>
          <a:solidFill>
            <a:srgbClr val="EDAB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0120" y="3867912"/>
            <a:ext cx="10424160" cy="841248"/>
          </a:xfrm>
          <a:prstGeom prst="rect">
            <a:avLst/>
          </a:prstGeom>
          <a:noFill/>
        </p:spPr>
        <p:txBody>
          <a:bodyPr wrap="square" lIns="0" tIns="0" rIns="0" bIns="0" anchor="ctr">
            <a:spAutoFit/>
          </a:bodyPr>
          <a:lstStyle/>
          <a:p>
            <a:pPr>
              <a:lnSpc>
                <a:spcPct val="100000"/>
              </a:lnSpc>
            </a:pPr>
            <a:r>
              <a:rPr sz="1700" b="0" i="0">
                <a:solidFill>
                  <a:srgbClr val="2A2929"/>
                </a:solidFill>
                <a:latin typeface="Roboto"/>
              </a:rPr>
              <a:t>Vertical scaling costs availability; horizontal scaling and redundancy buy it.</a:t>
            </a:r>
          </a:p>
        </p:txBody>
      </p:sp>
      <p:sp>
        <p:nvSpPr>
          <p:cNvPr id="13" name="Rectangle 12"/>
          <p:cNvSpPr/>
          <p:nvPr/>
        </p:nvSpPr>
        <p:spPr>
          <a:xfrm>
            <a:off x="640080" y="4818888"/>
            <a:ext cx="10927080" cy="841248"/>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40080" y="4818888"/>
            <a:ext cx="109728" cy="841248"/>
          </a:xfrm>
          <a:prstGeom prst="rect">
            <a:avLst/>
          </a:prstGeom>
          <a:solidFill>
            <a:srgbClr val="EDAB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60120" y="4818888"/>
            <a:ext cx="10424160" cy="841248"/>
          </a:xfrm>
          <a:prstGeom prst="rect">
            <a:avLst/>
          </a:prstGeom>
          <a:noFill/>
        </p:spPr>
        <p:txBody>
          <a:bodyPr wrap="square" lIns="0" tIns="0" rIns="0" bIns="0" anchor="ctr">
            <a:spAutoFit/>
          </a:bodyPr>
          <a:lstStyle/>
          <a:p>
            <a:pPr>
              <a:lnSpc>
                <a:spcPct val="100000"/>
              </a:lnSpc>
            </a:pPr>
            <a:r>
              <a:rPr sz="1700" b="0" i="0">
                <a:solidFill>
                  <a:srgbClr val="2A2929"/>
                </a:solidFill>
                <a:latin typeface="Roboto"/>
              </a:rPr>
              <a:t>The cloud HA toolkit (Multi-AZ, LB, autoscaling, Multi-AZ DB) removes SPOFs.</a:t>
            </a:r>
          </a:p>
        </p:txBody>
      </p:sp>
      <p:sp>
        <p:nvSpPr>
          <p:cNvPr id="16" name="Rectangle 15"/>
          <p:cNvSpPr/>
          <p:nvPr/>
        </p:nvSpPr>
        <p:spPr>
          <a:xfrm>
            <a:off x="640080" y="5769864"/>
            <a:ext cx="10927080" cy="841248"/>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40080" y="5769864"/>
            <a:ext cx="109728" cy="841248"/>
          </a:xfrm>
          <a:prstGeom prst="rect">
            <a:avLst/>
          </a:prstGeom>
          <a:solidFill>
            <a:srgbClr val="EDAB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60120" y="5769864"/>
            <a:ext cx="10424160" cy="841248"/>
          </a:xfrm>
          <a:prstGeom prst="rect">
            <a:avLst/>
          </a:prstGeom>
          <a:noFill/>
        </p:spPr>
        <p:txBody>
          <a:bodyPr wrap="square" lIns="0" tIns="0" rIns="0" bIns="0" anchor="ctr">
            <a:spAutoFit/>
          </a:bodyPr>
          <a:lstStyle/>
          <a:p>
            <a:pPr>
              <a:lnSpc>
                <a:spcPct val="100000"/>
              </a:lnSpc>
            </a:pPr>
            <a:r>
              <a:rPr sz="1700" b="0" i="0">
                <a:solidFill>
                  <a:srgbClr val="2A2929"/>
                </a:solidFill>
                <a:latin typeface="Roboto"/>
              </a:rPr>
              <a:t>Next you'll use this to DESIGN the HA upgrade yourself.</a:t>
            </a:r>
          </a:p>
        </p:txBody>
      </p:sp>
      <p:sp>
        <p:nvSpPr>
          <p:cNvPr id="19" name="Rectangle 18"/>
          <p:cNvSpPr/>
          <p:nvPr/>
        </p:nvSpPr>
        <p:spPr>
          <a:xfrm>
            <a:off x="0" y="6565392"/>
            <a:ext cx="12191695" cy="38100"/>
          </a:xfrm>
          <a:prstGeom prst="rect">
            <a:avLst/>
          </a:prstGeom>
          <a:solidFill>
            <a:srgbClr val="EDAB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21" name="TextBox 20"/>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17</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2A2929"/>
        </a:solidFill>
        <a:effectLst/>
      </p:bgPr>
    </p:bg>
    <p:spTree>
      <p:nvGrpSpPr>
        <p:cNvPr id="1" name=""/>
        <p:cNvGrpSpPr/>
        <p:nvPr/>
      </p:nvGrpSpPr>
      <p:grpSpPr>
        <a:xfrm>
          <a:off x="0" y="0"/>
          <a:ext cx="0" cy="0"/>
          <a:chOff x="0" y="0"/>
          <a:chExt cx="0" cy="0"/>
        </a:xfrm>
      </p:grpSpPr>
      <p:sp>
        <p:nvSpPr>
          <p:cNvPr id="2" name="Rectangle 1"/>
          <p:cNvSpPr/>
          <p:nvPr/>
        </p:nvSpPr>
        <p:spPr>
          <a:xfrm>
            <a:off x="0" y="0"/>
            <a:ext cx="411480" cy="6858000"/>
          </a:xfrm>
          <a:prstGeom prst="rect">
            <a:avLst/>
          </a:prstGeom>
          <a:solidFill>
            <a:srgbClr val="EDAB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463040"/>
            <a:ext cx="10515600" cy="4023360"/>
          </a:xfrm>
          <a:prstGeom prst="rect">
            <a:avLst/>
          </a:prstGeom>
          <a:noFill/>
        </p:spPr>
        <p:txBody>
          <a:bodyPr wrap="square" lIns="0" tIns="0" rIns="0" bIns="0" anchor="t">
            <a:spAutoFit/>
          </a:bodyPr>
          <a:lstStyle/>
          <a:p>
            <a:r>
              <a:rPr sz="4000" b="1" i="0">
                <a:solidFill>
                  <a:srgbClr val="FFFFFF"/>
                </a:solidFill>
                <a:latin typeface="Roboto"/>
              </a:rPr>
              <a:t>Next: Topic 12 — HA design</a:t>
            </a:r>
          </a:p>
          <a:p>
            <a:pPr>
              <a:lnSpc>
                <a:spcPct val="105000"/>
              </a:lnSpc>
              <a:spcBef>
                <a:spcPts val="1200"/>
              </a:spcBef>
            </a:pPr>
            <a:r>
              <a:rPr sz="1900" b="0" i="0">
                <a:solidFill>
                  <a:srgbClr val="E8E8E8"/>
                </a:solidFill>
                <a:latin typeface="Roboto Light"/>
              </a:rPr>
              <a:t>You design the HA upgrade for the Accounting baseline — review it, remove its SPOFs, set recovery objectives, and document the design.</a:t>
            </a:r>
          </a:p>
          <a:p>
            <a:pPr>
              <a:lnSpc>
                <a:spcPct val="105000"/>
              </a:lnSpc>
              <a:spcBef>
                <a:spcPts val="1200"/>
              </a:spcBef>
            </a:pPr>
            <a:r>
              <a:rPr sz="1900" b="0" i="0">
                <a:solidFill>
                  <a:srgbClr val="E8E8E8"/>
                </a:solidFill>
                <a:latin typeface="Roboto Light"/>
              </a:rPr>
              <a:t>You produce the design; the requirements and the baseline are your inputs.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1171</TotalTime>
  <Words>2290</Words>
  <Application>Microsoft Office PowerPoint</Application>
  <PresentationFormat>Widescreen</PresentationFormat>
  <Paragraphs>242</Paragraphs>
  <Slides>29</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Aptos</vt:lpstr>
      <vt:lpstr>Arial</vt:lpstr>
      <vt:lpstr>Calibri</vt:lpstr>
      <vt:lpstr>Roboto</vt:lpstr>
      <vt:lpstr>Roboto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Timothy Baird</cp:lastModifiedBy>
  <cp:revision>9</cp:revision>
  <dcterms:created xsi:type="dcterms:W3CDTF">2013-01-27T09:14:16Z</dcterms:created>
  <dcterms:modified xsi:type="dcterms:W3CDTF">2026-06-04T03:20:01Z</dcterms:modified>
  <cp:category/>
</cp:coreProperties>
</file>