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0352" autoAdjust="0"/>
  </p:normalViewPr>
  <p:slideViewPr>
    <p:cSldViewPr snapToGrid="0" snapToObjects="1">
      <p:cViewPr varScale="1">
        <p:scale>
          <a:sx n="69" d="100"/>
          <a:sy n="69" d="100"/>
        </p:scale>
        <p:origin x="66" y="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8D1637-AA7E-4D75-94B1-9EBA1E55DCF5}" type="datetimeFigureOut">
              <a:rPr lang="en-AU" smtClean="0"/>
              <a:t>4/06/2026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177A0-8F30-43DD-974A-0F05CBC18E7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8303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177A0-8F30-43DD-974A-0F05CBC18E75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1581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177A0-8F30-43DD-974A-0F05CBC18E75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610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rawio-app.com/network-diagrams/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12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HA design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Design the upgrade — review the baseline, design out its single points of failure, and document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Now you design it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AT3 Part A skills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Topic 11 gave you the concepts; Topic 12 is where you produce an HA design.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92268F"/>
                </a:solidFill>
                <a:latin typeface="Roboto"/>
              </a:rPr>
              <a:t>■  You design the upgrade yourself — the baseline and the HA requirements are your inputs, not a finished answer.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Three moves: review the baseline + find its SPOFs → design them out → document the design and plan the work.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Topic 13 then implements and simulates what you design here.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Review the baseline &amp; find its SPOFs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evaluate before you change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 dirty="0">
                <a:solidFill>
                  <a:srgbClr val="2A2929"/>
                </a:solidFill>
                <a:latin typeface="Roboto"/>
              </a:rPr>
              <a:t>Review the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1879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Start by understanding what's there: the multi-tier shape — presentation / logic / data (web / app / database).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Each tier can be built, scaled and diagnosed separately.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92268F"/>
                </a:solidFill>
                <a:latin typeface="Roboto"/>
              </a:rPr>
              <a:t>■  Review the deployed single-AZ baseline before you change anything.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 dirty="0">
                <a:solidFill>
                  <a:srgbClr val="2A2929"/>
                </a:solidFill>
                <a:latin typeface="Roboto"/>
              </a:rPr>
              <a:t>Identify the single points of failure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1879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Walk the architecture and mark every component whose failure stops the whole service.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92268F"/>
                </a:solidFill>
                <a:latin typeface="Roboto"/>
              </a:rPr>
              <a:t>■  In a single-AZ cloud build that's the AZ itself, the one database, the one running instance, the one NAT.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 network diagram makes the SPOFs visible — find them before you design the fix.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FF93A1-37E9-3523-872F-2982FA888F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44864" y="564552"/>
            <a:ext cx="3064088" cy="55710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 dirty="0">
                <a:solidFill>
                  <a:srgbClr val="2A2929"/>
                </a:solidFill>
                <a:latin typeface="Roboto"/>
              </a:rPr>
              <a:t>Estimate the recovery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70560" y="1001879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82633"/>
            <a:ext cx="5918278" cy="4323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 dirty="0">
                <a:solidFill>
                  <a:srgbClr val="EDAB0C"/>
                </a:solidFill>
                <a:latin typeface="Roboto"/>
              </a:rPr>
              <a:t>■ </a:t>
            </a:r>
            <a:r>
              <a:rPr lang="en-AU" dirty="0">
                <a:solidFill>
                  <a:srgbClr val="2A2929"/>
                </a:solidFill>
                <a:latin typeface="Roboto"/>
              </a:rPr>
              <a:t>Recall RPO and RTO: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2A2929"/>
                </a:solidFill>
                <a:latin typeface="Roboto"/>
              </a:rPr>
              <a:t>Recovery Time Objective – How much downtime an organisation can tolerate.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2A2929"/>
                </a:solidFill>
                <a:latin typeface="Roboto"/>
              </a:rPr>
              <a:t>Recovery Point Objective – How much data loss it tolerable.</a:t>
            </a:r>
            <a:endParaRPr lang="en-US" dirty="0">
              <a:solidFill>
                <a:srgbClr val="2A2929"/>
              </a:solidFill>
              <a:latin typeface="Roboto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lang="en-AU" b="1" dirty="0">
                <a:solidFill>
                  <a:srgbClr val="EDAB0C"/>
                </a:solidFill>
                <a:latin typeface="Roboto"/>
              </a:rPr>
              <a:t>■ </a:t>
            </a:r>
            <a:r>
              <a:rPr sz="1800" b="0" i="0" dirty="0">
                <a:solidFill>
                  <a:srgbClr val="2A2929"/>
                </a:solidFill>
                <a:latin typeface="Roboto"/>
              </a:rPr>
              <a:t>Estimate the baseline's RPO from the backup interval, and its RTO from recovery-per-tier + testing.</a:t>
            </a:r>
          </a:p>
          <a:p>
            <a:r>
              <a:rPr sz="1800" b="1" i="0" dirty="0">
                <a:solidFill>
                  <a:srgbClr val="EDAB0C"/>
                </a:solidFill>
                <a:latin typeface="Roboto"/>
              </a:rPr>
              <a:t>■  </a:t>
            </a:r>
            <a:r>
              <a:rPr lang="en-AU" dirty="0">
                <a:solidFill>
                  <a:srgbClr val="2A2929"/>
                </a:solidFill>
                <a:latin typeface="Roboto"/>
              </a:rPr>
              <a:t>If backups run every 15 minutes and it takes 30 minutes each to recover each layer:</a:t>
            </a:r>
          </a:p>
          <a:p>
            <a:pPr lvl="1"/>
            <a:r>
              <a:rPr lang="en-AU" dirty="0">
                <a:solidFill>
                  <a:srgbClr val="2A2929"/>
                </a:solidFill>
                <a:latin typeface="Roboto"/>
              </a:rPr>
              <a:t>Max data loss: up to 15 minutes</a:t>
            </a:r>
          </a:p>
          <a:p>
            <a:pPr lvl="1"/>
            <a:r>
              <a:rPr lang="en-AU" dirty="0">
                <a:solidFill>
                  <a:srgbClr val="2A2929"/>
                </a:solidFill>
                <a:latin typeface="Roboto"/>
              </a:rPr>
              <a:t>Max outage: 30 min x 3 layers = 1.5 hours</a:t>
            </a:r>
          </a:p>
          <a:p>
            <a:pPr lvl="1"/>
            <a:r>
              <a:rPr lang="en-AU" dirty="0">
                <a:solidFill>
                  <a:srgbClr val="2A2929"/>
                </a:solidFill>
                <a:latin typeface="Roboto"/>
              </a:rPr>
              <a:t>Integration and testing = 1 hour</a:t>
            </a:r>
          </a:p>
          <a:p>
            <a:r>
              <a:rPr lang="en-AU" b="1" dirty="0">
                <a:solidFill>
                  <a:srgbClr val="EDAB0C"/>
                </a:solidFill>
                <a:latin typeface="Roboto"/>
              </a:rPr>
              <a:t>■ </a:t>
            </a:r>
            <a:r>
              <a:rPr lang="en-AU" dirty="0">
                <a:solidFill>
                  <a:srgbClr val="2A2929"/>
                </a:solidFill>
                <a:latin typeface="Roboto"/>
              </a:rPr>
              <a:t>This system has an RPO of 15 min, RTO of 2.5 hours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solidFill>
                  <a:srgbClr val="92268F"/>
                </a:solidFill>
                <a:latin typeface="Roboto"/>
              </a:rPr>
              <a:t>■  Flag components that scale vertically (they carry downtime) and the availability impact.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9A140F-D7E0-41F4-4C20-21D1BE970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52"/>
          <a:stretch>
            <a:fillRect/>
          </a:stretch>
        </p:blipFill>
        <p:spPr bwMode="auto">
          <a:xfrm>
            <a:off x="7674722" y="675903"/>
            <a:ext cx="3846718" cy="50781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Review the Accounting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1" i="0">
                <a:solidFill>
                  <a:srgbClr val="2A2929"/>
                </a:solidFill>
                <a:latin typeface="Roboto"/>
              </a:rPr>
              <a:t>Take the supplied single-AZ Accounting baseline and evaluate its availability: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list its single points of failure (AZ · database · running instance · NAT)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estimate its RPO and RTO, and where they fall short of the HA requirement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note the components that scale vertically and the downtime that implies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92268F"/>
                </a:solidFill>
                <a:latin typeface="Roboto"/>
              </a:rPr>
              <a:t>■  Document your findings — they drive the design.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Review &amp; SPOFs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Understand the multi-tier baseline before you change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Identify every single point of failure — a diagram makes them visible.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Estimate the baseline's RPO/RTO and flag vertical-scaling components.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Your findings are the input to the design.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Design the HA-equivalent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remove every SPOF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 dirty="0">
                <a:solidFill>
                  <a:srgbClr val="2A2929"/>
                </a:solidFill>
                <a:latin typeface="Roboto"/>
              </a:rPr>
              <a:t>Design redundancy — remove the </a:t>
            </a:r>
            <a:r>
              <a:rPr sz="2800" b="1" i="0" dirty="0" err="1">
                <a:solidFill>
                  <a:srgbClr val="2A2929"/>
                </a:solidFill>
                <a:latin typeface="Roboto"/>
              </a:rPr>
              <a:t>SPoFs</a:t>
            </a:r>
            <a:endParaRPr sz="2800" b="1" i="0" dirty="0">
              <a:solidFill>
                <a:srgbClr val="2A2929"/>
              </a:solidFill>
              <a:latin typeface="Roboto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58368" y="895961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5486400" cy="22774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Using the cloud doesn't make you highly available — you design redundancy.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7B5CE"/>
                </a:solidFill>
                <a:latin typeface="Roboto"/>
              </a:rPr>
              <a:t>■  For each SPOF, add redundancy across compute, storage and network so no single failure stops the service.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The goal: an equivalent architecture that keeps running when one component — or one AZ — fails.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  <p:pic>
        <p:nvPicPr>
          <p:cNvPr id="8" name="Picture 2" descr="A basic three tier architecture with an Auto Scaling group.">
            <a:extLst>
              <a:ext uri="{FF2B5EF4-FFF2-40B4-BE49-F238E27FC236}">
                <a16:creationId xmlns:a16="http://schemas.microsoft.com/office/drawing/2014/main" id="{896E272D-552D-600A-3C0F-69F0FD842A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" t="10126" r="890" b="5522"/>
          <a:stretch>
            <a:fillRect/>
          </a:stretch>
        </p:blipFill>
        <p:spPr bwMode="auto">
          <a:xfrm>
            <a:off x="6961487" y="1422400"/>
            <a:ext cx="4742833" cy="3785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733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 dirty="0">
                <a:solidFill>
                  <a:srgbClr val="2A2929"/>
                </a:solidFill>
                <a:latin typeface="Roboto"/>
              </a:rPr>
              <a:t>The cross-AZ HA architecture</a:t>
            </a:r>
          </a:p>
          <a:p>
            <a:pPr>
              <a:spcBef>
                <a:spcPts val="200"/>
              </a:spcBef>
            </a:pPr>
            <a:r>
              <a:rPr sz="1800" b="0" i="1" dirty="0">
                <a:solidFill>
                  <a:srgbClr val="D68E10"/>
                </a:solidFill>
                <a:latin typeface="Roboto Light"/>
              </a:rPr>
              <a:t>ACA M10 S41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Spread the workload across two Availability Zones: load balancing across AZs → instances (ASG) across AZs → a Multi-AZ database.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7B5CE"/>
                </a:solidFill>
                <a:latin typeface="Roboto"/>
              </a:rPr>
              <a:t>■  The load balancer routes only to healthy targets; the ASG keeps capacity in each AZ; the database fails over automatically.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Redundant egress (a NAT per AZ) keeps outbound working if an AZ is lost.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4E2C81-01DD-ECFA-0D66-C11A2559D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6890" y="457200"/>
            <a:ext cx="3667543" cy="55151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Remove each SPOF — the mapping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design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Single Availability Zone → a second AZ with mirrored subnets.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Single running instance → an Auto Scaling group spread across both AZs.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Single database → a Multi-AZ database with a synchronous standby + automatic failover.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7B5CE"/>
                </a:solidFill>
                <a:latin typeface="Roboto"/>
              </a:rPr>
              <a:t>■  Single NAT gateway → a NAT gateway per AZ.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Re-estimate the recovery objectives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ICTCLD502 · Design HA S11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563814" cy="14041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 dirty="0">
                <a:solidFill>
                  <a:srgbClr val="2A2929"/>
                </a:solidFill>
                <a:latin typeface="Roboto"/>
              </a:rPr>
              <a:t>Re-estimate RPO/RTO for the HA design — per component and overall.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solidFill>
                  <a:srgbClr val="27B5CE"/>
                </a:solidFill>
                <a:latin typeface="Roboto"/>
              </a:rPr>
              <a:t>■  RPO is unchanged (backups); RTO drops to minutes for an AZ or instance failure via automatic failover.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 dirty="0">
                <a:solidFill>
                  <a:srgbClr val="2A2929"/>
                </a:solidFill>
                <a:latin typeface="Roboto"/>
              </a:rPr>
              <a:t>Check the numbers now meet the HA requirement — and note what remains (the single Region).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1E23F8-15FC-42AC-00DE-E18463DC8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984" y="3364982"/>
            <a:ext cx="7486582" cy="289175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Design the HA-equivalent for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1" i="0">
                <a:solidFill>
                  <a:srgbClr val="2A2929"/>
                </a:solidFill>
                <a:latin typeface="Roboto"/>
              </a:rPr>
              <a:t>Design the upgrade for the baseline you reviewed: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design out each SPOF using the mapping (2 AZs · cross-AZ ASG · Multi-AZ DB · NAT per AZ)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sketch the cross-AZ topology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re-estimate the recovery objectives and confirm they meet the requirement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HA isn't automatic — you design redundancy across the tiers.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Spread across two AZs: LB + ASG across AZs, Multi-AZ database, redundant NAT.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Map each SPOF to its fix — that's the HA design.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Re-estimate recovery objectives and check they meet the requirement.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Document the design &amp; plan the work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the deliverable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 dirty="0">
                <a:solidFill>
                  <a:srgbClr val="2A2929"/>
                </a:solidFill>
                <a:latin typeface="Roboto"/>
              </a:rPr>
              <a:t>What an HA design documents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26187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Architecture diagram — the components, the redundancy, the connections between tiers.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Service list — the AWS services used and each one's purpose.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SPoF analysis — the SPOFs identified, and the solution implemented for each.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05F61"/>
                </a:solidFill>
                <a:latin typeface="Roboto"/>
              </a:rPr>
              <a:t>■  RTO/RPO table — recovery objectives per component and overall; scaling plans — what scales, how, and the trigger.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 dirty="0">
                <a:solidFill>
                  <a:srgbClr val="2A2929"/>
                </a:solidFill>
                <a:latin typeface="Roboto"/>
              </a:rPr>
              <a:t>Draw the HA topology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32906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5687014" cy="3243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 dirty="0">
                <a:solidFill>
                  <a:srgbClr val="2A2929"/>
                </a:solidFill>
                <a:latin typeface="Roboto"/>
              </a:rPr>
              <a:t>A logical diagram showing the two AZs, the redundancy, the tiers and their connections.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 dirty="0">
                <a:solidFill>
                  <a:srgbClr val="2A2929"/>
                </a:solidFill>
                <a:latin typeface="Roboto"/>
              </a:rPr>
              <a:t>Focus on the key details — boundaries, resource types, connectivity — not every setting.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solidFill>
                  <a:srgbClr val="205F61"/>
                </a:solidFill>
                <a:latin typeface="Roboto"/>
              </a:rPr>
              <a:t>■  Use the scenario's network-diagram conventions (the same draw.io style as the baseline diagram).</a:t>
            </a:r>
            <a:endParaRPr lang="en-US" sz="1800" b="1" i="0" dirty="0">
              <a:solidFill>
                <a:srgbClr val="205F61"/>
              </a:solidFill>
              <a:latin typeface="Roboto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endParaRPr lang="en-AU" b="1" dirty="0">
              <a:solidFill>
                <a:srgbClr val="205F61"/>
              </a:solidFill>
              <a:latin typeface="Roboto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lang="en-A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Lesson: </a:t>
            </a:r>
            <a:r>
              <a:rPr lang="en-A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https://drawio-app.com/network-diagrams/</a:t>
            </a:r>
            <a:r>
              <a:rPr lang="en-A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endParaRPr sz="1800" b="1" i="0" dirty="0">
              <a:solidFill>
                <a:srgbClr val="205F61"/>
              </a:solidFill>
              <a:latin typeface="Robo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  <p:pic>
        <p:nvPicPr>
          <p:cNvPr id="8" name="Picture 2" descr="AWS Diagram - Learn What is a AWS Architecture Diagram and More&#10;&#10;From https://www.smartdraw.com/aws-diagram&#10;">
            <a:extLst>
              <a:ext uri="{FF2B5EF4-FFF2-40B4-BE49-F238E27FC236}">
                <a16:creationId xmlns:a16="http://schemas.microsoft.com/office/drawing/2014/main" id="{E6B22434-F66D-5EEA-29EC-B5CCF1521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40475" y="1050405"/>
            <a:ext cx="5632871" cy="4533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 dirty="0">
                <a:solidFill>
                  <a:srgbClr val="2A2929"/>
                </a:solidFill>
                <a:latin typeface="Roboto"/>
              </a:rPr>
              <a:t>Plan the implementation &amp; simulation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7279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Sequencing — the order to harden the running baseline in place, without an outage (add the AZ, extend ASG/ALB, convert the DB to Multi-AZ).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05F61"/>
                </a:solidFill>
                <a:latin typeface="Roboto"/>
              </a:rPr>
              <a:t>■  Simulation plan — the failures and resizes you'll run to prove fault tolerance (AZ/instance failure, database failover, resize under load).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This plan is what Topic 13 executes.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Produce your HA design 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1" i="0">
                <a:solidFill>
                  <a:srgbClr val="2A2929"/>
                </a:solidFill>
                <a:latin typeface="Roboto"/>
              </a:rPr>
              <a:t>Assemble the HA design for the Accounting upgrade: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architecture diagram · service list · SPoF analysis + solutions · RTO/RPO table · scaling plans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the implementation sequencing + the simulation plan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05F61"/>
                </a:solidFill>
                <a:latin typeface="Roboto"/>
              </a:rPr>
              <a:t>■  This is the deliverable — the design you'll implement next.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Document &amp;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An HA design = diagram · service list · SPoF analysis · RTO/RPO table · scaling plans.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Draw the topology clearly — two AZs, redundancy, tiers, connections.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Plan the sequencing (harden in place, no outage) and the simulations.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documented design is the Part-A deliverable.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EDAB0C"/>
                </a:solidFill>
                <a:latin typeface="Roboto"/>
              </a:rPr>
              <a:t>Topic 12 ·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Review the baseline and find its single points of failure.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Design them out across two AZs (LB + ASG + Multi-AZ DB + redundant NAT).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Re-estimate recovery objectives against the requirement.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Document the design (five parts) and plan the implementation + simulations.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769864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5769864"/>
            <a:ext cx="109728" cy="841248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5769864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You produce the design — next you build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Next: Topic 13 — HA implementation &amp; simulation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Implement your HA design on the running baseline, then simulate failures and resizes to prove it's fault tolerant.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Bring your design document and your simulation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1379</Words>
  <Application>Microsoft Office PowerPoint</Application>
  <PresentationFormat>Widescreen</PresentationFormat>
  <Paragraphs>167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Arial</vt:lpstr>
      <vt:lpstr>Calibri</vt:lpstr>
      <vt:lpstr>Roboto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Timothy Baird</cp:lastModifiedBy>
  <cp:revision>4</cp:revision>
  <dcterms:created xsi:type="dcterms:W3CDTF">2013-01-27T09:14:16Z</dcterms:created>
  <dcterms:modified xsi:type="dcterms:W3CDTF">2026-06-04T03:44:17Z</dcterms:modified>
  <cp:category/>
</cp:coreProperties>
</file>